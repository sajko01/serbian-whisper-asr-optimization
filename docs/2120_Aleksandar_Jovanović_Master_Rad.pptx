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96" r:id="rId6"/>
    <p:sldId id="281" r:id="rId7"/>
    <p:sldId id="259" r:id="rId8"/>
    <p:sldId id="282" r:id="rId9"/>
    <p:sldId id="260" r:id="rId10"/>
    <p:sldId id="283" r:id="rId11"/>
    <p:sldId id="261" r:id="rId12"/>
    <p:sldId id="262" r:id="rId13"/>
    <p:sldId id="284" r:id="rId14"/>
    <p:sldId id="263" r:id="rId15"/>
    <p:sldId id="285" r:id="rId16"/>
    <p:sldId id="264" r:id="rId17"/>
    <p:sldId id="265" r:id="rId18"/>
    <p:sldId id="266" r:id="rId19"/>
    <p:sldId id="286" r:id="rId20"/>
    <p:sldId id="267" r:id="rId21"/>
    <p:sldId id="268" r:id="rId22"/>
    <p:sldId id="287" r:id="rId23"/>
    <p:sldId id="269" r:id="rId24"/>
    <p:sldId id="297" r:id="rId25"/>
    <p:sldId id="288" r:id="rId26"/>
    <p:sldId id="289" r:id="rId27"/>
    <p:sldId id="271" r:id="rId28"/>
    <p:sldId id="298" r:id="rId29"/>
    <p:sldId id="290" r:id="rId30"/>
    <p:sldId id="299" r:id="rId31"/>
    <p:sldId id="272" r:id="rId32"/>
    <p:sldId id="291" r:id="rId33"/>
    <p:sldId id="300" r:id="rId34"/>
    <p:sldId id="273" r:id="rId35"/>
    <p:sldId id="292" r:id="rId36"/>
    <p:sldId id="274" r:id="rId37"/>
    <p:sldId id="301" r:id="rId38"/>
    <p:sldId id="293" r:id="rId39"/>
    <p:sldId id="302" r:id="rId40"/>
    <p:sldId id="275" r:id="rId41"/>
    <p:sldId id="276" r:id="rId42"/>
    <p:sldId id="294" r:id="rId43"/>
    <p:sldId id="303" r:id="rId44"/>
    <p:sldId id="277" r:id="rId45"/>
    <p:sldId id="304" r:id="rId46"/>
    <p:sldId id="295" r:id="rId47"/>
    <p:sldId id="278" r:id="rId48"/>
    <p:sldId id="279" r:id="rId49"/>
    <p:sldId id="280" r:id="rId5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150" y="1845183"/>
            <a:ext cx="10972800" cy="158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Анализа, оптимизација и доменска адаптација Whisper модела за аутоматско препознавање говора на српском језику</a:t>
            </a:r>
            <a:endParaRPr b="1"/>
          </a:p>
          <a:p>
            <a:pPr algn="l">
              <a:spcAft>
                <a:spcPts val="1200"/>
              </a:spcAft>
              <a:buClrTx/>
              <a:buSzTx/>
              <a:buFontTx/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55320"/>
            <a:ext cx="109728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sr-Cyrl-BA" altLang="sr-Latn-RS" sz="2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УНИВЕРЗИТЕТ У НИШУ</a:t>
            </a:r>
            <a:endParaRPr lang="sr-Cyrl-BA" altLang="sr-Latn-RS" sz="2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sr-Cyrl-BA" altLang="sr-Latn-RS" sz="2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ЕЛЕКТРОНСКИ ФАКУЛТЕТ</a:t>
            </a:r>
            <a:endParaRPr lang="sr-Cyrl-BA" altLang="sr-Latn-RS" sz="20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endParaRPr sz="2000"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058400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500" b="1">
                <a:solidFill>
                  <a:srgbClr val="2873B1"/>
                </a:solidFill>
                <a:latin typeface="Times New Roman" panose="02020603050405020304"/>
              </a:defRPr>
            </a:pPr>
            <a:r>
              <a:rPr sz="2200">
                <a:sym typeface="+mn-ea"/>
              </a:rPr>
              <a:t>Студијски програм: Вештачка интелигенција и машинско учење</a:t>
            </a:r>
            <a:endParaRPr sz="2200"/>
          </a:p>
          <a:p>
            <a:pPr>
              <a:spcAft>
                <a:spcPts val="1200"/>
              </a:spcAft>
              <a:defRPr sz="2500" b="1">
                <a:solidFill>
                  <a:srgbClr val="2873B1"/>
                </a:solidFill>
                <a:latin typeface="Times New Roman" panose="02020603050405020304"/>
              </a:defRPr>
            </a:pPr>
            <a:endParaRPr sz="2200">
              <a:latin typeface="Times New Roman" panose="020206030504050203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2125"/>
            <a:ext cx="1051560" cy="101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665" y="485140"/>
            <a:ext cx="1010285" cy="1031240"/>
          </a:xfrm>
          <a:prstGeom prst="rect">
            <a:avLst/>
          </a:prstGeom>
        </p:spPr>
      </p:pic>
      <p:graphicFrame>
        <p:nvGraphicFramePr>
          <p:cNvPr id="10" name="Table 9"/>
          <p:cNvGraphicFramePr/>
          <p:nvPr>
            <p:custDataLst>
              <p:tags r:id="rId3"/>
            </p:custDataLst>
          </p:nvPr>
        </p:nvGraphicFramePr>
        <p:xfrm>
          <a:off x="692785" y="4682490"/>
          <a:ext cx="11061700" cy="174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850"/>
                <a:gridCol w="5530850"/>
              </a:tblGrid>
              <a:tr h="9474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sr-Cyrl-BA" sz="1800">
                          <a:solidFill>
                            <a:schemeClr val="tx1"/>
                          </a:solidFill>
                          <a:latin typeface="Times New Roman" panose="02020603050405020304"/>
                          <a:sym typeface="+mn-ea"/>
                        </a:rPr>
                        <a:t>Студент: </a:t>
                      </a:r>
                      <a:endParaRPr lang="sr-Cyrl-BA" sz="1800">
                        <a:solidFill>
                          <a:schemeClr val="tx1"/>
                        </a:solidFill>
                        <a:latin typeface="Times New Roman" panose="02020603050405020304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/>
                          <a:sym typeface="+mn-ea"/>
                        </a:rPr>
                        <a:t>Александар Јовановић · 2120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algn="l">
                        <a:buNone/>
                      </a:pP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/>
                          <a:sym typeface="+mn-ea"/>
                        </a:rPr>
                        <a:t>Ментор: 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/>
                          <a:sym typeface="+mn-ea"/>
                        </a:rPr>
                        <a:t>проф. др Јелена Николић</a:t>
                      </a:r>
                      <a:endParaRPr sz="180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  <a:p>
                      <a:pPr algn="l">
                        <a:buNone/>
                      </a:pP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93750">
                <a:tc gridSpan="2">
                  <a:txBody>
                    <a:bodyPr/>
                    <a:p>
                      <a:pPr algn="l">
                        <a:buNone/>
                      </a:pPr>
                      <a:r>
                        <a:rPr sz="1800" b="0">
                          <a:latin typeface="Times New Roman" panose="02020603050405020304"/>
                          <a:sym typeface="+mn-ea"/>
                        </a:rPr>
                        <a:t>Ниш, октобар 2026.</a:t>
                      </a:r>
                      <a:r>
                        <a:rPr lang="sr-Cyrl-BA" sz="1800" b="0">
                          <a:latin typeface="Times New Roman" panose="02020603050405020304"/>
                          <a:sym typeface="+mn-ea"/>
                        </a:rPr>
                        <a:t> године</a:t>
                      </a:r>
                      <a:endParaRPr sz="1800" b="0">
                        <a:latin typeface="Times New Roman" panose="02020603050405020304"/>
                      </a:endParaRPr>
                    </a:p>
                    <a:p>
                      <a:pPr algn="l">
                        <a:buNone/>
                      </a:pPr>
                      <a:endParaRPr lang="en-US" b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Проблем и мотивација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Тачност није једини услов за практично користан систем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Српски говор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Разлике у изговору, говорницима и условима снимања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Ограничени ресурси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253288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Извршавање на процесору и рачунару са 8 GB RAM-а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96511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Различита подешавања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46360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Величина модела, квантизација, декодирање и сегменти</a:t>
            </a:r>
            <a:endParaRPr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096511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Специфичан речник</a:t>
            </a:r>
            <a:endParaRPr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9088" y="46360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Пољопривредна терминологија и нови говорници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Циљ и истраживачка питања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63015"/>
            <a:ext cx="1078992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2500" b="1">
                <a:solidFill>
                  <a:srgbClr val="2873B1"/>
                </a:solidFill>
                <a:latin typeface="Times New Roman" panose="02020603050405020304"/>
              </a:defRPr>
            </a:pPr>
            <a:r>
              <a:rPr sz="2400">
                <a:sym typeface="+mn-ea"/>
              </a:rPr>
              <a:t>ОСНОВНИ ЦИЉ</a:t>
            </a:r>
            <a:endParaRPr sz="2400">
              <a:sym typeface="+mn-ea"/>
            </a:endParaRPr>
          </a:p>
          <a:p>
            <a:pPr algn="l">
              <a:spcAft>
                <a:spcPts val="1200"/>
              </a:spcAft>
              <a:buClrTx/>
              <a:buSzTx/>
              <a:buFontTx/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2400" b="1">
                <a:sym typeface="+mn-ea"/>
              </a:rPr>
              <a:t>Анализа и оптимизација Whisper модела за српски говор, уз испитивање ефеката доменске адаптације.</a:t>
            </a:r>
            <a:endParaRPr sz="2400" b="1"/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  <a:p>
            <a:pPr marL="482600" indent="-342900" algn="l">
              <a:buAutoNum type="arabicPeriod"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Испитати разлике између оригиналне Whisper и Faster-Whisper имплементације.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AutoNum type="arabicPeriod"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Истражити како конфигурација и услови експеримената утичу на вредности WER-а, RTF-а и меморијску потрошњу.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AutoNum type="arabicPeriod"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Истражити к</a:t>
            </a: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ако одабрати конфигурацију на основу више критеријума.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AutoNum type="arabicPeriod"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Истражити к</a:t>
            </a: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акав ефекат има адаптација на пољопривредни говор и новог говорника.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173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Оригинални доприноси рада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84910"/>
            <a:ext cx="10789920" cy="5451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39700" indent="0" algn="l">
              <a:buClrTx/>
              <a:buSzTx/>
              <a:buFontTx/>
              <a:buNone/>
            </a:pPr>
            <a:r>
              <a:rPr sz="2200" b="1">
                <a:solidFill>
                  <a:srgbClr val="414E5B"/>
                </a:solidFill>
                <a:latin typeface="Times New Roman" panose="02020603050405020304"/>
                <a:sym typeface="+mn-ea"/>
              </a:rPr>
              <a:t>Креиран говорни скуп за евалуацију</a:t>
            </a:r>
            <a:endParaRPr sz="2200" b="1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40 снимака </a:t>
            </a: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читаног </a:t>
            </a: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српског говора · 3 говорника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 b="1">
                <a:solidFill>
                  <a:srgbClr val="414E5B"/>
                </a:solidFill>
                <a:latin typeface="Times New Roman" panose="02020603050405020304"/>
                <a:sym typeface="+mn-ea"/>
              </a:rPr>
              <a:t>Извршена систематска анализа оригиналне Whisper и Faster-Whisper имплементације</a:t>
            </a:r>
            <a:endParaRPr sz="2200" b="1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Величина модела, шум, квантизација, параметар beam size и примена VAD-а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 b="1">
                <a:solidFill>
                  <a:srgbClr val="414E5B"/>
                </a:solidFill>
                <a:latin typeface="Times New Roman" panose="02020603050405020304"/>
                <a:sym typeface="+mn-ea"/>
              </a:rPr>
              <a:t>Симулирана транскрипција у реалном времену</a:t>
            </a:r>
            <a:endParaRPr sz="2200" b="1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Утицај величине сегмента на латенцију, RTF и тачност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 b="1">
                <a:solidFill>
                  <a:srgbClr val="414E5B"/>
                </a:solidFill>
                <a:latin typeface="Times New Roman" panose="02020603050405020304"/>
                <a:sym typeface="+mn-ea"/>
              </a:rPr>
              <a:t>Избор повољне конфигурације на основу више критеријума</a:t>
            </a:r>
            <a:endParaRPr sz="2200" b="1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Вишекритеријумска оптимизација · Pareto анализа · осетљивост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 b="1">
                <a:solidFill>
                  <a:srgbClr val="414E5B"/>
                </a:solidFill>
                <a:latin typeface="Times New Roman" panose="02020603050405020304"/>
                <a:sym typeface="+mn-ea"/>
              </a:rPr>
              <a:t>Доменска адаптација за пољопривреду</a:t>
            </a:r>
            <a:endParaRPr sz="2200" b="1">
              <a:solidFill>
                <a:srgbClr val="414E5B"/>
              </a:solidFill>
              <a:latin typeface="Times New Roman" panose="02020603050405020304"/>
            </a:endParaRPr>
          </a:p>
          <a:p>
            <a:pPr marL="139700" indent="0" algn="l">
              <a:buClrTx/>
              <a:buSzTx/>
              <a:buFontTx/>
              <a:buNone/>
            </a:pPr>
            <a:r>
              <a:rPr sz="2200">
                <a:solidFill>
                  <a:srgbClr val="414E5B"/>
                </a:solidFill>
                <a:latin typeface="Times New Roman" panose="02020603050405020304"/>
                <a:sym typeface="+mn-ea"/>
              </a:rPr>
              <a:t>800 снимака · fine-tuning · евалуација на новом говорнику</a:t>
            </a: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  <a:p>
            <a:pPr marL="482600" indent="-342900" algn="l">
              <a:buClrTx/>
              <a:buSzTx/>
              <a:buFontTx/>
              <a:buAutoNum type="arabicPeriod"/>
            </a:pPr>
            <a:endParaRPr sz="2200">
              <a:solidFill>
                <a:srgbClr val="414E5B"/>
              </a:solidFill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001903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Организација истраживања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Припрема аудио-скупова и референтних транскрипата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Поређење оригиналне и оптимизоване имплементације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Испитивање величине модела, шума и параметара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Избор конфигурације и завршна провера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Доменска адаптација на пољопривредни говор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Како ради препознавање говора</a:t>
            </a:r>
            <a:r>
              <a:rPr lang="sr-Cyrl-BA">
                <a:latin typeface="Times New Roman" panose="02020603050405020304"/>
              </a:rPr>
              <a:t> и који су главни изазови</a:t>
            </a:r>
            <a:r>
              <a:rPr>
                <a:latin typeface="Times New Roman" panose="02020603050405020304"/>
              </a:rPr>
              <a:t>?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5537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Поједностављен ток обраде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489075"/>
            <a:ext cx="2697480" cy="196596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53667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ГОВОР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193163"/>
            <a:ext cx="2331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Аудио-запис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1489075"/>
            <a:ext cx="2697480" cy="196596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653667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ОБРАДА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0168" y="2193163"/>
            <a:ext cx="2331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Лог-Mel спектрограм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1489075"/>
            <a:ext cx="2697480" cy="196596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653667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ЕНКОДЕР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56248" y="2193163"/>
            <a:ext cx="2331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Акустичке представе</a:t>
            </a:r>
            <a:endParaRPr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81160" y="1489075"/>
            <a:ext cx="2697480" cy="196596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1653667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ДЕКОДЕР</a:t>
            </a:r>
            <a:endParaRPr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82328" y="2193163"/>
            <a:ext cx="23317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Текстуални токени</a:t>
            </a:r>
            <a:endParaRPr>
              <a:latin typeface="Times New Roman" panose="02020603050405020304"/>
            </a:endParaRPr>
          </a:p>
        </p:txBody>
      </p:sp>
      <p:graphicFrame>
        <p:nvGraphicFramePr>
          <p:cNvPr id="32" name="Table 31"/>
          <p:cNvGraphicFramePr/>
          <p:nvPr/>
        </p:nvGraphicFramePr>
        <p:xfrm>
          <a:off x="1828800" y="3801110"/>
          <a:ext cx="8533130" cy="246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492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Категорија изазова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Специфични фактори / Елементи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92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Говорник и изговор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Акценат, темпо, паузе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92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Услови снимања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Шум, микрофон, просторија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92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Тачност препознавања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Грешке у транскрипцији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92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Ефикасност извршавања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Време обраде и меморија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Од звучног сигнала до спектрограма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Улазни сигнал: 16 kHz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Краткотрајна Фуријеова трансформација (STFT)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Мел-филтерска банка и логаритамска трансформација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Лог-Мел спектрограм као улаз у енкодер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Whisper и Faster-Whisper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Вишејезички модел који користи трансформер архитектуру са енкодер-декодер структуром за обраду говора.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Whisper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8072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PyTorch · оригинална имплементација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26771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Faster-Whisper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28072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CTranslate2 · оптимизоване операције и INT8</a:t>
            </a:r>
            <a:endParaRPr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185285"/>
            <a:ext cx="10058400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 b="0">
                <a:sym typeface="+mn-ea"/>
              </a:rPr>
              <a:t>Оптимизација модела обухвата примену квантизације (прелазак са FP32 на INT8), прилагођавање хардверу (CPU / GPU), као и ефикасније управљање меморијом уз коришћење оптимизованих операција.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Питање: колика је добит у брзини и меморији уз очување тачности?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1">
                <a:solidFill>
                  <a:srgbClr val="18395B"/>
                </a:solidFill>
                <a:latin typeface="Times New Roman" panose="02020603050405020304"/>
              </a:defRPr>
            </a:pPr>
            <a:endParaRPr lang="en-US" altLang="en-US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Архитектура модела Whisper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Енкодер анализира акустичке карактеристике и контекст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Декодер постепено генерише текстуалне токене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Механизам пажње повезује аудио и текстуалне представе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Вишејезички модел: подржава и српски језик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Метрике: шта значе резултати?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WER ↓</a:t>
            </a:r>
            <a:endParaRPr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262432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Стопа грешке на нивоу речи: замене + изостављања + уметања</a:t>
            </a:r>
            <a:endParaRPr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08483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RTF ↓</a:t>
            </a:r>
            <a:endParaRPr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088" y="262432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Време обраде / трајање снимка; испод 1 значи брже од трајања звука</a:t>
            </a:r>
            <a:endParaRPr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3367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RSS ↓</a:t>
            </a:r>
            <a:endParaRPr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477316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Максимална измерена физичка меморија процеса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423367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Кашњење ↓</a:t>
            </a:r>
            <a:endParaRPr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477316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Важно за сегментну обраду и приказ првих резултата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Експериментално окружење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 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Рачунар</a:t>
            </a:r>
            <a:endParaRPr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262432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AMD Ryzen 5 5600H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8 GB RAM · Windows · CPU</a:t>
            </a:r>
            <a:endParaRPr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08483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Главни скуп</a:t>
            </a:r>
            <a:endParaRPr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088" y="262432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40 снимака · 3 говорника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4 групе трајања</a:t>
            </a:r>
            <a:endParaRPr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18795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Додатни скупови</a:t>
            </a:r>
            <a:endParaRPr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472744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FLEURS, шум, VAD и сегментна обрада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418795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Доменски скуп</a:t>
            </a:r>
            <a:endParaRPr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472744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800 снимака пољопривредног говора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Главни скуп: структура снимака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40 снимака читаног српског говора · 3 говорника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Кратки: 10 снимака · просечно 6,96 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Средњи: 15 снимака · просечно 15,35 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Дуги: 10 снимака · просечно 31,83 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Веома дуги: 5 снимака · просечно 71,66 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Поступак експерименталне анализе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Исти снимак и референтни текст за упоредиве конфигурације.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Контролисана промена испитиваног параметра.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Нормализација текста, уједначавање ћирилице и латинице и израчунавање WER-а.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Мерење времена, RTF-а и максималног RSS-а.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Додатни скупови и сврха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Шум: 10 снимака, три врсте шума и седам SNR нивоа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FLEURS: 30 српских и 30 енглеских снимака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VAD: 5 српских и 5 синтетичких енглеских снимака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Сегментна обрада: 5 најдужих снимака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Пољопривреда: 800 снимака за адаптацију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Основно поређење: тачност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Base · 40 снимака · просечан WER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19"/>
            <a:ext cx="1024128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06440"/>
            <a:ext cx="100584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Код INT8 варијанте WER је већи за само 0,13 процентних поена.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Основно поређење: време обраде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Просечно време по снимку · мање је боље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 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19"/>
            <a:ext cx="1024128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Faster-Whisper INT8: приближно 4,73 пута бржи.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Основно поређење: меморија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Максимални RSS · независни процеси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030" y="1874520"/>
            <a:ext cx="9648825" cy="3704590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>
          <a:xfrm>
            <a:off x="914400" y="5480050"/>
            <a:ext cx="10450830" cy="959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1900">
                <a:sym typeface="+mn-ea"/>
              </a:rPr>
              <a:t>Faster-Whisper FP32: ≈34% мања максимална вредност RSS-а</a:t>
            </a:r>
            <a:endParaRPr sz="1900" b="1"/>
          </a:p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1900">
                <a:sym typeface="+mn-ea"/>
              </a:rPr>
              <a:t>Faster-Whisper INT8: ≈53% мања максимална вредност RSS-а у односу на Whisper FP32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Утицај трајања и говорника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Faster-Whisper INT8 има најнижи RTF у све четири групе трајања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RTF за кратке снимке: 0,240; средње: 0,154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RTF за дуге снимке: 0,187; веома дуге: 0,206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Разлике у WER-у између говорника су изражене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Закључак: просечан WER не описује све услове снимања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Величина модела: тачност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20 снимака · Faster-Whisper INT8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914400" y="5742940"/>
            <a:ext cx="10450830" cy="959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Base → Small: WER је смањен за 20,87 процентних поена.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Small → Medium: WER је смањен за додатних </a:t>
            </a:r>
            <a:r>
              <a:rPr lang="en-US" altLang="en-US"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10,77 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процентних поена.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  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60" y="1867535"/>
            <a:ext cx="9553575" cy="36741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Величина модела: брзина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Цена повећања модела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19"/>
            <a:ext cx="10241280" cy="3931920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>
          <a:xfrm>
            <a:off x="914400" y="5644515"/>
            <a:ext cx="10450830" cy="959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Са повећањем величине модела расту време обраде и RTF.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RTF Medium модела је ≈2,7× већи него код Small модела.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1900">
                <a:sym typeface="+mn-ea"/>
              </a:rPr>
              <a:t>  </a:t>
            </a:r>
            <a:endParaRPr sz="1900" b="1"/>
          </a:p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Поставка експеримента са шумом</a:t>
            </a:r>
            <a:r>
              <a:rPr lang="en-US" sz="2900" b="1">
                <a:solidFill>
                  <a:srgbClr val="1B3755"/>
                </a:solidFill>
                <a:latin typeface="Times New Roman" panose="02020603050405020304"/>
              </a:rPr>
              <a:t> </a:t>
            </a:r>
            <a:r>
              <a:rPr lang="en-US" altLang="en-US" sz="2900" b="1">
                <a:solidFill>
                  <a:srgbClr val="1B3755"/>
                </a:solidFill>
                <a:latin typeface="Times New Roman" panose="02020603050405020304"/>
              </a:rPr>
              <a:t>— </a:t>
            </a:r>
            <a:r>
              <a:rPr lang="en-US" altLang="en-US" sz="2900" b="1">
                <a:solidFill>
                  <a:srgbClr val="1B3755"/>
                </a:solidFill>
                <a:latin typeface="Times New Roman" panose="02020603050405020304"/>
              </a:rPr>
              <a:t>Faster-Whisper Small INT8</a:t>
            </a:r>
            <a:endParaRPr lang="en-US" altLang="en-US"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10 чистих снимака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Бели, розе и шум пољопривредне механизације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SNR: 20, 10, 5, 0, −5, −10 и −15 dB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Укупно 220 транскрипција: 10 чистих + 210 зашумљених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Смањење SNR-а означава све јачи шум у односу на говор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Шум: шта се дешава са тачношћу?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10 снимака · три врсте шума · SNR = 0 dB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1939290"/>
            <a:ext cx="9243695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Шум: шта се дешава са тачношћу?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Деградација тачности у односу на сигнал без шума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2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67205"/>
            <a:ext cx="7851140" cy="405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Поређење српског и енглеског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FLEURS · по 30 снимака за оба језика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Faster-Whisper Base INT8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Просечан WER: енглески 9,97%; српски 57,46%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Корпусни WER: енглески 9,85%; српски 55,99%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Разлика важи за испитивани подскуп, не за језике уопште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Параметар beam size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Декодер разматра више кандидата за наредни токен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Већи број кандидата може повећати време обраде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У експерименту са 15 снимака најнижи просечан WER остварен је за beam size = 5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Избор је компромис између тачности и брзине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Квантизација и VAD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Шта је корисно у пракси?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INT8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71576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Смањује време извршавања и меморијску захтевност уз мали губитак тачности у испитиваним условима.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17627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VAD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271576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Издваја говорне делове; ефекат зависи од присуства тишине и структуре снимка.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5155" y="384048"/>
            <a:ext cx="10972800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Утицај INT8 квантизације на брзину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endParaRPr lang="sr-Cyrl-BA"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40 снимака · 4 модела × 2 типа рачунске прецизности · 320 транскрипција</a:t>
            </a:r>
            <a:endParaRPr>
              <a:sym typeface="+mn-ea"/>
            </a:endParaRPr>
          </a:p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405" y="1715135"/>
            <a:ext cx="7449820" cy="37909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870585" y="5295265"/>
            <a:ext cx="1022858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INT8 доноси убрзање код свих</a:t>
            </a:r>
            <a:r>
              <a:rPr lang="sr-Cyrl-BA"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 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величина модела, </a:t>
            </a:r>
            <a:endParaRPr sz="1900" b="1">
              <a:solidFill>
                <a:srgbClr val="18395B"/>
              </a:solidFill>
              <a:latin typeface="Times New Roman" panose="02020603050405020304"/>
              <a:sym typeface="+mn-ea"/>
            </a:endParaRPr>
          </a:p>
          <a:p>
            <a:pPr algn="l"/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а највећи добитак остварен је код Medium модела.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algn="l"/>
            <a:endParaRPr sz="1900" b="1">
              <a:solidFill>
                <a:srgbClr val="18395B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Детекција говорне активности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VAD препознаје делове сигнала који садрже говор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Периоди тишине могу се прескочити пре транскрипције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Тестирани су снимци са паузама на српском и енглеском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Детекција говорне активности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1694815"/>
            <a:ext cx="7385050" cy="374396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861695" y="5661660"/>
            <a:ext cx="74295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sz="1900" b="1">
                <a:solidFill>
                  <a:srgbClr val="18395B"/>
                </a:solidFill>
                <a:latin typeface="Times New Roman" panose="02020603050405020304"/>
                <a:sym typeface="+mn-ea"/>
              </a:rPr>
              <a:t>Ефекат VAD-а на време зависи од структуре аудио-сигнала и количине периода без говора.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Сегментна обрада говора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Симулација постепеног пристизања звука, не директан микрофонски пренос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Испитани кораци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8072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2, 5 и 10 секунди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Преклапање и пренос контекста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267712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Главни компромис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2807208"/>
            <a:ext cx="49377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Краћи сегмент: ранији резултат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Дужи контекст: често боља тачност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Сегментна обрада: поставка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Симулација постепеног пристизања аудио-сигнала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Пет најдужих снимака; кораци од 2, 5 и 10 секунди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Анализирани су кашњење, WER и RTF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Испитани су акустичко преклапање и пренос текстуалног контекста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Није реч о стварном микрофонском преносу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sr-Cyrl-BA" sz="2900" b="1">
                <a:solidFill>
                  <a:srgbClr val="1B3755"/>
                </a:solidFill>
                <a:latin typeface="Times New Roman" panose="02020603050405020304"/>
              </a:rPr>
              <a:t>Резултати с</a:t>
            </a: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егментн</a:t>
            </a:r>
            <a:r>
              <a:rPr lang="sr-Cyrl-BA" sz="2900" b="1">
                <a:solidFill>
                  <a:srgbClr val="1B3755"/>
                </a:solidFill>
                <a:latin typeface="Times New Roman" panose="02020603050405020304"/>
              </a:rPr>
              <a:t>е</a:t>
            </a: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 обрад</a:t>
            </a:r>
            <a:r>
              <a:rPr lang="sr-Cyrl-BA" sz="2900" b="1">
                <a:solidFill>
                  <a:srgbClr val="1B3755"/>
                </a:solidFill>
                <a:latin typeface="Times New Roman" panose="02020603050405020304"/>
              </a:rPr>
              <a:t>е</a:t>
            </a:r>
            <a:endParaRPr lang="sr-Cyrl-BA"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1111885" y="1410335"/>
          <a:ext cx="7470140" cy="225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25"/>
                <a:gridCol w="2087245"/>
                <a:gridCol w="1088390"/>
                <a:gridCol w="1275080"/>
              </a:tblGrid>
              <a:tr h="47117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Начин обраде / Корак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Корпусни WER [%]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RTF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TTFR [s]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Цео снимак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44,49%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—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—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7180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Корак 2 s + преклапање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65,35%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0,503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2,894 s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7117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Корак 5 s + преклапање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64,46%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0,343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6,659 s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7117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Корак 10 s + преклапање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61,53%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0,261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12,251 s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640080" y="3742055"/>
            <a:ext cx="11050905" cy="2722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1900" b="1">
                <a:solidFill>
                  <a:srgbClr val="18395B"/>
                </a:solidFill>
                <a:latin typeface="Times New Roman" panose="02020603050405020304"/>
              </a:rPr>
              <a:t>Обрада целог снимка одједном остварује значајно бољу тачност у односу на </a:t>
            </a:r>
            <a:r>
              <a:rPr lang="sr-Cyrl-BA" sz="1900" b="1">
                <a:solidFill>
                  <a:srgbClr val="18395B"/>
                </a:solidFill>
                <a:latin typeface="Times New Roman" panose="02020603050405020304"/>
              </a:rPr>
              <a:t>остале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</a:rPr>
              <a:t> конфигурације.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900" b="1">
                <a:solidFill>
                  <a:srgbClr val="18395B"/>
                </a:solidFill>
                <a:latin typeface="Times New Roman" panose="02020603050405020304"/>
              </a:rPr>
              <a:t>Корак од 10 секунди остварује најнижи WER и RTF међу приказаним сегментним конфигурацијама, али има највеће кашњење до првог резултата</a:t>
            </a:r>
            <a:r>
              <a:rPr lang="en-US" altLang="sr-Cyrl-BA" sz="1900" b="1">
                <a:solidFill>
                  <a:srgbClr val="18395B"/>
                </a:solidFill>
                <a:latin typeface="Times New Roman" panose="02020603050405020304"/>
              </a:rPr>
              <a:t>.</a:t>
            </a:r>
            <a:endParaRPr lang="en-US" altLang="en-US" sz="1900" b="1">
              <a:solidFill>
                <a:srgbClr val="18395B"/>
              </a:solidFill>
              <a:latin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900" b="1">
                <a:solidFill>
                  <a:srgbClr val="18395B"/>
                </a:solidFill>
                <a:latin typeface="Times New Roman" panose="02020603050405020304"/>
              </a:rPr>
              <a:t>Краћи кораци</a:t>
            </a:r>
            <a:r>
              <a:rPr lang="sr-Cyrl-BA" sz="1900" b="1">
                <a:solidFill>
                  <a:srgbClr val="18395B"/>
                </a:solidFill>
                <a:latin typeface="Times New Roman" panose="02020603050405020304"/>
              </a:rPr>
              <a:t> 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</a:rPr>
              <a:t>омогућавају значајно брже добијање првог резултата, али по цену већег броја грешака у транскрипцији.  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900" b="1">
                <a:solidFill>
                  <a:srgbClr val="18395B"/>
                </a:solidFill>
                <a:latin typeface="Times New Roman" panose="02020603050405020304"/>
              </a:rPr>
              <a:t>Иако је најнижи WER међу приказаним сегментним конфигурацијама остварен при кораку од 10 секунди, вишекритеријумском анализом свих 12 режима изабран је корак од 5 секунди, уз акустичко преклапање и текстуални контекст.</a:t>
            </a:r>
            <a:r>
              <a:rPr sz="1900" b="1">
                <a:solidFill>
                  <a:srgbClr val="18395B"/>
                </a:solidFill>
                <a:latin typeface="Times New Roman" panose="02020603050405020304"/>
              </a:rPr>
              <a:t>   </a:t>
            </a:r>
            <a:endParaRPr sz="1900" b="1">
              <a:solidFill>
                <a:srgbClr val="18395B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Вишекритеријумски избор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Истовремено се вреднују WER, RTF и меморија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Тачност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80720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Нижи WER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15968" y="210312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Брзина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280720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Нижи RTF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19872" y="210312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Меморија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280720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Нижи RSS</a:t>
            </a:r>
            <a:endParaRPr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Нормализација → пондерисани скор → Парето анализа → провера осетљивости</a:t>
            </a:r>
            <a:endParaRPr>
              <a:latin typeface="Times New Roman" panose="02020603050405020304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rcRect t="23368"/>
          <a:stretch>
            <a:fillRect/>
          </a:stretch>
        </p:blipFill>
        <p:spPr>
          <a:xfrm>
            <a:off x="594360" y="5111750"/>
            <a:ext cx="2409825" cy="708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065" y="5111750"/>
            <a:ext cx="413385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Како је изабрана конфигурација?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Осам Faster-Whisper конфигурација: четири величине × два формата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Критеријуми: WER, RTF и максимални RSS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Нормализација омогућава поређење различитих јединица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Парето анализа открива недоминиране конфигурације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Анализа осетљивости проверава промене пондера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sr-Cyrl-BA">
                <a:latin typeface="Times New Roman" panose="02020603050405020304"/>
              </a:rPr>
              <a:t>Резултат Парето анализе</a:t>
            </a:r>
            <a:endParaRPr lang="sr-Cyrl-BA"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724400"/>
            <a:ext cx="10972800" cy="1616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2100" b="0">
                <a:sym typeface="+mn-ea"/>
              </a:rPr>
              <a:t>Конфигурација је доминирана ако постоји друга конфигурација која није лошија ни по једном критеријуму, а боља је бар по једном.</a:t>
            </a:r>
            <a:endParaRPr sz="2100" b="0">
              <a:sym typeface="+mn-ea"/>
            </a:endParaRPr>
          </a:p>
          <a:p>
            <a:pPr algn="l">
              <a:spcAft>
                <a:spcPts val="1200"/>
              </a:spcAft>
              <a:buClrTx/>
              <a:buSzTx/>
              <a:buFontTx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2100" b="0">
                <a:sym typeface="+mn-ea"/>
              </a:rPr>
              <a:t>Парето анализа обухвата WER, RTF и меморијску захтевност, док график приказује само WER и RTF; величина тачке представља просечну максималну вредност RSS-а.</a:t>
            </a:r>
            <a:endParaRPr sz="2100" b="0"/>
          </a:p>
          <a:p>
            <a:pPr algn="ctr"/>
            <a:endParaRPr lang="en-US" alt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1052703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1440180"/>
            <a:ext cx="5734685" cy="307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Изабрана конфигурација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2030"/>
            <a:ext cx="10972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Faster-Whisper Small INT8</a:t>
            </a:r>
            <a:r>
              <a:rPr lang="sr-Cyrl-BA">
                <a:latin typeface="Times New Roman" panose="02020603050405020304"/>
              </a:rPr>
              <a:t> </a:t>
            </a:r>
            <a:endParaRPr lang="sr-Cyrl-BA"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0550" y="217043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1718" y="233502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22,43%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1718" y="287451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Просечан WER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03598" y="217043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4766" y="233502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0,351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04766" y="287451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Просечан RTF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07502" y="217043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8670" y="233502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853,59 MB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8670" y="287451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Просечан максимални RSS</a:t>
            </a:r>
            <a:endParaRPr>
              <a:latin typeface="Times New Roman" panose="02020603050405020304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40080" y="4925695"/>
            <a:ext cx="9017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sym typeface="+mn-ea"/>
              </a:rPr>
              <a:t>Укупан скор: 0,8289 · прво место у три сценарија пондерисања.</a:t>
            </a:r>
            <a:endParaRPr lang="en-US" altLang="en-US">
              <a:latin typeface="Times New Roman" panose="02020603050405020304"/>
            </a:endParaRPr>
          </a:p>
          <a:p>
            <a:pPr marL="342900" indent="-342900" algn="l"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Завршни профил: компромис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Faster-Whisper Small INT8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Просечан WER 22,43% · просечан RTF 0,351 у изборном експерименту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Корак обраде 5 s · акустичко преклапање 1 s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Пренос претходног текстуалног контекста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Погодност профила процењена завршном валидацијом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sr-Cyrl-BA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Резултати евалуације </a:t>
            </a:r>
            <a:endParaRPr lang="sr-Cyrl-BA"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396105"/>
            <a:ext cx="10972800" cy="233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/>
              </a:rPr>
              <a:t>Валидација је спроведена на укупно 70 снимака</a:t>
            </a:r>
            <a:endParaRPr lang="en-US" altLang="en-US">
              <a:latin typeface="Times New Roman" panose="02020603050405020304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sym typeface="+mn-ea"/>
              </a:rPr>
              <a:t>Сегментна обрада омогућава постепено добијање резултата, али повећава грешку и време обраде у односу на транскрипцију целих снимака. Вредности RTF-а веће од 1 (1,125 и 1,358) показују да испитивани профил није постигао стабилан рад у реалном времену на коришћеном процесору.</a:t>
            </a:r>
            <a:endParaRPr lang="en-US" altLang="en-US">
              <a:sym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endParaRPr lang="en-US" altLang="en-US">
              <a:latin typeface="Times New Roman" panose="02020603050405020304"/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1061085" y="1577975"/>
          <a:ext cx="9376410" cy="227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645"/>
                <a:gridCol w="2837180"/>
                <a:gridCol w="2775585"/>
              </a:tblGrid>
              <a:tr h="49085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Скуп / начин обраде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Корпусни WER [%]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Просечан RTF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47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FLEURS 30 — сегментно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49,21%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1,125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47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FLEURS 30 — цео снимак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49,05%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0,886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47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Главни скуп 40 — сегментно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34,37%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1,358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447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Главни скуп 40 — цео снимак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23,23%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0,434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Завршна провера: цело или сегментно?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40 снимака · изабрани интегрисани профил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915543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89245"/>
            <a:ext cx="10789920" cy="1064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sym typeface="+mn-ea"/>
              </a:rPr>
              <a:t>Интегрисани профил омогућава симулирану сегментну транскрипцију, али у односу на обраду целих снимака повећава WER и RTF. Пошто је RTF сегментне обраде већи од 1, обрада је спорија од пристизања звука. Због тога на испитиваном CPU окружењу није остварен стабилан рад у реалном времену.</a:t>
            </a:r>
            <a:endParaRPr lang="en-US" altLang="en-US">
              <a:sym typeface="+mn-ea"/>
            </a:endParaRPr>
          </a:p>
          <a:p>
            <a:pPr>
              <a:spcAft>
                <a:spcPts val="1200"/>
              </a:spcAft>
              <a:defRPr sz="17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Доменска адаптација: пољопривреда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Whisper Small · 800 снимака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21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675 снимака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7614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Обучавање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15968" y="205740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221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75 снимака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27614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Валидација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566160" cy="182880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21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50 снимака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Тестирање: нови говорник</a:t>
            </a:r>
            <a:endParaRPr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78992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/>
              </a:rPr>
              <a:t>Whisper Small модел је доменски адаптиран на 675 снимака пољопривредног говора на српском кроз 5 епоха, а изабран је најбољи checkpoint (након 3. епохе) и евалуиран на 50 снимака новог говорника, који није био обухваћен скупом за обучавање.</a:t>
            </a:r>
            <a:endParaRPr lang="en-US" altLang="en-US"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0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sym typeface="+mn-ea"/>
              </a:rPr>
              <a:t>Циљ: боље препознавање стручних речи и провера преноса на невиђеног говорника.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000" b="1">
                <a:solidFill>
                  <a:srgbClr val="18395B"/>
                </a:solidFill>
                <a:latin typeface="Times New Roman" panose="02020603050405020304"/>
              </a:defRPr>
            </a:pPr>
            <a:endParaRPr lang="en-US" altLang="en-US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Доменски скуп: подела података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Укупно 800 пољопривредних аудио-записа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675 снимака за обучавање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75 снимака за валидацију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50 снимака за тестирање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Тест говорник није био присутан у подацима за обучавање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Доменска адаптација: главни резултат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50 тест снимака · говорник није био у скупу за обуку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pic>
        <p:nvPicPr>
          <p:cNvPr id="6" name="Picture 5" descr="graph_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19"/>
            <a:ext cx="1024128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79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Побољшање: 13,69 процентних поена · 44,15% релативно мање грешака.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sr-Cyrl-BA">
                <a:latin typeface="Times New Roman" panose="02020603050405020304"/>
              </a:rPr>
              <a:t>Генерализација модела након д</a:t>
            </a:r>
            <a:r>
              <a:rPr>
                <a:latin typeface="Times New Roman" panose="02020603050405020304"/>
              </a:rPr>
              <a:t>оменск</a:t>
            </a:r>
            <a:r>
              <a:rPr lang="sr-Cyrl-BA">
                <a:latin typeface="Times New Roman" panose="02020603050405020304"/>
              </a:rPr>
              <a:t>е</a:t>
            </a:r>
            <a:r>
              <a:rPr>
                <a:latin typeface="Times New Roman" panose="02020603050405020304"/>
              </a:rPr>
              <a:t> адаптациј</a:t>
            </a:r>
            <a:r>
              <a:rPr lang="sr-Cyrl-BA">
                <a:latin typeface="Times New Roman" panose="02020603050405020304"/>
              </a:rPr>
              <a:t>е</a:t>
            </a:r>
            <a:endParaRPr lang="sr-Cyrl-BA"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5031105"/>
            <a:ext cx="10789920" cy="1409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1900">
                <a:sym typeface="+mn-ea"/>
              </a:rPr>
              <a:t>Адаптирани модел остварио је бољи WER на пољопривредном и главном скупу српског говора, док је на FLEURS скупу забележено благо погоршање.</a:t>
            </a:r>
            <a:endParaRPr sz="1900" b="1"/>
          </a:p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1900">
                <a:sym typeface="+mn-ea"/>
              </a:rPr>
              <a:t>Резултати показују да доменска адаптација може побољшати тачност, али не гарантује боље перформансе на свим говорним скуповима.</a:t>
            </a:r>
            <a:endParaRPr sz="1900" b="1"/>
          </a:p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383030"/>
            <a:ext cx="6654165" cy="36480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>
                <a:latin typeface="Times New Roman" panose="02020603050405020304"/>
              </a:rPr>
              <a:t>Примери побољшања транскрипције након адаптације</a:t>
            </a:r>
            <a:endParaRPr lang="en-US" altLang="en-US"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4726178"/>
            <a:ext cx="10789920" cy="11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Tx/>
              <a:buSzTx/>
              <a:buFontTx/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sr-Cyrl-BA" altLang="en-US" sz="1900">
                <a:sym typeface="+mn-ea"/>
              </a:rPr>
              <a:t>О</a:t>
            </a:r>
            <a:r>
              <a:rPr lang="en-US" altLang="en-US" sz="1900">
                <a:sym typeface="+mn-ea"/>
              </a:rPr>
              <a:t>ригинални Whisper модел је чешће правио фонетске и граматичке грешке у специфичним фразама, док адаптирани модел значајно боље препознаје прави контекст и тачне облике речи.</a:t>
            </a:r>
            <a:endParaRPr lang="en-US" altLang="en-US" sz="1900">
              <a:sym typeface="+mn-ea"/>
            </a:endParaRPr>
          </a:p>
          <a:p>
            <a:pPr>
              <a:spcAft>
                <a:spcPts val="1200"/>
              </a:spcAft>
              <a:defRPr sz="1900" b="1">
                <a:solidFill>
                  <a:srgbClr val="1839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995045" y="1302385"/>
          <a:ext cx="10332720" cy="2828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075"/>
                <a:gridCol w="2357755"/>
                <a:gridCol w="2616835"/>
                <a:gridCol w="4377055"/>
              </a:tblGrid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Снимак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Оригинални модел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Адаптирани модел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Зашто је важно?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51308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777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i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„struktur u zemljišta“</a:t>
                      </a:r>
                      <a:endParaRPr sz="1600" i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„strukturu zemljišta“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И</a:t>
                      </a:r>
                      <a:r>
                        <a:rPr lang="sr-Cyrl-BA"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с</a:t>
                      </a: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прављена граматика / падеж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51308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777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i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„prestajua važan izbor“</a:t>
                      </a:r>
                      <a:endParaRPr sz="1600" i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„predstavlja važan izbor“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Препозната права реч уместо грешке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7188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760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i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„transporto je posad“</a:t>
                      </a:r>
                      <a:endParaRPr sz="1600" i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„transportuje posadi“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Тачно препознат глагол и гласовне промене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  <a:tr h="7181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760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i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„zalije u čvrsti“</a:t>
                      </a:r>
                      <a:endParaRPr sz="1600" i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 b="1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„zalije učvrsti“</a:t>
                      </a:r>
                      <a:endParaRPr sz="1600" b="1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</a:pPr>
                      <a:r>
                        <a:rPr sz="1600">
                          <a:latin typeface="Times New Roman" panose="02020603050405020304" charset="0"/>
                          <a:ea typeface="Google Sans Text"/>
                          <a:cs typeface="Times New Roman" panose="02020603050405020304" charset="0"/>
                        </a:rPr>
                        <a:t>Тачно спојене/раздвојене речи из контекста</a:t>
                      </a:r>
                      <a:endParaRPr sz="1600">
                        <a:latin typeface="Times New Roman" panose="02020603050405020304" charset="0"/>
                        <a:ea typeface="Google Sans Text"/>
                        <a:cs typeface="Times New Roman" panose="02020603050405020304" charset="0"/>
                      </a:endParaRPr>
                    </a:p>
                  </a:txBody>
                  <a:tcPr marL="91757" marR="91757" marT="61277" marB="6127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900" b="1">
                <a:solidFill>
                  <a:srgbClr val="1B3755"/>
                </a:solidFill>
                <a:latin typeface="Times New Roman" panose="02020603050405020304"/>
              </a:rPr>
              <a:t>Шта показује адаптација?</a:t>
            </a:r>
            <a:endParaRPr sz="2900" b="1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228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19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На тесту са новим говорником: WER 31,01% → 17,32%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368296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78024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Апсолутно смањење: 13,69 процентних поена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310128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Проверава се и доменска терминологија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032504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142232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Резултат је везан за испитивани скуп и услове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694944"/>
          </a:xfrm>
          <a:prstGeom prst="roundRect">
            <a:avLst/>
          </a:prstGeom>
          <a:solidFill>
            <a:srgbClr val="E7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74336"/>
            <a:ext cx="10317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3755"/>
                </a:solidFill>
                <a:latin typeface="Times New Roman" panose="02020603050405020304"/>
              </a:rPr>
              <a:t>•  Потребна је даља провера на ширем броју говорника</a:t>
            </a:r>
            <a:endParaRPr sz="1900" b="0">
              <a:solidFill>
                <a:srgbClr val="1B3755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6464808"/>
            <a:ext cx="1091153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E7287"/>
                </a:solidFill>
                <a:latin typeface="Times New Roman" panose="02020603050405020304"/>
              </a:rPr>
              <a:t>Мастер рад · Електронски факултет у Нишу</a:t>
            </a:r>
            <a:endParaRPr sz="1100" b="0">
              <a:solidFill>
                <a:srgbClr val="5E7287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Ограничења и будући рад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789920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Релативно мали скупови и ограничен број говорника.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Резултати брзине и меморије односе се на коришћено CPU окружење.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Сегментна обрада је симулирана, без директног улаза са микрофона.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• Даље: више спонтаног говора, говорника, домена и хардверских платформи.</a:t>
            </a:r>
            <a:endParaRPr>
              <a:latin typeface="Times New Roman" panose="02020603050405020304"/>
            </a:endParaRPr>
          </a:p>
          <a:p>
            <a:pPr>
              <a:spcAft>
                <a:spcPts val="1200"/>
              </a:spcAft>
              <a:defRPr sz="2200" b="0">
                <a:solidFill>
                  <a:srgbClr val="414E5B"/>
                </a:solidFill>
                <a:latin typeface="Times New Roman" panose="02020603050405020304"/>
              </a:defRPr>
            </a:pP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Закључак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Три кључне поруке</a:t>
            </a:r>
            <a:endParaRPr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Мастер рад · Електронски факултет у Нишу</a:t>
            </a:r>
            <a:endParaRPr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23444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01 · Ефикасност</a:t>
            </a:r>
            <a:endParaRPr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Faster-Whisper знатно убрзава извршавање и смањује меморијске захтеве.</a:t>
            </a:r>
            <a:endParaRPr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698480" cy="123444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319272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02 · Избор</a:t>
            </a:r>
            <a:endParaRPr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3858768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Small INT8 пружа најповољнији испитани компромис више критеријума.</a:t>
            </a:r>
            <a:endParaRPr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EDF6FD"/>
          </a:solidFill>
          <a:ln>
            <a:solidFill>
              <a:srgbClr val="D2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736592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03 · Адаптација</a:t>
            </a:r>
            <a:endParaRPr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5276088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E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Додатно обучавање побољшава препознавање пољопривредног говора новог говорника.</a:t>
            </a:r>
            <a:endParaRPr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87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8395B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Хвала на пажњи!</a:t>
            </a:r>
            <a:endParaRPr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873B1"/>
                </a:solidFill>
                <a:latin typeface="Times New Roman" panose="02020603050405020304"/>
              </a:defRPr>
            </a:pPr>
            <a:r>
              <a:rPr>
                <a:latin typeface="Times New Roman" panose="02020603050405020304"/>
              </a:rPr>
              <a:t>Питања и дискусија</a:t>
            </a:r>
            <a:endParaRPr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700" b="0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2800">
                <a:latin typeface="Times New Roman" panose="02020603050405020304"/>
              </a:rPr>
              <a:t>Александар Јовановић</a:t>
            </a:r>
            <a:endParaRPr sz="2800">
              <a:latin typeface="Times New Roman" panose="02020603050405020304"/>
            </a:endParaRPr>
          </a:p>
          <a:p>
            <a:pPr algn="ctr">
              <a:spcAft>
                <a:spcPts val="1200"/>
              </a:spcAft>
              <a:defRPr sz="2700" b="0">
                <a:solidFill>
                  <a:srgbClr val="18395B"/>
                </a:solidFill>
                <a:latin typeface="Times New Roman" panose="02020603050405020304"/>
              </a:defRPr>
            </a:pPr>
            <a:r>
              <a:rPr lang="en-US" altLang="en-US" sz="2800">
                <a:solidFill>
                  <a:srgbClr val="0070C0"/>
                </a:solidFill>
                <a:latin typeface="Times New Roman" panose="02020603050405020304"/>
              </a:rPr>
              <a:t>Студијски програм: Вештачка интелигенција и машинско учење</a:t>
            </a:r>
            <a:endParaRPr lang="en-US" altLang="en-US" sz="280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spcAft>
                <a:spcPts val="1200"/>
              </a:spcAft>
              <a:defRPr sz="2700" b="0">
                <a:solidFill>
                  <a:srgbClr val="18395B"/>
                </a:solidFill>
                <a:latin typeface="Times New Roman" panose="02020603050405020304"/>
              </a:defRPr>
            </a:pPr>
            <a:r>
              <a:rPr sz="2800">
                <a:latin typeface="Times New Roman" panose="02020603050405020304"/>
              </a:rPr>
              <a:t>Електронски факултет · Универзитет у Нишу</a:t>
            </a:r>
            <a:endParaRPr sz="28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1*125"/>
  <p:tag name="TABLE_ENDDRAG_RECT" val="54*371*871*1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15080</Words>
  <Application>WPS Presentation</Application>
  <PresentationFormat>On-screen Show (4:3)</PresentationFormat>
  <Paragraphs>772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Arial</vt:lpstr>
      <vt:lpstr>SimSun</vt:lpstr>
      <vt:lpstr>Wingdings</vt:lpstr>
      <vt:lpstr>Arial</vt:lpstr>
      <vt:lpstr>Times New Roman</vt:lpstr>
      <vt:lpstr>Times New Roman</vt:lpstr>
      <vt:lpstr>Google Sans Text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Aleksandar Jovanovic</cp:lastModifiedBy>
  <cp:revision>16</cp:revision>
  <dcterms:created xsi:type="dcterms:W3CDTF">2013-01-27T09:14:00Z</dcterms:created>
  <dcterms:modified xsi:type="dcterms:W3CDTF">2026-10-22T20:46:06Z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9ACDB45F79C945DBB8470A64C68C7E4E_12</vt:lpwstr>
  </property>
</Properties>
</file>