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304" r:id="rId3"/>
    <p:sldId id="305" r:id="rId5"/>
    <p:sldId id="309" r:id="rId6"/>
    <p:sldId id="307" r:id="rId7"/>
    <p:sldId id="311" r:id="rId8"/>
    <p:sldId id="310" r:id="rId9"/>
    <p:sldId id="313" r:id="rId10"/>
    <p:sldId id="312" r:id="rId11"/>
    <p:sldId id="316" r:id="rId12"/>
    <p:sldId id="317" r:id="rId13"/>
    <p:sldId id="322" r:id="rId14"/>
    <p:sldId id="323" r:id="rId15"/>
    <p:sldId id="327" r:id="rId16"/>
    <p:sldId id="328" r:id="rId17"/>
    <p:sldId id="326" r:id="rId18"/>
    <p:sldId id="329" r:id="rId19"/>
    <p:sldId id="308" r:id="rId20"/>
    <p:sldId id="319" r:id="rId21"/>
    <p:sldId id="337" r:id="rId22"/>
    <p:sldId id="338" r:id="rId23"/>
    <p:sldId id="339" r:id="rId24"/>
    <p:sldId id="340" r:id="rId25"/>
    <p:sldId id="341" r:id="rId26"/>
    <p:sldId id="342" r:id="rId27"/>
    <p:sldId id="343" r:id="rId28"/>
    <p:sldId id="344" r:id="rId29"/>
    <p:sldId id="345" r:id="rId30"/>
    <p:sldId id="346" r:id="rId31"/>
    <p:sldId id="347" r:id="rId32"/>
    <p:sldId id="348" r:id="rId33"/>
    <p:sldId id="349" r:id="rId34"/>
    <p:sldId id="350" r:id="rId35"/>
    <p:sldId id="351" r:id="rId36"/>
    <p:sldId id="352" r:id="rId37"/>
    <p:sldId id="353" r:id="rId38"/>
    <p:sldId id="354" r:id="rId39"/>
    <p:sldId id="355" r:id="rId40"/>
    <p:sldId id="356" r:id="rId41"/>
    <p:sldId id="357" r:id="rId42"/>
    <p:sldId id="358" r:id="rId43"/>
    <p:sldId id="359" r:id="rId44"/>
    <p:sldId id="360" r:id="rId45"/>
    <p:sldId id="330" r:id="rId46"/>
    <p:sldId id="361" r:id="rId47"/>
    <p:sldId id="306" r:id="rId48"/>
  </p:sldIdLst>
  <p:sldSz cx="9144000" cy="5143500"/>
  <p:notesSz cx="6858000" cy="9144000"/>
  <p:embeddedFontLst>
    <p:embeddedFont>
      <p:font typeface="SimSun" panose="02010600030101010101" pitchFamily="2" charset="-122"/>
      <p:regular r:id="rId52"/>
    </p:embeddedFont>
    <p:embeddedFont>
      <p:font typeface="Fjalla One"/>
      <p:regular r:id="rId53"/>
    </p:embeddedFont>
    <p:embeddedFont>
      <p:font typeface="Barlow Semi Condensed Medium" panose="00000606000000000000"/>
      <p:regular r:id="rId54"/>
    </p:embeddedFont>
    <p:embeddedFont>
      <p:font typeface="Barlow Semi Condensed" panose="00000506000000000000"/>
      <p:regular r:id="rId5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5" Type="http://schemas.openxmlformats.org/officeDocument/2006/relationships/font" Target="fonts/font4.fntdata"/><Relationship Id="rId54" Type="http://schemas.openxmlformats.org/officeDocument/2006/relationships/font" Target="fonts/font3.fntdata"/><Relationship Id="rId53" Type="http://schemas.openxmlformats.org/officeDocument/2006/relationships/font" Target="fonts/font2.fntdata"/><Relationship Id="rId52" Type="http://schemas.openxmlformats.org/officeDocument/2006/relationships/font" Target="fonts/font1.fntdata"/><Relationship Id="rId51" Type="http://schemas.openxmlformats.org/officeDocument/2006/relationships/tableStyles" Target="tableStyles.xml"/><Relationship Id="rId50" Type="http://schemas.openxmlformats.org/officeDocument/2006/relationships/viewProps" Target="viewProps.xml"/><Relationship Id="rId5" Type="http://schemas.openxmlformats.org/officeDocument/2006/relationships/slide" Target="slides/slide2.xml"/><Relationship Id="rId49" Type="http://schemas.openxmlformats.org/officeDocument/2006/relationships/presProps" Target="presProps.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sr-Cyrl-BA" altLang="en-US"/>
              <a:t>Д</a:t>
            </a:r>
            <a:r>
              <a:rPr lang="en-US" altLang="en-US"/>
              <a:t>анас ћу представити свој мастер рад под називом </a:t>
            </a:r>
            <a:r>
              <a:rPr lang="sr-Cyrl-BA" altLang="en-US"/>
              <a:t>...</a:t>
            </a:r>
            <a:r>
              <a:rPr lang="en-US" altLang="en-US"/>
              <a:t>.</a:t>
            </a:r>
            <a:endParaRPr lang="en-US" altLang="en-US"/>
          </a:p>
          <a:p>
            <a:pPr marL="158750" indent="0">
              <a:buNone/>
            </a:pPr>
            <a:r>
              <a:rPr lang="en-US" altLang="en-US"/>
              <a:t>Рад се бави анализом система Whisper и Faster-Whisper, са посебним фокусом на препознавање српског говора и оптимизацију извршавања на CPU уређајима.</a:t>
            </a:r>
            <a:endParaRPr lang="en-US" altLang="en-US"/>
          </a:p>
          <a:p>
            <a:pPr marL="158750" indent="0">
              <a:buNone/>
            </a:pPr>
            <a:r>
              <a:rPr lang="en-US" altLang="en-US"/>
              <a:t>Поред поређења тачности и брзине, истраживао сам утицај различитих конфигурација</a:t>
            </a:r>
            <a:r>
              <a:rPr lang="sr-Cyrl-BA" altLang="en-US"/>
              <a:t> и услова</a:t>
            </a:r>
            <a:r>
              <a:rPr lang="en-US" altLang="en-US"/>
              <a:t>, развио поступак за аутоматски избор конфигурације и обухватио доменску адаптацију модела за говор из области пољопривреде.</a:t>
            </a:r>
            <a:endParaRPr lang="en-US" altLang="en-US"/>
          </a:p>
          <a:p>
            <a:pPr marL="158750" indent="457200">
              <a:buNone/>
            </a:pPr>
            <a:r>
              <a:rPr lang="en-US" altLang="en-US"/>
              <a:t>Најпре ћу објаснити мотивацију </a:t>
            </a:r>
            <a:r>
              <a:rPr lang="en-US" altLang="en-US">
                <a:sym typeface="+mn-ea"/>
              </a:rPr>
              <a:t> и проблем </a:t>
            </a:r>
            <a:r>
              <a:rPr lang="en-US" altLang="en-US"/>
              <a:t>за ово истраживање</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09" name="Shape 3509"/>
        <p:cNvGrpSpPr/>
        <p:nvPr/>
      </p:nvGrpSpPr>
      <p:grpSpPr>
        <a:xfrm>
          <a:off x="0" y="0"/>
          <a:ext cx="0" cy="0"/>
          <a:chOff x="0" y="0"/>
          <a:chExt cx="0" cy="0"/>
        </a:xfrm>
      </p:grpSpPr>
      <p:sp>
        <p:nvSpPr>
          <p:cNvPr id="3510" name="Google Shape;3510;g8714a43093_3_150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1" name="Google Shape;3511;g8714a43093_3_150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Аутоматско препознавање говора има широку примену, од транскрипције и титловања до гласовних асистената и других система који обрађују говор.</a:t>
            </a:r>
            <a:endParaRPr lang="en-US" altLang="en-US"/>
          </a:p>
          <a:p>
            <a:pPr marL="0" lvl="0" indent="0" algn="l" rtl="0">
              <a:spcBef>
                <a:spcPts val="0"/>
              </a:spcBef>
              <a:spcAft>
                <a:spcPts val="0"/>
              </a:spcAft>
              <a:buNone/>
            </a:pPr>
            <a:r>
              <a:rPr lang="en-US" altLang="en-US"/>
              <a:t>Whisper је вишејезички модел који подржава и српски језик. Међутим, приликом практичне примене није довољно посматрати само тачност транскрипције. Важно је и колико дуго обрада траје, колико меморије систем користи и да ли може ефикасно да ради на рачунару без снажне графичке картице.</a:t>
            </a:r>
            <a:endParaRPr lang="en-US" altLang="en-US"/>
          </a:p>
          <a:p>
            <a:pPr marL="0" lvl="0" indent="0" algn="l" rtl="0">
              <a:spcBef>
                <a:spcPts val="0"/>
              </a:spcBef>
              <a:spcAft>
                <a:spcPts val="0"/>
              </a:spcAft>
              <a:buNone/>
            </a:pPr>
            <a:r>
              <a:rPr lang="sr-Cyrl-BA" altLang="en-US"/>
              <a:t>И</a:t>
            </a:r>
            <a:r>
              <a:rPr lang="en-US" altLang="en-US"/>
              <a:t>страживање </a:t>
            </a:r>
            <a:r>
              <a:rPr lang="sr-Cyrl-BA" altLang="en-US"/>
              <a:t>сам </a:t>
            </a:r>
            <a:r>
              <a:rPr lang="en-US" altLang="en-US"/>
              <a:t>проширио на природне снимке српског говора и више фактора који могу да утичу на перформансе.</a:t>
            </a:r>
            <a:endParaRPr lang="en-US" altLang="en-US"/>
          </a:p>
          <a:p>
            <a:pPr marL="0" lvl="0" indent="0" algn="l" rtl="0">
              <a:spcBef>
                <a:spcPts val="0"/>
              </a:spcBef>
              <a:spcAft>
                <a:spcPts val="0"/>
              </a:spcAft>
              <a:buNone/>
            </a:pPr>
            <a:r>
              <a:rPr lang="en-US" altLang="en-US"/>
              <a:t>Додатна мотивација била је да испитам како се модел може прилагодити говору из конкретне области, у овом случају пољопривреде.</a:t>
            </a:r>
            <a:endParaRPr lang="en-US" altLang="en-US"/>
          </a:p>
          <a:p>
            <a:pPr marL="0" lvl="0" indent="457200" algn="l" rtl="0">
              <a:spcBef>
                <a:spcPts val="0"/>
              </a:spcBef>
              <a:spcAft>
                <a:spcPts val="0"/>
              </a:spcAft>
              <a:buNone/>
            </a:pPr>
            <a:r>
              <a:rPr lang="en-US" altLang="en-US"/>
              <a:t>На основу ових проблема дефинисао сам главни циљ и истраживачка питања рада</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09" name="Shape 3509"/>
        <p:cNvGrpSpPr/>
        <p:nvPr/>
      </p:nvGrpSpPr>
      <p:grpSpPr>
        <a:xfrm>
          <a:off x="0" y="0"/>
          <a:ext cx="0" cy="0"/>
          <a:chOff x="0" y="0"/>
          <a:chExt cx="0" cy="0"/>
        </a:xfrm>
      </p:grpSpPr>
      <p:sp>
        <p:nvSpPr>
          <p:cNvPr id="3510" name="Google Shape;3510;g8714a43093_3_150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1" name="Google Shape;3511;g8714a43093_3_150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Основни циљ рада јесте да испитам у којој мери Whisper систем може да се оптимизује за српски говор, уз истовремено посматрање тачности, брзине и меморијских захтева. Други део циља односи се на прилагођавање модела пољопривредном домену.</a:t>
            </a:r>
            <a:endParaRPr lang="en-US" altLang="en-US"/>
          </a:p>
          <a:p>
            <a:pPr marL="0" lvl="0" indent="0" algn="l" rtl="0">
              <a:spcBef>
                <a:spcPts val="0"/>
              </a:spcBef>
              <a:spcAft>
                <a:spcPts val="0"/>
              </a:spcAft>
              <a:buNone/>
            </a:pPr>
            <a:r>
              <a:rPr lang="en-US" altLang="en-US"/>
              <a:t>Истраживање сам организовао око четири групе питања.</a:t>
            </a:r>
            <a:endParaRPr lang="en-US" altLang="en-US"/>
          </a:p>
          <a:p>
            <a:pPr marL="0" lvl="0" indent="0" algn="l" rtl="0">
              <a:spcBef>
                <a:spcPts val="0"/>
              </a:spcBef>
              <a:spcAft>
                <a:spcPts val="0"/>
              </a:spcAft>
              <a:buNone/>
            </a:pPr>
            <a:r>
              <a:rPr lang="en-US" altLang="en-US"/>
              <a:t>Прво, упоредио сам оригинални Whisper и Faster-Whisper, односно њихове резултате и захтевност извршавања.</a:t>
            </a:r>
            <a:endParaRPr lang="en-US" altLang="en-US"/>
          </a:p>
          <a:p>
            <a:pPr marL="0" lvl="0" indent="0" algn="l" rtl="0">
              <a:spcBef>
                <a:spcPts val="0"/>
              </a:spcBef>
              <a:spcAft>
                <a:spcPts val="0"/>
              </a:spcAft>
              <a:buNone/>
            </a:pPr>
            <a:r>
              <a:rPr lang="en-US" altLang="en-US"/>
              <a:t>Друго, испитао сам утицај величине модела, квантизације, Beam Search параметра, VAD алгоритма, шума, језика и сегментације аудија.</a:t>
            </a:r>
            <a:endParaRPr lang="en-US" altLang="en-US"/>
          </a:p>
          <a:p>
            <a:pPr marL="0" lvl="0" indent="0" algn="l" rtl="0">
              <a:spcBef>
                <a:spcPts val="0"/>
              </a:spcBef>
              <a:spcAft>
                <a:spcPts val="0"/>
              </a:spcAft>
              <a:buNone/>
            </a:pPr>
            <a:r>
              <a:rPr lang="en-US" altLang="en-US"/>
              <a:t>Треће, на основу добијених метрика развио сам поступак за аутоматски избор конфигурације, тако да одлука не зависи само од једне метрике.</a:t>
            </a:r>
            <a:endParaRPr lang="en-US" altLang="en-US"/>
          </a:p>
          <a:p>
            <a:pPr marL="0" lvl="0" indent="0" algn="l" rtl="0">
              <a:spcBef>
                <a:spcPts val="0"/>
              </a:spcBef>
              <a:spcAft>
                <a:spcPts val="0"/>
              </a:spcAft>
              <a:buNone/>
            </a:pPr>
            <a:r>
              <a:rPr lang="en-US" altLang="en-US"/>
              <a:t>Четврто, у делу доменске адаптације испитујем понашање основног и прилагођеног модела на пољопривредном говору, укључујући тестирање на говорнику који није учествовао у обучавању</a:t>
            </a:r>
            <a:endParaRPr lang="en-US" altLang="en-US"/>
          </a:p>
          <a:p>
            <a:pPr marL="0" lvl="0" indent="457200" algn="l" rtl="0">
              <a:spcBef>
                <a:spcPts val="0"/>
              </a:spcBef>
              <a:spcAft>
                <a:spcPts val="0"/>
              </a:spcAft>
              <a:buNone/>
            </a:pPr>
            <a:r>
              <a:rPr lang="en-US" altLang="en-US"/>
              <a:t>Да бих одговорио на ова питања, реализовао сам неколико повезаних истраживачких доприноса.</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Први допринос рада представља формирање скупа од 40 природних снимака српског говора, које су снимила три говорника. Снимци имају различит садржај и трајање, што омогућава поређење конфигурација на истим подацима.</a:t>
            </a:r>
            <a:endParaRPr lang="en-US" altLang="en-US"/>
          </a:p>
          <a:p>
            <a:pPr marL="158750" indent="0">
              <a:buNone/>
            </a:pPr>
            <a:r>
              <a:rPr lang="en-US" altLang="en-US"/>
              <a:t>Други допринос јесте проширена експериментална анализа. Поред основног поређења Whisper-а и Faster-Whisper-а, испитао сам факторе који утичу на тачност, брзину и меморијску захтевност.</a:t>
            </a:r>
            <a:endParaRPr lang="en-US" altLang="en-US"/>
          </a:p>
          <a:p>
            <a:pPr marL="158750" indent="0">
              <a:buNone/>
            </a:pPr>
            <a:r>
              <a:rPr lang="en-US" altLang="en-US"/>
              <a:t>Трећи допринос је симулација streaming транскрипције. Дужи аудио-записи деле се на сегменте различитих величина, како би се испитао однос између брзине добијања резултата и квалитета транскрипције.</a:t>
            </a:r>
            <a:r>
              <a:rPr lang="sr-Cyrl-BA" altLang="en-US"/>
              <a:t> Ре</a:t>
            </a:r>
            <a:r>
              <a:rPr lang="en-US" altLang="en-US"/>
              <a:t>ч </a:t>
            </a:r>
            <a:r>
              <a:rPr lang="sr-Cyrl-BA" altLang="en-US"/>
              <a:t>је </a:t>
            </a:r>
            <a:r>
              <a:rPr lang="en-US" altLang="en-US"/>
              <a:t>о симулацији, а не о потпуно имплементираном продукционом streaming сервису.</a:t>
            </a:r>
            <a:endParaRPr lang="en-US" altLang="en-US"/>
          </a:p>
          <a:p>
            <a:pPr marL="158750" indent="0">
              <a:buNone/>
            </a:pPr>
            <a:r>
              <a:rPr lang="en-US" altLang="en-US"/>
              <a:t>Четврти допринос је поступак за аутоматски избор конфигурације. Он комбинује више метрика, Pareto анализу и анализу осетљивости.</a:t>
            </a:r>
            <a:endParaRPr lang="en-US" altLang="en-US"/>
          </a:p>
          <a:p>
            <a:pPr marL="158750" indent="0">
              <a:buNone/>
            </a:pPr>
            <a:r>
              <a:rPr lang="en-US" altLang="en-US"/>
              <a:t>Пети допринос односи се на доменску адаптацију за пољопривреду, за коју је формиран засебан скуп од 800 снимака, са посебним тест скупом новог говорника.</a:t>
            </a:r>
            <a:endParaRPr lang="en-US" altLang="en-US"/>
          </a:p>
          <a:p>
            <a:pPr marL="158750" indent="457200">
              <a:buNone/>
            </a:pPr>
            <a:r>
              <a:rPr lang="en-US" altLang="en-US"/>
              <a:t>Ови доприноси повезани су у јединствен експериментални поступак.</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Први корак била је припрема аудио-скупова и одговарајућих референтних транскрипата. Затим сам извршио основно поређење Whisper и Faster-Whisper система.</a:t>
            </a:r>
            <a:endParaRPr lang="en-US" altLang="en-US"/>
          </a:p>
          <a:p>
            <a:pPr marL="158750" indent="0">
              <a:buNone/>
            </a:pPr>
            <a:r>
              <a:rPr lang="en-US" altLang="en-US"/>
              <a:t>Након тога следи централни експериментални део, у коме се појединачно испитује утицај различитих фактора на тачност и перформансе система.</a:t>
            </a:r>
            <a:endParaRPr lang="en-US" altLang="en-US"/>
          </a:p>
          <a:p>
            <a:pPr marL="158750" indent="0">
              <a:buNone/>
            </a:pPr>
            <a:r>
              <a:rPr lang="en-US" altLang="en-US"/>
              <a:t>Резултати тих експеримената представљају основу за аутоматски избор конфигурације, уз истовремено разматрање више критеријума.</a:t>
            </a:r>
            <a:endParaRPr lang="en-US" altLang="en-US"/>
          </a:p>
          <a:p>
            <a:pPr marL="158750" indent="0">
              <a:buNone/>
            </a:pPr>
            <a:r>
              <a:rPr lang="en-US" altLang="en-US"/>
              <a:t>На крају, у посебној истраживачкој целини, разматра се доменска адаптација Whisper модела на српски говор из области пољопривреде и евалуација на новом говорнику.</a:t>
            </a:r>
            <a:endParaRPr lang="en-US" altLang="en-US"/>
          </a:p>
          <a:p>
            <a:pPr marL="158750" indent="457200">
              <a:buNone/>
            </a:pPr>
            <a:r>
              <a:rPr lang="en-US" altLang="en-US"/>
              <a:t>За почетак, укратко ћу објаснити како функционишу системи за аутоматско препознавање говора</a:t>
            </a:r>
            <a:r>
              <a:rPr lang="sr-Cyrl-BA" altLang="en-US"/>
              <a:t>.</a:t>
            </a:r>
            <a:endParaRPr lang="sr-Cyrl-BA"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Аутоматско препознавање говора, односно ASR, представља област вештачке интелигенције чији је задатак претварање изговореног садржаја у текст.</a:t>
            </a:r>
            <a:endParaRPr lang="en-US" altLang="en-US"/>
          </a:p>
          <a:p>
            <a:pPr marL="158750" indent="0">
              <a:buNone/>
            </a:pPr>
            <a:r>
              <a:rPr lang="en-US" altLang="en-US"/>
              <a:t>Поступак можемо поједностављено приказати кроз неколико корака. Најпре се говор снима и претвара у дигитални аудио-сигнал. Након одговарајуће припреме, сигнал се прослеђује моделу, који анализира његове карактеристике и генерише текстуалну транскрипцију.</a:t>
            </a:r>
            <a:endParaRPr lang="en-US" altLang="en-US"/>
          </a:p>
          <a:p>
            <a:pPr marL="158750" indent="0">
              <a:buNone/>
            </a:pPr>
            <a:r>
              <a:rPr lang="en-US" altLang="en-US"/>
              <a:t>Иако кориснику овај процес делује једноставно, говор је веома променљив. Исту реченицу различите особе изговарају различитом брзином и акцентом. На квалитет утичу и микрофон, просторија, позадински шум и паузе у говору.</a:t>
            </a:r>
            <a:endParaRPr lang="en-US" altLang="en-US"/>
          </a:p>
          <a:p>
            <a:pPr marL="158750" indent="0">
              <a:buNone/>
            </a:pPr>
            <a:r>
              <a:rPr lang="en-US" altLang="en-US"/>
              <a:t>Зато квалитет ASR система не можемо процењивати само на једном идеалном снимку. Поред тачности, у практичној примени важно је и колико брзо систем ради и колико рачунарских ресурса захтева.</a:t>
            </a:r>
            <a:endParaRPr lang="en-US" altLang="en-US"/>
          </a:p>
          <a:p>
            <a:pPr marL="158750" indent="0">
              <a:buNone/>
            </a:pPr>
            <a:r>
              <a:rPr lang="en-US" altLang="en-US"/>
              <a:t>Управо због тога сам у раду посматрао више говорника, различита трајања снимака и више показатеља перформанси.</a:t>
            </a:r>
            <a:endParaRPr lang="en-US" altLang="en-US"/>
          </a:p>
          <a:p>
            <a:pPr marL="158750" indent="457200">
              <a:buNone/>
            </a:pPr>
            <a:r>
              <a:rPr lang="en-US" altLang="en-US"/>
              <a:t>Да бисмо разумели како модел препознаје говор, најпре треба да видимо у ком облику аудио-сигнал долази до модела.“</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Говор је у физичком облику континуални звучни талас, док рачунар обрађује дискретне нумеричке вредности. Због тога се сигнал дигитализује узорковањем.</a:t>
            </a:r>
            <a:endParaRPr lang="en-US" altLang="en-US"/>
          </a:p>
          <a:p>
            <a:pPr marL="158750" indent="0">
              <a:buNone/>
            </a:pPr>
            <a:r>
              <a:rPr lang="en-US" altLang="en-US"/>
              <a:t>За Whisper је карактеристична обрада аудија на фреквенцији узорковања од 16 килохерца, што значи 16 хиљада узорака у једној секунди.</a:t>
            </a:r>
            <a:endParaRPr lang="en-US" altLang="en-US"/>
          </a:p>
          <a:p>
            <a:pPr marL="158750" indent="0">
              <a:buNone/>
            </a:pPr>
            <a:r>
              <a:rPr lang="en-US" altLang="en-US"/>
              <a:t>Међутим, сам таласни облик не приказује довољно јасно како се фреквенцијске карактеристике говора мењају током времена. Зато се примењује кратковремена Фуријеова трансформација, односно STFT. Она дели сигнал на кратке временске оквире и анализира њихов фреквенцијски садржај.</a:t>
            </a:r>
            <a:endParaRPr lang="en-US" altLang="en-US"/>
          </a:p>
          <a:p>
            <a:pPr marL="158750" indent="0">
              <a:buNone/>
            </a:pPr>
            <a:r>
              <a:rPr lang="en-US" altLang="en-US"/>
              <a:t>Затим се примењује Mel филтерска банка, која фреквенције представља на скали прилагођеној људској перцепцији. Логаритамском трансформацијом добија се log-Mel спектрограм, који Whisper користи као улаз.</a:t>
            </a:r>
            <a:endParaRPr lang="en-US" altLang="en-US"/>
          </a:p>
          <a:p>
            <a:pPr marL="158750" indent="0">
              <a:buNone/>
            </a:pPr>
            <a:r>
              <a:rPr lang="en-US" altLang="en-US"/>
              <a:t>Овај поступак важан је и за моје експерименте. Позадински шум мења карактеристике сигнала, док сегментација и уклањање тишине утичу на то који део аудија модел обрађује.</a:t>
            </a:r>
            <a:endParaRPr lang="en-US" altLang="en-US"/>
          </a:p>
          <a:p>
            <a:pPr marL="158750" indent="457200">
              <a:buNone/>
            </a:pPr>
            <a:r>
              <a:rPr lang="en-US" altLang="en-US"/>
              <a:t>Након што је аудио представљен у облику погодном за модел, потребно је обрадити његове временске зависности. Ту долазимо до Transformer архитектуре.</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Transformer је архитектура дубоког учења заснована на механизму пажње, односно attention механизму.</a:t>
            </a:r>
            <a:endParaRPr lang="en-US" altLang="en-US"/>
          </a:p>
          <a:p>
            <a:pPr marL="158750" indent="0">
              <a:buNone/>
            </a:pPr>
            <a:r>
              <a:rPr lang="en-US" altLang="en-US"/>
              <a:t>За разлику од класичних рекурентних мрежа, које секвенцу обрађују корак по корак, attention омогућава моделу да повезује информације из различитих делова секвенце. То је посебно важно код говора, где препознавање одређеног дела може зависити од ширег контекста.</a:t>
            </a:r>
            <a:endParaRPr lang="en-US" altLang="en-US"/>
          </a:p>
          <a:p>
            <a:pPr marL="158750" indent="0">
              <a:buNone/>
            </a:pPr>
            <a:r>
              <a:rPr lang="en-US" altLang="en-US"/>
              <a:t>Whisper користи Encoder–Decoder Transformer архитектуру.</a:t>
            </a:r>
            <a:endParaRPr lang="en-US" altLang="en-US"/>
          </a:p>
          <a:p>
            <a:pPr marL="158750" indent="0">
              <a:buNone/>
            </a:pPr>
            <a:r>
              <a:rPr lang="en-US" altLang="en-US"/>
              <a:t>Encoder прима log-Mel спектрограм и из њега формира унутрашњу репрезентацију говорних карактеристика. Decoder затим користи ту репрезентацију и претходно генерисане токене како би предвидео наредни токен транскрипције.</a:t>
            </a:r>
            <a:endParaRPr lang="en-US" altLang="en-US"/>
          </a:p>
          <a:p>
            <a:pPr marL="158750" indent="0">
              <a:buNone/>
            </a:pPr>
            <a:r>
              <a:rPr lang="en-US" altLang="en-US"/>
              <a:t>Овај поступак се понавља док се не формира текстуални излаз.</a:t>
            </a:r>
            <a:endParaRPr lang="en-US" altLang="en-US"/>
          </a:p>
          <a:p>
            <a:pPr marL="158750" indent="0">
              <a:buNone/>
            </a:pPr>
            <a:r>
              <a:rPr lang="en-US" altLang="en-US"/>
              <a:t>За мој рад посебно је значајно што се током декодирања могу користити различита подешавања, попут Beam Search параметра. Она утичу на начин избора текстуалне секвенце, а самим тим могу да промене и тачност и време транскрипције.</a:t>
            </a:r>
            <a:endParaRPr lang="en-US" altLang="en-US"/>
          </a:p>
          <a:p>
            <a:pPr marL="158750" indent="457200">
              <a:buNone/>
            </a:pPr>
            <a:r>
              <a:rPr lang="en-US" altLang="en-US"/>
              <a:t>На овој архитектури заснован је Whisper модел, који представља полазну основу целог истраживања.</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Whisper је вишејезички модел за аутоматско препознавање говора, заснован на Transformer Encoder–Decoder архитектури.</a:t>
            </a:r>
            <a:endParaRPr lang="en-US" altLang="en-US"/>
          </a:p>
          <a:p>
            <a:pPr marL="158750" indent="0">
              <a:buNone/>
            </a:pPr>
            <a:r>
              <a:rPr lang="en-US" altLang="en-US"/>
              <a:t>Његова важна карактеристика јесте могућност транскрипције говора на различитим језицима, укључујући српски. Модел као улаз користи log-Mel спектрограм, а као излаз генерише текстуалне токене.</a:t>
            </a:r>
            <a:endParaRPr lang="en-US" altLang="en-US"/>
          </a:p>
          <a:p>
            <a:pPr marL="158750" indent="0">
              <a:buNone/>
            </a:pPr>
            <a:r>
              <a:rPr lang="en-US" altLang="en-US"/>
              <a:t>Whisper постоји у више величина. Мањи модели имају мање параметара и обично су мање захтевни за извршавање, док већи модели имају већи капацитет, али захтевају више рачунарских ресурса.</a:t>
            </a:r>
            <a:endParaRPr lang="en-US" altLang="en-US"/>
          </a:p>
          <a:p>
            <a:pPr marL="158750" indent="0">
              <a:buNone/>
            </a:pPr>
            <a:r>
              <a:rPr lang="en-US" altLang="en-US"/>
              <a:t>У свом експерименту величине модела анализирао сам четири Faster-Whisper варијанте: Tiny, Base, Small и Medium.</a:t>
            </a:r>
            <a:endParaRPr lang="en-US" altLang="en-US"/>
          </a:p>
          <a:p>
            <a:pPr marL="158750" indent="0">
              <a:buNone/>
            </a:pPr>
            <a:r>
              <a:rPr lang="en-US" altLang="en-US"/>
              <a:t>За сваку варијанту мерио сам тачност транскрипције, време обраде и RTF, како бих испитао колико се промена величине модела одражава на квалитет и перформансе на српском говору.</a:t>
            </a:r>
            <a:endParaRPr lang="en-US" altLang="en-US"/>
          </a:p>
          <a:p>
            <a:pPr marL="158750" indent="0">
              <a:buNone/>
            </a:pPr>
            <a:r>
              <a:rPr lang="en-US" altLang="en-US"/>
              <a:t>Резултате овог поређења приказаћу у експерименталном делу.</a:t>
            </a:r>
            <a:endParaRPr lang="en-US" altLang="en-US"/>
          </a:p>
          <a:p>
            <a:pPr marL="158750" indent="457200">
              <a:buNone/>
            </a:pPr>
            <a:r>
              <a:rPr lang="en-US" altLang="en-US"/>
              <a:t>Међутим, величина модела није једини начин да утичемо на перформансе. Важна је и имплементација којом се модел извршава.</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Faster-Whisper представља оптимизовану имплементацију Whisper модела, засновану на библиотеци CTranslate2.</a:t>
            </a:r>
            <a:endParaRPr lang="en-US" altLang="en-US"/>
          </a:p>
          <a:p>
            <a:pPr marL="158750" indent="0">
              <a:buNone/>
            </a:pPr>
            <a:r>
              <a:rPr lang="en-US" altLang="en-US"/>
              <a:t>Faster-Whisper није потпуно нова неуронска архитектура. Он користи постојеће Whisper моделе, али их извршава на другачији, оптимизован начин.</a:t>
            </a:r>
            <a:endParaRPr lang="en-US" altLang="en-US"/>
          </a:p>
          <a:p>
            <a:pPr marL="158750" indent="0">
              <a:buNone/>
            </a:pPr>
            <a:r>
              <a:rPr lang="en-US" altLang="en-US"/>
              <a:t>Оригинална Whisper имплементација користи PyTorch, док Faster-Whisper користи CTranslate2, који омогућава оптимизоване операције, ефикасније управљање меморијом и различите нумеричке формате.</a:t>
            </a:r>
            <a:endParaRPr lang="en-US" altLang="en-US"/>
          </a:p>
          <a:p>
            <a:pPr marL="158750" indent="0">
              <a:buNone/>
            </a:pPr>
            <a:r>
              <a:rPr lang="en-US" altLang="en-US"/>
              <a:t>За мој рад посебно је значајна INT8 квантизација. У поређењу са FLOAT32 репрезентацијом, она омогућава коришћење мањег броја битова за представљање одређених вредности модела. Ипак, то не значи да ће целокупан процес аутоматски користити четири пута мање RAM меморије — стварна потрошња зависи и од активација, привремених података и осталих компоненти.</a:t>
            </a:r>
            <a:endParaRPr lang="en-US" altLang="en-US"/>
          </a:p>
          <a:p>
            <a:pPr marL="158750" indent="0">
              <a:buNone/>
            </a:pPr>
            <a:r>
              <a:rPr lang="en-US" altLang="en-US"/>
              <a:t>Због тога сам оригинални Whisper и Faster-Whisper поредио експериментално, кроз тачност транскрипције, време извршавања, RTF и меморијску захтевност.</a:t>
            </a:r>
            <a:endParaRPr lang="en-US" altLang="en-US"/>
          </a:p>
          <a:p>
            <a:pPr marL="158750" indent="0">
              <a:buNone/>
            </a:pPr>
            <a:r>
              <a:rPr lang="en-US" altLang="en-US"/>
              <a:t>У наредном слајду објаснићу кључне механизме и метрике које се користе у тој анализи.</a:t>
            </a:r>
            <a:endParaRPr lang="en-US" altLang="en-US"/>
          </a:p>
          <a:p>
            <a:pPr marL="158750" indent="457200">
              <a:buNone/>
            </a:pPr>
            <a:r>
              <a:rPr lang="en-US" altLang="en-US"/>
              <a:t>Да бисмо правилно тумачили резултате, потребно је да разликујемо параметре којима подешавамо систем од метрика којима меримо његов рад.</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Пре преласка на експерименте важно је разликовати параметре којима подешавамо систем од метрика којима процењујемо његов рад.</a:t>
            </a:r>
            <a:endParaRPr lang="en-US" altLang="en-US"/>
          </a:p>
          <a:p>
            <a:pPr marL="158750" indent="0">
              <a:buNone/>
            </a:pPr>
            <a:r>
              <a:rPr lang="en-US" altLang="en-US"/>
              <a:t>Прва група обухвата квантизацију, Beam Search и VAD.</a:t>
            </a:r>
            <a:endParaRPr lang="en-US" altLang="en-US"/>
          </a:p>
          <a:p>
            <a:pPr marL="158750" indent="0">
              <a:buNone/>
            </a:pPr>
            <a:r>
              <a:rPr lang="en-US" altLang="en-US"/>
              <a:t>Квантизација омогућава коришћење нумеричких формата ниже прецизности, као што је INT8, ради ефикаснијег извршавања. Beam Search одређује колико се могућих текстуалних секвенци разматра током декодирања. VAD проналази делове аудија у којима је присутан говор и може да изостави периоде тишине.</a:t>
            </a:r>
            <a:endParaRPr lang="en-US" altLang="en-US"/>
          </a:p>
          <a:p>
            <a:pPr marL="158750" indent="0">
              <a:buNone/>
            </a:pPr>
            <a:r>
              <a:rPr lang="en-US" altLang="en-US"/>
              <a:t>Другу групу чине метрике.</a:t>
            </a:r>
            <a:endParaRPr lang="en-US" altLang="en-US"/>
          </a:p>
          <a:p>
            <a:pPr marL="158750" indent="0">
              <a:buNone/>
            </a:pPr>
            <a:r>
              <a:rPr lang="en-US" altLang="en-US"/>
              <a:t>WER је основна метрика тачности. Израчунава се као збир замењених, изостављених и додатих речи, подељен бројем речи у референтном тексту. Мањи WER значи мање грешака. CER ради по истом принципу, али на нивоу карактера.</a:t>
            </a:r>
            <a:endParaRPr lang="en-US" altLang="en-US"/>
          </a:p>
          <a:p>
            <a:pPr marL="158750" indent="0">
              <a:buNone/>
            </a:pPr>
            <a:r>
              <a:rPr lang="en-US" altLang="en-US"/>
              <a:t>Време транскрипције показује колико секунди траје обрада, док RTF представља однос времена обраде и трајања снимка. Ако је RTF мањи од један, аудио се обрађује брже од његовог реалног трајања.</a:t>
            </a:r>
            <a:endParaRPr lang="en-US" altLang="en-US"/>
          </a:p>
          <a:p>
            <a:pPr marL="158750" indent="0">
              <a:buNone/>
            </a:pPr>
            <a:r>
              <a:rPr lang="en-US" altLang="en-US"/>
              <a:t>Пратио сам и RAM меморију процеса, а код симулиране streaming транскрипције и латенцију.</a:t>
            </a:r>
            <a:endParaRPr lang="en-US" altLang="en-US"/>
          </a:p>
          <a:p>
            <a:pPr marL="158750" indent="0">
              <a:buNone/>
            </a:pPr>
            <a:r>
              <a:rPr lang="en-US" altLang="en-US"/>
              <a:t>Суштина је да ниједна од ових метрика није довољна сама за себе. Зато ћу касније приказати како се користе заједно при избору конфигурације.</a:t>
            </a:r>
            <a:endParaRPr lang="en-US" altLang="en-US"/>
          </a:p>
          <a:p>
            <a:pPr marL="158750" indent="457200">
              <a:buNone/>
            </a:pPr>
            <a:r>
              <a:rPr lang="en-US" altLang="en-US"/>
              <a:t>Сада када су објашњени модел, параметри и метрике, прелазим на конкретно експериментално окружење.</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Главни експерименти изведени су у локалном Windows окружењу, на рачунару са AMD Ryzen 5 5600H процесором и 8 гигабајта RAM меморије.</a:t>
            </a:r>
            <a:endParaRPr lang="en-US" altLang="en-US"/>
          </a:p>
          <a:p>
            <a:pPr marL="158750" indent="0">
              <a:buNone/>
            </a:pPr>
            <a:r>
              <a:rPr lang="en-US" altLang="en-US"/>
              <a:t>За извршавање Whisper и Faster-Whisper модела коришћен је CPU. Такав избор је важан јер је један од циљева рада испитивање могућности коришћења ASR система на рачунару без ослањања на снажну графичку картицу.</a:t>
            </a:r>
            <a:endParaRPr lang="en-US" altLang="en-US"/>
          </a:p>
          <a:p>
            <a:pPr marL="158750" indent="0">
              <a:buNone/>
            </a:pPr>
            <a:r>
              <a:rPr lang="en-US" altLang="en-US"/>
              <a:t>Експерименти су развијани у Python-у, у оквиру Anaconda окружења и Jupyter Notebook-а.</a:t>
            </a:r>
            <a:endParaRPr lang="en-US" altLang="en-US"/>
          </a:p>
          <a:p>
            <a:pPr marL="158750" indent="0">
              <a:buNone/>
            </a:pPr>
            <a:r>
              <a:rPr lang="en-US" altLang="en-US"/>
              <a:t>Оригинални Whisper користи PyTorch, а Faster-Whisper се ослања на CTranslate2. У зависности од експеримента, коришћене су FLOAT32 и INT8 конфигурације.</a:t>
            </a:r>
            <a:endParaRPr lang="en-US" altLang="en-US"/>
          </a:p>
          <a:p>
            <a:pPr marL="158750" indent="0">
              <a:buNone/>
            </a:pPr>
            <a:r>
              <a:rPr lang="en-US" altLang="en-US"/>
              <a:t>За обраду резултата користио сам NumPy и Pandas, за графиконе Matplotlib, за израчунавање WER-а JiWER, а за праћење меморије psutil.</a:t>
            </a:r>
            <a:endParaRPr lang="en-US" altLang="en-US"/>
          </a:p>
          <a:p>
            <a:pPr marL="158750" indent="0">
              <a:buNone/>
            </a:pPr>
            <a:r>
              <a:rPr lang="en-US" altLang="en-US"/>
              <a:t>Важно је напоменути да су измерена времена и меморијска потрошња везани за ово конкретно окружење. Због тога их првенствено користим за међусобно поређење конфигурација тестираних под истим условима.</a:t>
            </a:r>
            <a:endParaRPr lang="en-US" altLang="en-US"/>
          </a:p>
          <a:p>
            <a:pPr marL="158750" indent="457200">
              <a:buNone/>
            </a:pPr>
            <a:r>
              <a:rPr lang="en-US" altLang="en-US"/>
              <a:t>Након дефинисања окружења, следећи корак био је формирање скупа природног српског говора за основно поређење.</a:t>
            </a:r>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За основно поређење формирао сам benchmark скуп од 40 природних аудио-снимака на српском језику.</a:t>
            </a:r>
            <a:endParaRPr lang="en-US" altLang="en-US"/>
          </a:p>
          <a:p>
            <a:pPr marL="158750" indent="0">
              <a:buNone/>
            </a:pPr>
            <a:r>
              <a:rPr lang="en-US" altLang="en-US"/>
              <a:t>Снимке су направила три различита говорника. Садржај обухвата различите реченице и теме, тако да скуп није ограничен на једну стручну област.</a:t>
            </a:r>
            <a:endParaRPr lang="en-US" altLang="en-US"/>
          </a:p>
          <a:p>
            <a:pPr marL="158750" indent="0">
              <a:buNone/>
            </a:pPr>
            <a:r>
              <a:rPr lang="en-US" altLang="en-US"/>
              <a:t>Снимци су организовани у четири групе према приближном трајању, по десет снимака у свакој групи. Оваква организација омогућава да, поред укупних резултата, анализирам и понашање система на краћим и дужим аудио-записима.</a:t>
            </a:r>
            <a:endParaRPr lang="en-US" altLang="en-US"/>
          </a:p>
          <a:p>
            <a:pPr marL="158750" indent="0">
              <a:buNone/>
            </a:pPr>
            <a:r>
              <a:rPr lang="en-US" altLang="en-US"/>
              <a:t>За сваки снимак припремљен је одговарајући референтни текст, односно транскрипт онога што је говорник изговорио. То омогућава израчунавање WER метрике.</a:t>
            </a:r>
            <a:endParaRPr lang="en-US" altLang="en-US"/>
          </a:p>
          <a:p>
            <a:pPr marL="158750" indent="0">
              <a:buNone/>
            </a:pPr>
            <a:r>
              <a:rPr lang="en-US" altLang="en-US"/>
              <a:t>Предност оваквог скупа је што различите конфигурације могу да се тестирају над истим улазним подацима, а резултати додатно анализирају према трајању и говорнику.</a:t>
            </a:r>
            <a:endParaRPr lang="en-US" altLang="en-US"/>
          </a:p>
          <a:p>
            <a:pPr marL="158750" indent="0">
              <a:buNone/>
            </a:pPr>
            <a:r>
              <a:rPr lang="en-US" altLang="en-US"/>
              <a:t>Овај скуп представља основу главних benchmark експеримената, али га не треба представљати као репрезентативан узорак свих говорника српског језика.</a:t>
            </a:r>
            <a:endParaRPr lang="en-US" altLang="en-US"/>
          </a:p>
          <a:p>
            <a:pPr marL="615950" lvl="1" indent="0">
              <a:buNone/>
            </a:pPr>
            <a:r>
              <a:rPr lang="en-US" altLang="en-US"/>
              <a:t>Поред овог општег скупа, за појединачне експерименте припремљени су додатни скупови података.</a:t>
            </a:r>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Поред главног benchmark скупа, користио сам више додатних скупова, при чему је сваки прилагођен конкретном истраживачком питању.</a:t>
            </a:r>
            <a:endParaRPr lang="en-US" altLang="en-US"/>
          </a:p>
          <a:p>
            <a:pPr marL="158750" indent="0">
              <a:buNone/>
            </a:pPr>
            <a:r>
              <a:rPr lang="en-US" altLang="en-US"/>
              <a:t>За анализу отпорности на шум формиране су верзије чистих снимака са белим и розе шумом, уз различите SNR вредности.</a:t>
            </a:r>
            <a:endParaRPr lang="en-US" altLang="en-US"/>
          </a:p>
          <a:p>
            <a:pPr marL="158750" indent="0">
              <a:buNone/>
            </a:pPr>
            <a:r>
              <a:rPr lang="en-US" altLang="en-US"/>
              <a:t>За поређење српског и енглеског језика коришћен је синтетички говор припремљен контролисаним поступком, како се утицај језика не би мешао са разликом између природног и синтетичког снимања.</a:t>
            </a:r>
            <a:endParaRPr lang="en-US" altLang="en-US"/>
          </a:p>
          <a:p>
            <a:pPr marL="158750" indent="0">
              <a:buNone/>
            </a:pPr>
            <a:r>
              <a:rPr lang="en-US" altLang="en-US"/>
              <a:t>За VAD експеримент коришћено је пет природних српских снимака са додатим паузама и пет синтетичких енглеских снимака.</a:t>
            </a:r>
            <a:endParaRPr lang="en-US" altLang="en-US"/>
          </a:p>
          <a:p>
            <a:pPr marL="158750" indent="0">
              <a:buNone/>
            </a:pPr>
            <a:r>
              <a:rPr lang="en-US" altLang="en-US"/>
              <a:t>За симулацију streaming транскрипције издвојено је пет најдужих снимака, који су обрађивани као целина и у сегментима од две, пет и десет секунди.</a:t>
            </a:r>
            <a:endParaRPr lang="en-US" altLang="en-US"/>
          </a:p>
          <a:p>
            <a:pPr marL="158750" indent="0">
              <a:buNone/>
            </a:pPr>
            <a:r>
              <a:rPr lang="en-US" altLang="en-US"/>
              <a:t>Посебан скуп припремљен је за доменску адаптацију. Он садржи 800 снимака пољопривредног говора: 675 за тренирање, 75 за валидацију и 50 за тестирање.</a:t>
            </a:r>
            <a:endParaRPr lang="en-US" altLang="en-US"/>
          </a:p>
          <a:p>
            <a:pPr marL="158750" indent="0">
              <a:buNone/>
            </a:pPr>
            <a:r>
              <a:rPr lang="en-US" altLang="en-US"/>
              <a:t>Тест скуп садржи четвртог говорника који није учествовао у тренирању, како би се проверило понашање модела на новом гласу.</a:t>
            </a:r>
            <a:endParaRPr lang="en-US" altLang="en-US"/>
          </a:p>
          <a:p>
            <a:pPr marL="158750" indent="0">
              <a:buNone/>
            </a:pPr>
            <a:r>
              <a:rPr lang="en-US" altLang="en-US"/>
              <a:t>Важно је разликовати ове скупове: општи benchmark служи за анализу и оптимизацију, а пољопривредни скуп за додатно обучавање и евалуацију адаптираног модела.</a:t>
            </a:r>
            <a:endParaRPr lang="en-US" altLang="en-US"/>
          </a:p>
          <a:p>
            <a:pPr marL="158750" indent="457200">
              <a:buNone/>
            </a:pPr>
            <a:r>
              <a:rPr lang="en-US" altLang="en-US"/>
              <a:t>Да би поређење различитих конфигурација било што доследније, сви ови скупови припремани су према дефинисаном експерименталном протоколу.</a:t>
            </a:r>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Пре покретања експеримената било је потребно припремити аудио-записе и њихове референтне транскрипте.</a:t>
            </a:r>
            <a:endParaRPr lang="en-US" altLang="en-US"/>
          </a:p>
          <a:p>
            <a:pPr marL="158750" indent="0">
              <a:buNone/>
            </a:pPr>
            <a:r>
              <a:rPr lang="en-US" altLang="en-US"/>
              <a:t>За сваки снимак познат је одговарајући текст и програмски је одређено трајање аудија. Трајање је важно за израчунавање RTF-а и анализу резултата по групама.</a:t>
            </a:r>
            <a:endParaRPr lang="en-US" altLang="en-US"/>
          </a:p>
          <a:p>
            <a:pPr marL="158750" indent="0">
              <a:buNone/>
            </a:pPr>
            <a:r>
              <a:rPr lang="en-US" altLang="en-US"/>
              <a:t>Главни benchmark скуп чуван је у WAV формату. У основном поређењу природни снимци нису вештачки скраћивани или продужавани.</a:t>
            </a:r>
            <a:endParaRPr lang="en-US" altLang="en-US"/>
          </a:p>
          <a:p>
            <a:pPr marL="158750" indent="0">
              <a:buNone/>
            </a:pPr>
            <a:r>
              <a:rPr lang="en-US" altLang="en-US"/>
              <a:t>Додатна обрада зависила је од експеримента. Код анализе шума, из чистих снимака формиране су верзије са белим и розе шумом при задатим SNR вредностима. Код VAD експеримента додаване су контролисане паузе. Код streaming симулације најдужи снимци дељени су на сегменте од две, пет и десет секунди.</a:t>
            </a:r>
            <a:endParaRPr lang="en-US" altLang="en-US"/>
          </a:p>
          <a:p>
            <a:pPr marL="158750" indent="0">
              <a:buNone/>
            </a:pPr>
            <a:r>
              <a:rPr lang="en-US" altLang="en-US"/>
              <a:t>У streaming експерименту аудио је пре сегментације доведен на 16 килохерца. У осталим случајевима део потребне припреме улаза обављале су библиотеке за транскрипцију.</a:t>
            </a:r>
            <a:endParaRPr lang="en-US" altLang="en-US"/>
          </a:p>
          <a:p>
            <a:pPr marL="158750" indent="0">
              <a:buNone/>
            </a:pPr>
            <a:r>
              <a:rPr lang="en-US" altLang="en-US"/>
              <a:t>Пре израчунавања WER-а нормализовани су референтни и генерисани текстови, како разлике попут великих и малих слова или одређених интерпункцијских знакова не би непотребно утицале на резултат.</a:t>
            </a:r>
            <a:endParaRPr lang="en-US" altLang="en-US"/>
          </a:p>
          <a:p>
            <a:pPr marL="158750" indent="0">
              <a:buNone/>
            </a:pPr>
            <a:r>
              <a:rPr lang="en-US" altLang="en-US"/>
              <a:t>Основни принцип свих контролисаних поређења јесте да конфигурације добијају исти улазни аудио и исти референтни текст, а да се мења фактор који се у конкретном експерименту испитује.</a:t>
            </a:r>
            <a:endParaRPr lang="en-US" altLang="en-US"/>
          </a:p>
          <a:p>
            <a:pPr marL="158750" indent="457200">
              <a:buNone/>
            </a:pPr>
            <a:r>
              <a:rPr lang="en-US" altLang="en-US"/>
              <a:t>На овако припремљеним подацима спроведена су мерења тачности, брзине и меморијске потрошње, чију ћу методологију представити на следећем слајду.</a:t>
            </a:r>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Евалуација је организована тако да се различите конфигурације пореде над истим аудио-записима и истим референтним транскриптима.</a:t>
            </a:r>
            <a:endParaRPr lang="en-US" altLang="en-US"/>
          </a:p>
          <a:p>
            <a:pPr marL="158750" indent="0">
              <a:buNone/>
            </a:pPr>
            <a:r>
              <a:rPr lang="en-US" altLang="en-US"/>
              <a:t>За процену тачности користио сам WER. Поред просечне вредности по снимцима, у појединим експериментима рачунао сам и медијану и corpus WER.</a:t>
            </a:r>
            <a:endParaRPr lang="en-US" altLang="en-US"/>
          </a:p>
          <a:p>
            <a:pPr marL="158750" indent="0">
              <a:buNone/>
            </a:pPr>
            <a:r>
              <a:rPr lang="en-US" altLang="en-US"/>
              <a:t>Разлика је у томе што просечни WER сваком снимку даје једнаку тежину, док corpus WER сабира грешке и референтне речи на нивоу целог скупа. Због тога дужи текстови имају већи утицај на corpus WER.</a:t>
            </a:r>
            <a:endParaRPr lang="en-US" altLang="en-US"/>
          </a:p>
          <a:p>
            <a:pPr marL="158750" indent="0">
              <a:buNone/>
            </a:pPr>
            <a:r>
              <a:rPr lang="en-US" altLang="en-US"/>
              <a:t>За перформансе сам мерио време транскрипције, RTF и меморију процеса. Када сам директно поредио две конфигурације, рачунао сам и њихово убрзање.</a:t>
            </a:r>
            <a:endParaRPr lang="en-US" altLang="en-US"/>
          </a:p>
          <a:p>
            <a:pPr marL="158750" indent="0">
              <a:buNone/>
            </a:pPr>
            <a:r>
              <a:rPr lang="en-US" altLang="en-US"/>
              <a:t>Време учитавања модела није укључено у време транскрипције, како оно не би несразмерно утицало на резултате кратких снимака.</a:t>
            </a:r>
            <a:endParaRPr lang="en-US" altLang="en-US"/>
          </a:p>
          <a:p>
            <a:pPr marL="158750" indent="0">
              <a:buNone/>
            </a:pPr>
            <a:r>
              <a:rPr lang="en-US" altLang="en-US"/>
              <a:t>Меморија је праћена преко RSS вредности Python процеса. То је практично мерење у коришћеном окружењу, а не изоловано мерење величине самог модела.</a:t>
            </a:r>
            <a:endParaRPr lang="en-US" altLang="en-US"/>
          </a:p>
          <a:p>
            <a:pPr marL="158750" indent="0">
              <a:buNone/>
            </a:pPr>
            <a:r>
              <a:rPr lang="en-US" altLang="en-US"/>
              <a:t>Код streaming експеримента додатно сам посматрао латенцију и време до првог резултата.</a:t>
            </a:r>
            <a:endParaRPr lang="en-US" altLang="en-US"/>
          </a:p>
          <a:p>
            <a:pPr marL="158750" indent="0">
              <a:buNone/>
            </a:pPr>
            <a:r>
              <a:rPr lang="en-US" altLang="en-US"/>
              <a:t>Основни принцип је да, када испитујем одређени параметар, остале услове настојим да задржим непромењеним.</a:t>
            </a:r>
            <a:endParaRPr lang="en-US" altLang="en-US"/>
          </a:p>
          <a:p>
            <a:pPr marL="158750" indent="457200">
              <a:buNone/>
            </a:pPr>
            <a:r>
              <a:rPr lang="en-US" altLang="en-US"/>
              <a:t>На основу ове методологије спровео сам прво директно поређење оригиналног Whisper-а и Faster-Whisper-а.</a:t>
            </a:r>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09" name="Shape 3509"/>
        <p:cNvGrpSpPr/>
        <p:nvPr/>
      </p:nvGrpSpPr>
      <p:grpSpPr>
        <a:xfrm>
          <a:off x="0" y="0"/>
          <a:ext cx="0" cy="0"/>
          <a:chOff x="0" y="0"/>
          <a:chExt cx="0" cy="0"/>
        </a:xfrm>
      </p:grpSpPr>
      <p:sp>
        <p:nvSpPr>
          <p:cNvPr id="3510" name="Google Shape;3510;g8714a43093_3_150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1" name="Google Shape;3511;g8714a43093_3_150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Први експеримент представља директно поређење оригиналног Whisper-а и Faster-Whisper имплементације.</a:t>
            </a:r>
            <a:endParaRPr lang="en-US" altLang="en-US"/>
          </a:p>
          <a:p>
            <a:pPr marL="0" lvl="0" indent="0" algn="l" rtl="0">
              <a:spcBef>
                <a:spcPts val="0"/>
              </a:spcBef>
              <a:spcAft>
                <a:spcPts val="0"/>
              </a:spcAft>
              <a:buNone/>
            </a:pPr>
            <a:r>
              <a:rPr lang="en-US" altLang="en-US"/>
              <a:t>Користио сам главни benchmark скуп од 40 природних српских снимака које су снимила три говорника. Сви модели извршавани су на истом CPU рачунару.</a:t>
            </a:r>
            <a:endParaRPr lang="en-US" altLang="en-US"/>
          </a:p>
          <a:p>
            <a:pPr marL="0" lvl="0" indent="0" algn="l" rtl="0">
              <a:spcBef>
                <a:spcPts val="0"/>
              </a:spcBef>
              <a:spcAft>
                <a:spcPts val="0"/>
              </a:spcAft>
              <a:buNone/>
            </a:pPr>
            <a:r>
              <a:rPr lang="en-US" altLang="en-US"/>
              <a:t>Поређене су три конфигурације исте Base породице модела: оригинални Whisper Base, Faster-Whisper Base INT8 и Faster-Whisper Base FLOAT32.</a:t>
            </a:r>
            <a:endParaRPr lang="en-US" altLang="en-US"/>
          </a:p>
          <a:p>
            <a:pPr marL="0" lvl="0" indent="0" algn="l" rtl="0">
              <a:spcBef>
                <a:spcPts val="0"/>
              </a:spcBef>
              <a:spcAft>
                <a:spcPts val="0"/>
              </a:spcAft>
              <a:buNone/>
            </a:pPr>
            <a:r>
              <a:rPr lang="en-US" altLang="en-US"/>
              <a:t>Оваква поставка омогућава да се упореде оригинална и оптимизована имплементација, али и да се испита разлика између два нумеричка формата Faster-Whisper-а.</a:t>
            </a:r>
            <a:endParaRPr lang="en-US" altLang="en-US"/>
          </a:p>
          <a:p>
            <a:pPr marL="0" lvl="0" indent="0" algn="l" rtl="0">
              <a:spcBef>
                <a:spcPts val="0"/>
              </a:spcBef>
              <a:spcAft>
                <a:spcPts val="0"/>
              </a:spcAft>
              <a:buNone/>
            </a:pPr>
            <a:r>
              <a:rPr lang="en-US" altLang="en-US"/>
              <a:t>За сваки снимак мерио сам WER, време транскрипције и RTF. Меморијска потрошња анализирана је засебно.</a:t>
            </a:r>
            <a:endParaRPr lang="en-US" altLang="en-US"/>
          </a:p>
          <a:p>
            <a:pPr marL="0" lvl="0" indent="0" algn="l" rtl="0">
              <a:spcBef>
                <a:spcPts val="0"/>
              </a:spcBef>
              <a:spcAft>
                <a:spcPts val="0"/>
              </a:spcAft>
              <a:buNone/>
            </a:pPr>
            <a:r>
              <a:rPr lang="en-US" altLang="en-US"/>
              <a:t>Циљ није био да унапред претпоставим да ће Faster-Whisper увек бити бржи, већ да проверим какве резултате конкретне конфигурације постижу на истом скупу и хардверу.</a:t>
            </a:r>
            <a:endParaRPr lang="en-US" altLang="en-US"/>
          </a:p>
          <a:p>
            <a:pPr marL="0" lvl="0" indent="457200" algn="l" rtl="0">
              <a:spcBef>
                <a:spcPts val="0"/>
              </a:spcBef>
              <a:spcAft>
                <a:spcPts val="0"/>
              </a:spcAft>
              <a:buNone/>
            </a:pPr>
            <a:r>
              <a:rPr lang="en-US" altLang="en-US"/>
              <a:t>Најпре ћу приказати разлике у тачности транскрипције.</a:t>
            </a:r>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графикону је приказан просечни WER за три конфигурације Base модела, израчунат на свих 40 природних српских снимака.</a:t>
            </a:r>
            <a:endParaRPr lang="en-US" altLang="en-US"/>
          </a:p>
          <a:p>
            <a:pPr marL="158750" indent="0">
              <a:buNone/>
            </a:pPr>
            <a:r>
              <a:rPr lang="en-US" altLang="en-US"/>
              <a:t>Оригинални Whisper остварио је просечни WER од 49,52 процента.</a:t>
            </a:r>
            <a:endParaRPr lang="en-US" altLang="en-US"/>
          </a:p>
          <a:p>
            <a:pPr marL="158750" indent="0">
              <a:buNone/>
            </a:pPr>
            <a:r>
              <a:rPr lang="en-US" altLang="en-US"/>
              <a:t>Faster-Whisper INT8 остварио је 43,08 процената, што представља смањење од 6,44 процентна поена у односу на оригиналну имплементацију.</a:t>
            </a:r>
            <a:endParaRPr lang="en-US" altLang="en-US"/>
          </a:p>
          <a:p>
            <a:pPr marL="158750" indent="0">
              <a:buNone/>
            </a:pPr>
            <a:r>
              <a:rPr lang="en-US" altLang="en-US"/>
              <a:t>Faster-Whisper FLOAT32 остварио је 42,95 процената, односно готово исти резултат као INT8.</a:t>
            </a:r>
            <a:endParaRPr lang="en-US" altLang="en-US"/>
          </a:p>
          <a:p>
            <a:pPr marL="158750" indent="0">
              <a:buNone/>
            </a:pPr>
            <a:r>
              <a:rPr lang="en-US" altLang="en-US"/>
              <a:t>Разлика између INT8 и FLOAT32 износи свега око 0,13 процентних поена. То значи да у овом експерименту прелазак на INT8 није довео до приметног погоршања просечне тачности.</a:t>
            </a:r>
            <a:endParaRPr lang="en-US" altLang="en-US"/>
          </a:p>
          <a:p>
            <a:pPr marL="158750" indent="0">
              <a:buNone/>
            </a:pPr>
            <a:r>
              <a:rPr lang="en-US" altLang="en-US"/>
              <a:t>Међутим, важно је правилно тумачити овај резултат. Не можемо закључити да INT8 квантизација сама по себи побољшава препознавање говора. Разлике између оригиналног Whisper-а и Faster-Whisper-а могу бити повезане и са имплементационим детаљима и подешавањима декодирања.</a:t>
            </a:r>
            <a:endParaRPr lang="en-US" altLang="en-US"/>
          </a:p>
          <a:p>
            <a:pPr marL="158750" indent="0">
              <a:buNone/>
            </a:pPr>
            <a:r>
              <a:rPr lang="en-US" altLang="en-US"/>
              <a:t>Оно што резултати непосредно показују јесте да су обе Faster-Whisper конфигурације у овој конкретној поставци оствариле нижи просечни WER од оригиналног Whisper-а.</a:t>
            </a:r>
            <a:endParaRPr lang="en-US" altLang="en-US"/>
          </a:p>
          <a:p>
            <a:pPr marL="158750" indent="457200">
              <a:buNone/>
            </a:pPr>
            <a:r>
              <a:rPr lang="en-US" altLang="en-US"/>
              <a:t>Поред тачности, за практичну примену веома је важно колико времена свака конфигурација захтева за транскрипцију.</a:t>
            </a:r>
            <a:endParaRPr lang="en-US"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овом слајду приказане су разлике у брзини извршавања.</a:t>
            </a:r>
            <a:endParaRPr lang="en-US" altLang="en-US"/>
          </a:p>
          <a:p>
            <a:pPr marL="158750" indent="0">
              <a:buNone/>
            </a:pPr>
            <a:r>
              <a:rPr lang="en-US" altLang="en-US"/>
              <a:t>Оригиналном Whisper-у било је потребно просечно 3,617 секунди за транскрипцију једног снимка.</a:t>
            </a:r>
            <a:endParaRPr lang="en-US" altLang="en-US"/>
          </a:p>
          <a:p>
            <a:pPr marL="158750" indent="0">
              <a:buNone/>
            </a:pPr>
            <a:r>
              <a:rPr lang="en-US" altLang="en-US"/>
              <a:t>Faster-Whisper INT8 остварио је просечно време од 3,275 секунди. Када се упореде просечна времена, то одговара убрзању од приближно 1,10 пута у односу на оригинални Whisper.</a:t>
            </a:r>
            <a:endParaRPr lang="en-US" altLang="en-US"/>
          </a:p>
          <a:p>
            <a:pPr marL="158750" indent="0">
              <a:buNone/>
            </a:pPr>
            <a:r>
              <a:rPr lang="en-US" altLang="en-US"/>
              <a:t>Faster-Whisper FLOAT32 захтевао је просечно 4,930 секунди, па је у овој поставци био спорији од обе преостале конфигурације.</a:t>
            </a:r>
            <a:endParaRPr lang="en-US" altLang="en-US"/>
          </a:p>
          <a:p>
            <a:pPr marL="158750" indent="0">
              <a:buNone/>
            </a:pPr>
            <a:r>
              <a:rPr lang="en-US" altLang="en-US"/>
              <a:t>Поред апсолутног времена посматрао сам и RTF, који узима у обзир трајање аудио-записа.</a:t>
            </a:r>
            <a:endParaRPr lang="en-US" altLang="en-US"/>
          </a:p>
          <a:p>
            <a:pPr marL="158750" indent="0">
              <a:buNone/>
            </a:pPr>
            <a:r>
              <a:rPr lang="en-US" altLang="en-US"/>
              <a:t>Оригинални Whisper остварио је просечни RTF од 0,163, Faster-Whisper INT8 0,136, а Faster-Whisper FLOAT32 0,206.</a:t>
            </a:r>
            <a:endParaRPr lang="en-US" altLang="en-US"/>
          </a:p>
          <a:p>
            <a:pPr marL="158750" indent="0">
              <a:buNone/>
            </a:pPr>
            <a:r>
              <a:rPr lang="en-US" altLang="en-US"/>
              <a:t>Све три просечне вредности мање су од један, што значи да су све конфигурације у просеку обрађивале аудио брже од његовог реалног трајања.</a:t>
            </a:r>
            <a:endParaRPr lang="en-US" altLang="en-US"/>
          </a:p>
          <a:p>
            <a:pPr marL="158750" indent="0">
              <a:buNone/>
            </a:pPr>
            <a:r>
              <a:rPr lang="en-US" altLang="en-US"/>
              <a:t>Ипак, INT8 је у овом експерименту имао најнижи просечни RTF и најкраће просечно време.</a:t>
            </a:r>
            <a:endParaRPr lang="en-US" altLang="en-US"/>
          </a:p>
          <a:p>
            <a:pPr marL="158750" indent="0">
              <a:buNone/>
            </a:pPr>
            <a:r>
              <a:rPr lang="en-US" altLang="en-US"/>
              <a:t>Овај резултат показује да оптимизована имплементација не гарантује увек убрзање: важан је и изабрани нумерички формат.</a:t>
            </a:r>
            <a:endParaRPr lang="en-US" altLang="en-US"/>
          </a:p>
          <a:p>
            <a:pPr marL="158750" indent="457200">
              <a:buNone/>
            </a:pPr>
            <a:r>
              <a:rPr lang="en-US" altLang="en-US"/>
              <a:t>Поред тачности и брзине, испитао сам и колико додатне радне меморије захтевају посматране конфигурације.</a:t>
            </a:r>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Поред времена извршавања, важан показатељ практичне примене јесте потрошња RAM меморије.</a:t>
            </a:r>
            <a:endParaRPr lang="en-US" altLang="en-US"/>
          </a:p>
          <a:p>
            <a:pPr marL="158750" indent="0">
              <a:buNone/>
            </a:pPr>
            <a:r>
              <a:rPr lang="en-US" altLang="en-US"/>
              <a:t>У основном експерименту пратио сам промену RSS меморије Python процеса приликом учитавања модела.</a:t>
            </a:r>
            <a:endParaRPr lang="en-US" altLang="en-US"/>
          </a:p>
          <a:p>
            <a:pPr marL="158750" indent="0">
              <a:buNone/>
            </a:pPr>
            <a:r>
              <a:rPr lang="en-US" altLang="en-US"/>
              <a:t>За оригинални Whisper Base измерена је додатна RSS меморија од приближно 187,68 мегабајта.</a:t>
            </a:r>
            <a:endParaRPr lang="en-US" altLang="en-US"/>
          </a:p>
          <a:p>
            <a:pPr marL="158750" indent="0">
              <a:buNone/>
            </a:pPr>
            <a:r>
              <a:rPr lang="en-US" altLang="en-US"/>
              <a:t>За Faster-Whisper Base INT8 измерено је 88,75 мегабајта.</a:t>
            </a:r>
            <a:endParaRPr lang="en-US" altLang="en-US"/>
          </a:p>
          <a:p>
            <a:pPr marL="158750" indent="0">
              <a:buNone/>
            </a:pPr>
            <a:r>
              <a:rPr lang="en-US" altLang="en-US"/>
              <a:t>Разлика износи 98,93 мегабајта, односно око 52,7 процената мање у односу на оригинални Whisper.</a:t>
            </a:r>
            <a:endParaRPr lang="en-US" altLang="en-US"/>
          </a:p>
          <a:p>
            <a:pPr marL="158750" indent="0">
              <a:buNone/>
            </a:pPr>
            <a:r>
              <a:rPr lang="en-US" altLang="en-US"/>
              <a:t>Када овај резултат посматрамо заједно са претходним слајдовима, видимо да је Faster-Whisper INT8 у основном експерименту остварио нижи просечни WER, краће просечно време транскрипције, нижи RTF и мању измерену промену меморије.</a:t>
            </a:r>
            <a:endParaRPr lang="en-US" altLang="en-US"/>
          </a:p>
          <a:p>
            <a:pPr marL="158750" indent="0">
              <a:buNone/>
            </a:pPr>
            <a:r>
              <a:rPr lang="en-US" altLang="en-US"/>
              <a:t>Ипак, важно је нагласити ограничење мерења. RSS представља меморију целог Python процеса. На вредност могу да утичу учитане библиотеке, претходно резервисана меморија и начин управљања меморијом.</a:t>
            </a:r>
            <a:endParaRPr lang="en-US" altLang="en-US"/>
          </a:p>
          <a:p>
            <a:pPr marL="158750" indent="0">
              <a:buNone/>
            </a:pPr>
            <a:r>
              <a:rPr lang="en-US" altLang="en-US"/>
              <a:t>Због тога ове бројеве не представљам као апсолутну величину модела, већ као практично поређење у коришћеном експерименталном окружењу.</a:t>
            </a:r>
            <a:endParaRPr lang="en-US" altLang="en-US"/>
          </a:p>
          <a:p>
            <a:pPr marL="158750" indent="457200">
              <a:buNone/>
            </a:pPr>
            <a:r>
              <a:rPr lang="en-US" altLang="en-US"/>
              <a:t>Ови збирни резултати дају основну слику, али не показују да ли се модели једнако понашају на кратким и дугим снимцима, нити да ли постоје разлике између говорника. То је предмет наредне анализе.</a:t>
            </a:r>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претходним слајдовима приказао сам збирне резултате за свих 40 снимака. Међутим, просечна вредност не показује да ли се систем једнако понаша код различитих говорника и различитих трајања аудија.</a:t>
            </a:r>
            <a:endParaRPr lang="en-US" altLang="en-US"/>
          </a:p>
          <a:p>
            <a:pPr marL="158750" indent="0">
              <a:buNone/>
            </a:pPr>
            <a:r>
              <a:rPr lang="en-US" altLang="en-US"/>
              <a:t>Зато сам резултате додатно груписао према ове две карактеристике.</a:t>
            </a:r>
            <a:endParaRPr lang="en-US" altLang="en-US"/>
          </a:p>
          <a:p>
            <a:pPr marL="158750" indent="0">
              <a:buNone/>
            </a:pPr>
            <a:r>
              <a:rPr lang="en-US" altLang="en-US"/>
              <a:t>На графикону видимо да се WER значајно разликује између три говорника. Код оригиналног Whisper-а просечни WER износи 53,28% за првог, 32,77% за другог и 61,58% за трећег говорника.</a:t>
            </a:r>
            <a:endParaRPr lang="en-US" altLang="en-US"/>
          </a:p>
          <a:p>
            <a:pPr marL="158750" indent="0">
              <a:buNone/>
            </a:pPr>
            <a:r>
              <a:rPr lang="en-US" altLang="en-US"/>
              <a:t>Код Faster-Whisper INT8 конфигурације одговарајуће вредности су 45,39%, 25,68% и 57,09%.</a:t>
            </a:r>
            <a:endParaRPr lang="en-US" altLang="en-US"/>
          </a:p>
          <a:p>
            <a:pPr marL="158750" indent="0">
              <a:buNone/>
            </a:pPr>
            <a:r>
              <a:rPr lang="en-US" altLang="en-US"/>
              <a:t>Дакле, INT8 је у овом скупу остварио нижи WER код сва три говорника, али разлике између говорника остају изражене.</a:t>
            </a:r>
            <a:endParaRPr lang="en-US" altLang="en-US"/>
          </a:p>
          <a:p>
            <a:pPr marL="158750" indent="0">
              <a:buNone/>
            </a:pPr>
            <a:r>
              <a:rPr lang="en-US" altLang="en-US"/>
              <a:t>Анализа према трајању показала је да WER не расте једноставно са дужином снимка. На тачност истовремено утичу говорник и садржај текста.</a:t>
            </a:r>
            <a:endParaRPr lang="en-US" altLang="en-US"/>
          </a:p>
          <a:p>
            <a:pPr marL="158750" indent="0">
              <a:buNone/>
            </a:pPr>
            <a:r>
              <a:rPr lang="en-US" altLang="en-US"/>
              <a:t>Када је реч о брзини, INT8 има нижи просечни RTF код кратких, средњих и дугих снимака. Код веома дугих снимака оригинални Whisper има нешто нижи RTF, 0,142 наспрам 0,151. Међутим, та група садржи само пет снимака, па резултат не треба генерализовати.</a:t>
            </a:r>
            <a:endParaRPr lang="en-US" altLang="en-US"/>
          </a:p>
          <a:p>
            <a:pPr marL="158750" indent="0">
              <a:buNone/>
            </a:pPr>
            <a:r>
              <a:rPr lang="en-US" altLang="en-US"/>
              <a:t>Закључак је да укупни просек не описује у потпуности понашање система и да је важно анализирати и појединачне групе података.</a:t>
            </a:r>
            <a:endParaRPr lang="en-US" altLang="en-US"/>
          </a:p>
          <a:p>
            <a:pPr marL="158750" indent="457200">
              <a:buNone/>
            </a:pPr>
            <a:r>
              <a:rPr lang="en-US" altLang="en-US"/>
              <a:t>Након основног поређења, следећи корак био је да испитам како сама величина Faster-Whisper модела утиче на тачност и перформансе.</a:t>
            </a:r>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У овом експерименту анализирао сам четири величине Faster-Whisper модела: Tiny, Base, Small и Medium.</a:t>
            </a:r>
            <a:endParaRPr lang="en-US" altLang="en-US"/>
          </a:p>
          <a:p>
            <a:pPr marL="158750" indent="0">
              <a:buNone/>
            </a:pPr>
            <a:r>
              <a:rPr lang="en-US" altLang="en-US"/>
              <a:t>За разлику од претходног експеримента са 40 снимака, овде је коришћен подскуп од 20 природних српских снимака. Он садржи по пет снимака из сваке групе трајања. Сви модели тестирани су над истим подскупом.</a:t>
            </a:r>
            <a:endParaRPr lang="en-US" altLang="en-US"/>
          </a:p>
          <a:p>
            <a:pPr marL="158750" indent="0">
              <a:buNone/>
            </a:pPr>
            <a:r>
              <a:rPr lang="en-US" altLang="en-US"/>
              <a:t>Резултати показују јасну разлику у тачности.</a:t>
            </a:r>
            <a:endParaRPr lang="en-US" altLang="en-US"/>
          </a:p>
          <a:p>
            <a:pPr marL="158750" indent="0">
              <a:buNone/>
            </a:pPr>
            <a:r>
              <a:rPr lang="en-US" altLang="en-US"/>
              <a:t>Tiny модел остварио је просечни WER од 63,97%, Base 40,89%, Small 20,02%, а Medium 13,14%.</a:t>
            </a:r>
            <a:endParaRPr lang="en-US" altLang="en-US"/>
          </a:p>
          <a:p>
            <a:pPr marL="158750" indent="0">
              <a:buNone/>
            </a:pPr>
            <a:r>
              <a:rPr lang="en-US" altLang="en-US"/>
              <a:t>Прелазак са Tiny на Base смањио је WER за 23,08 процентних поена. Прелазак са Base на Small донео је додатно смањење од 20,87 процентних поена, док је прелазак са Small на Medium смањио WER за још 6,88 процентних поена.</a:t>
            </a:r>
            <a:endParaRPr lang="en-US" altLang="en-US"/>
          </a:p>
          <a:p>
            <a:pPr marL="158750" indent="0">
              <a:buNone/>
            </a:pPr>
            <a:r>
              <a:rPr lang="en-US" altLang="en-US"/>
              <a:t>Дакле, у овом експерименту већи модели постижу бољу просечну тачност, али додатни добитак постаје мањи.</a:t>
            </a:r>
            <a:endParaRPr lang="en-US" altLang="en-US"/>
          </a:p>
          <a:p>
            <a:pPr marL="158750" indent="0">
              <a:buNone/>
            </a:pPr>
            <a:r>
              <a:rPr lang="en-US" altLang="en-US"/>
              <a:t>Посебно је занимљив Small модел, јер доноси велико смањење WER-а у односу на Base.</a:t>
            </a:r>
            <a:endParaRPr lang="en-US" altLang="en-US"/>
          </a:p>
          <a:p>
            <a:pPr marL="158750" indent="0">
              <a:buNone/>
            </a:pPr>
            <a:r>
              <a:rPr lang="en-US" altLang="en-US"/>
              <a:t>Ипак, само на основу овог графикона не можемо изабрати коначну конфигурацију. Потребно је погледати колико времена сваки модел захтева за обраду.</a:t>
            </a:r>
            <a:endParaRPr lang="en-US" altLang="en-US"/>
          </a:p>
          <a:p>
            <a:pPr marL="158750" indent="457200">
              <a:buNone/>
            </a:pPr>
            <a:r>
              <a:rPr lang="en-US" altLang="en-US"/>
              <a:t>Побољшање тачности има своју рачунарску цену, коју можемо видети кроз време транскрипције и RTF.</a:t>
            </a:r>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овом графикону приказано је просечно време транскрипције за исте четири величине модела.</a:t>
            </a:r>
            <a:endParaRPr lang="en-US" altLang="en-US"/>
          </a:p>
          <a:p>
            <a:pPr marL="158750" indent="0">
              <a:buNone/>
            </a:pPr>
            <a:r>
              <a:rPr lang="en-US" altLang="en-US"/>
              <a:t>Tiny моделу било је потребно 2,648 секунди по снимку, Base моделу 4,519 секунди, Small моделу 12,194 секунди, а Medium моделу 33,557 секунди.</a:t>
            </a:r>
            <a:endParaRPr lang="en-US" altLang="en-US"/>
          </a:p>
          <a:p>
            <a:pPr marL="158750" indent="0">
              <a:buNone/>
            </a:pPr>
            <a:r>
              <a:rPr lang="en-US" altLang="en-US"/>
              <a:t>Medium је тако у просеку био приближно 2,75 пута спорији од Small модела и око 12,7 пута спорији од Tiny модела.</a:t>
            </a:r>
            <a:endParaRPr lang="en-US" altLang="en-US"/>
          </a:p>
          <a:p>
            <a:pPr marL="158750" indent="0">
              <a:buNone/>
            </a:pPr>
            <a:r>
              <a:rPr lang="en-US" altLang="en-US"/>
              <a:t>Сличан однос видимо и кроз RTF.</a:t>
            </a:r>
            <a:endParaRPr lang="en-US" altLang="en-US"/>
          </a:p>
          <a:p>
            <a:pPr marL="158750" indent="0">
              <a:buNone/>
            </a:pPr>
            <a:r>
              <a:rPr lang="en-US" altLang="en-US"/>
              <a:t>Tiny има просечни RTF од 0,0871, Base 0,1405, Small 0,3907, а Medium 1,0452.</a:t>
            </a:r>
            <a:endParaRPr lang="en-US" altLang="en-US"/>
          </a:p>
          <a:p>
            <a:pPr marL="158750" indent="0">
              <a:buNone/>
            </a:pPr>
            <a:r>
              <a:rPr lang="en-US" altLang="en-US"/>
              <a:t>То значи да су Tiny, Base и Small на овом скупу у просеку обрађивали аудио брже од његовог реалног трајања.</a:t>
            </a:r>
            <a:endParaRPr lang="en-US" altLang="en-US"/>
          </a:p>
          <a:p>
            <a:pPr marL="158750" indent="0">
              <a:buNone/>
            </a:pPr>
            <a:r>
              <a:rPr lang="en-US" altLang="en-US"/>
              <a:t>Medium је имао просечни RTF нешто већи од један, односно у просеку му је било потребно приближно онолико времена колико траје аудио, уз благо прекорачење.</a:t>
            </a:r>
            <a:endParaRPr lang="en-US" altLang="en-US"/>
          </a:p>
          <a:p>
            <a:pPr marL="158750" indent="0">
              <a:buNone/>
            </a:pPr>
            <a:r>
              <a:rPr lang="en-US" altLang="en-US"/>
              <a:t>Када резултате овог и претходног слајда посматрамо заједно, видимо компромис између тачности и брзине. Medium постиже најнижи WER, али уз знатно веће време обраде. Small остварује нижи WER од Base модела, док његов просечни RTF остаје испод 0,4.</a:t>
            </a:r>
            <a:endParaRPr lang="en-US" altLang="en-US"/>
          </a:p>
          <a:p>
            <a:pPr marL="158750" indent="0">
              <a:buNone/>
            </a:pPr>
            <a:r>
              <a:rPr lang="en-US" altLang="en-US"/>
              <a:t>Овај налаз је основа за каснију вишекритеријумску анализу, у којој ћу укључити и друге конфигурације и меморијску потрошњу.</a:t>
            </a:r>
            <a:endParaRPr lang="en-US" altLang="en-US"/>
          </a:p>
          <a:p>
            <a:pPr marL="158750" indent="0">
              <a:buNone/>
            </a:pPr>
            <a:r>
              <a:rPr lang="sr-Cyrl-BA" altLang="en-US"/>
              <a:t>У</a:t>
            </a:r>
            <a:r>
              <a:rPr lang="en-US" altLang="en-US"/>
              <a:t> скупу постоји изражен појединачни резултат за 36govornik1.wav, где је Medium остварио WER од 100% и време од 102,45 s. Тај снимак није избачен из просека; медијана WER-а за Medium износи 8,17%. </a:t>
            </a:r>
            <a:endParaRPr lang="en-US" altLang="en-US"/>
          </a:p>
          <a:p>
            <a:pPr marL="158750" indent="457200">
              <a:buNone/>
            </a:pPr>
            <a:r>
              <a:rPr lang="en-US" altLang="en-US"/>
              <a:t>Поред избора модела, на квалитет препознавања може значајно да утиче и сам улазни аудио, посебно када садржи позадински шум.</a:t>
            </a:r>
            <a:endParaRPr lang="en-US"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У овом експерименту испитивао сам отпорност Faster-Whisper система на контролисано додат позадински шум.</a:t>
            </a:r>
            <a:endParaRPr lang="en-US" altLang="en-US"/>
          </a:p>
          <a:p>
            <a:pPr marL="158750" indent="0">
              <a:buNone/>
            </a:pPr>
            <a:r>
              <a:rPr lang="en-US" altLang="en-US"/>
              <a:t>За тестирање је изабрано десет природних српских снимака са три говорника.</a:t>
            </a:r>
            <a:endParaRPr lang="en-US" altLang="en-US"/>
          </a:p>
          <a:p>
            <a:pPr marL="158750" indent="0">
              <a:buNone/>
            </a:pPr>
            <a:r>
              <a:rPr lang="en-US" altLang="en-US"/>
              <a:t>На сваки чист снимак програмски су додаване две врсте шума: бели и розе шум.</a:t>
            </a:r>
            <a:endParaRPr lang="en-US" altLang="en-US"/>
          </a:p>
          <a:p>
            <a:pPr marL="158750" indent="0">
              <a:buNone/>
            </a:pPr>
            <a:r>
              <a:rPr lang="en-US" altLang="en-US"/>
              <a:t>Бели шум има приближно равномерну спектралну густину, док розе шум има више енергије на нижим фреквенцијама.</a:t>
            </a:r>
            <a:endParaRPr lang="en-US" altLang="en-US"/>
          </a:p>
          <a:p>
            <a:pPr marL="158750" indent="0">
              <a:buNone/>
            </a:pPr>
            <a:r>
              <a:rPr lang="en-US" altLang="en-US"/>
              <a:t>За обе врсте коришћено је седам SNR нивоа: 20, 10, 5, 0, минус 5, минус 10 и минус 15 децибела.</a:t>
            </a:r>
            <a:endParaRPr lang="en-US" altLang="en-US"/>
          </a:p>
          <a:p>
            <a:pPr marL="158750" indent="0">
              <a:buNone/>
            </a:pPr>
            <a:r>
              <a:rPr lang="en-US" altLang="en-US"/>
              <a:t>SNR представља однос енергије корисног говорног сигнала и шума. Што је SNR мањи, шум је израженији у односу на говор.</a:t>
            </a:r>
            <a:endParaRPr lang="en-US" altLang="en-US"/>
          </a:p>
          <a:p>
            <a:pPr marL="158750" indent="0">
              <a:buNone/>
            </a:pPr>
            <a:r>
              <a:rPr lang="en-US" altLang="en-US"/>
              <a:t>Од десет оригиналних снимака добијено је 140 зашумљених варијанти. Заједно са чистим снимцима, анализирано је 150 транскрипција.</a:t>
            </a:r>
            <a:endParaRPr lang="en-US" altLang="en-US"/>
          </a:p>
          <a:p>
            <a:pPr marL="158750" indent="0">
              <a:buNone/>
            </a:pPr>
            <a:r>
              <a:rPr lang="en-US" altLang="en-US"/>
              <a:t>Чисти снимци представљају полазну вредност, а циљ експеримента је да се испита како се WER мења када се интензитет шума повећава.“</a:t>
            </a:r>
            <a:endParaRPr lang="en-US" altLang="en-US"/>
          </a:p>
          <a:p>
            <a:pPr marL="158750" indent="457200">
              <a:buNone/>
            </a:pPr>
            <a:r>
              <a:rPr lang="en-US" altLang="en-US"/>
              <a:t>На следећем графикону приказано је како се тачност транскрипције мењала при различитим SNR вредностима.</a:t>
            </a:r>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графикону видимо како се просечни WER мења са смањењем SNR вредности.</a:t>
            </a:r>
            <a:endParaRPr lang="en-US" altLang="en-US"/>
          </a:p>
          <a:p>
            <a:pPr marL="158750" indent="0">
              <a:buNone/>
            </a:pPr>
            <a:r>
              <a:rPr lang="en-US" altLang="en-US"/>
              <a:t>За чисте снимке, без додатог шума, просечни WER износио је 47,89%.</a:t>
            </a:r>
            <a:endParaRPr lang="en-US" altLang="en-US"/>
          </a:p>
          <a:p>
            <a:pPr marL="158750" indent="0">
              <a:buNone/>
            </a:pPr>
            <a:r>
              <a:rPr lang="en-US" altLang="en-US"/>
              <a:t>При 20 децибела утицај шума био је релативно мали. WER је износио 48,16% за бели и 50,71% за розе шум.</a:t>
            </a:r>
            <a:endParaRPr lang="en-US" altLang="en-US"/>
          </a:p>
          <a:p>
            <a:pPr marL="158750" indent="0">
              <a:buNone/>
            </a:pPr>
            <a:r>
              <a:rPr lang="en-US" altLang="en-US"/>
              <a:t>На 10 и 5 децибела већ се уочава израженије погоршање, а при 0 децибела обе врсте шума дају готово идентичан WER од приближно 82,7%.</a:t>
            </a:r>
            <a:endParaRPr lang="en-US" altLang="en-US"/>
          </a:p>
          <a:p>
            <a:pPr marL="158750" indent="0">
              <a:buNone/>
            </a:pPr>
            <a:r>
              <a:rPr lang="en-US" altLang="en-US"/>
              <a:t>На негативним SNR вредностима долази до веома великог пада квалитета. При минус 5 децибела WER износи 95,86% за бели и 101,76% за розе шум. При минус 10 децибела достиже 115,34% и 104,56%.</a:t>
            </a:r>
            <a:endParaRPr lang="en-US" altLang="en-US"/>
          </a:p>
          <a:p>
            <a:pPr marL="158750" indent="0">
              <a:buNone/>
            </a:pPr>
            <a:r>
              <a:rPr lang="en-US" altLang="en-US"/>
              <a:t>WER може бити већи од 100 процената. То се дешава када модел, поред замена и изостављања, генерише велики број додатних речи које не постоје у референтном тексту.</a:t>
            </a:r>
            <a:endParaRPr lang="en-US" altLang="en-US"/>
          </a:p>
          <a:p>
            <a:pPr marL="158750" indent="0">
              <a:buNone/>
            </a:pPr>
            <a:r>
              <a:rPr lang="en-US" altLang="en-US"/>
              <a:t>На минус 15 децибела WER је нешто нижи него на минус 10, али то не значи да се модел опоравио. При веома јаком шуму модел понекад генерише врло кратак или празан транскрипт, па се мења однос између уметања и изостављања речи.</a:t>
            </a:r>
            <a:endParaRPr lang="en-US" altLang="en-US"/>
          </a:p>
          <a:p>
            <a:pPr marL="158750" indent="0">
              <a:buNone/>
            </a:pPr>
            <a:r>
              <a:rPr lang="en-US" altLang="en-US"/>
              <a:t>Поређење две врсте шума не показује да је једна доследно тежа у свим условима. Главни фактор у овом експерименту јесте интензитет шума у односу на говор.</a:t>
            </a:r>
            <a:endParaRPr lang="en-US" altLang="en-US"/>
          </a:p>
          <a:p>
            <a:pPr marL="158750" indent="0">
              <a:buNone/>
            </a:pPr>
            <a:r>
              <a:rPr lang="en-US" altLang="en-US"/>
              <a:t>Закључак је да квалитет улазног аудија значајно утиче на тачност, а да при јаком шуму може порасти и време декодирања.</a:t>
            </a:r>
            <a:endParaRPr lang="en-US" altLang="en-US"/>
          </a:p>
          <a:p>
            <a:pPr marL="158750" indent="457200">
              <a:buNone/>
            </a:pPr>
            <a:r>
              <a:rPr lang="en-US" altLang="en-US"/>
              <a:t>Након анализе акустичких услова, следећи експеримент испитује како се иста Faster-Whisper конфигурација понаша на српском и енглеском говору.</a:t>
            </a:r>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У овом експерименту испитивао сам како се иста Faster-Whisper конфигурација понаша при транскрипцији српског и енглеског говора.</a:t>
            </a:r>
            <a:endParaRPr lang="en-US" altLang="en-US"/>
          </a:p>
          <a:p>
            <a:pPr marL="158750" indent="0">
              <a:buNone/>
            </a:pPr>
            <a:r>
              <a:rPr lang="en-US" altLang="en-US"/>
              <a:t>За поређење сам користио пет српских и пет енглеских синтетичких снимака, генерисаних помоћу gTTS-а. На тај начин избегнуто је директно поређење природног српског са синтетичким енглеским говором.</a:t>
            </a:r>
            <a:endParaRPr lang="en-US" altLang="en-US"/>
          </a:p>
          <a:p>
            <a:pPr marL="158750" indent="0">
              <a:buNone/>
            </a:pPr>
            <a:r>
              <a:rPr lang="en-US" altLang="en-US"/>
              <a:t>У оба случаја коришћен је Faster-Whisper Base INT8.</a:t>
            </a:r>
            <a:endParaRPr lang="en-US" altLang="en-US"/>
          </a:p>
          <a:p>
            <a:pPr marL="158750" indent="0">
              <a:buNone/>
            </a:pPr>
            <a:r>
              <a:rPr lang="en-US" altLang="en-US"/>
              <a:t>Резултати показују изражену разлику. Просечни WER енглеског скупа износи 3,50%, док је за српски 44,17%. Разлика је 40,67 процентних поена.</a:t>
            </a:r>
            <a:endParaRPr lang="en-US" altLang="en-US"/>
          </a:p>
          <a:p>
            <a:pPr marL="158750" indent="0">
              <a:buNone/>
            </a:pPr>
            <a:r>
              <a:rPr lang="en-US" altLang="en-US"/>
              <a:t>Сличан однос добијен је и за corpus WER: 3,30% за енглески и 43,93% за српски.</a:t>
            </a:r>
            <a:endParaRPr lang="en-US" altLang="en-US"/>
          </a:p>
          <a:p>
            <a:pPr marL="158750" indent="0">
              <a:buNone/>
            </a:pPr>
            <a:r>
              <a:rPr lang="en-US" altLang="en-US"/>
              <a:t>Просечни RTF износио је 0,076 за енглески и 0,114 за српски. Обе вредности су испод један, али је обрада српских снимака у овом тесту била нешто захтевнија.</a:t>
            </a:r>
            <a:endParaRPr lang="en-US" altLang="en-US"/>
          </a:p>
          <a:p>
            <a:pPr marL="158750" indent="0">
              <a:buNone/>
            </a:pPr>
            <a:r>
              <a:rPr lang="sr-Cyrl-BA" altLang="en-US"/>
              <a:t>К</a:t>
            </a:r>
            <a:r>
              <a:rPr lang="en-US" altLang="en-US"/>
              <a:t>ористио сам само пет снимака по језику, а синтетички гласови нису идентични. Због тога не тврдим да Whisper уопштено постиже овакву разлику на свим српским и енглеским снимцима.</a:t>
            </a:r>
            <a:endParaRPr lang="en-US" altLang="en-US"/>
          </a:p>
          <a:p>
            <a:pPr marL="158750" indent="0">
              <a:buNone/>
            </a:pPr>
            <a:r>
              <a:rPr lang="en-US" altLang="en-US"/>
              <a:t>Резултат показује понашање модела на конкретном контролисаном скупу и додатно мотивише истраживање препознавања српског говора.</a:t>
            </a:r>
            <a:endParaRPr lang="en-US" altLang="en-US"/>
          </a:p>
          <a:p>
            <a:pPr marL="158750" indent="457200">
              <a:buNone/>
            </a:pPr>
            <a:r>
              <a:rPr lang="en-US" altLang="en-US"/>
              <a:t>Након поређења језика, испитао сам како подешавање самог поступка декодирања утиче на тачност и време транскрипције.</a:t>
            </a:r>
            <a:endParaRPr lang="en-US"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Beam Search одређује колико се могућих текстуалних секвенци разматра током декодирања.</a:t>
            </a:r>
            <a:endParaRPr lang="en-US" altLang="en-US"/>
          </a:p>
          <a:p>
            <a:pPr marL="158750" indent="0">
              <a:buNone/>
            </a:pPr>
            <a:r>
              <a:rPr lang="en-US" altLang="en-US"/>
              <a:t>У овом експерименту користио сам 15 природних српских снимака и Faster-Whisper Base INT8. Мењао сам само вредност параметра beam_size: један, три, пет и десет.</a:t>
            </a:r>
            <a:endParaRPr lang="en-US" altLang="en-US"/>
          </a:p>
          <a:p>
            <a:pPr marL="158750" indent="0">
              <a:buNone/>
            </a:pPr>
            <a:r>
              <a:rPr lang="en-US" altLang="en-US"/>
              <a:t>Код вредности један добијено је најкраће просечно време, 2,499 секунди, али и највећи просечни WER од 49,09%.</a:t>
            </a:r>
            <a:endParaRPr lang="en-US" altLang="en-US"/>
          </a:p>
          <a:p>
            <a:pPr marL="158750" indent="0">
              <a:buNone/>
            </a:pPr>
            <a:r>
              <a:rPr lang="en-US" altLang="en-US"/>
              <a:t>Повећањем beam-а на три WER се смањује на 44,48%, док време расте на 3,276 секунди.</a:t>
            </a:r>
            <a:endParaRPr lang="en-US" altLang="en-US"/>
          </a:p>
          <a:p>
            <a:pPr marL="158750" indent="0">
              <a:buNone/>
            </a:pPr>
            <a:r>
              <a:rPr lang="en-US" altLang="en-US"/>
              <a:t>Код вредности пет добијен је најнижи просечни WER од 43,17%, уз време од 4,045 секунди.</a:t>
            </a:r>
            <a:endParaRPr lang="en-US" altLang="en-US"/>
          </a:p>
          <a:p>
            <a:pPr marL="158750" indent="0">
              <a:buNone/>
            </a:pPr>
            <a:r>
              <a:rPr lang="en-US" altLang="en-US"/>
              <a:t>Даље повећање на десет није наставило смањење просечног WER-а. Он је благо порастао на 43,76%, док је време достигло 6,439 секунди.</a:t>
            </a:r>
            <a:endParaRPr lang="en-US" altLang="en-US"/>
          </a:p>
          <a:p>
            <a:pPr marL="158750" indent="0">
              <a:buNone/>
            </a:pPr>
            <a:r>
              <a:rPr lang="en-US" altLang="en-US"/>
              <a:t>Важно је да corpus WER показује нешто другачију слику: његова најнижа вредност, 42,39%, добијена је за beam десет, у односу на 43,00% за beam пет.</a:t>
            </a:r>
            <a:endParaRPr lang="en-US" altLang="en-US"/>
          </a:p>
          <a:p>
            <a:pPr marL="158750" indent="0">
              <a:buNone/>
            </a:pPr>
            <a:r>
              <a:rPr lang="en-US" altLang="en-US"/>
              <a:t>Дакле, избор зависи и од метрике коју посматрамо. Повећање Beam Search параметра доноси корист до одређене мере, али додатно време не мора да доведе до пропорционалног побољшања тачности.</a:t>
            </a:r>
            <a:endParaRPr lang="en-US" altLang="en-US"/>
          </a:p>
          <a:p>
            <a:pPr marL="158750" indent="0">
              <a:buNone/>
            </a:pPr>
            <a:r>
              <a:rPr lang="en-US" altLang="en-US"/>
              <a:t>Ове резултате касније користим у поступку вишекритеријумског избора конфигурације.</a:t>
            </a:r>
            <a:endParaRPr lang="en-US" altLang="en-US"/>
          </a:p>
          <a:p>
            <a:pPr marL="158750" indent="457200">
              <a:buNone/>
            </a:pPr>
            <a:r>
              <a:rPr lang="en-US" altLang="en-US"/>
              <a:t>Следећи експеримент испитује другачији начин оптимизације: промену нумеричког формата којим се модел извршава.</a:t>
            </a:r>
            <a:endParaRPr lang="en-US"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У експерименту квантизације испитивао сам колико INT8 начин извршавања може да убрза Faster-Whisper у односу на FLOAT32.</a:t>
            </a:r>
            <a:endParaRPr lang="en-US" altLang="en-US"/>
          </a:p>
          <a:p>
            <a:pPr marL="158750" indent="0">
              <a:buNone/>
            </a:pPr>
            <a:r>
              <a:rPr lang="en-US" altLang="en-US"/>
              <a:t>Коришћено је свих 40 природних српских снимака, четири величине модела и два нумеричка формата. То даје осам конфигурација и укупно 320 транскрипција.</a:t>
            </a:r>
            <a:endParaRPr lang="en-US" altLang="en-US"/>
          </a:p>
          <a:p>
            <a:pPr marL="158750" indent="0">
              <a:buNone/>
            </a:pPr>
            <a:r>
              <a:rPr lang="en-US" altLang="en-US"/>
              <a:t>Сви модели извршавани су на CPU-у, уз beam_size један, температуру нула и искључен VAD. Пре мерења обављен је и warm-up.</a:t>
            </a:r>
            <a:endParaRPr lang="en-US" altLang="en-US"/>
          </a:p>
          <a:p>
            <a:pPr marL="158750" indent="0">
              <a:buNone/>
            </a:pPr>
            <a:r>
              <a:rPr lang="en-US" altLang="en-US"/>
              <a:t>Резултати показују да је INT8 био бржи код све четири величине модела.</a:t>
            </a:r>
            <a:endParaRPr lang="en-US" altLang="en-US"/>
          </a:p>
          <a:p>
            <a:pPr marL="158750" indent="0">
              <a:buNone/>
            </a:pPr>
            <a:r>
              <a:rPr lang="en-US" altLang="en-US"/>
              <a:t>Код Tiny модела убрзање износи 1,22 пута, код Base 1,39 пута, код Small 1,21 пута, а код Medium 1,64 пута.</a:t>
            </a:r>
            <a:endParaRPr lang="en-US" altLang="en-US"/>
          </a:p>
          <a:p>
            <a:pPr marL="158750" indent="0">
              <a:buNone/>
            </a:pPr>
            <a:r>
              <a:rPr lang="en-US" altLang="en-US"/>
              <a:t>Најизраженији ефекат добијен је код Medium модела. Просечно време смањено је са 28,991 на 17,633 секунди, односно за приближно 39,18%.</a:t>
            </a:r>
            <a:endParaRPr lang="en-US" altLang="en-US"/>
          </a:p>
          <a:p>
            <a:pPr marL="158750" indent="0">
              <a:buNone/>
            </a:pPr>
            <a:r>
              <a:rPr lang="en-US" altLang="en-US"/>
              <a:t>Код истог модела просечни RTF смањен је са 1,390 на 0,832. То значи да је FLOAT32 у просеку захтевао више времена него што траје аудио, док је INT8 просечно остао испод границе један.</a:t>
            </a:r>
            <a:endParaRPr lang="en-US" altLang="en-US"/>
          </a:p>
          <a:p>
            <a:pPr marL="158750" indent="0">
              <a:buNone/>
            </a:pPr>
            <a:r>
              <a:rPr lang="en-US" altLang="en-US"/>
              <a:t>Ипак, просечни RTF не значи да је сваки појединачни снимак обрађен брже од реалног времена. Код Medium INT8 конфигурације то је важило за 80% снимака, а код Medium FLOAT32 за 25%.</a:t>
            </a:r>
            <a:endParaRPr lang="en-US" altLang="en-US"/>
          </a:p>
          <a:p>
            <a:pPr marL="158750" indent="0">
              <a:buNone/>
            </a:pPr>
            <a:r>
              <a:rPr lang="en-US" altLang="en-US"/>
              <a:t>Меморијска мерења у овом експерименту нису била потпуно стабилна, јер су модели покретани у истом Jupyter процесу. Због тога их не представљам као прецизне величине модела у RAM-у.</a:t>
            </a:r>
            <a:endParaRPr lang="en-US" altLang="en-US"/>
          </a:p>
          <a:p>
            <a:pPr marL="158750" indent="0">
              <a:buNone/>
            </a:pPr>
            <a:r>
              <a:rPr lang="en-US" altLang="en-US"/>
              <a:t>Закључак је да INT8 доноси убрзање у коришћеном CPU окружењу, али величина добитка зависи од модела.</a:t>
            </a:r>
            <a:endParaRPr lang="en-US" altLang="en-US"/>
          </a:p>
          <a:p>
            <a:pPr marL="158750" indent="457200">
              <a:buNone/>
            </a:pPr>
            <a:r>
              <a:rPr lang="en-US" altLang="en-US"/>
              <a:t>Поред оптимизације самог модела, могуће је смањити и количину аудија која се прослеђује на обраду. То је идеја VAD алгоритма.</a:t>
            </a:r>
            <a:endParaRPr lang="en-US"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VAD, односно Voice Activity Detection, служи за проналажење делова аудио-сигнала у којима је присутан говор.</a:t>
            </a:r>
            <a:endParaRPr lang="en-US" altLang="en-US"/>
          </a:p>
          <a:p>
            <a:pPr marL="158750" indent="0">
              <a:buNone/>
            </a:pPr>
            <a:r>
              <a:rPr lang="en-US" altLang="en-US"/>
              <a:t>У практичним снимцима говор није непрекидан. Између речи и реченица постоје паузе, а некада и дужи периоди без говорне активности.</a:t>
            </a:r>
            <a:endParaRPr lang="en-US" altLang="en-US"/>
          </a:p>
          <a:p>
            <a:pPr marL="158750" indent="0">
              <a:buNone/>
            </a:pPr>
            <a:r>
              <a:rPr lang="en-US" altLang="en-US"/>
              <a:t>Идеја VAD-а је да се такви периоди детектују и да се моделу проследе релевантни говорни сегменти, чиме се потенцијално смањује количина материјала за обраду.</a:t>
            </a:r>
            <a:endParaRPr lang="en-US" altLang="en-US"/>
          </a:p>
          <a:p>
            <a:pPr marL="158750" indent="0">
              <a:buNone/>
            </a:pPr>
            <a:r>
              <a:rPr lang="en-US" altLang="en-US"/>
              <a:t>Међутим, VAD може имати и негативан ефекат ако погрешно уклони део говора. Зато није довољно мерити само брзину — потребно је проверити и WER.</a:t>
            </a:r>
            <a:endParaRPr lang="en-US" altLang="en-US"/>
          </a:p>
          <a:p>
            <a:pPr marL="158750" indent="0">
              <a:buNone/>
            </a:pPr>
            <a:r>
              <a:rPr lang="en-US" altLang="en-US"/>
              <a:t>У мом експерименту коришћен је Faster-Whisper Base INT8 на CPU-у.</a:t>
            </a:r>
            <a:endParaRPr lang="en-US" altLang="en-US"/>
          </a:p>
          <a:p>
            <a:pPr marL="158750" indent="0">
              <a:buNone/>
            </a:pPr>
            <a:r>
              <a:rPr lang="en-US" altLang="en-US"/>
              <a:t>Формиране су две групе са по пет снимака. Прву чини синтетички енглески говор, а другу природни српски говор. За српску групу коришћени су снимци 28, 32, 33, 36 и 40, којима су контролисано додате паузе.</a:t>
            </a:r>
            <a:endParaRPr lang="en-US" altLang="en-US"/>
          </a:p>
          <a:p>
            <a:pPr marL="158750" indent="0">
              <a:buNone/>
            </a:pPr>
            <a:r>
              <a:rPr lang="en-US" altLang="en-US"/>
              <a:t>Сваки снимак обрађен је са искљученим и укљученим VAD-ом, а време је мерено три пута по режиму.</a:t>
            </a:r>
            <a:endParaRPr lang="en-US" altLang="en-US"/>
          </a:p>
          <a:p>
            <a:pPr marL="158750" indent="0">
              <a:buNone/>
            </a:pPr>
            <a:r>
              <a:rPr lang="en-US" altLang="en-US"/>
              <a:t>Циљ је био да утврдим да ли уклањање тишине смањује време обраде и да ли при томе долази до промене тачности.</a:t>
            </a:r>
            <a:endParaRPr lang="en-US" altLang="en-US"/>
          </a:p>
          <a:p>
            <a:pPr marL="158750" indent="457200">
              <a:buNone/>
            </a:pPr>
            <a:r>
              <a:rPr lang="en-US" altLang="en-US"/>
              <a:t>Резултати показују да ефекат VAD-а зависи од врсте и структуре аудио-материјала.</a:t>
            </a:r>
            <a:endParaRPr lang="en-US"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графикону су приказани резултати са искљученим и укљученим VAD-ом.</a:t>
            </a:r>
            <a:endParaRPr lang="en-US" altLang="en-US"/>
          </a:p>
          <a:p>
            <a:pPr marL="158750" indent="0">
              <a:buNone/>
            </a:pPr>
            <a:r>
              <a:rPr lang="en-US" altLang="en-US"/>
              <a:t>Код синтетичког енглеског скупа просечно време смањено је са 1,968 на 1,557 секунди. То представља смањење од 20,85%, односно убрзање од приближно 1,26 пута.</a:t>
            </a:r>
            <a:endParaRPr lang="en-US" altLang="en-US"/>
          </a:p>
          <a:p>
            <a:pPr marL="158750" indent="0">
              <a:buNone/>
            </a:pPr>
            <a:r>
              <a:rPr lang="en-US" altLang="en-US"/>
              <a:t>Код природног српског скупа време је смањено са 4,302 на 4,175 секунди, односно за 2,96%.</a:t>
            </a:r>
            <a:endParaRPr lang="en-US" altLang="en-US"/>
          </a:p>
          <a:p>
            <a:pPr marL="158750" indent="0">
              <a:buNone/>
            </a:pPr>
            <a:r>
              <a:rPr lang="en-US" altLang="en-US"/>
              <a:t>Дакле, VAD је у обе групе смањио време обраде, али је ефекат био знатно израженији код синтетичког енглеског скупа.</a:t>
            </a:r>
            <a:endParaRPr lang="en-US" altLang="en-US"/>
          </a:p>
          <a:p>
            <a:pPr marL="158750" indent="0">
              <a:buNone/>
            </a:pPr>
            <a:r>
              <a:rPr lang="en-US" altLang="en-US"/>
              <a:t>Затим сам проверио да ли је уклањање тишине негативно утицало на тачност.</a:t>
            </a:r>
            <a:endParaRPr lang="en-US" altLang="en-US"/>
          </a:p>
          <a:p>
            <a:pPr marL="158750" indent="0">
              <a:buNone/>
            </a:pPr>
            <a:r>
              <a:rPr lang="en-US" altLang="en-US"/>
              <a:t>Код енглеског скупа WER се променио са 7,58% на 6,37%, а код српског са 66,28% на 65,80%.</a:t>
            </a:r>
            <a:endParaRPr lang="en-US" altLang="en-US"/>
          </a:p>
          <a:p>
            <a:pPr marL="158750" indent="0">
              <a:buNone/>
            </a:pPr>
            <a:r>
              <a:rPr lang="en-US" altLang="en-US"/>
              <a:t>У оба случаја забележено је мало смањење WER-а, али то не треба тумачити као доказ да VAD сам по себи побољшава способност модела да препознаје говор. Промена може бити повезана са сегментацијом и поступком декодирања.</a:t>
            </a:r>
            <a:endParaRPr lang="en-US" altLang="en-US"/>
          </a:p>
          <a:p>
            <a:pPr marL="158750" indent="0">
              <a:buNone/>
            </a:pPr>
            <a:r>
              <a:rPr lang="en-US" altLang="en-US"/>
              <a:t>За овај рад важније је да укључивање VAD-а није довело до приметног погоршања WER-а, док је време обраде смањено.</a:t>
            </a:r>
            <a:endParaRPr lang="en-US" altLang="en-US"/>
          </a:p>
          <a:p>
            <a:pPr marL="158750" indent="0">
              <a:buNone/>
            </a:pPr>
            <a:r>
              <a:rPr lang="en-US" altLang="en-US"/>
              <a:t>Резултати показују и да се не може очекивати исто убрзање за сваки снимак. Добитак зависи од количине и распореда тишине.</a:t>
            </a:r>
            <a:endParaRPr lang="en-US" altLang="en-US"/>
          </a:p>
          <a:p>
            <a:pPr marL="158750" indent="0">
              <a:buNone/>
            </a:pPr>
            <a:r>
              <a:rPr lang="en-US" altLang="en-US"/>
              <a:t>Због тога се у каснијем поступку избора конфигурације разматра и VAD ON, уз напомену да је његов ефекат зависан од улазног аудија.</a:t>
            </a:r>
            <a:endParaRPr lang="en-US" altLang="en-US"/>
          </a:p>
          <a:p>
            <a:pPr marL="158750" indent="457200">
              <a:buNone/>
            </a:pPr>
            <a:r>
              <a:rPr lang="en-US" altLang="en-US"/>
              <a:t>До сада сам посматрао обраду унапред снимљеног аудија. Следећи експеримент испитује шта се дешава када аудио поделимо на мање сегменте и обрађујемо га поступно, као у streaming систему.</a:t>
            </a:r>
            <a:endParaRPr lang="en-US"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Последњи експеримент у поглављу 7 односи се на могућност примене Faster-Whisper-а у условима приближним раду у реалном времену.</a:t>
            </a:r>
            <a:endParaRPr lang="en-US" altLang="en-US"/>
          </a:p>
          <a:p>
            <a:pPr marL="158750" indent="0">
              <a:buNone/>
            </a:pPr>
            <a:r>
              <a:rPr lang="en-US" altLang="en-US"/>
              <a:t>Код класичне транскрипције модел добија цео аудио-запис. Код streaming приступа аудио пристиже постепено и мора да се обрађује у мањим сегментима.</a:t>
            </a:r>
            <a:endParaRPr lang="en-US" altLang="en-US"/>
          </a:p>
          <a:p>
            <a:pPr marL="158750" indent="0">
              <a:buNone/>
            </a:pPr>
            <a:r>
              <a:rPr lang="en-US" altLang="en-US"/>
              <a:t>Мој експеримент представља симулацију streaming обраде над унапред снимљеним аудио-записима, а не директну транскрипцију са микрофона.</a:t>
            </a:r>
            <a:endParaRPr lang="en-US" altLang="en-US"/>
          </a:p>
          <a:p>
            <a:pPr marL="158750" indent="0">
              <a:buNone/>
            </a:pPr>
            <a:r>
              <a:rPr lang="en-US" altLang="en-US"/>
              <a:t>Користио сам пет најдужих природних српских снимака из главног скупа.</a:t>
            </a:r>
            <a:endParaRPr lang="en-US" altLang="en-US"/>
          </a:p>
          <a:p>
            <a:pPr marL="158750" indent="0">
              <a:buNone/>
            </a:pPr>
            <a:r>
              <a:rPr lang="en-US" altLang="en-US"/>
              <a:t>Модел је био Faster-Whisper Base INT8 на CPU-у, уз beam_size један и искључен VAD.</a:t>
            </a:r>
            <a:endParaRPr lang="en-US" altLang="en-US"/>
          </a:p>
          <a:p>
            <a:pPr marL="158750" indent="0">
              <a:buNone/>
            </a:pPr>
            <a:r>
              <a:rPr lang="en-US" altLang="en-US"/>
              <a:t>Најпре сам сваки снимак транскрибовао као целину и добио full-file референтни резултат. Затим сам исте снимке поделио на независне сегменте од две, пет и десет секунди.</a:t>
            </a:r>
            <a:endParaRPr lang="en-US" altLang="en-US"/>
          </a:p>
          <a:p>
            <a:pPr marL="158750" indent="0">
              <a:buNone/>
            </a:pPr>
            <a:r>
              <a:rPr lang="en-US" altLang="en-US"/>
              <a:t>Сваки сегмент транскрибован је засебно, редоследом којим би пристизао у streaming систему, а резултујући текстови су спојени ради евалуације.</a:t>
            </a:r>
            <a:endParaRPr lang="en-US" altLang="en-US"/>
          </a:p>
          <a:p>
            <a:pPr marL="158750" indent="0">
              <a:buNone/>
            </a:pPr>
            <a:r>
              <a:rPr lang="en-US" altLang="en-US"/>
              <a:t>Поред WER-а и RTF-а мерио сам просечну латенцију обраде сегмента и TTFR, односно време до првог текстуалног резултата.</a:t>
            </a:r>
            <a:endParaRPr lang="en-US" altLang="en-US"/>
          </a:p>
          <a:p>
            <a:pPr marL="158750" indent="0">
              <a:buNone/>
            </a:pPr>
            <a:r>
              <a:rPr lang="en-US" altLang="en-US"/>
              <a:t>Циљ је био да испитам компромис између ранијег приказивања текста и тачности транскрипције.</a:t>
            </a:r>
            <a:endParaRPr lang="en-US" altLang="en-US"/>
          </a:p>
          <a:p>
            <a:pPr marL="158750" indent="457200">
              <a:buNone/>
            </a:pPr>
            <a:r>
              <a:rPr lang="en-US" altLang="en-US"/>
              <a:t>Први резултат показује колико величина сегмента утиче на тачност препознавања.</a:t>
            </a:r>
            <a:endParaRPr lang="en-US"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Резултати показују веома изражен утицај величине сегмента на тачност транскрипције.</a:t>
            </a:r>
            <a:endParaRPr lang="en-US" altLang="en-US"/>
          </a:p>
          <a:p>
            <a:pPr marL="158750" indent="0">
              <a:buNone/>
            </a:pPr>
            <a:r>
              <a:rPr lang="en-US" altLang="en-US"/>
              <a:t>Када се цео снимак обради одједном, просечни WER износи 43,03%.</a:t>
            </a:r>
            <a:endParaRPr lang="en-US" altLang="en-US"/>
          </a:p>
          <a:p>
            <a:pPr marL="158750" indent="0">
              <a:buNone/>
            </a:pPr>
            <a:r>
              <a:rPr lang="en-US" altLang="en-US"/>
              <a:t>Код независних сегмената од две секунде WER расте на чак 220,48%. Corpus WER износи 221,88%, што потврђује да резултат није само последица начина израчунавања просека.</a:t>
            </a:r>
            <a:endParaRPr lang="en-US" altLang="en-US"/>
          </a:p>
          <a:p>
            <a:pPr marL="158750" indent="0">
              <a:buNone/>
            </a:pPr>
            <a:r>
              <a:rPr lang="en-US" altLang="en-US"/>
              <a:t>Разлог је што модел на тако кратком сегменту има веома мало контекста. Речи и реченице могу бити пресечене на границама, а модел може да генерише и додатне речи.</a:t>
            </a:r>
            <a:endParaRPr lang="en-US" altLang="en-US"/>
          </a:p>
          <a:p>
            <a:pPr marL="158750" indent="0">
              <a:buNone/>
            </a:pPr>
            <a:r>
              <a:rPr lang="en-US" altLang="en-US"/>
              <a:t>Код сегмената од пет секунди просечни WER се смањује на 126,40%, али је и даље веома висок.</a:t>
            </a:r>
            <a:endParaRPr lang="en-US" altLang="en-US"/>
          </a:p>
          <a:p>
            <a:pPr marL="158750" indent="0">
              <a:buNone/>
            </a:pPr>
            <a:r>
              <a:rPr lang="en-US" altLang="en-US"/>
              <a:t>Код сегмената од десет секунди WER износи 52,04%, што је приближно девет процентних поена више од full-file обраде.</a:t>
            </a:r>
            <a:endParaRPr lang="en-US" altLang="en-US"/>
          </a:p>
          <a:p>
            <a:pPr marL="158750" indent="0">
              <a:buNone/>
            </a:pPr>
            <a:r>
              <a:rPr lang="en-US" altLang="en-US"/>
              <a:t>Са друге стране, краћи сегменти омогућавају раније приказивање првог резултата.</a:t>
            </a:r>
            <a:endParaRPr lang="en-US" altLang="en-US"/>
          </a:p>
          <a:p>
            <a:pPr marL="158750" indent="0">
              <a:buNone/>
            </a:pPr>
            <a:r>
              <a:rPr lang="en-US" altLang="en-US"/>
              <a:t>TTFR износи 2,773 секунде за сегмент од две секунде, 5,904 секунде за пет секунди и 11,299 секунди за десет секунди.</a:t>
            </a:r>
            <a:endParaRPr lang="en-US" altLang="en-US"/>
          </a:p>
          <a:p>
            <a:pPr marL="158750" indent="0">
              <a:buNone/>
            </a:pPr>
            <a:r>
              <a:rPr lang="en-US" altLang="en-US"/>
              <a:t>Дакле, повећањем сегмента добијамо више контекста и бољу тачност, али корисник дуже чека први текст.</a:t>
            </a:r>
            <a:endParaRPr lang="en-US" altLang="en-US"/>
          </a:p>
          <a:p>
            <a:pPr marL="158750" indent="0">
              <a:buNone/>
            </a:pPr>
            <a:r>
              <a:rPr lang="en-US" altLang="en-US"/>
              <a:t>Важно је да овај резултат не значи да streaming ASR генерално има WER већи од 200%. То је резултат моје симулације у којој су сегменти обрађивани потпуно независно, без преклапања и преноса контекста.</a:t>
            </a:r>
            <a:endParaRPr lang="en-US" altLang="en-US"/>
          </a:p>
          <a:p>
            <a:pPr marL="158750" indent="457200">
              <a:buNone/>
            </a:pPr>
            <a:r>
              <a:rPr lang="en-US" altLang="en-US"/>
              <a:t>Поред тачности и времена до првог резултата, потребно је проверити и да ли систем стиже да обради сегменте пре него што пристигну наредни.</a:t>
            </a:r>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Поред тачности, streaming систем мора да буде довољно брз да обради пристигли сегмент пре него што се обрада нагомила.</a:t>
            </a:r>
            <a:endParaRPr lang="en-US" altLang="en-US"/>
          </a:p>
          <a:p>
            <a:pPr marL="158750" indent="0">
              <a:buNone/>
            </a:pPr>
            <a:r>
              <a:rPr lang="en-US" altLang="en-US"/>
              <a:t>Просечни RTF за сегменте од две секунде износи 0,417, за пет секунди 0,190, а за десет секунди 0,132.</a:t>
            </a:r>
            <a:endParaRPr lang="en-US" altLang="en-US"/>
          </a:p>
          <a:p>
            <a:pPr marL="158750" indent="0">
              <a:buNone/>
            </a:pPr>
            <a:r>
              <a:rPr lang="en-US" altLang="en-US"/>
              <a:t>Дакле, иако дужи сегмент захтева више апсолутног времена за једну транскрипцију, он има нижи RTF јер се већа количина аудија обрађује у једном пролазу.</a:t>
            </a:r>
            <a:endParaRPr lang="en-US" altLang="en-US"/>
          </a:p>
          <a:p>
            <a:pPr marL="158750" indent="0">
              <a:buNone/>
            </a:pPr>
            <a:r>
              <a:rPr lang="en-US" altLang="en-US"/>
              <a:t>Просечна латенција обраде једног сегмента износила је 0,820 секунди за две секунде аудија, 0,933 за пет и 1,245 за десет секунди.</a:t>
            </a:r>
            <a:endParaRPr lang="en-US" altLang="en-US"/>
          </a:p>
          <a:p>
            <a:pPr marL="158750" indent="0">
              <a:buNone/>
            </a:pPr>
            <a:r>
              <a:rPr lang="en-US" altLang="en-US"/>
              <a:t>Код сегмената од пет и десет секунди сви обрађени сегменти имали су RTF мањи од један. Код сегмената од две секунде то је важило за 95,61% сегмената.</a:t>
            </a:r>
            <a:endParaRPr lang="en-US" altLang="en-US"/>
          </a:p>
          <a:p>
            <a:pPr marL="158750" indent="0">
              <a:buNone/>
            </a:pPr>
            <a:r>
              <a:rPr lang="en-US" altLang="en-US"/>
              <a:t>Код најкраћих сегмената забележено је и мање нагомилавање обраде, док код пет и десет секунди ред чекања није забележен.</a:t>
            </a:r>
            <a:endParaRPr lang="en-US" altLang="en-US"/>
          </a:p>
          <a:p>
            <a:pPr marL="158750" indent="0">
              <a:buNone/>
            </a:pPr>
            <a:r>
              <a:rPr lang="en-US" altLang="en-US"/>
              <a:t>У раду сам додатно применио комбиновани критеријум који укључује WER, RTF, TTFR и ред чекања. Добијени резултати износе 0,8000 за десет секунди, 0,6651 за пет и 0,2000 за две секунде.</a:t>
            </a:r>
            <a:endParaRPr lang="en-US" altLang="en-US"/>
          </a:p>
          <a:p>
            <a:pPr marL="158750" indent="0">
              <a:buNone/>
            </a:pPr>
            <a:r>
              <a:rPr lang="en-US" altLang="en-US"/>
              <a:t>Према том критеријуму, међу три испитане величине издвојио се сегмент од десет секунди.</a:t>
            </a:r>
            <a:endParaRPr lang="en-US" altLang="en-US"/>
          </a:p>
          <a:p>
            <a:pPr marL="158750" indent="0">
              <a:buNone/>
            </a:pPr>
            <a:r>
              <a:rPr lang="en-US" altLang="en-US"/>
              <a:t>То не представља универзално оптималну величину сегмента. Испитано је само пет снимака и три величине, без напреднијих техника попут преклапања сегмената или преноса контекста.</a:t>
            </a:r>
            <a:endParaRPr lang="en-US" altLang="en-US"/>
          </a:p>
          <a:p>
            <a:pPr marL="158750" indent="457200">
              <a:buNone/>
            </a:pPr>
            <a:r>
              <a:rPr lang="en-US" altLang="en-US"/>
              <a:t>Овим се завршавају појединачни експерименти. Њихови резултати показују да побољшање једне метрике често долази уз погоршање друге, па је потребан заједнички поступак избора конфигурације.</a:t>
            </a:r>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До сада сам представио резултате појединачних експеримената.</a:t>
            </a:r>
            <a:endParaRPr lang="en-US" altLang="en-US"/>
          </a:p>
          <a:p>
            <a:pPr marL="158750" indent="0">
              <a:buNone/>
            </a:pPr>
            <a:r>
              <a:rPr lang="en-US" altLang="en-US"/>
              <a:t>Прво поређење показало је разлике између оригиналног Whisper-а и Faster-Whisper-а у тачности, времену и меморији.</a:t>
            </a:r>
            <a:endParaRPr lang="en-US" altLang="en-US"/>
          </a:p>
          <a:p>
            <a:pPr marL="158750" indent="0">
              <a:buNone/>
            </a:pPr>
            <a:r>
              <a:rPr lang="en-US" altLang="en-US"/>
              <a:t>Експеримент са величином модела показао је да већи модели у овом скупу остварују нижи WER, али захтевају више времена за обраду.</a:t>
            </a:r>
            <a:endParaRPr lang="en-US" altLang="en-US"/>
          </a:p>
          <a:p>
            <a:pPr marL="158750" indent="0">
              <a:buNone/>
            </a:pPr>
            <a:r>
              <a:rPr lang="en-US" altLang="en-US"/>
              <a:t>INT8 квантизација убрзала је све четири испитане величине модела, при чему добитак није био једнак за све моделе.</a:t>
            </a:r>
            <a:endParaRPr lang="en-US" altLang="en-US"/>
          </a:p>
          <a:p>
            <a:pPr marL="158750" indent="0">
              <a:buNone/>
            </a:pPr>
            <a:r>
              <a:rPr lang="en-US" altLang="en-US"/>
              <a:t>Beam Search показао је да повећање броја кандидата може да побољша тачност, али уз већи временски трошак. Додатно повећање не гарантује наставак побољшања просечног WER-а.</a:t>
            </a:r>
            <a:endParaRPr lang="en-US" altLang="en-US"/>
          </a:p>
          <a:p>
            <a:pPr marL="158750" indent="0">
              <a:buNone/>
            </a:pPr>
            <a:r>
              <a:rPr lang="en-US" altLang="en-US"/>
              <a:t>VAD је у две испитане групе смањио време обраде без приметног погоршања тачности, али је ефекат зависио од структуре снимака.</a:t>
            </a:r>
            <a:endParaRPr lang="en-US" altLang="en-US"/>
          </a:p>
          <a:p>
            <a:pPr marL="158750" indent="0">
              <a:buNone/>
            </a:pPr>
            <a:r>
              <a:rPr lang="en-US" altLang="en-US"/>
              <a:t>Експеримент са шумом показао је значајан пад тачности при ниским и негативним SNR вредностима.</a:t>
            </a:r>
            <a:endParaRPr lang="en-US" altLang="en-US"/>
          </a:p>
          <a:p>
            <a:pPr marL="158750" indent="0">
              <a:buNone/>
            </a:pPr>
            <a:r>
              <a:rPr lang="en-US" altLang="en-US"/>
              <a:t>На крају, streaming симулација показала је компромис између времена до првог резултата и количине контекста доступног моделу.</a:t>
            </a:r>
            <a:endParaRPr lang="en-US" altLang="en-US"/>
          </a:p>
          <a:p>
            <a:pPr marL="158750" indent="0">
              <a:buNone/>
            </a:pPr>
            <a:r>
              <a:rPr lang="en-US" altLang="en-US"/>
              <a:t>Заједнички закључак јесте да није довољно изабрати конфигурацију само према WER-у или само према брзини.</a:t>
            </a:r>
            <a:endParaRPr lang="en-US" altLang="en-US"/>
          </a:p>
          <a:p>
            <a:pPr marL="158750" indent="0">
              <a:buNone/>
            </a:pPr>
            <a:r>
              <a:rPr lang="en-US" altLang="en-US"/>
              <a:t>Због тога сам резултате објединио у поступак аутоматског вишекритеријумског избора, у којем се истовремено разматрају тачност, RTF и меморијска потрошња.</a:t>
            </a:r>
            <a:endParaRPr lang="en-US" altLang="en-US"/>
          </a:p>
          <a:p>
            <a:pPr marL="158750" indent="457200">
              <a:buNone/>
            </a:pPr>
            <a:r>
              <a:rPr lang="en-US" altLang="en-US"/>
              <a:t>Сада ћу објаснити како је формиран заједнички скуп резултата за аутоматски избор конфигурације.</a:t>
            </a:r>
            <a:endParaRPr lang="en-US"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основу претходних експеримената постало је јасно да различите конфигурације имају различите предности.</a:t>
            </a:r>
            <a:endParaRPr lang="en-US" altLang="en-US"/>
          </a:p>
          <a:p>
            <a:pPr marL="158750" indent="0">
              <a:buNone/>
            </a:pPr>
            <a:r>
              <a:rPr lang="en-US" altLang="en-US"/>
              <a:t>Већи модел може да буде тачнији, али спорији. Мањи модел може да захтева мање меморије и времена, али да прави више грешака.</a:t>
            </a:r>
            <a:endParaRPr lang="en-US" altLang="en-US"/>
          </a:p>
          <a:p>
            <a:pPr marL="158750" indent="0">
              <a:buNone/>
            </a:pPr>
            <a:r>
              <a:rPr lang="en-US" altLang="en-US"/>
              <a:t>Због тога сам у поглављу 8 формирао поступак аутоматског вишекритеријумског избора.</a:t>
            </a:r>
            <a:endParaRPr lang="en-US" altLang="en-US"/>
          </a:p>
          <a:p>
            <a:pPr marL="158750" indent="0">
              <a:buNone/>
            </a:pPr>
            <a:r>
              <a:rPr lang="en-US" altLang="en-US"/>
              <a:t>За његов главни део користио сам резултате експеримента са величином модела и квантизацијом, јер је свих 40 природних српских снимака обрађено помоћу истих осам конфигурација.</a:t>
            </a:r>
            <a:endParaRPr lang="en-US" altLang="en-US"/>
          </a:p>
          <a:p>
            <a:pPr marL="158750" indent="0">
              <a:buNone/>
            </a:pPr>
            <a:r>
              <a:rPr lang="en-US" altLang="en-US"/>
              <a:t>То су четири величине модела — Tiny, Base, Small и Medium — у INT8 и FLOAT32 варијантама.</a:t>
            </a:r>
            <a:endParaRPr lang="en-US" altLang="en-US"/>
          </a:p>
          <a:p>
            <a:pPr marL="158750" indent="0">
              <a:buNone/>
            </a:pPr>
            <a:r>
              <a:rPr lang="en-US" altLang="en-US"/>
              <a:t>Укупно је било доступно 320 транскрипција. Пошто су транскрипти, време, RTF и меморијска мерења већ били сачувани, моделе није било потребно поново покретати.</a:t>
            </a:r>
            <a:endParaRPr lang="en-US" altLang="en-US"/>
          </a:p>
          <a:p>
            <a:pPr marL="158750" indent="0">
              <a:buNone/>
            </a:pPr>
            <a:r>
              <a:rPr lang="en-US" altLang="en-US"/>
              <a:t>Уместо тога, WER је накнадно израчунат из сачуваних транскрипата и одговарајућих референтних текстова.</a:t>
            </a:r>
            <a:endParaRPr lang="en-US" altLang="en-US"/>
          </a:p>
          <a:p>
            <a:pPr marL="158750" indent="0">
              <a:buNone/>
            </a:pPr>
            <a:r>
              <a:rPr lang="en-US" altLang="en-US"/>
              <a:t>За избор су коришћена три критеријума: WER, RTF и RAM. Код сва три мања вредност представља повољнији резултат.</a:t>
            </a:r>
            <a:endParaRPr lang="en-US" altLang="en-US"/>
          </a:p>
          <a:p>
            <a:pPr marL="158750" indent="0">
              <a:buNone/>
            </a:pPr>
            <a:r>
              <a:rPr lang="en-US" altLang="en-US"/>
              <a:t>Пошто се изражавају у различитим јединицама, није могуће једноставно сабрати њихове сирове вредности. Због тога сам применио нормализацију, затим пондерисање критеријума и Pareto анализу.</a:t>
            </a:r>
            <a:endParaRPr lang="en-US" altLang="en-US"/>
          </a:p>
          <a:p>
            <a:pPr marL="158750" indent="0">
              <a:buNone/>
            </a:pPr>
            <a:r>
              <a:rPr lang="en-US" altLang="en-US"/>
              <a:t>На наредним слајдовима приказаћу како овај поступак функционише и какви су резултати добијени.</a:t>
            </a:r>
            <a:endParaRPr lang="en-US" altLang="en-US"/>
          </a:p>
          <a:p>
            <a:pPr marL="158750" indent="457200">
              <a:buNone/>
            </a:pPr>
            <a:r>
              <a:rPr lang="en-US" altLang="en-US"/>
              <a:t>Први корак је нормализација метрика, а затим њихово обједињавање у пондерисани скор.</a:t>
            </a:r>
            <a:endParaRPr lang="en-US"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За аутоматски избор конфигурације користио сам три критеријума: WER, RTF и RAM.</a:t>
            </a:r>
            <a:endParaRPr lang="en-US" altLang="en-US"/>
          </a:p>
          <a:p>
            <a:pPr marL="158750" indent="0">
              <a:buNone/>
            </a:pPr>
            <a:r>
              <a:rPr lang="en-US" altLang="en-US"/>
              <a:t>Проблем је што се они изражавају у различитим јединицама. WER је проценат грешака, RTF је однос времена обраде и трајања аудија, а RAM се мери у мегабајтима.</a:t>
            </a:r>
            <a:endParaRPr lang="en-US" altLang="en-US"/>
          </a:p>
          <a:p>
            <a:pPr marL="158750" indent="0">
              <a:buNone/>
            </a:pPr>
            <a:r>
              <a:rPr lang="en-US" altLang="en-US"/>
              <a:t>Због тога њихове сирове вредности није могуће директно сабрати.</a:t>
            </a:r>
            <a:endParaRPr lang="en-US" altLang="en-US"/>
          </a:p>
          <a:p>
            <a:pPr marL="158750" indent="0">
              <a:buNone/>
            </a:pPr>
            <a:r>
              <a:rPr lang="en-US" altLang="en-US"/>
              <a:t>Применио сам min-max нормализацију, којом се свака вредност преводи у скор између нула и један.</a:t>
            </a:r>
            <a:endParaRPr lang="en-US" altLang="en-US"/>
          </a:p>
          <a:p>
            <a:pPr marL="158750" indent="0">
              <a:buNone/>
            </a:pPr>
            <a:r>
              <a:rPr lang="en-US" altLang="en-US"/>
              <a:t>Пошто су код сва три критеријума мање вредности повољније, коришћена је обрнута нормализација. Најповољнија вредност добија скор један, а најнеповољнија нула.</a:t>
            </a:r>
            <a:endParaRPr lang="en-US" altLang="en-US"/>
          </a:p>
          <a:p>
            <a:pPr marL="158750" indent="0">
              <a:buNone/>
            </a:pPr>
            <a:r>
              <a:rPr lang="en-US" altLang="en-US"/>
              <a:t>Затим сам формирао пондерисани укупни скор.</a:t>
            </a:r>
            <a:endParaRPr lang="en-US" altLang="en-US"/>
          </a:p>
          <a:p>
            <a:pPr marL="158750" indent="0">
              <a:buNone/>
            </a:pPr>
            <a:r>
              <a:rPr lang="en-US" altLang="en-US"/>
              <a:t>WER-у је додељена тежина од 50%, јер је основна функција ASR система да што тачније препозна говор.</a:t>
            </a:r>
            <a:endParaRPr lang="en-US" altLang="en-US"/>
          </a:p>
          <a:p>
            <a:pPr marL="158750" indent="0">
              <a:buNone/>
            </a:pPr>
            <a:r>
              <a:rPr lang="en-US" altLang="en-US"/>
              <a:t>RTF учествује са 30%, а RAM са 20%.</a:t>
            </a:r>
            <a:endParaRPr lang="en-US" altLang="en-US"/>
          </a:p>
          <a:p>
            <a:pPr marL="158750" indent="0">
              <a:buNone/>
            </a:pPr>
            <a:r>
              <a:rPr lang="en-US" altLang="en-US"/>
              <a:t>На овај начин тачност има највећи значај, али се у обзир узимају и практични захтеви извршавања.</a:t>
            </a:r>
            <a:endParaRPr lang="en-US" altLang="en-US"/>
          </a:p>
          <a:p>
            <a:pPr marL="158750" indent="0">
              <a:buNone/>
            </a:pPr>
            <a:r>
              <a:rPr lang="en-US" altLang="en-US"/>
              <a:t>Важно је нагласити да изабране тежине нису универзалне. Оне представљају један сценарио дефинисан за потребе рада.</a:t>
            </a:r>
            <a:endParaRPr lang="en-US" altLang="en-US"/>
          </a:p>
          <a:p>
            <a:pPr marL="158750" indent="0">
              <a:buNone/>
            </a:pPr>
            <a:r>
              <a:rPr lang="en-US" altLang="en-US"/>
              <a:t>Зато сам касније спровео и анализу осетљивости, како бих проверио шта се дешава када се приоритети промене.</a:t>
            </a:r>
            <a:endParaRPr lang="en-US" altLang="en-US"/>
          </a:p>
          <a:p>
            <a:pPr marL="158750" indent="457200">
              <a:buNone/>
            </a:pPr>
            <a:r>
              <a:rPr lang="en-US" altLang="en-US"/>
              <a:t>Након нормализације и израчунавања укупног скора, испитао сам и да ли поједине конфигурације доминирају над другим конфигурацијама.</a:t>
            </a:r>
            <a:endParaRPr lang="en-US"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Поред пондерисаног скора применио сам и Pareto анализу.</a:t>
            </a:r>
            <a:endParaRPr lang="en-US" altLang="en-US"/>
          </a:p>
          <a:p>
            <a:pPr marL="158750" indent="0">
              <a:buNone/>
            </a:pPr>
            <a:r>
              <a:rPr lang="en-US" altLang="en-US"/>
              <a:t>Њена идеја је да провери да ли постоји конфигурација која је истовремено једнако добра или боља по свим критеријумима, а строго боља по најмање једном.</a:t>
            </a:r>
            <a:endParaRPr lang="en-US" altLang="en-US"/>
          </a:p>
          <a:p>
            <a:pPr marL="158750" indent="0">
              <a:buNone/>
            </a:pPr>
            <a:r>
              <a:rPr lang="en-US" altLang="en-US"/>
              <a:t>Ако таква конфигурација постоји, посматрана конфигурација је Pareto доминирана.</a:t>
            </a:r>
            <a:endParaRPr lang="en-US" altLang="en-US"/>
          </a:p>
          <a:p>
            <a:pPr marL="158750" indent="0">
              <a:buNone/>
            </a:pPr>
            <a:r>
              <a:rPr lang="en-US" altLang="en-US"/>
              <a:t>У мом експерименту посматрана су три критеријума: WER, RTF и RAM.</a:t>
            </a:r>
            <a:endParaRPr lang="en-US" altLang="en-US"/>
          </a:p>
          <a:p>
            <a:pPr marL="158750" indent="0">
              <a:buNone/>
            </a:pPr>
            <a:r>
              <a:rPr lang="en-US" altLang="en-US"/>
              <a:t>На графикону је приказан однос WER-а и RTF-а за осам конфигурација. Видимо да се модели распоређују између два екстрема.</a:t>
            </a:r>
            <a:endParaRPr lang="en-US" altLang="en-US"/>
          </a:p>
          <a:p>
            <a:pPr marL="158750" indent="0">
              <a:buNone/>
            </a:pPr>
            <a:r>
              <a:rPr lang="en-US" altLang="en-US"/>
              <a:t>Tiny модели имају мали RTF, али висок WER. Medium модели имају низак WER, али захтевају знатно више времена.</a:t>
            </a:r>
            <a:endParaRPr lang="en-US" altLang="en-US"/>
          </a:p>
          <a:p>
            <a:pPr marL="158750" indent="0">
              <a:buNone/>
            </a:pPr>
            <a:r>
              <a:rPr lang="en-US" altLang="en-US"/>
              <a:t>Small модели налазе се између ова два екстрема.</a:t>
            </a:r>
            <a:endParaRPr lang="en-US" altLang="en-US"/>
          </a:p>
          <a:p>
            <a:pPr marL="158750" indent="0">
              <a:buNone/>
            </a:pPr>
            <a:r>
              <a:rPr lang="en-US" altLang="en-US"/>
              <a:t>Када се у анализу укључи и измерена меморија, седам од осам конфигурација припада Pareto скупу.</a:t>
            </a:r>
            <a:endParaRPr lang="en-US" altLang="en-US"/>
          </a:p>
          <a:p>
            <a:pPr marL="158750" indent="0">
              <a:buNone/>
            </a:pPr>
            <a:r>
              <a:rPr lang="en-US" altLang="en-US"/>
              <a:t>Једино је Base FLOAT32 означен као доминиран. У поређењу са Base INT8, он има виши просечни WER, виши RTF и већу измерену RAM вредност.</a:t>
            </a:r>
            <a:endParaRPr lang="en-US" altLang="en-US"/>
          </a:p>
          <a:p>
            <a:pPr marL="158750" indent="0">
              <a:buNone/>
            </a:pPr>
            <a:r>
              <a:rPr lang="en-US" altLang="en-US"/>
              <a:t>Важно је да Pareto оптималност не значи да су све конфигурације једнако погодне за конкретну примену. Она само значи да не постоји друга испитана конфигурација која је боља или једнака по свим посматраним критеријумима.</a:t>
            </a:r>
            <a:endParaRPr lang="en-US" altLang="en-US"/>
          </a:p>
          <a:p>
            <a:pPr marL="158750" indent="0">
              <a:buNone/>
            </a:pPr>
            <a:r>
              <a:rPr lang="en-US" altLang="en-US"/>
              <a:t>За избор једне конфигурације зато је и даље потребан дефинисан однос приоритета.</a:t>
            </a:r>
            <a:endParaRPr lang="en-US" altLang="en-US"/>
          </a:p>
          <a:p>
            <a:pPr marL="158750" indent="457200">
              <a:buNone/>
            </a:pPr>
            <a:r>
              <a:rPr lang="en-US" altLang="en-US"/>
              <a:t>Пошто коначни резултат зависи од тежина критеријума, проверио сам колико је избор стабилан када се те тежине промене.</a:t>
            </a:r>
            <a:endParaRPr lang="en-US"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Пошто пондерисани скор зависи од изабраних тежина, спровео сам анализу осетљивости.</a:t>
            </a:r>
            <a:endParaRPr lang="en-US" altLang="en-US"/>
          </a:p>
          <a:p>
            <a:pPr marL="158750" indent="0">
              <a:buNone/>
            </a:pPr>
            <a:r>
              <a:rPr lang="en-US" altLang="en-US"/>
              <a:t>Формирао сам три сценарија.</a:t>
            </a:r>
            <a:endParaRPr lang="en-US" altLang="en-US"/>
          </a:p>
          <a:p>
            <a:pPr marL="158750" indent="0">
              <a:buNone/>
            </a:pPr>
            <a:r>
              <a:rPr lang="en-US" altLang="en-US"/>
              <a:t>Balanced је основни сценарио са тежинама 50% за WER, 30% за RTF и 20% за RAM.</a:t>
            </a:r>
            <a:endParaRPr lang="en-US" altLang="en-US"/>
          </a:p>
          <a:p>
            <a:pPr marL="158750" indent="0">
              <a:buNone/>
            </a:pPr>
            <a:r>
              <a:rPr lang="en-US" altLang="en-US"/>
              <a:t>Accuracy сценарио повећава значај тачности на 70%, док RTF добија 20%, а RAM 10%.</a:t>
            </a:r>
            <a:endParaRPr lang="en-US" altLang="en-US"/>
          </a:p>
          <a:p>
            <a:pPr marL="158750" indent="0">
              <a:buNone/>
            </a:pPr>
            <a:r>
              <a:rPr lang="en-US" altLang="en-US"/>
              <a:t>Resource сценарио даје већи значај брзини и меморији. WER и RTF имају по 35%, а RAM 30%.</a:t>
            </a:r>
            <a:endParaRPr lang="en-US" altLang="en-US"/>
          </a:p>
          <a:p>
            <a:pPr marL="158750" indent="0">
              <a:buNone/>
            </a:pPr>
            <a:r>
              <a:rPr lang="en-US" altLang="en-US"/>
              <a:t>Затим сам за сваки сценарио поново израчунао укупне скорове и распоред конфигурација.</a:t>
            </a:r>
            <a:endParaRPr lang="en-US" altLang="en-US"/>
          </a:p>
          <a:p>
            <a:pPr marL="158750" indent="0">
              <a:buNone/>
            </a:pPr>
            <a:r>
              <a:rPr lang="en-US" altLang="en-US"/>
              <a:t>Small INT8 задржао је прво место у сва три сценарија. Његов скор износи 0,8289 у Balanced, 0,8488 у Accuracy и 0,8127 у Resource сценарију.</a:t>
            </a:r>
            <a:endParaRPr lang="en-US" altLang="en-US"/>
          </a:p>
          <a:p>
            <a:pPr marL="158750" indent="0">
              <a:buNone/>
            </a:pPr>
            <a:r>
              <a:rPr lang="en-US" altLang="en-US"/>
              <a:t>Код других конфигурација промене су израженије.</a:t>
            </a:r>
            <a:endParaRPr lang="en-US" altLang="en-US"/>
          </a:p>
          <a:p>
            <a:pPr marL="158750" indent="0">
              <a:buNone/>
            </a:pPr>
            <a:r>
              <a:rPr lang="en-US" altLang="en-US"/>
              <a:t>Medium INT8 је други у Balanced и Accuracy сценарију, али прелази на шесто место у Resource сценарију због већих ресурсних захтева.</a:t>
            </a:r>
            <a:endParaRPr lang="en-US" altLang="en-US"/>
          </a:p>
          <a:p>
            <a:pPr marL="158750" indent="0">
              <a:buNone/>
            </a:pPr>
            <a:r>
              <a:rPr lang="en-US" altLang="en-US"/>
              <a:t>Base INT8 показује супротан тренд: пети је у Accuracy, а други у Resource сценарију.</a:t>
            </a:r>
            <a:endParaRPr lang="en-US" altLang="en-US"/>
          </a:p>
          <a:p>
            <a:pPr marL="158750" indent="0">
              <a:buNone/>
            </a:pPr>
            <a:r>
              <a:rPr lang="en-US" altLang="en-US"/>
              <a:t>Ова анализа показује да избор Small INT8 у оквиру испитаних сценарија није последица само једне расподеле тежина.</a:t>
            </a:r>
            <a:endParaRPr lang="en-US" altLang="en-US"/>
          </a:p>
          <a:p>
            <a:pPr marL="158750" indent="0">
              <a:buNone/>
            </a:pPr>
            <a:r>
              <a:rPr lang="en-US" altLang="en-US"/>
              <a:t>Ипак, проверена су три конкретна сценарија, па резултат не значи да би конфигурација била прва за сваку могућу расподелу приоритета.</a:t>
            </a:r>
            <a:endParaRPr lang="en-US" altLang="en-US"/>
          </a:p>
          <a:p>
            <a:pPr marL="158750" indent="457200">
              <a:buNone/>
            </a:pPr>
            <a:r>
              <a:rPr lang="en-US" altLang="en-US"/>
              <a:t>На основу главне оптимизације и додатних експеримената формирао сам препоручени профил Faster-Whisper система.</a:t>
            </a:r>
            <a:endParaRPr lang="en-US"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основу главне вишекритеријумске анализе аутоматски је изабрана конфигурација Faster-Whisper Small INT8.</a:t>
            </a:r>
            <a:endParaRPr lang="en-US" altLang="en-US"/>
          </a:p>
          <a:p>
            <a:pPr marL="158750" indent="0">
              <a:buNone/>
            </a:pPr>
            <a:r>
              <a:rPr lang="en-US" altLang="en-US"/>
              <a:t>За ову конфигурацију, на скупу од 40 природних српских снимака, просечни WER износи 22,43%, corpus WER 22,22%, просечни RTF 0,3272, а укупни пондерисани скор 0,8289.</a:t>
            </a:r>
            <a:endParaRPr lang="en-US" altLang="en-US"/>
          </a:p>
          <a:p>
            <a:pPr marL="158750" indent="0">
              <a:buNone/>
            </a:pPr>
            <a:r>
              <a:rPr lang="en-US" altLang="en-US"/>
              <a:t>Конфигурација припада Pareto скупу и задржала је прво место у сва три сценарија анализе осетљивости.</a:t>
            </a:r>
            <a:endParaRPr lang="en-US" altLang="en-US"/>
          </a:p>
          <a:p>
            <a:pPr marL="158750" indent="0">
              <a:buNone/>
            </a:pPr>
            <a:r>
              <a:rPr lang="en-US" altLang="en-US"/>
              <a:t>Након избора модела и квантизације, резултате осталих експеримената искористио сам за формирање комплетног препорученог профила.</a:t>
            </a:r>
            <a:endParaRPr lang="en-US" altLang="en-US"/>
          </a:p>
          <a:p>
            <a:pPr marL="158750" indent="0">
              <a:buNone/>
            </a:pPr>
            <a:r>
              <a:rPr lang="en-US" altLang="en-US"/>
              <a:t>За Beam Search изабрана је вредност пет. У посебној интеграционој анализи за тај параметар коришћен је скор са 70% тежине за WER и 30% за RTF, при чему је beam пет остварио скор 0,8852.</a:t>
            </a:r>
            <a:endParaRPr lang="en-US" altLang="en-US"/>
          </a:p>
          <a:p>
            <a:pPr marL="158750" indent="0">
              <a:buNone/>
            </a:pPr>
            <a:r>
              <a:rPr lang="en-US" altLang="en-US"/>
              <a:t>За VAD је изабрано укључено стање, јер је на природном српском подскупу донело смањење времена од 2,96% без погоршања WER-а.</a:t>
            </a:r>
            <a:endParaRPr lang="en-US" altLang="en-US"/>
          </a:p>
          <a:p>
            <a:pPr marL="158750" indent="0">
              <a:buNone/>
            </a:pPr>
            <a:r>
              <a:rPr lang="en-US" altLang="en-US"/>
              <a:t>За streaming је изабран сегмент од десет секунди, који је међу три испитане вредности остварио најповољнији комбиновани резултат.</a:t>
            </a:r>
            <a:endParaRPr lang="en-US" altLang="en-US"/>
          </a:p>
          <a:p>
            <a:pPr marL="158750" indent="0">
              <a:buNone/>
            </a:pPr>
            <a:r>
              <a:rPr lang="en-US" altLang="en-US"/>
              <a:t>Тако је формиран профил: Small, INT8, CPU, српски језик, beam пет, VAD укључен и streaming сегмент од десет секунди.</a:t>
            </a:r>
            <a:endParaRPr lang="en-US" altLang="en-US"/>
          </a:p>
          <a:p>
            <a:pPr marL="158750" indent="0">
              <a:buNone/>
            </a:pPr>
            <a:r>
              <a:rPr lang="en-US" altLang="en-US"/>
              <a:t>Овде је важно јасно навести ограничење. Small INT8 је изабран на свих 40 снимака, али су Beam Search, VAD и streaming испитивани засебно, на мањим скуповима и у другим контролисаним условима.</a:t>
            </a:r>
            <a:endParaRPr lang="en-US" altLang="en-US"/>
          </a:p>
          <a:p>
            <a:pPr marL="158750" indent="0">
              <a:buNone/>
            </a:pPr>
            <a:r>
              <a:rPr lang="en-US" altLang="en-US"/>
              <a:t>Због тога комплетан профил представља интеграцију резултата, а не конфигурацију која је као целина поново тестирана над свих 40 снимака.</a:t>
            </a:r>
            <a:endParaRPr lang="en-US" altLang="en-US"/>
          </a:p>
          <a:p>
            <a:pPr marL="158750" indent="0">
              <a:buNone/>
            </a:pPr>
            <a:r>
              <a:rPr lang="en-US" altLang="en-US"/>
              <a:t>Његова вредност је у систематичном поступку избора, уз јасно дефинисане критеријуме и експерименталне услове.</a:t>
            </a:r>
            <a:endParaRPr lang="en-US" altLang="en-US"/>
          </a:p>
          <a:p>
            <a:pPr marL="158750" indent="457200">
              <a:buNone/>
            </a:pPr>
            <a:r>
              <a:rPr lang="en-US" altLang="en-US"/>
              <a:t>Након оптимизације извршавања, последњи део рада усмерен је на прилагођавање модела специфичној области — пољопривреди.</a:t>
            </a:r>
            <a:endParaRPr lang="en-US"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Након оптимизације брзине и ресурсних захтева, последњи истраживачки правац односи се на доменску адаптацију Whisper модела.</a:t>
            </a:r>
            <a:endParaRPr lang="en-US" altLang="en-US"/>
          </a:p>
          <a:p>
            <a:pPr marL="158750" indent="0">
              <a:buNone/>
            </a:pPr>
            <a:r>
              <a:rPr lang="en-US" altLang="en-US"/>
              <a:t>Идеја је да се модел додатно прилагоди српском говору из специфичне области, у овом случају пољопривреде.</a:t>
            </a:r>
            <a:endParaRPr lang="en-US" altLang="en-US"/>
          </a:p>
          <a:p>
            <a:pPr marL="158750" indent="0">
              <a:buNone/>
            </a:pPr>
            <a:r>
              <a:rPr lang="en-US" altLang="en-US"/>
              <a:t>Општи ASR модел може да има потешкоћа са стручним терминима, називима биљака, препарата, пољопривредних поступака и другим изразима који су ређе заступљени у општем говору.</a:t>
            </a:r>
            <a:endParaRPr lang="en-US" altLang="en-US"/>
          </a:p>
          <a:p>
            <a:pPr marL="158750" indent="0">
              <a:buNone/>
            </a:pPr>
            <a:r>
              <a:rPr lang="en-US" altLang="en-US"/>
              <a:t>Зато је циљ овог дела да се испита да ли додатно тренирање на наменском говорном скупу може да смањи грешке при препознавању такве терминологије.</a:t>
            </a:r>
            <a:endParaRPr lang="en-US" altLang="en-US"/>
          </a:p>
          <a:p>
            <a:pPr marL="158750" indent="0">
              <a:buNone/>
            </a:pPr>
            <a:r>
              <a:rPr lang="en-US" altLang="en-US"/>
              <a:t>За овај део формиран је скуп од укупно 800 аудио-записа.</a:t>
            </a:r>
            <a:endParaRPr lang="en-US" altLang="en-US"/>
          </a:p>
          <a:p>
            <a:pPr marL="158750" indent="0">
              <a:buNone/>
            </a:pPr>
            <a:r>
              <a:rPr lang="en-US" altLang="en-US"/>
              <a:t>Од тога је 675 намењено тренингу, 75 валидацији и 50 тестирању.</a:t>
            </a:r>
            <a:endParaRPr lang="en-US" altLang="en-US"/>
          </a:p>
          <a:p>
            <a:pPr marL="158750" indent="0">
              <a:buNone/>
            </a:pPr>
            <a:r>
              <a:rPr lang="en-US" altLang="en-US"/>
              <a:t>Тест скуп потиче од четвртог говорника, који није коришћен за тренинг. Таква подела омогућава да се, поред препознавања доменске терминологије, испита и понашање модела на говорнику који није виђен током прилагођавања.</a:t>
            </a:r>
            <a:endParaRPr lang="en-US" altLang="en-US"/>
          </a:p>
          <a:p>
            <a:pPr marL="158750" indent="0">
              <a:buNone/>
            </a:pPr>
            <a:r>
              <a:rPr lang="en-US" altLang="en-US"/>
              <a:t>План евалуације је да се основни и адаптирани модел пореде на истом тест скупу, кроз WER и додатну анализу доменских израза.</a:t>
            </a:r>
            <a:endParaRPr lang="en-US" altLang="en-US"/>
          </a:p>
          <a:p>
            <a:pPr marL="158750" indent="0">
              <a:buNone/>
            </a:pPr>
            <a:r>
              <a:rPr lang="en-US" altLang="en-US"/>
              <a:t>На наредним слајдовима биће приказани поступак припреме података, методологија fine-tuning-а и резултати.</a:t>
            </a:r>
            <a:endParaRPr lang="en-US" altLang="en-US"/>
          </a:p>
          <a:p>
            <a:pPr marL="158750" indent="457200">
              <a:buNone/>
            </a:pPr>
            <a:r>
              <a:rPr lang="en-US" altLang="en-US"/>
              <a:t>Следећи корак је припрема аудио-записа и референтних транскрипата за fine-tuning, уз јасно раздвајање тренинг, валидационог и тест скупа.</a:t>
            </a:r>
            <a:endParaRPr lang="en-US"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endParaRPr lang="en-US"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5" Type="http://schemas.openxmlformats.org/officeDocument/2006/relationships/hyperlink" Target="https://stories.freepik.com/" TargetMode="External"/><Relationship Id="rId4" Type="http://schemas.openxmlformats.org/officeDocument/2006/relationships/hyperlink" Target="https://www.freepik.com/" TargetMode="External"/><Relationship Id="rId3" Type="http://schemas.openxmlformats.org/officeDocument/2006/relationships/hyperlink" Target="https://www.flaticon.com/" TargetMode="External"/><Relationship Id="rId2" Type="http://schemas.openxmlformats.org/officeDocument/2006/relationships/hyperlink" Target="https://slidesgo.com/" TargetMode="External"/><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7" name="Shape 7"/>
        <p:cNvGrpSpPr/>
        <p:nvPr/>
      </p:nvGrpSpPr>
      <p:grpSpPr>
        <a:xfrm>
          <a:off x="0" y="0"/>
          <a:ext cx="0" cy="0"/>
          <a:chOff x="0" y="0"/>
          <a:chExt cx="0" cy="0"/>
        </a:xfrm>
      </p:grpSpPr>
      <p:sp>
        <p:nvSpPr>
          <p:cNvPr id="8" name="Google Shape;8;p2"/>
          <p:cNvSpPr txBox="1"/>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p:txBody>
      </p:sp>
      <p:sp>
        <p:nvSpPr>
          <p:cNvPr id="9" name="Google Shape;9;p2"/>
          <p:cNvSpPr txBox="1"/>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43" name="Shape 43"/>
        <p:cNvGrpSpPr/>
        <p:nvPr/>
      </p:nvGrpSpPr>
      <p:grpSpPr>
        <a:xfrm>
          <a:off x="0" y="0"/>
          <a:ext cx="0" cy="0"/>
          <a:chOff x="0" y="0"/>
          <a:chExt cx="0" cy="0"/>
        </a:xfrm>
      </p:grpSpPr>
      <p:grpSp>
        <p:nvGrpSpPr>
          <p:cNvPr id="44" name="Google Shape;44;p3"/>
          <p:cNvGrpSpPr/>
          <p:nvPr/>
        </p:nvGrpSpPr>
        <p:grpSpPr>
          <a:xfrm>
            <a:off x="2132649" y="713253"/>
            <a:ext cx="4878702" cy="3717004"/>
            <a:chOff x="399425" y="238125"/>
            <a:chExt cx="6810025" cy="5187000"/>
          </a:xfrm>
        </p:grpSpPr>
        <p:sp>
          <p:nvSpPr>
            <p:cNvPr id="45" name="Google Shape;45;p3"/>
            <p:cNvSpPr/>
            <p:nvPr/>
          </p:nvSpPr>
          <p:spPr>
            <a:xfrm>
              <a:off x="399425" y="238325"/>
              <a:ext cx="6810025" cy="5186100"/>
            </a:xfrm>
            <a:custGeom>
              <a:avLst/>
              <a:gdLst/>
              <a:ahLst/>
              <a:cxnLst/>
              <a:rect l="l" t="t" r="r" b="b"/>
              <a:pathLst>
                <a:path w="272401" h="207444" extrusionOk="0">
                  <a:moveTo>
                    <a:pt x="143525" y="0"/>
                  </a:moveTo>
                  <a:cubicBezTo>
                    <a:pt x="130816" y="0"/>
                    <a:pt x="118065" y="708"/>
                    <a:pt x="105367" y="1397"/>
                  </a:cubicBezTo>
                  <a:cubicBezTo>
                    <a:pt x="85699" y="2506"/>
                    <a:pt x="65661" y="3689"/>
                    <a:pt x="47175" y="10640"/>
                  </a:cubicBezTo>
                  <a:cubicBezTo>
                    <a:pt x="28764" y="17590"/>
                    <a:pt x="11832" y="31343"/>
                    <a:pt x="5990" y="50198"/>
                  </a:cubicBezTo>
                  <a:cubicBezTo>
                    <a:pt x="1" y="69867"/>
                    <a:pt x="6877" y="90940"/>
                    <a:pt x="13680" y="110387"/>
                  </a:cubicBezTo>
                  <a:cubicBezTo>
                    <a:pt x="22479" y="135305"/>
                    <a:pt x="31870" y="161332"/>
                    <a:pt x="51390" y="179152"/>
                  </a:cubicBezTo>
                  <a:cubicBezTo>
                    <a:pt x="67098" y="193557"/>
                    <a:pt x="97572" y="207444"/>
                    <a:pt x="121591" y="207444"/>
                  </a:cubicBezTo>
                  <a:cubicBezTo>
                    <a:pt x="124820" y="207444"/>
                    <a:pt x="127933" y="207193"/>
                    <a:pt x="130877" y="206658"/>
                  </a:cubicBezTo>
                  <a:cubicBezTo>
                    <a:pt x="145739" y="204070"/>
                    <a:pt x="159714" y="191205"/>
                    <a:pt x="171840" y="182923"/>
                  </a:cubicBezTo>
                  <a:cubicBezTo>
                    <a:pt x="188625" y="171314"/>
                    <a:pt x="205484" y="159705"/>
                    <a:pt x="222268" y="148097"/>
                  </a:cubicBezTo>
                  <a:cubicBezTo>
                    <a:pt x="236909" y="138041"/>
                    <a:pt x="252067" y="127319"/>
                    <a:pt x="260348" y="111644"/>
                  </a:cubicBezTo>
                  <a:cubicBezTo>
                    <a:pt x="272400" y="88722"/>
                    <a:pt x="266411" y="59071"/>
                    <a:pt x="249996" y="39033"/>
                  </a:cubicBezTo>
                  <a:cubicBezTo>
                    <a:pt x="233507" y="18995"/>
                    <a:pt x="208367" y="7756"/>
                    <a:pt x="182858" y="3098"/>
                  </a:cubicBezTo>
                  <a:cubicBezTo>
                    <a:pt x="169864" y="762"/>
                    <a:pt x="156717" y="0"/>
                    <a:pt x="143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 name="Google Shape;46;p3"/>
            <p:cNvSpPr/>
            <p:nvPr/>
          </p:nvSpPr>
          <p:spPr>
            <a:xfrm>
              <a:off x="491875" y="238125"/>
              <a:ext cx="6575225" cy="5187000"/>
            </a:xfrm>
            <a:custGeom>
              <a:avLst/>
              <a:gdLst/>
              <a:ahLst/>
              <a:cxnLst/>
              <a:rect l="l" t="t" r="r" b="b"/>
              <a:pathLst>
                <a:path w="263009" h="207480" extrusionOk="0">
                  <a:moveTo>
                    <a:pt x="139601" y="0"/>
                  </a:moveTo>
                  <a:cubicBezTo>
                    <a:pt x="126957" y="0"/>
                    <a:pt x="114313" y="739"/>
                    <a:pt x="101669" y="1405"/>
                  </a:cubicBezTo>
                  <a:cubicBezTo>
                    <a:pt x="82001" y="2514"/>
                    <a:pt x="61963" y="3697"/>
                    <a:pt x="43477" y="10648"/>
                  </a:cubicBezTo>
                  <a:cubicBezTo>
                    <a:pt x="25066" y="17598"/>
                    <a:pt x="8134" y="31351"/>
                    <a:pt x="2292" y="50206"/>
                  </a:cubicBezTo>
                  <a:cubicBezTo>
                    <a:pt x="665" y="55530"/>
                    <a:pt x="0" y="60928"/>
                    <a:pt x="0" y="66399"/>
                  </a:cubicBezTo>
                  <a:cubicBezTo>
                    <a:pt x="0" y="81114"/>
                    <a:pt x="5028" y="96198"/>
                    <a:pt x="9982" y="110395"/>
                  </a:cubicBezTo>
                  <a:cubicBezTo>
                    <a:pt x="18781" y="135313"/>
                    <a:pt x="28172" y="161340"/>
                    <a:pt x="47692" y="179160"/>
                  </a:cubicBezTo>
                  <a:cubicBezTo>
                    <a:pt x="63442" y="193579"/>
                    <a:pt x="93979" y="207480"/>
                    <a:pt x="118010" y="207480"/>
                  </a:cubicBezTo>
                  <a:cubicBezTo>
                    <a:pt x="121190" y="207480"/>
                    <a:pt x="124221" y="207258"/>
                    <a:pt x="127179" y="206666"/>
                  </a:cubicBezTo>
                  <a:cubicBezTo>
                    <a:pt x="142041" y="204078"/>
                    <a:pt x="156016" y="191213"/>
                    <a:pt x="168142" y="182931"/>
                  </a:cubicBezTo>
                  <a:cubicBezTo>
                    <a:pt x="184927" y="171322"/>
                    <a:pt x="201786" y="159713"/>
                    <a:pt x="218570" y="148105"/>
                  </a:cubicBezTo>
                  <a:cubicBezTo>
                    <a:pt x="233211" y="138049"/>
                    <a:pt x="248369" y="127327"/>
                    <a:pt x="256650" y="111652"/>
                  </a:cubicBezTo>
                  <a:cubicBezTo>
                    <a:pt x="261013" y="103370"/>
                    <a:pt x="263009" y="94127"/>
                    <a:pt x="263009" y="84885"/>
                  </a:cubicBezTo>
                  <a:cubicBezTo>
                    <a:pt x="263009" y="68544"/>
                    <a:pt x="256798" y="51833"/>
                    <a:pt x="246298" y="39041"/>
                  </a:cubicBezTo>
                  <a:cubicBezTo>
                    <a:pt x="229809" y="19003"/>
                    <a:pt x="204669" y="7764"/>
                    <a:pt x="179160" y="3106"/>
                  </a:cubicBezTo>
                  <a:cubicBezTo>
                    <a:pt x="166146" y="813"/>
                    <a:pt x="152910" y="0"/>
                    <a:pt x="1396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 name="Google Shape;47;p3"/>
          <p:cNvSpPr txBox="1"/>
          <p:nvPr>
            <p:ph type="title"/>
          </p:nvPr>
        </p:nvSpPr>
        <p:spPr>
          <a:xfrm>
            <a:off x="2971800" y="2231136"/>
            <a:ext cx="3200400" cy="8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p:txBody>
      </p:sp>
      <p:sp>
        <p:nvSpPr>
          <p:cNvPr id="48" name="Google Shape;48;p3"/>
          <p:cNvSpPr txBox="1"/>
          <p:nvPr>
            <p:ph type="title" idx="2" hasCustomPrompt="1"/>
          </p:nvPr>
        </p:nvSpPr>
        <p:spPr>
          <a:xfrm>
            <a:off x="2971800" y="1161288"/>
            <a:ext cx="2967600" cy="1069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49" name="Google Shape;49;p3"/>
          <p:cNvSpPr txBox="1"/>
          <p:nvPr>
            <p:ph type="subTitle" idx="1"/>
          </p:nvPr>
        </p:nvSpPr>
        <p:spPr>
          <a:xfrm>
            <a:off x="2973225" y="2999232"/>
            <a:ext cx="3200400" cy="685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grpSp>
        <p:nvGrpSpPr>
          <p:cNvPr id="50" name="Google Shape;50;p3"/>
          <p:cNvGrpSpPr/>
          <p:nvPr/>
        </p:nvGrpSpPr>
        <p:grpSpPr>
          <a:xfrm>
            <a:off x="432850" y="0"/>
            <a:ext cx="8278300" cy="5165700"/>
            <a:chOff x="432850" y="0"/>
            <a:chExt cx="8278300" cy="5165700"/>
          </a:xfrm>
        </p:grpSpPr>
        <p:cxnSp>
          <p:nvCxnSpPr>
            <p:cNvPr id="51" name="Google Shape;51;p3"/>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52" name="Google Shape;52;p3"/>
            <p:cNvGrpSpPr/>
            <p:nvPr/>
          </p:nvGrpSpPr>
          <p:grpSpPr>
            <a:xfrm>
              <a:off x="8129350" y="4292175"/>
              <a:ext cx="581800" cy="582350"/>
              <a:chOff x="8064275" y="887850"/>
              <a:chExt cx="581800" cy="582350"/>
            </a:xfrm>
          </p:grpSpPr>
          <p:sp>
            <p:nvSpPr>
              <p:cNvPr id="53" name="Google Shape;53;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 name="Google Shape;54;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 name="Google Shape;55;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 name="Google Shape;56;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 name="Google Shape;57;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 name="Google Shape;58;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 name="Google Shape;59;p3"/>
            <p:cNvGrpSpPr/>
            <p:nvPr/>
          </p:nvGrpSpPr>
          <p:grpSpPr>
            <a:xfrm>
              <a:off x="8274238" y="3720600"/>
              <a:ext cx="292025" cy="292575"/>
              <a:chOff x="7353050" y="316275"/>
              <a:chExt cx="292025" cy="292575"/>
            </a:xfrm>
          </p:grpSpPr>
          <p:sp>
            <p:nvSpPr>
              <p:cNvPr id="60" name="Google Shape;60;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 name="Google Shape;61;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 name="Google Shape;62;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 name="Google Shape;63;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4" name="Google Shape;64;p3"/>
            <p:cNvGrpSpPr/>
            <p:nvPr/>
          </p:nvGrpSpPr>
          <p:grpSpPr>
            <a:xfrm>
              <a:off x="8332763" y="3212475"/>
              <a:ext cx="175000" cy="175000"/>
              <a:chOff x="8792300" y="321275"/>
              <a:chExt cx="175000" cy="175000"/>
            </a:xfrm>
          </p:grpSpPr>
          <p:sp>
            <p:nvSpPr>
              <p:cNvPr id="65" name="Google Shape;65;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66;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 name="Google Shape;67;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68;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69" name="Google Shape;69;p3"/>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70" name="Google Shape;70;p3"/>
            <p:cNvGrpSpPr/>
            <p:nvPr/>
          </p:nvGrpSpPr>
          <p:grpSpPr>
            <a:xfrm rot="10800000">
              <a:off x="432850" y="291788"/>
              <a:ext cx="581800" cy="582350"/>
              <a:chOff x="8064275" y="887850"/>
              <a:chExt cx="581800" cy="582350"/>
            </a:xfrm>
          </p:grpSpPr>
          <p:sp>
            <p:nvSpPr>
              <p:cNvPr id="71" name="Google Shape;71;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72;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 name="Google Shape;73;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 name="Google Shape;74;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 name="Google Shape;75;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 name="Google Shape;76;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7" name="Google Shape;77;p3"/>
            <p:cNvGrpSpPr/>
            <p:nvPr/>
          </p:nvGrpSpPr>
          <p:grpSpPr>
            <a:xfrm rot="10800000">
              <a:off x="577738" y="1153138"/>
              <a:ext cx="292025" cy="292575"/>
              <a:chOff x="7353050" y="316275"/>
              <a:chExt cx="292025" cy="292575"/>
            </a:xfrm>
          </p:grpSpPr>
          <p:sp>
            <p:nvSpPr>
              <p:cNvPr id="78" name="Google Shape;78;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 name="Google Shape;79;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 name="Google Shape;80;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81;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2" name="Google Shape;82;p3"/>
            <p:cNvGrpSpPr/>
            <p:nvPr/>
          </p:nvGrpSpPr>
          <p:grpSpPr>
            <a:xfrm rot="10800000">
              <a:off x="636238" y="1778838"/>
              <a:ext cx="175000" cy="175000"/>
              <a:chOff x="8792300" y="321275"/>
              <a:chExt cx="175000" cy="175000"/>
            </a:xfrm>
          </p:grpSpPr>
          <p:sp>
            <p:nvSpPr>
              <p:cNvPr id="83" name="Google Shape;83;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 name="Google Shape;84;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 name="Google Shape;85;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 name="Google Shape;86;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 name="Google Shape;87;p3"/>
            <p:cNvGrpSpPr/>
            <p:nvPr/>
          </p:nvGrpSpPr>
          <p:grpSpPr>
            <a:xfrm>
              <a:off x="432850" y="2003163"/>
              <a:ext cx="175013" cy="27000"/>
              <a:chOff x="5662375" y="212375"/>
              <a:chExt cx="175013" cy="27000"/>
            </a:xfrm>
          </p:grpSpPr>
          <p:sp>
            <p:nvSpPr>
              <p:cNvPr id="88" name="Google Shape;88;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 name="Google Shape;89;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90;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1" name="Google Shape;91;p3"/>
            <p:cNvGrpSpPr/>
            <p:nvPr/>
          </p:nvGrpSpPr>
          <p:grpSpPr>
            <a:xfrm>
              <a:off x="788100" y="208488"/>
              <a:ext cx="175013" cy="27000"/>
              <a:chOff x="5662375" y="212375"/>
              <a:chExt cx="175013" cy="27000"/>
            </a:xfrm>
          </p:grpSpPr>
          <p:sp>
            <p:nvSpPr>
              <p:cNvPr id="92" name="Google Shape;92;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93;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 name="Google Shape;94;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5" name="Google Shape;95;p3"/>
            <p:cNvGrpSpPr/>
            <p:nvPr/>
          </p:nvGrpSpPr>
          <p:grpSpPr>
            <a:xfrm>
              <a:off x="8129350" y="4988725"/>
              <a:ext cx="175013" cy="27000"/>
              <a:chOff x="5662375" y="212375"/>
              <a:chExt cx="175013" cy="27000"/>
            </a:xfrm>
          </p:grpSpPr>
          <p:sp>
            <p:nvSpPr>
              <p:cNvPr id="96" name="Google Shape;96;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 name="Google Shape;97;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 name="Google Shape;98;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9" name="Google Shape;99;p3"/>
            <p:cNvGrpSpPr/>
            <p:nvPr/>
          </p:nvGrpSpPr>
          <p:grpSpPr>
            <a:xfrm>
              <a:off x="8497550" y="3429425"/>
              <a:ext cx="175013" cy="27000"/>
              <a:chOff x="5662375" y="212375"/>
              <a:chExt cx="175013" cy="27000"/>
            </a:xfrm>
          </p:grpSpPr>
          <p:sp>
            <p:nvSpPr>
              <p:cNvPr id="100" name="Google Shape;100;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 name="Google Shape;101;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 name="Google Shape;102;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03" name="Google Shape;103;p3"/>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04" name="Google Shape;104;p3"/>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05" name="Google Shape;105;p3"/>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 name="Google Shape;106;p3"/>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 name="Google Shape;107;p3"/>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 name="Google Shape;108;p3"/>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09" name="Shape 109"/>
        <p:cNvGrpSpPr/>
        <p:nvPr/>
      </p:nvGrpSpPr>
      <p:grpSpPr>
        <a:xfrm>
          <a:off x="0" y="0"/>
          <a:ext cx="0" cy="0"/>
          <a:chOff x="0" y="0"/>
          <a:chExt cx="0" cy="0"/>
        </a:xfrm>
      </p:grpSpPr>
      <p:sp>
        <p:nvSpPr>
          <p:cNvPr id="110" name="Google Shape;110;p4"/>
          <p:cNvSpPr txBox="1"/>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15" name="Google Shape;115;p4"/>
          <p:cNvSpPr txBox="1"/>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75" name="Shape 175"/>
        <p:cNvGrpSpPr/>
        <p:nvPr/>
      </p:nvGrpSpPr>
      <p:grpSpPr>
        <a:xfrm>
          <a:off x="0" y="0"/>
          <a:ext cx="0" cy="0"/>
          <a:chOff x="0" y="0"/>
          <a:chExt cx="0" cy="0"/>
        </a:xfrm>
      </p:grpSpPr>
      <p:sp>
        <p:nvSpPr>
          <p:cNvPr id="176" name="Google Shape;176;p5"/>
          <p:cNvSpPr txBox="1"/>
          <p:nvPr>
            <p:ph type="title"/>
          </p:nvPr>
        </p:nvSpPr>
        <p:spPr>
          <a:xfrm>
            <a:off x="1807671" y="338325"/>
            <a:ext cx="5528700" cy="612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algn="ctr" rtl="0">
              <a:spcBef>
                <a:spcPts val="0"/>
              </a:spcBef>
              <a:spcAft>
                <a:spcPts val="0"/>
              </a:spcAft>
              <a:buNone/>
              <a:defRPr/>
            </a:lvl2pPr>
            <a:lvl3pPr lvl="2" algn="ctr" rtl="0">
              <a:spcBef>
                <a:spcPts val="0"/>
              </a:spcBef>
              <a:spcAft>
                <a:spcPts val="0"/>
              </a:spcAft>
              <a:buNone/>
              <a:defRPr/>
            </a:lvl3pPr>
            <a:lvl4pPr lvl="3" algn="ctr" rtl="0">
              <a:spcBef>
                <a:spcPts val="0"/>
              </a:spcBef>
              <a:spcAft>
                <a:spcPts val="0"/>
              </a:spcAft>
              <a:buNone/>
              <a:defRPr/>
            </a:lvl4pPr>
            <a:lvl5pPr lvl="4" algn="ctr" rtl="0">
              <a:spcBef>
                <a:spcPts val="0"/>
              </a:spcBef>
              <a:spcAft>
                <a:spcPts val="0"/>
              </a:spcAft>
              <a:buNone/>
              <a:defRPr/>
            </a:lvl5pPr>
            <a:lvl6pPr lvl="5" algn="ctr" rtl="0">
              <a:spcBef>
                <a:spcPts val="0"/>
              </a:spcBef>
              <a:spcAft>
                <a:spcPts val="0"/>
              </a:spcAft>
              <a:buNone/>
              <a:defRPr/>
            </a:lvl6pPr>
            <a:lvl7pPr lvl="6" algn="ctr" rtl="0">
              <a:spcBef>
                <a:spcPts val="0"/>
              </a:spcBef>
              <a:spcAft>
                <a:spcPts val="0"/>
              </a:spcAft>
              <a:buNone/>
              <a:defRPr/>
            </a:lvl7pPr>
            <a:lvl8pPr lvl="7" algn="ctr" rtl="0">
              <a:spcBef>
                <a:spcPts val="0"/>
              </a:spcBef>
              <a:spcAft>
                <a:spcPts val="0"/>
              </a:spcAft>
              <a:buNone/>
              <a:defRPr/>
            </a:lvl8pPr>
            <a:lvl9pPr lvl="8" algn="ctr" rtl="0">
              <a:spcBef>
                <a:spcPts val="0"/>
              </a:spcBef>
              <a:spcAft>
                <a:spcPts val="0"/>
              </a:spcAft>
              <a:buNone/>
              <a:defRPr/>
            </a:lvl9pPr>
          </a:lstStyle>
          <a:p/>
        </p:txBody>
      </p:sp>
      <p:sp>
        <p:nvSpPr>
          <p:cNvPr id="177" name="Google Shape;177;p5"/>
          <p:cNvSpPr txBox="1"/>
          <p:nvPr>
            <p:ph type="subTitle" idx="1"/>
          </p:nvPr>
        </p:nvSpPr>
        <p:spPr>
          <a:xfrm>
            <a:off x="4956048"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78" name="Google Shape;178;p5"/>
          <p:cNvSpPr txBox="1"/>
          <p:nvPr>
            <p:ph type="subTitle" idx="2"/>
          </p:nvPr>
        </p:nvSpPr>
        <p:spPr>
          <a:xfrm>
            <a:off x="2093976"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79" name="Google Shape;179;p5"/>
          <p:cNvSpPr txBox="1"/>
          <p:nvPr>
            <p:ph type="subTitle" idx="3"/>
          </p:nvPr>
        </p:nvSpPr>
        <p:spPr>
          <a:xfrm>
            <a:off x="4956048" y="2221992"/>
            <a:ext cx="2084700" cy="2835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p:txBody>
      </p:sp>
      <p:sp>
        <p:nvSpPr>
          <p:cNvPr id="180" name="Google Shape;180;p5"/>
          <p:cNvSpPr txBox="1"/>
          <p:nvPr>
            <p:ph type="subTitle" idx="4"/>
          </p:nvPr>
        </p:nvSpPr>
        <p:spPr>
          <a:xfrm>
            <a:off x="2093976" y="2203704"/>
            <a:ext cx="2084700" cy="3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p:txBody>
      </p:sp>
      <p:sp>
        <p:nvSpPr>
          <p:cNvPr id="181" name="Google Shape;181;p5"/>
          <p:cNvSpPr txBox="1"/>
          <p:nvPr>
            <p:ph type="title" idx="5" hasCustomPrompt="1"/>
          </p:nvPr>
        </p:nvSpPr>
        <p:spPr>
          <a:xfrm>
            <a:off x="2779776"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82" name="Google Shape;182;p5"/>
          <p:cNvSpPr txBox="1"/>
          <p:nvPr>
            <p:ph type="title" idx="6" hasCustomPrompt="1"/>
          </p:nvPr>
        </p:nvSpPr>
        <p:spPr>
          <a:xfrm>
            <a:off x="5641848"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183" name="Google Shape;183;p5"/>
          <p:cNvGrpSpPr/>
          <p:nvPr/>
        </p:nvGrpSpPr>
        <p:grpSpPr>
          <a:xfrm>
            <a:off x="432850" y="0"/>
            <a:ext cx="8278300" cy="5165700"/>
            <a:chOff x="432850" y="0"/>
            <a:chExt cx="8278300" cy="5165700"/>
          </a:xfrm>
        </p:grpSpPr>
        <p:cxnSp>
          <p:nvCxnSpPr>
            <p:cNvPr id="184" name="Google Shape;184;p5"/>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85" name="Google Shape;185;p5"/>
            <p:cNvGrpSpPr/>
            <p:nvPr/>
          </p:nvGrpSpPr>
          <p:grpSpPr>
            <a:xfrm>
              <a:off x="8129350" y="4292175"/>
              <a:ext cx="581800" cy="582350"/>
              <a:chOff x="8064275" y="887850"/>
              <a:chExt cx="581800" cy="582350"/>
            </a:xfrm>
          </p:grpSpPr>
          <p:sp>
            <p:nvSpPr>
              <p:cNvPr id="186" name="Google Shape;186;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 name="Google Shape;187;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 name="Google Shape;188;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 name="Google Shape;189;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90;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91;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 name="Google Shape;192;p5"/>
            <p:cNvGrpSpPr/>
            <p:nvPr/>
          </p:nvGrpSpPr>
          <p:grpSpPr>
            <a:xfrm>
              <a:off x="8274238" y="3720600"/>
              <a:ext cx="292025" cy="292575"/>
              <a:chOff x="7353050" y="316275"/>
              <a:chExt cx="292025" cy="292575"/>
            </a:xfrm>
          </p:grpSpPr>
          <p:sp>
            <p:nvSpPr>
              <p:cNvPr id="193" name="Google Shape;193;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 name="Google Shape;194;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95;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6" name="Google Shape;196;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7" name="Google Shape;197;p5"/>
            <p:cNvGrpSpPr/>
            <p:nvPr/>
          </p:nvGrpSpPr>
          <p:grpSpPr>
            <a:xfrm>
              <a:off x="8332763" y="3212475"/>
              <a:ext cx="175000" cy="175000"/>
              <a:chOff x="8792300" y="321275"/>
              <a:chExt cx="175000" cy="175000"/>
            </a:xfrm>
          </p:grpSpPr>
          <p:sp>
            <p:nvSpPr>
              <p:cNvPr id="198" name="Google Shape;198;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9" name="Google Shape;199;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0" name="Google Shape;200;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201;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202" name="Google Shape;202;p5"/>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03" name="Google Shape;203;p5"/>
            <p:cNvGrpSpPr/>
            <p:nvPr/>
          </p:nvGrpSpPr>
          <p:grpSpPr>
            <a:xfrm rot="10800000">
              <a:off x="432850" y="291788"/>
              <a:ext cx="581800" cy="582350"/>
              <a:chOff x="8064275" y="887850"/>
              <a:chExt cx="581800" cy="582350"/>
            </a:xfrm>
          </p:grpSpPr>
          <p:sp>
            <p:nvSpPr>
              <p:cNvPr id="204" name="Google Shape;204;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5" name="Google Shape;205;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6" name="Google Shape;206;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7" name="Google Shape;207;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8" name="Google Shape;208;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9" name="Google Shape;209;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0" name="Google Shape;210;p5"/>
            <p:cNvGrpSpPr/>
            <p:nvPr/>
          </p:nvGrpSpPr>
          <p:grpSpPr>
            <a:xfrm rot="10800000">
              <a:off x="577738" y="1153138"/>
              <a:ext cx="292025" cy="292575"/>
              <a:chOff x="7353050" y="316275"/>
              <a:chExt cx="292025" cy="292575"/>
            </a:xfrm>
          </p:grpSpPr>
          <p:sp>
            <p:nvSpPr>
              <p:cNvPr id="211" name="Google Shape;211;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2" name="Google Shape;212;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3" name="Google Shape;213;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4" name="Google Shape;214;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5" name="Google Shape;215;p5"/>
            <p:cNvGrpSpPr/>
            <p:nvPr/>
          </p:nvGrpSpPr>
          <p:grpSpPr>
            <a:xfrm rot="10800000">
              <a:off x="636238" y="1778838"/>
              <a:ext cx="175000" cy="175000"/>
              <a:chOff x="8792300" y="321275"/>
              <a:chExt cx="175000" cy="175000"/>
            </a:xfrm>
          </p:grpSpPr>
          <p:sp>
            <p:nvSpPr>
              <p:cNvPr id="216" name="Google Shape;216;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8" name="Google Shape;218;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9" name="Google Shape;219;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0" name="Google Shape;220;p5"/>
            <p:cNvGrpSpPr/>
            <p:nvPr/>
          </p:nvGrpSpPr>
          <p:grpSpPr>
            <a:xfrm>
              <a:off x="432850" y="2003163"/>
              <a:ext cx="175013" cy="27000"/>
              <a:chOff x="5662375" y="212375"/>
              <a:chExt cx="175013" cy="27000"/>
            </a:xfrm>
          </p:grpSpPr>
          <p:sp>
            <p:nvSpPr>
              <p:cNvPr id="221" name="Google Shape;221;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2" name="Google Shape;222;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3" name="Google Shape;223;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4" name="Google Shape;224;p5"/>
            <p:cNvGrpSpPr/>
            <p:nvPr/>
          </p:nvGrpSpPr>
          <p:grpSpPr>
            <a:xfrm>
              <a:off x="788100" y="208488"/>
              <a:ext cx="175013" cy="27000"/>
              <a:chOff x="5662375" y="212375"/>
              <a:chExt cx="175013" cy="27000"/>
            </a:xfrm>
          </p:grpSpPr>
          <p:sp>
            <p:nvSpPr>
              <p:cNvPr id="225" name="Google Shape;225;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6" name="Google Shape;226;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7" name="Google Shape;227;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8" name="Google Shape;228;p5"/>
            <p:cNvGrpSpPr/>
            <p:nvPr/>
          </p:nvGrpSpPr>
          <p:grpSpPr>
            <a:xfrm>
              <a:off x="8129350" y="4988725"/>
              <a:ext cx="175013" cy="27000"/>
              <a:chOff x="5662375" y="212375"/>
              <a:chExt cx="175013" cy="27000"/>
            </a:xfrm>
          </p:grpSpPr>
          <p:sp>
            <p:nvSpPr>
              <p:cNvPr id="229" name="Google Shape;229;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0" name="Google Shape;230;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1" name="Google Shape;231;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32" name="Google Shape;232;p5"/>
            <p:cNvGrpSpPr/>
            <p:nvPr/>
          </p:nvGrpSpPr>
          <p:grpSpPr>
            <a:xfrm>
              <a:off x="8497550" y="3429425"/>
              <a:ext cx="175013" cy="27000"/>
              <a:chOff x="5662375" y="212375"/>
              <a:chExt cx="175013" cy="27000"/>
            </a:xfrm>
          </p:grpSpPr>
          <p:sp>
            <p:nvSpPr>
              <p:cNvPr id="233" name="Google Shape;233;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4" name="Google Shape;234;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5" name="Google Shape;235;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236" name="Google Shape;236;p5"/>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37" name="Google Shape;237;p5"/>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38" name="Google Shape;238;p5"/>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9" name="Google Shape;239;p5"/>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0" name="Google Shape;240;p5"/>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1" name="Google Shape;241;p5"/>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42" name="Shape 242"/>
        <p:cNvGrpSpPr/>
        <p:nvPr/>
      </p:nvGrpSpPr>
      <p:grpSpPr>
        <a:xfrm>
          <a:off x="0" y="0"/>
          <a:ext cx="0" cy="0"/>
          <a:chOff x="0" y="0"/>
          <a:chExt cx="0" cy="0"/>
        </a:xfrm>
      </p:grpSpPr>
      <p:sp>
        <p:nvSpPr>
          <p:cNvPr id="243" name="Google Shape;243;p6"/>
          <p:cNvSpPr txBox="1"/>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303" name="Shape 303"/>
        <p:cNvGrpSpPr/>
        <p:nvPr/>
      </p:nvGrpSpPr>
      <p:grpSpPr>
        <a:xfrm>
          <a:off x="0" y="0"/>
          <a:ext cx="0" cy="0"/>
          <a:chOff x="0" y="0"/>
          <a:chExt cx="0" cy="0"/>
        </a:xfrm>
      </p:grpSpPr>
      <p:sp>
        <p:nvSpPr>
          <p:cNvPr id="304" name="Google Shape;304;p7"/>
          <p:cNvSpPr txBox="1"/>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305" name="Google Shape;305;p7"/>
          <p:cNvSpPr txBox="1"/>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66"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70" name="Google Shape;370;p8"/>
          <p:cNvSpPr txBox="1"/>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438" name="Shape 438"/>
        <p:cNvGrpSpPr/>
        <p:nvPr/>
      </p:nvGrpSpPr>
      <p:grpSpPr>
        <a:xfrm>
          <a:off x="0" y="0"/>
          <a:ext cx="0" cy="0"/>
          <a:chOff x="0" y="0"/>
          <a:chExt cx="0" cy="0"/>
        </a:xfrm>
      </p:grpSpPr>
      <p:sp>
        <p:nvSpPr>
          <p:cNvPr id="439" name="Google Shape;439;p9"/>
          <p:cNvSpPr txBox="1"/>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40" name="Google Shape;440;p9"/>
          <p:cNvSpPr txBox="1"/>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lvl="1"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lvl="2"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lvl="3"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lvl="4"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lvl="5"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lvl="6"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lvl="7"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lvl="8"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501" name="Shape 501"/>
        <p:cNvGrpSpPr/>
        <p:nvPr/>
      </p:nvGrpSpPr>
      <p:grpSpPr>
        <a:xfrm>
          <a:off x="0" y="0"/>
          <a:ext cx="0" cy="0"/>
          <a:chOff x="0" y="0"/>
          <a:chExt cx="0" cy="0"/>
        </a:xfrm>
      </p:grpSpPr>
      <p:sp>
        <p:nvSpPr>
          <p:cNvPr id="502" name="Google Shape;502;p10"/>
          <p:cNvSpPr txBox="1"/>
          <p:nvPr>
            <p:ph type="body" idx="1"/>
          </p:nvPr>
        </p:nvSpPr>
        <p:spPr>
          <a:xfrm>
            <a:off x="1122050" y="1947672"/>
            <a:ext cx="2788800" cy="13626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dk2"/>
              </a:buClr>
              <a:buSzPts val="1600"/>
              <a:buFont typeface="Barlow Semi Condensed" panose="00000506000000000000"/>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stStyle>
          <a:p/>
        </p:txBody>
      </p:sp>
      <p:sp>
        <p:nvSpPr>
          <p:cNvPr id="503" name="Google Shape;503;p10"/>
          <p:cNvSpPr txBox="1"/>
          <p:nvPr>
            <p:ph type="title"/>
          </p:nvPr>
        </p:nvSpPr>
        <p:spPr>
          <a:xfrm>
            <a:off x="2100600" y="347472"/>
            <a:ext cx="4947000" cy="58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cxnSp>
        <p:nvCxnSpPr>
          <p:cNvPr id="504" name="Google Shape;504;p10"/>
          <p:cNvCxnSpPr/>
          <p:nvPr/>
        </p:nvCxnSpPr>
        <p:spPr>
          <a:xfrm>
            <a:off x="590450" y="4340600"/>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505" name="Google Shape;505;p10"/>
          <p:cNvCxnSpPr/>
          <p:nvPr/>
        </p:nvCxnSpPr>
        <p:spPr>
          <a:xfrm rot="10800000" flipH="1">
            <a:off x="7975" y="4332600"/>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506" name="Google Shape;506;p10"/>
          <p:cNvGrpSpPr/>
          <p:nvPr/>
        </p:nvGrpSpPr>
        <p:grpSpPr>
          <a:xfrm flipH="1">
            <a:off x="431725" y="4183775"/>
            <a:ext cx="292025" cy="292575"/>
            <a:chOff x="7353050" y="316275"/>
            <a:chExt cx="292025" cy="292575"/>
          </a:xfrm>
        </p:grpSpPr>
        <p:sp>
          <p:nvSpPr>
            <p:cNvPr id="507" name="Google Shape;507;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08" name="Google Shape;508;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09" name="Google Shape;509;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0" name="Google Shape;510;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11" name="Google Shape;511;p10"/>
          <p:cNvGrpSpPr/>
          <p:nvPr/>
        </p:nvGrpSpPr>
        <p:grpSpPr>
          <a:xfrm>
            <a:off x="1646714" y="4616575"/>
            <a:ext cx="293111" cy="293388"/>
            <a:chOff x="3164039" y="430875"/>
            <a:chExt cx="293111" cy="293388"/>
          </a:xfrm>
        </p:grpSpPr>
        <p:sp>
          <p:nvSpPr>
            <p:cNvPr id="512" name="Google Shape;512;p1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3" name="Google Shape;513;p1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4" name="Google Shape;514;p1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5" name="Google Shape;515;p1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6" name="Google Shape;516;p1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7" name="Google Shape;517;p1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518" name="Google Shape;518;p10"/>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519" name="Google Shape;519;p10"/>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520" name="Google Shape;520;p10"/>
          <p:cNvGrpSpPr/>
          <p:nvPr/>
        </p:nvGrpSpPr>
        <p:grpSpPr>
          <a:xfrm>
            <a:off x="8064275" y="526925"/>
            <a:ext cx="581800" cy="582350"/>
            <a:chOff x="8064275" y="887850"/>
            <a:chExt cx="581800" cy="582350"/>
          </a:xfrm>
        </p:grpSpPr>
        <p:sp>
          <p:nvSpPr>
            <p:cNvPr id="521" name="Google Shape;521;p1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2" name="Google Shape;522;p1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3" name="Google Shape;523;p1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4" name="Google Shape;524;p1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5" name="Google Shape;525;p1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6" name="Google Shape;526;p1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27" name="Google Shape;527;p10"/>
          <p:cNvGrpSpPr/>
          <p:nvPr/>
        </p:nvGrpSpPr>
        <p:grpSpPr>
          <a:xfrm>
            <a:off x="7033875" y="170875"/>
            <a:ext cx="292025" cy="292575"/>
            <a:chOff x="7353050" y="316275"/>
            <a:chExt cx="292025" cy="292575"/>
          </a:xfrm>
        </p:grpSpPr>
        <p:sp>
          <p:nvSpPr>
            <p:cNvPr id="528" name="Google Shape;528;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9" name="Google Shape;529;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0" name="Google Shape;530;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1" name="Google Shape;531;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32" name="Google Shape;532;p10"/>
          <p:cNvGrpSpPr/>
          <p:nvPr/>
        </p:nvGrpSpPr>
        <p:grpSpPr>
          <a:xfrm>
            <a:off x="8757950" y="229650"/>
            <a:ext cx="175000" cy="175000"/>
            <a:chOff x="8792300" y="321275"/>
            <a:chExt cx="175000" cy="175000"/>
          </a:xfrm>
        </p:grpSpPr>
        <p:sp>
          <p:nvSpPr>
            <p:cNvPr id="533" name="Google Shape;533;p1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4" name="Google Shape;534;p1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5" name="Google Shape;535;p1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6" name="Google Shape;536;p1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37" name="Google Shape;537;p10"/>
          <p:cNvGrpSpPr/>
          <p:nvPr/>
        </p:nvGrpSpPr>
        <p:grpSpPr>
          <a:xfrm>
            <a:off x="8490050" y="170875"/>
            <a:ext cx="175013" cy="27000"/>
            <a:chOff x="5662375" y="212375"/>
            <a:chExt cx="175013" cy="27000"/>
          </a:xfrm>
        </p:grpSpPr>
        <p:sp>
          <p:nvSpPr>
            <p:cNvPr id="538" name="Google Shape;538;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9" name="Google Shape;539;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0" name="Google Shape;540;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41" name="Google Shape;541;p10"/>
          <p:cNvGrpSpPr/>
          <p:nvPr/>
        </p:nvGrpSpPr>
        <p:grpSpPr>
          <a:xfrm>
            <a:off x="7916350" y="1124600"/>
            <a:ext cx="175013" cy="27000"/>
            <a:chOff x="5662375" y="212375"/>
            <a:chExt cx="175013" cy="27000"/>
          </a:xfrm>
        </p:grpSpPr>
        <p:sp>
          <p:nvSpPr>
            <p:cNvPr id="542" name="Google Shape;542;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3" name="Google Shape;543;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4" name="Google Shape;544;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545" name="Shape 545"/>
        <p:cNvGrpSpPr/>
        <p:nvPr/>
      </p:nvGrpSpPr>
      <p:grpSpPr>
        <a:xfrm>
          <a:off x="0" y="0"/>
          <a:ext cx="0" cy="0"/>
          <a:chOff x="0" y="0"/>
          <a:chExt cx="0" cy="0"/>
        </a:xfrm>
      </p:grpSpPr>
      <p:grpSp>
        <p:nvGrpSpPr>
          <p:cNvPr id="546" name="Google Shape;546;p11"/>
          <p:cNvGrpSpPr/>
          <p:nvPr/>
        </p:nvGrpSpPr>
        <p:grpSpPr>
          <a:xfrm rot="10800000">
            <a:off x="1954823" y="1124844"/>
            <a:ext cx="5234354" cy="3069144"/>
            <a:chOff x="1098425" y="237675"/>
            <a:chExt cx="5358675" cy="5174750"/>
          </a:xfrm>
        </p:grpSpPr>
        <p:sp>
          <p:nvSpPr>
            <p:cNvPr id="547" name="Google Shape;547;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8" name="Google Shape;548;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9" name="Google Shape;549;p11"/>
            <p:cNvSpPr/>
            <p:nvPr/>
          </p:nvSpPr>
          <p:spPr>
            <a:xfrm>
              <a:off x="1119425" y="238125"/>
              <a:ext cx="5331675" cy="5174300"/>
            </a:xfrm>
            <a:custGeom>
              <a:avLst/>
              <a:gdLst/>
              <a:ahLst/>
              <a:cxnLst/>
              <a:rect l="l" t="t" r="r" b="b"/>
              <a:pathLst>
                <a:path w="213267" h="206972" extrusionOk="0">
                  <a:moveTo>
                    <a:pt x="114278" y="0"/>
                  </a:moveTo>
                  <a:cubicBezTo>
                    <a:pt x="106004" y="0"/>
                    <a:pt x="97190" y="1739"/>
                    <a:pt x="87837" y="5636"/>
                  </a:cubicBezTo>
                  <a:cubicBezTo>
                    <a:pt x="66552" y="14570"/>
                    <a:pt x="49704" y="31717"/>
                    <a:pt x="36634" y="50724"/>
                  </a:cubicBezTo>
                  <a:cubicBezTo>
                    <a:pt x="16248" y="80223"/>
                    <a:pt x="3657" y="115058"/>
                    <a:pt x="420" y="150792"/>
                  </a:cubicBezTo>
                  <a:cubicBezTo>
                    <a:pt x="180" y="153610"/>
                    <a:pt x="0" y="156488"/>
                    <a:pt x="0" y="159366"/>
                  </a:cubicBezTo>
                  <a:cubicBezTo>
                    <a:pt x="0" y="171058"/>
                    <a:pt x="2578" y="182929"/>
                    <a:pt x="11632" y="189704"/>
                  </a:cubicBezTo>
                  <a:cubicBezTo>
                    <a:pt x="18287" y="194621"/>
                    <a:pt x="27041" y="195640"/>
                    <a:pt x="35315" y="196419"/>
                  </a:cubicBezTo>
                  <a:cubicBezTo>
                    <a:pt x="67631" y="199597"/>
                    <a:pt x="99948" y="202775"/>
                    <a:pt x="132265" y="205893"/>
                  </a:cubicBezTo>
                  <a:cubicBezTo>
                    <a:pt x="137601" y="206432"/>
                    <a:pt x="143057" y="206972"/>
                    <a:pt x="148393" y="206972"/>
                  </a:cubicBezTo>
                  <a:cubicBezTo>
                    <a:pt x="155648" y="206972"/>
                    <a:pt x="162723" y="206013"/>
                    <a:pt x="169258" y="203075"/>
                  </a:cubicBezTo>
                  <a:cubicBezTo>
                    <a:pt x="184907" y="196000"/>
                    <a:pt x="193241" y="179092"/>
                    <a:pt x="200376" y="163443"/>
                  </a:cubicBezTo>
                  <a:cubicBezTo>
                    <a:pt x="206611" y="149713"/>
                    <a:pt x="213027" y="135443"/>
                    <a:pt x="213266" y="120334"/>
                  </a:cubicBezTo>
                  <a:cubicBezTo>
                    <a:pt x="213266" y="120034"/>
                    <a:pt x="213266" y="119734"/>
                    <a:pt x="213266" y="119375"/>
                  </a:cubicBezTo>
                  <a:cubicBezTo>
                    <a:pt x="213266" y="104925"/>
                    <a:pt x="207690" y="90955"/>
                    <a:pt x="201035" y="78064"/>
                  </a:cubicBezTo>
                  <a:cubicBezTo>
                    <a:pt x="182569" y="42150"/>
                    <a:pt x="154809" y="0"/>
                    <a:pt x="1142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50" name="Google Shape;550;p11"/>
          <p:cNvSpPr txBox="1"/>
          <p:nvPr>
            <p:ph type="subTitle" idx="1"/>
          </p:nvPr>
        </p:nvSpPr>
        <p:spPr>
          <a:xfrm>
            <a:off x="3227832" y="2816352"/>
            <a:ext cx="2679300" cy="658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551" name="Google Shape;551;p11"/>
          <p:cNvCxnSpPr/>
          <p:nvPr/>
        </p:nvCxnSpPr>
        <p:spPr>
          <a:xfrm rot="5400000">
            <a:off x="7269708" y="3324550"/>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552" name="Google Shape;552;p11"/>
          <p:cNvCxnSpPr/>
          <p:nvPr/>
        </p:nvCxnSpPr>
        <p:spPr>
          <a:xfrm rot="-5400000" flipH="1">
            <a:off x="7181408" y="2082400"/>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553" name="Google Shape;553;p11"/>
          <p:cNvCxnSpPr/>
          <p:nvPr/>
        </p:nvCxnSpPr>
        <p:spPr>
          <a:xfrm rot="5400000">
            <a:off x="7232433" y="736375"/>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11"/>
          <p:cNvCxnSpPr/>
          <p:nvPr/>
        </p:nvCxnSpPr>
        <p:spPr>
          <a:xfrm rot="5400000">
            <a:off x="8168433" y="-6660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555" name="Google Shape;555;p11"/>
          <p:cNvGrpSpPr/>
          <p:nvPr/>
        </p:nvGrpSpPr>
        <p:grpSpPr>
          <a:xfrm rot="5400000" flipH="1">
            <a:off x="7407333" y="1284925"/>
            <a:ext cx="581800" cy="582350"/>
            <a:chOff x="8064275" y="887850"/>
            <a:chExt cx="581800" cy="582350"/>
          </a:xfrm>
        </p:grpSpPr>
        <p:sp>
          <p:nvSpPr>
            <p:cNvPr id="556" name="Google Shape;556;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7" name="Google Shape;557;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8" name="Google Shape;558;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9" name="Google Shape;559;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0" name="Google Shape;560;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1" name="Google Shape;561;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62" name="Google Shape;562;p11"/>
          <p:cNvGrpSpPr/>
          <p:nvPr/>
        </p:nvGrpSpPr>
        <p:grpSpPr>
          <a:xfrm rot="5400000" flipH="1">
            <a:off x="7869720" y="2754200"/>
            <a:ext cx="292025" cy="292575"/>
            <a:chOff x="7353050" y="316275"/>
            <a:chExt cx="292025" cy="292575"/>
          </a:xfrm>
        </p:grpSpPr>
        <p:sp>
          <p:nvSpPr>
            <p:cNvPr id="563" name="Google Shape;563;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4" name="Google Shape;564;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5" name="Google Shape;565;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6" name="Google Shape;566;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67" name="Google Shape;567;p11"/>
          <p:cNvGrpSpPr/>
          <p:nvPr/>
        </p:nvGrpSpPr>
        <p:grpSpPr>
          <a:xfrm rot="5400000" flipH="1">
            <a:off x="8012458" y="178175"/>
            <a:ext cx="175000" cy="175000"/>
            <a:chOff x="8792300" y="321275"/>
            <a:chExt cx="175000" cy="175000"/>
          </a:xfrm>
        </p:grpSpPr>
        <p:sp>
          <p:nvSpPr>
            <p:cNvPr id="568" name="Google Shape;568;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9" name="Google Shape;569;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0" name="Google Shape;570;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1" name="Google Shape;571;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2" name="Google Shape;572;p11"/>
          <p:cNvGrpSpPr/>
          <p:nvPr/>
        </p:nvGrpSpPr>
        <p:grpSpPr>
          <a:xfrm rot="5400000">
            <a:off x="7551683" y="3879926"/>
            <a:ext cx="293111" cy="293388"/>
            <a:chOff x="3164039" y="430875"/>
            <a:chExt cx="293111" cy="293388"/>
          </a:xfrm>
        </p:grpSpPr>
        <p:sp>
          <p:nvSpPr>
            <p:cNvPr id="573" name="Google Shape;573;p1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4" name="Google Shape;574;p1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5" name="Google Shape;575;p1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6" name="Google Shape;576;p1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7" name="Google Shape;577;p1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8" name="Google Shape;578;p1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9" name="Google Shape;579;p11"/>
          <p:cNvGrpSpPr/>
          <p:nvPr/>
        </p:nvGrpSpPr>
        <p:grpSpPr>
          <a:xfrm rot="5400000" flipH="1">
            <a:off x="8259052" y="323144"/>
            <a:ext cx="175013" cy="27000"/>
            <a:chOff x="5662375" y="212375"/>
            <a:chExt cx="175013" cy="27000"/>
          </a:xfrm>
        </p:grpSpPr>
        <p:sp>
          <p:nvSpPr>
            <p:cNvPr id="580" name="Google Shape;58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1" name="Google Shape;58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2" name="Google Shape;58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583" name="Google Shape;583;p11"/>
          <p:cNvCxnSpPr/>
          <p:nvPr/>
        </p:nvCxnSpPr>
        <p:spPr>
          <a:xfrm rot="5400000" flipH="1">
            <a:off x="740850" y="25983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11"/>
          <p:cNvCxnSpPr/>
          <p:nvPr/>
        </p:nvCxnSpPr>
        <p:spPr>
          <a:xfrm rot="-5400000">
            <a:off x="847100" y="355400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585" name="Google Shape;585;p11"/>
          <p:cNvCxnSpPr/>
          <p:nvPr/>
        </p:nvCxnSpPr>
        <p:spPr>
          <a:xfrm rot="5400000" flipH="1">
            <a:off x="1105775" y="415125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586" name="Google Shape;586;p11"/>
          <p:cNvGrpSpPr/>
          <p:nvPr/>
        </p:nvGrpSpPr>
        <p:grpSpPr>
          <a:xfrm rot="5400000">
            <a:off x="621475" y="4062025"/>
            <a:ext cx="581800" cy="582350"/>
            <a:chOff x="8064275" y="887850"/>
            <a:chExt cx="581800" cy="582350"/>
          </a:xfrm>
        </p:grpSpPr>
        <p:sp>
          <p:nvSpPr>
            <p:cNvPr id="587" name="Google Shape;587;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8" name="Google Shape;588;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9" name="Google Shape;589;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0" name="Google Shape;590;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1" name="Google Shape;591;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2" name="Google Shape;592;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3" name="Google Shape;593;p11"/>
          <p:cNvGrpSpPr/>
          <p:nvPr/>
        </p:nvGrpSpPr>
        <p:grpSpPr>
          <a:xfrm rot="5400000">
            <a:off x="1482825" y="3350800"/>
            <a:ext cx="292025" cy="292575"/>
            <a:chOff x="7353050" y="316275"/>
            <a:chExt cx="292025" cy="292575"/>
          </a:xfrm>
        </p:grpSpPr>
        <p:sp>
          <p:nvSpPr>
            <p:cNvPr id="594" name="Google Shape;594;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5" name="Google Shape;595;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6" name="Google Shape;596;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7" name="Google Shape;597;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8" name="Google Shape;598;p11"/>
          <p:cNvGrpSpPr/>
          <p:nvPr/>
        </p:nvGrpSpPr>
        <p:grpSpPr>
          <a:xfrm rot="5400000">
            <a:off x="1595125" y="4790325"/>
            <a:ext cx="175000" cy="175000"/>
            <a:chOff x="8792300" y="321275"/>
            <a:chExt cx="175000" cy="175000"/>
          </a:xfrm>
        </p:grpSpPr>
        <p:sp>
          <p:nvSpPr>
            <p:cNvPr id="599" name="Google Shape;599;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0" name="Google Shape;600;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1" name="Google Shape;601;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2" name="Google Shape;602;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03" name="Google Shape;603;p11"/>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4" name="Google Shape;604;p11"/>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5" name="Google Shape;605;p11"/>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6" name="Google Shape;606;p11"/>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7" name="Google Shape;607;p11"/>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8" name="Google Shape;608;p11"/>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09" name="Google Shape;609;p11"/>
          <p:cNvGrpSpPr/>
          <p:nvPr/>
        </p:nvGrpSpPr>
        <p:grpSpPr>
          <a:xfrm rot="5400000">
            <a:off x="1701119" y="1515381"/>
            <a:ext cx="175013" cy="27000"/>
            <a:chOff x="5662375" y="212375"/>
            <a:chExt cx="175013" cy="27000"/>
          </a:xfrm>
        </p:grpSpPr>
        <p:sp>
          <p:nvSpPr>
            <p:cNvPr id="610" name="Google Shape;61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1" name="Google Shape;61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2" name="Google Shape;61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13" name="Google Shape;613;p11"/>
          <p:cNvGrpSpPr/>
          <p:nvPr/>
        </p:nvGrpSpPr>
        <p:grpSpPr>
          <a:xfrm rot="5400000">
            <a:off x="1819519" y="4562081"/>
            <a:ext cx="175013" cy="27000"/>
            <a:chOff x="5662375" y="212375"/>
            <a:chExt cx="175013" cy="27000"/>
          </a:xfrm>
        </p:grpSpPr>
        <p:sp>
          <p:nvSpPr>
            <p:cNvPr id="614" name="Google Shape;614;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5" name="Google Shape;615;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6" name="Google Shape;616;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17" name="Google Shape;617;p11"/>
          <p:cNvGrpSpPr/>
          <p:nvPr/>
        </p:nvGrpSpPr>
        <p:grpSpPr>
          <a:xfrm rot="5400000">
            <a:off x="408594" y="4140781"/>
            <a:ext cx="175013" cy="27000"/>
            <a:chOff x="5662375" y="212375"/>
            <a:chExt cx="175013" cy="27000"/>
          </a:xfrm>
        </p:grpSpPr>
        <p:sp>
          <p:nvSpPr>
            <p:cNvPr id="618" name="Google Shape;618;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9" name="Google Shape;619;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620;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21" name="Google Shape;621;p11"/>
          <p:cNvSpPr txBox="1"/>
          <p:nvPr>
            <p:ph type="title" hasCustomPrompt="1"/>
          </p:nvPr>
        </p:nvSpPr>
        <p:spPr>
          <a:xfrm>
            <a:off x="2624328" y="2057400"/>
            <a:ext cx="3904500" cy="78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622" name="Shape 62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623" name="Shape 623"/>
        <p:cNvGrpSpPr/>
        <p:nvPr/>
      </p:nvGrpSpPr>
      <p:grpSpPr>
        <a:xfrm>
          <a:off x="0" y="0"/>
          <a:ext cx="0" cy="0"/>
          <a:chOff x="0" y="0"/>
          <a:chExt cx="0" cy="0"/>
        </a:xfrm>
      </p:grpSpPr>
      <p:sp>
        <p:nvSpPr>
          <p:cNvPr id="624" name="Google Shape;624;p13"/>
          <p:cNvSpPr txBox="1"/>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p:txBody>
      </p:sp>
      <p:sp>
        <p:nvSpPr>
          <p:cNvPr id="625" name="Google Shape;625;p13"/>
          <p:cNvSpPr txBox="1"/>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26" name="Google Shape;626;p13"/>
          <p:cNvSpPr txBox="1"/>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27" name="Google Shape;627;p13"/>
          <p:cNvSpPr txBox="1"/>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28" name="Google Shape;628;p13"/>
          <p:cNvSpPr txBox="1"/>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29" name="Google Shape;629;p13"/>
          <p:cNvSpPr txBox="1"/>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30" name="Google Shape;630;p13"/>
          <p:cNvSpPr txBox="1"/>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31" name="Google Shape;631;p13"/>
          <p:cNvSpPr txBox="1"/>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32" name="Google Shape;632;p13"/>
          <p:cNvSpPr txBox="1"/>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33" name="Google Shape;633;p13"/>
          <p:cNvSpPr txBox="1"/>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637" name="Shape 637"/>
        <p:cNvGrpSpPr/>
        <p:nvPr/>
      </p:nvGrpSpPr>
      <p:grpSpPr>
        <a:xfrm>
          <a:off x="0" y="0"/>
          <a:ext cx="0" cy="0"/>
          <a:chOff x="0" y="0"/>
          <a:chExt cx="0" cy="0"/>
        </a:xfrm>
      </p:grpSpPr>
      <p:sp>
        <p:nvSpPr>
          <p:cNvPr id="638" name="Google Shape;638;p14"/>
          <p:cNvSpPr txBox="1"/>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639" name="Google Shape;639;p14"/>
          <p:cNvSpPr txBox="1"/>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40" name="Google Shape;640;p14"/>
          <p:cNvSpPr txBox="1"/>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41" name="Google Shape;641;p14"/>
          <p:cNvSpPr txBox="1"/>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42" name="Google Shape;642;p14"/>
          <p:cNvSpPr txBox="1"/>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43" name="Google Shape;643;p14"/>
          <p:cNvSpPr txBox="1"/>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44" name="Google Shape;644;p14"/>
          <p:cNvSpPr txBox="1"/>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columns of text">
  <p:cSld name="CUSTOM_2">
    <p:spTree>
      <p:nvGrpSpPr>
        <p:cNvPr id="665" name="Shape 665"/>
        <p:cNvGrpSpPr/>
        <p:nvPr/>
      </p:nvGrpSpPr>
      <p:grpSpPr>
        <a:xfrm>
          <a:off x="0" y="0"/>
          <a:ext cx="0" cy="0"/>
          <a:chOff x="0" y="0"/>
          <a:chExt cx="0" cy="0"/>
        </a:xfrm>
      </p:grpSpPr>
      <p:sp>
        <p:nvSpPr>
          <p:cNvPr id="666" name="Google Shape;666;p15"/>
          <p:cNvSpPr txBox="1"/>
          <p:nvPr>
            <p:ph type="title"/>
          </p:nvPr>
        </p:nvSpPr>
        <p:spPr>
          <a:xfrm>
            <a:off x="1568775" y="442350"/>
            <a:ext cx="6006300" cy="59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667" name="Google Shape;667;p15"/>
          <p:cNvSpPr txBox="1"/>
          <p:nvPr>
            <p:ph type="subTitle" idx="1"/>
          </p:nvPr>
        </p:nvSpPr>
        <p:spPr>
          <a:xfrm>
            <a:off x="1709928" y="1545336"/>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68" name="Google Shape;668;p15"/>
          <p:cNvSpPr txBox="1"/>
          <p:nvPr>
            <p:ph type="subTitle" idx="2"/>
          </p:nvPr>
        </p:nvSpPr>
        <p:spPr>
          <a:xfrm>
            <a:off x="1709928" y="1938528"/>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69" name="Google Shape;669;p15"/>
          <p:cNvSpPr txBox="1"/>
          <p:nvPr>
            <p:ph type="subTitle" idx="3"/>
          </p:nvPr>
        </p:nvSpPr>
        <p:spPr>
          <a:xfrm>
            <a:off x="5468112" y="1545336"/>
            <a:ext cx="19476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70" name="Google Shape;670;p15"/>
          <p:cNvSpPr txBox="1"/>
          <p:nvPr>
            <p:ph type="subTitle" idx="4"/>
          </p:nvPr>
        </p:nvSpPr>
        <p:spPr>
          <a:xfrm>
            <a:off x="5468112" y="1938528"/>
            <a:ext cx="19476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71" name="Google Shape;671;p15"/>
          <p:cNvSpPr txBox="1"/>
          <p:nvPr>
            <p:ph type="subTitle" idx="5"/>
          </p:nvPr>
        </p:nvSpPr>
        <p:spPr>
          <a:xfrm>
            <a:off x="2825496" y="3200400"/>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72" name="Google Shape;672;p15"/>
          <p:cNvSpPr txBox="1"/>
          <p:nvPr>
            <p:ph type="subTitle" idx="6"/>
          </p:nvPr>
        </p:nvSpPr>
        <p:spPr>
          <a:xfrm>
            <a:off x="2825496" y="3593592"/>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73" name="Google Shape;673;p15"/>
          <p:cNvSpPr txBox="1"/>
          <p:nvPr>
            <p:ph type="subTitle" idx="7"/>
          </p:nvPr>
        </p:nvSpPr>
        <p:spPr>
          <a:xfrm>
            <a:off x="6464808" y="3200400"/>
            <a:ext cx="19935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74" name="Google Shape;674;p15"/>
          <p:cNvSpPr txBox="1"/>
          <p:nvPr>
            <p:ph type="subTitle" idx="8"/>
          </p:nvPr>
        </p:nvSpPr>
        <p:spPr>
          <a:xfrm>
            <a:off x="6464808" y="3593592"/>
            <a:ext cx="19935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675" name="Google Shape;675;p15"/>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676" name="Google Shape;676;p15"/>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677" name="Google Shape;677;p15"/>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678" name="Google Shape;678;p15"/>
          <p:cNvGrpSpPr/>
          <p:nvPr/>
        </p:nvGrpSpPr>
        <p:grpSpPr>
          <a:xfrm flipH="1">
            <a:off x="423750" y="125363"/>
            <a:ext cx="292025" cy="292575"/>
            <a:chOff x="7353050" y="316275"/>
            <a:chExt cx="292025" cy="292575"/>
          </a:xfrm>
        </p:grpSpPr>
        <p:sp>
          <p:nvSpPr>
            <p:cNvPr id="679" name="Google Shape;679;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0" name="Google Shape;680;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1" name="Google Shape;681;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2" name="Google Shape;682;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83" name="Google Shape;683;p15"/>
          <p:cNvGrpSpPr/>
          <p:nvPr/>
        </p:nvGrpSpPr>
        <p:grpSpPr>
          <a:xfrm>
            <a:off x="1638739" y="558163"/>
            <a:ext cx="293111" cy="293388"/>
            <a:chOff x="3164039" y="430875"/>
            <a:chExt cx="293111" cy="293388"/>
          </a:xfrm>
        </p:grpSpPr>
        <p:sp>
          <p:nvSpPr>
            <p:cNvPr id="684" name="Google Shape;684;p15"/>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5" name="Google Shape;685;p15"/>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6" name="Google Shape;686;p15"/>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7" name="Google Shape;687;p15"/>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8" name="Google Shape;688;p15"/>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9" name="Google Shape;689;p15"/>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0" name="Google Shape;690;p15"/>
          <p:cNvGrpSpPr/>
          <p:nvPr/>
        </p:nvGrpSpPr>
        <p:grpSpPr>
          <a:xfrm>
            <a:off x="1591750" y="362600"/>
            <a:ext cx="175013" cy="27000"/>
            <a:chOff x="5662375" y="212375"/>
            <a:chExt cx="175013" cy="27000"/>
          </a:xfrm>
        </p:grpSpPr>
        <p:sp>
          <p:nvSpPr>
            <p:cNvPr id="691" name="Google Shape;691;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2" name="Google Shape;692;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3" name="Google Shape;693;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694" name="Google Shape;694;p15"/>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695" name="Google Shape;695;p15"/>
          <p:cNvGrpSpPr/>
          <p:nvPr/>
        </p:nvGrpSpPr>
        <p:grpSpPr>
          <a:xfrm>
            <a:off x="7823875" y="202375"/>
            <a:ext cx="581800" cy="582350"/>
            <a:chOff x="8064275" y="887850"/>
            <a:chExt cx="581800" cy="582350"/>
          </a:xfrm>
        </p:grpSpPr>
        <p:sp>
          <p:nvSpPr>
            <p:cNvPr id="696" name="Google Shape;696;p1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7" name="Google Shape;697;p1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8" name="Google Shape;698;p1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9" name="Google Shape;699;p1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0" name="Google Shape;700;p1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1" name="Google Shape;701;p1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02" name="Google Shape;702;p15"/>
          <p:cNvGrpSpPr/>
          <p:nvPr/>
        </p:nvGrpSpPr>
        <p:grpSpPr>
          <a:xfrm flipH="1">
            <a:off x="8698650" y="1117488"/>
            <a:ext cx="292025" cy="292575"/>
            <a:chOff x="7353050" y="316275"/>
            <a:chExt cx="292025" cy="292575"/>
          </a:xfrm>
        </p:grpSpPr>
        <p:sp>
          <p:nvSpPr>
            <p:cNvPr id="703" name="Google Shape;703;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4" name="Google Shape;704;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5" name="Google Shape;705;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6" name="Google Shape;706;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07" name="Google Shape;707;p15"/>
          <p:cNvGrpSpPr/>
          <p:nvPr/>
        </p:nvGrpSpPr>
        <p:grpSpPr>
          <a:xfrm>
            <a:off x="8678350" y="1581800"/>
            <a:ext cx="175013" cy="27000"/>
            <a:chOff x="5662375" y="212375"/>
            <a:chExt cx="175013" cy="27000"/>
          </a:xfrm>
        </p:grpSpPr>
        <p:sp>
          <p:nvSpPr>
            <p:cNvPr id="708" name="Google Shape;708;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9" name="Google Shape;709;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0" name="Google Shape;710;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of text 2">
  <p:cSld name="CUSTOM_7">
    <p:spTree>
      <p:nvGrpSpPr>
        <p:cNvPr id="711" name="Shape 711"/>
        <p:cNvGrpSpPr/>
        <p:nvPr/>
      </p:nvGrpSpPr>
      <p:grpSpPr>
        <a:xfrm>
          <a:off x="0" y="0"/>
          <a:ext cx="0" cy="0"/>
          <a:chOff x="0" y="0"/>
          <a:chExt cx="0" cy="0"/>
        </a:xfrm>
      </p:grpSpPr>
      <p:cxnSp>
        <p:nvCxnSpPr>
          <p:cNvPr id="712" name="Google Shape;712;p16"/>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sp>
        <p:nvSpPr>
          <p:cNvPr id="713" name="Google Shape;713;p16"/>
          <p:cNvSpPr txBox="1"/>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cxnSp>
        <p:nvCxnSpPr>
          <p:cNvPr id="714" name="Google Shape;714;p16"/>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715" name="Google Shape;715;p16"/>
          <p:cNvGrpSpPr/>
          <p:nvPr/>
        </p:nvGrpSpPr>
        <p:grpSpPr>
          <a:xfrm flipH="1">
            <a:off x="431725" y="4183775"/>
            <a:ext cx="292025" cy="292575"/>
            <a:chOff x="7353050" y="316275"/>
            <a:chExt cx="292025" cy="292575"/>
          </a:xfrm>
        </p:grpSpPr>
        <p:sp>
          <p:nvSpPr>
            <p:cNvPr id="716" name="Google Shape;716;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7" name="Google Shape;717;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8" name="Google Shape;718;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9" name="Google Shape;719;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20" name="Google Shape;720;p16"/>
          <p:cNvGrpSpPr/>
          <p:nvPr/>
        </p:nvGrpSpPr>
        <p:grpSpPr>
          <a:xfrm>
            <a:off x="1075789" y="4604675"/>
            <a:ext cx="293111" cy="293388"/>
            <a:chOff x="3164039" y="430875"/>
            <a:chExt cx="293111" cy="293388"/>
          </a:xfrm>
        </p:grpSpPr>
        <p:sp>
          <p:nvSpPr>
            <p:cNvPr id="721" name="Google Shape;721;p1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2" name="Google Shape;722;p1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3" name="Google Shape;723;p1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4" name="Google Shape;724;p1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5" name="Google Shape;725;p1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6" name="Google Shape;726;p1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727" name="Google Shape;727;p16"/>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728" name="Google Shape;728;p16"/>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729" name="Google Shape;729;p16"/>
          <p:cNvGrpSpPr/>
          <p:nvPr/>
        </p:nvGrpSpPr>
        <p:grpSpPr>
          <a:xfrm>
            <a:off x="8064275" y="526925"/>
            <a:ext cx="581800" cy="582350"/>
            <a:chOff x="8064275" y="887850"/>
            <a:chExt cx="581800" cy="582350"/>
          </a:xfrm>
        </p:grpSpPr>
        <p:sp>
          <p:nvSpPr>
            <p:cNvPr id="730" name="Google Shape;730;p1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1" name="Google Shape;731;p1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2" name="Google Shape;732;p1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3" name="Google Shape;733;p1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4" name="Google Shape;734;p1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5" name="Google Shape;735;p1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36" name="Google Shape;736;p16"/>
          <p:cNvGrpSpPr/>
          <p:nvPr/>
        </p:nvGrpSpPr>
        <p:grpSpPr>
          <a:xfrm>
            <a:off x="7033875" y="170875"/>
            <a:ext cx="292025" cy="292575"/>
            <a:chOff x="7353050" y="316275"/>
            <a:chExt cx="292025" cy="292575"/>
          </a:xfrm>
        </p:grpSpPr>
        <p:sp>
          <p:nvSpPr>
            <p:cNvPr id="737" name="Google Shape;737;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8" name="Google Shape;738;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9" name="Google Shape;739;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0" name="Google Shape;740;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1" name="Google Shape;741;p16"/>
          <p:cNvGrpSpPr/>
          <p:nvPr/>
        </p:nvGrpSpPr>
        <p:grpSpPr>
          <a:xfrm>
            <a:off x="8757950" y="229650"/>
            <a:ext cx="175000" cy="175000"/>
            <a:chOff x="8792300" y="321275"/>
            <a:chExt cx="175000" cy="175000"/>
          </a:xfrm>
        </p:grpSpPr>
        <p:sp>
          <p:nvSpPr>
            <p:cNvPr id="742" name="Google Shape;742;p1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3" name="Google Shape;743;p1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4" name="Google Shape;744;p1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5" name="Google Shape;745;p1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6" name="Google Shape;746;p16"/>
          <p:cNvGrpSpPr/>
          <p:nvPr/>
        </p:nvGrpSpPr>
        <p:grpSpPr>
          <a:xfrm>
            <a:off x="8490050" y="170875"/>
            <a:ext cx="175013" cy="27000"/>
            <a:chOff x="5662375" y="212375"/>
            <a:chExt cx="175013" cy="27000"/>
          </a:xfrm>
        </p:grpSpPr>
        <p:sp>
          <p:nvSpPr>
            <p:cNvPr id="747" name="Google Shape;747;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8" name="Google Shape;748;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9" name="Google Shape;749;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0" name="Google Shape;750;p16"/>
          <p:cNvGrpSpPr/>
          <p:nvPr/>
        </p:nvGrpSpPr>
        <p:grpSpPr>
          <a:xfrm>
            <a:off x="7916350" y="1124600"/>
            <a:ext cx="175013" cy="27000"/>
            <a:chOff x="5662375" y="212375"/>
            <a:chExt cx="175013" cy="27000"/>
          </a:xfrm>
        </p:grpSpPr>
        <p:sp>
          <p:nvSpPr>
            <p:cNvPr id="751" name="Google Shape;751;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2" name="Google Shape;752;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3" name="Google Shape;753;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54" name="Google Shape;754;p16"/>
          <p:cNvSpPr txBox="1"/>
          <p:nvPr>
            <p:ph type="subTitle" idx="1"/>
          </p:nvPr>
        </p:nvSpPr>
        <p:spPr>
          <a:xfrm>
            <a:off x="6217920"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55" name="Google Shape;755;p16"/>
          <p:cNvSpPr txBox="1"/>
          <p:nvPr>
            <p:ph type="subTitle" idx="2"/>
          </p:nvPr>
        </p:nvSpPr>
        <p:spPr>
          <a:xfrm>
            <a:off x="3749040" y="1252728"/>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56" name="Google Shape;756;p16"/>
          <p:cNvSpPr txBox="1"/>
          <p:nvPr>
            <p:ph type="subTitle" idx="3"/>
          </p:nvPr>
        </p:nvSpPr>
        <p:spPr>
          <a:xfrm>
            <a:off x="1289304"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57" name="Google Shape;757;p16"/>
          <p:cNvSpPr txBox="1"/>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defRPr>
            </a:lvl1pPr>
            <a:lvl2pPr lvl="1" algn="ctr" rtl="0">
              <a:spcBef>
                <a:spcPts val="0"/>
              </a:spcBef>
              <a:spcAft>
                <a:spcPts val="0"/>
              </a:spcAft>
              <a:buNone/>
              <a:defRPr sz="1600">
                <a:solidFill>
                  <a:schemeClr val="dk2"/>
                </a:solidFill>
              </a:defRPr>
            </a:lvl2pPr>
            <a:lvl3pPr lvl="2" algn="ctr" rtl="0">
              <a:spcBef>
                <a:spcPts val="0"/>
              </a:spcBef>
              <a:spcAft>
                <a:spcPts val="0"/>
              </a:spcAft>
              <a:buNone/>
              <a:defRPr sz="1600">
                <a:solidFill>
                  <a:schemeClr val="dk2"/>
                </a:solidFill>
              </a:defRPr>
            </a:lvl3pPr>
            <a:lvl4pPr lvl="3" algn="ctr" rtl="0">
              <a:spcBef>
                <a:spcPts val="0"/>
              </a:spcBef>
              <a:spcAft>
                <a:spcPts val="0"/>
              </a:spcAft>
              <a:buNone/>
              <a:defRPr sz="1600">
                <a:solidFill>
                  <a:schemeClr val="dk2"/>
                </a:solidFill>
              </a:defRPr>
            </a:lvl4pPr>
            <a:lvl5pPr lvl="4" algn="ctr" rtl="0">
              <a:spcBef>
                <a:spcPts val="0"/>
              </a:spcBef>
              <a:spcAft>
                <a:spcPts val="0"/>
              </a:spcAft>
              <a:buNone/>
              <a:defRPr sz="1600">
                <a:solidFill>
                  <a:schemeClr val="dk2"/>
                </a:solidFill>
              </a:defRPr>
            </a:lvl5pPr>
            <a:lvl6pPr lvl="5" algn="ctr" rtl="0">
              <a:spcBef>
                <a:spcPts val="0"/>
              </a:spcBef>
              <a:spcAft>
                <a:spcPts val="0"/>
              </a:spcAft>
              <a:buNone/>
              <a:defRPr sz="1600">
                <a:solidFill>
                  <a:schemeClr val="dk2"/>
                </a:solidFill>
              </a:defRPr>
            </a:lvl6pPr>
            <a:lvl7pPr lvl="6" algn="ctr" rtl="0">
              <a:spcBef>
                <a:spcPts val="0"/>
              </a:spcBef>
              <a:spcAft>
                <a:spcPts val="0"/>
              </a:spcAft>
              <a:buNone/>
              <a:defRPr sz="1600">
                <a:solidFill>
                  <a:schemeClr val="dk2"/>
                </a:solidFill>
              </a:defRPr>
            </a:lvl7pPr>
            <a:lvl8pPr lvl="7" algn="ctr" rtl="0">
              <a:spcBef>
                <a:spcPts val="0"/>
              </a:spcBef>
              <a:spcAft>
                <a:spcPts val="0"/>
              </a:spcAft>
              <a:buNone/>
              <a:defRPr sz="1600">
                <a:solidFill>
                  <a:schemeClr val="dk2"/>
                </a:solidFill>
              </a:defRPr>
            </a:lvl8pPr>
            <a:lvl9pPr lvl="8" algn="ctr" rtl="0">
              <a:spcBef>
                <a:spcPts val="0"/>
              </a:spcBef>
              <a:spcAft>
                <a:spcPts val="0"/>
              </a:spcAft>
              <a:buNone/>
              <a:defRPr sz="1600">
                <a:solidFill>
                  <a:schemeClr val="dk2"/>
                </a:solidFill>
              </a:defRPr>
            </a:lvl9pPr>
          </a:lstStyle>
          <a:p/>
        </p:txBody>
      </p:sp>
      <p:sp>
        <p:nvSpPr>
          <p:cNvPr id="758" name="Google Shape;758;p16"/>
          <p:cNvSpPr txBox="1"/>
          <p:nvPr>
            <p:ph type="subTitle" idx="5"/>
          </p:nvPr>
        </p:nvSpPr>
        <p:spPr>
          <a:xfrm>
            <a:off x="3749040" y="1581912"/>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59" name="Google Shape;759;p16"/>
          <p:cNvSpPr txBox="1"/>
          <p:nvPr>
            <p:ph type="subTitle" idx="6"/>
          </p:nvPr>
        </p:nvSpPr>
        <p:spPr>
          <a:xfrm>
            <a:off x="1289304" y="2139696"/>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x columns of text">
  <p:cSld name="CUSTOM_8">
    <p:spTree>
      <p:nvGrpSpPr>
        <p:cNvPr id="760" name="Shape 760"/>
        <p:cNvGrpSpPr/>
        <p:nvPr/>
      </p:nvGrpSpPr>
      <p:grpSpPr>
        <a:xfrm>
          <a:off x="0" y="0"/>
          <a:ext cx="0" cy="0"/>
          <a:chOff x="0" y="0"/>
          <a:chExt cx="0" cy="0"/>
        </a:xfrm>
      </p:grpSpPr>
      <p:sp>
        <p:nvSpPr>
          <p:cNvPr id="761" name="Google Shape;761;p17"/>
          <p:cNvSpPr txBox="1"/>
          <p:nvPr>
            <p:ph type="title"/>
          </p:nvPr>
        </p:nvSpPr>
        <p:spPr>
          <a:xfrm>
            <a:off x="3090672" y="338328"/>
            <a:ext cx="2962800" cy="5760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p:txBody>
      </p:sp>
      <p:sp>
        <p:nvSpPr>
          <p:cNvPr id="762" name="Google Shape;762;p17"/>
          <p:cNvSpPr txBox="1"/>
          <p:nvPr>
            <p:ph type="subTitle" idx="1"/>
          </p:nvPr>
        </p:nvSpPr>
        <p:spPr>
          <a:xfrm>
            <a:off x="152242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63" name="Google Shape;763;p17"/>
          <p:cNvSpPr txBox="1"/>
          <p:nvPr>
            <p:ph type="subTitle" idx="2"/>
          </p:nvPr>
        </p:nvSpPr>
        <p:spPr>
          <a:xfrm>
            <a:off x="152242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64" name="Google Shape;764;p17"/>
          <p:cNvSpPr txBox="1"/>
          <p:nvPr>
            <p:ph type="subTitle" idx="3"/>
          </p:nvPr>
        </p:nvSpPr>
        <p:spPr>
          <a:xfrm>
            <a:off x="3689552" y="1588336"/>
            <a:ext cx="1764900" cy="4572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65" name="Google Shape;765;p17"/>
          <p:cNvSpPr txBox="1"/>
          <p:nvPr>
            <p:ph type="subTitle" idx="4"/>
          </p:nvPr>
        </p:nvSpPr>
        <p:spPr>
          <a:xfrm>
            <a:off x="3689552"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66" name="Google Shape;766;p17"/>
          <p:cNvSpPr txBox="1"/>
          <p:nvPr>
            <p:ph type="subTitle" idx="5"/>
          </p:nvPr>
        </p:nvSpPr>
        <p:spPr>
          <a:xfrm>
            <a:off x="585667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67" name="Google Shape;767;p17"/>
          <p:cNvSpPr txBox="1"/>
          <p:nvPr>
            <p:ph type="subTitle" idx="6"/>
          </p:nvPr>
        </p:nvSpPr>
        <p:spPr>
          <a:xfrm>
            <a:off x="585667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68" name="Google Shape;768;p17"/>
          <p:cNvSpPr txBox="1"/>
          <p:nvPr>
            <p:ph type="subTitle" idx="7"/>
          </p:nvPr>
        </p:nvSpPr>
        <p:spPr>
          <a:xfrm>
            <a:off x="152242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69" name="Google Shape;769;p17"/>
          <p:cNvSpPr txBox="1"/>
          <p:nvPr>
            <p:ph type="subTitle" idx="8"/>
          </p:nvPr>
        </p:nvSpPr>
        <p:spPr>
          <a:xfrm>
            <a:off x="152242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70" name="Google Shape;770;p17"/>
          <p:cNvSpPr txBox="1"/>
          <p:nvPr>
            <p:ph type="subTitle" idx="9"/>
          </p:nvPr>
        </p:nvSpPr>
        <p:spPr>
          <a:xfrm>
            <a:off x="3597450" y="3215961"/>
            <a:ext cx="19491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71" name="Google Shape;771;p17"/>
          <p:cNvSpPr txBox="1"/>
          <p:nvPr>
            <p:ph type="subTitle" idx="13"/>
          </p:nvPr>
        </p:nvSpPr>
        <p:spPr>
          <a:xfrm>
            <a:off x="3597500" y="3556017"/>
            <a:ext cx="19491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72" name="Google Shape;772;p17"/>
          <p:cNvSpPr txBox="1"/>
          <p:nvPr>
            <p:ph type="subTitle" idx="14"/>
          </p:nvPr>
        </p:nvSpPr>
        <p:spPr>
          <a:xfrm>
            <a:off x="585667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73" name="Google Shape;773;p17"/>
          <p:cNvSpPr txBox="1"/>
          <p:nvPr>
            <p:ph type="subTitle" idx="15"/>
          </p:nvPr>
        </p:nvSpPr>
        <p:spPr>
          <a:xfrm>
            <a:off x="585667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774" name="Google Shape;774;p17"/>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775" name="Google Shape;775;p17"/>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776" name="Google Shape;776;p17"/>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777" name="Google Shape;777;p17"/>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778" name="Google Shape;778;p17"/>
          <p:cNvGrpSpPr/>
          <p:nvPr/>
        </p:nvGrpSpPr>
        <p:grpSpPr>
          <a:xfrm flipH="1">
            <a:off x="1278333" y="4513075"/>
            <a:ext cx="581800" cy="582350"/>
            <a:chOff x="8064275" y="887850"/>
            <a:chExt cx="581800" cy="582350"/>
          </a:xfrm>
        </p:grpSpPr>
        <p:sp>
          <p:nvSpPr>
            <p:cNvPr id="779" name="Google Shape;779;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0" name="Google Shape;780;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1" name="Google Shape;781;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2" name="Google Shape;782;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3" name="Google Shape;783;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4" name="Google Shape;784;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85" name="Google Shape;785;p17"/>
          <p:cNvGrpSpPr/>
          <p:nvPr/>
        </p:nvGrpSpPr>
        <p:grpSpPr>
          <a:xfrm flipH="1">
            <a:off x="2747608" y="4340463"/>
            <a:ext cx="292025" cy="292575"/>
            <a:chOff x="7353050" y="316275"/>
            <a:chExt cx="292025" cy="292575"/>
          </a:xfrm>
        </p:grpSpPr>
        <p:sp>
          <p:nvSpPr>
            <p:cNvPr id="786" name="Google Shape;786;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7" name="Google Shape;787;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8" name="Google Shape;788;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9" name="Google Shape;789;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90" name="Google Shape;790;p17"/>
          <p:cNvGrpSpPr/>
          <p:nvPr/>
        </p:nvGrpSpPr>
        <p:grpSpPr>
          <a:xfrm flipH="1">
            <a:off x="171308" y="4315025"/>
            <a:ext cx="175000" cy="175000"/>
            <a:chOff x="8792300" y="321275"/>
            <a:chExt cx="175000" cy="175000"/>
          </a:xfrm>
        </p:grpSpPr>
        <p:sp>
          <p:nvSpPr>
            <p:cNvPr id="791" name="Google Shape;791;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2" name="Google Shape;792;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3" name="Google Shape;793;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4" name="Google Shape;794;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95" name="Google Shape;795;p17"/>
          <p:cNvGrpSpPr/>
          <p:nvPr/>
        </p:nvGrpSpPr>
        <p:grpSpPr>
          <a:xfrm>
            <a:off x="3873197" y="4657550"/>
            <a:ext cx="293111" cy="293388"/>
            <a:chOff x="3164039" y="430875"/>
            <a:chExt cx="293111" cy="293388"/>
          </a:xfrm>
        </p:grpSpPr>
        <p:sp>
          <p:nvSpPr>
            <p:cNvPr id="796" name="Google Shape;796;p1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7" name="Google Shape;797;p1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8" name="Google Shape;798;p1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9" name="Google Shape;799;p1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0" name="Google Shape;800;p1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1" name="Google Shape;801;p1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02" name="Google Shape;802;p17"/>
          <p:cNvGrpSpPr/>
          <p:nvPr/>
        </p:nvGrpSpPr>
        <p:grpSpPr>
          <a:xfrm flipH="1">
            <a:off x="242270" y="4142425"/>
            <a:ext cx="175013" cy="27000"/>
            <a:chOff x="5662375" y="212375"/>
            <a:chExt cx="175013" cy="27000"/>
          </a:xfrm>
        </p:grpSpPr>
        <p:sp>
          <p:nvSpPr>
            <p:cNvPr id="803" name="Google Shape;80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4" name="Google Shape;80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5" name="Google Shape;80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806" name="Google Shape;806;p17"/>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807" name="Google Shape;807;p17"/>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808" name="Google Shape;808;p17"/>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809" name="Google Shape;809;p17"/>
          <p:cNvGrpSpPr/>
          <p:nvPr/>
        </p:nvGrpSpPr>
        <p:grpSpPr>
          <a:xfrm>
            <a:off x="8064275" y="1040250"/>
            <a:ext cx="581800" cy="582350"/>
            <a:chOff x="8064275" y="887850"/>
            <a:chExt cx="581800" cy="582350"/>
          </a:xfrm>
        </p:grpSpPr>
        <p:sp>
          <p:nvSpPr>
            <p:cNvPr id="810" name="Google Shape;810;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1" name="Google Shape;811;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2" name="Google Shape;812;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3" name="Google Shape;813;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4" name="Google Shape;814;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5" name="Google Shape;815;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6" name="Google Shape;816;p17"/>
          <p:cNvGrpSpPr/>
          <p:nvPr/>
        </p:nvGrpSpPr>
        <p:grpSpPr>
          <a:xfrm>
            <a:off x="7353050" y="316275"/>
            <a:ext cx="292025" cy="292575"/>
            <a:chOff x="7353050" y="316275"/>
            <a:chExt cx="292025" cy="292575"/>
          </a:xfrm>
        </p:grpSpPr>
        <p:sp>
          <p:nvSpPr>
            <p:cNvPr id="817" name="Google Shape;817;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8" name="Google Shape;818;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9" name="Google Shape;819;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0" name="Google Shape;820;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21" name="Google Shape;821;p17"/>
          <p:cNvGrpSpPr/>
          <p:nvPr/>
        </p:nvGrpSpPr>
        <p:grpSpPr>
          <a:xfrm>
            <a:off x="8792300" y="321275"/>
            <a:ext cx="175000" cy="175000"/>
            <a:chOff x="8792300" y="321275"/>
            <a:chExt cx="175000" cy="175000"/>
          </a:xfrm>
        </p:grpSpPr>
        <p:sp>
          <p:nvSpPr>
            <p:cNvPr id="822" name="Google Shape;822;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3" name="Google Shape;823;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4" name="Google Shape;824;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5" name="Google Shape;825;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826" name="Google Shape;826;p17"/>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7" name="Google Shape;827;p17"/>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8" name="Google Shape;828;p17"/>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9" name="Google Shape;829;p17"/>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0" name="Google Shape;830;p17"/>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1" name="Google Shape;831;p17"/>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32" name="Google Shape;832;p17"/>
          <p:cNvGrpSpPr/>
          <p:nvPr/>
        </p:nvGrpSpPr>
        <p:grpSpPr>
          <a:xfrm>
            <a:off x="8490050" y="170875"/>
            <a:ext cx="175013" cy="27000"/>
            <a:chOff x="5662375" y="212375"/>
            <a:chExt cx="175013" cy="27000"/>
          </a:xfrm>
        </p:grpSpPr>
        <p:sp>
          <p:nvSpPr>
            <p:cNvPr id="833" name="Google Shape;83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4" name="Google Shape;83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5" name="Google Shape;83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36" name="Google Shape;836;p17"/>
          <p:cNvGrpSpPr/>
          <p:nvPr/>
        </p:nvGrpSpPr>
        <p:grpSpPr>
          <a:xfrm>
            <a:off x="8678350" y="1658000"/>
            <a:ext cx="175013" cy="27000"/>
            <a:chOff x="5662375" y="212375"/>
            <a:chExt cx="175013" cy="27000"/>
          </a:xfrm>
        </p:grpSpPr>
        <p:sp>
          <p:nvSpPr>
            <p:cNvPr id="837" name="Google Shape;837;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8" name="Google Shape;838;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9" name="Google Shape;839;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2">
  <p:cSld name="CUSTOM_10">
    <p:spTree>
      <p:nvGrpSpPr>
        <p:cNvPr id="840" name="Shape 840"/>
        <p:cNvGrpSpPr/>
        <p:nvPr/>
      </p:nvGrpSpPr>
      <p:grpSpPr>
        <a:xfrm>
          <a:off x="0" y="0"/>
          <a:ext cx="0" cy="0"/>
          <a:chOff x="0" y="0"/>
          <a:chExt cx="0" cy="0"/>
        </a:xfrm>
      </p:grpSpPr>
      <p:sp>
        <p:nvSpPr>
          <p:cNvPr id="841" name="Google Shape;841;p18"/>
          <p:cNvSpPr txBox="1"/>
          <p:nvPr>
            <p:ph type="title"/>
          </p:nvPr>
        </p:nvSpPr>
        <p:spPr>
          <a:xfrm>
            <a:off x="1271016" y="338328"/>
            <a:ext cx="6611100" cy="548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p:txBody>
      </p:sp>
      <p:sp>
        <p:nvSpPr>
          <p:cNvPr id="842" name="Google Shape;842;p18"/>
          <p:cNvSpPr txBox="1"/>
          <p:nvPr>
            <p:ph type="subTitle" idx="1"/>
          </p:nvPr>
        </p:nvSpPr>
        <p:spPr>
          <a:xfrm>
            <a:off x="4690875" y="1491351"/>
            <a:ext cx="3557100" cy="2656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843" name="Google Shape;843;p18"/>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844" name="Google Shape;844;p18"/>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845" name="Google Shape;845;p18"/>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846" name="Google Shape;846;p18"/>
          <p:cNvGrpSpPr/>
          <p:nvPr/>
        </p:nvGrpSpPr>
        <p:grpSpPr>
          <a:xfrm flipH="1">
            <a:off x="423750" y="125363"/>
            <a:ext cx="292025" cy="292575"/>
            <a:chOff x="7353050" y="316275"/>
            <a:chExt cx="292025" cy="292575"/>
          </a:xfrm>
        </p:grpSpPr>
        <p:sp>
          <p:nvSpPr>
            <p:cNvPr id="847" name="Google Shape;847;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8" name="Google Shape;848;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9" name="Google Shape;849;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0" name="Google Shape;850;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1" name="Google Shape;851;p18"/>
          <p:cNvGrpSpPr/>
          <p:nvPr/>
        </p:nvGrpSpPr>
        <p:grpSpPr>
          <a:xfrm>
            <a:off x="1638739" y="558163"/>
            <a:ext cx="293111" cy="293388"/>
            <a:chOff x="3164039" y="430875"/>
            <a:chExt cx="293111" cy="293388"/>
          </a:xfrm>
        </p:grpSpPr>
        <p:sp>
          <p:nvSpPr>
            <p:cNvPr id="852" name="Google Shape;852;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3" name="Google Shape;853;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4" name="Google Shape;854;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5" name="Google Shape;855;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6" name="Google Shape;856;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7" name="Google Shape;857;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8" name="Google Shape;858;p18"/>
          <p:cNvGrpSpPr/>
          <p:nvPr/>
        </p:nvGrpSpPr>
        <p:grpSpPr>
          <a:xfrm>
            <a:off x="1591750" y="362600"/>
            <a:ext cx="175013" cy="27000"/>
            <a:chOff x="5662375" y="212375"/>
            <a:chExt cx="175013" cy="27000"/>
          </a:xfrm>
        </p:grpSpPr>
        <p:sp>
          <p:nvSpPr>
            <p:cNvPr id="859" name="Google Shape;859;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0" name="Google Shape;860;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1" name="Google Shape;861;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862" name="Google Shape;862;p18"/>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863" name="Google Shape;863;p18"/>
          <p:cNvGrpSpPr/>
          <p:nvPr/>
        </p:nvGrpSpPr>
        <p:grpSpPr>
          <a:xfrm>
            <a:off x="7823875" y="202375"/>
            <a:ext cx="581800" cy="582350"/>
            <a:chOff x="8064275" y="887850"/>
            <a:chExt cx="581800" cy="582350"/>
          </a:xfrm>
        </p:grpSpPr>
        <p:sp>
          <p:nvSpPr>
            <p:cNvPr id="864" name="Google Shape;86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5" name="Google Shape;86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6" name="Google Shape;86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7" name="Google Shape;86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8" name="Google Shape;86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9" name="Google Shape;86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0" name="Google Shape;870;p18"/>
          <p:cNvGrpSpPr/>
          <p:nvPr/>
        </p:nvGrpSpPr>
        <p:grpSpPr>
          <a:xfrm flipH="1">
            <a:off x="8698650" y="1117488"/>
            <a:ext cx="292025" cy="292575"/>
            <a:chOff x="7353050" y="316275"/>
            <a:chExt cx="292025" cy="292575"/>
          </a:xfrm>
        </p:grpSpPr>
        <p:sp>
          <p:nvSpPr>
            <p:cNvPr id="871" name="Google Shape;87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2" name="Google Shape;87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3" name="Google Shape;87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4" name="Google Shape;87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5" name="Google Shape;875;p18"/>
          <p:cNvGrpSpPr/>
          <p:nvPr/>
        </p:nvGrpSpPr>
        <p:grpSpPr>
          <a:xfrm>
            <a:off x="8678350" y="1581800"/>
            <a:ext cx="175013" cy="27000"/>
            <a:chOff x="5662375" y="212375"/>
            <a:chExt cx="175013" cy="27000"/>
          </a:xfrm>
        </p:grpSpPr>
        <p:sp>
          <p:nvSpPr>
            <p:cNvPr id="876" name="Google Shape;876;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7" name="Google Shape;877;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8" name="Google Shape;878;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879" name="Google Shape;879;p18"/>
          <p:cNvCxnSpPr/>
          <p:nvPr/>
        </p:nvCxnSpPr>
        <p:spPr>
          <a:xfrm flipH="1">
            <a:off x="5101704"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18"/>
          <p:cNvCxnSpPr/>
          <p:nvPr/>
        </p:nvCxnSpPr>
        <p:spPr>
          <a:xfrm rot="10800000">
            <a:off x="6234804"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18"/>
          <p:cNvCxnSpPr/>
          <p:nvPr/>
        </p:nvCxnSpPr>
        <p:spPr>
          <a:xfrm flipH="1">
            <a:off x="7547529"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882" name="Google Shape;882;p18"/>
          <p:cNvCxnSpPr/>
          <p:nvPr/>
        </p:nvCxnSpPr>
        <p:spPr>
          <a:xfrm flipH="1">
            <a:off x="8872054"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883" name="Google Shape;883;p18"/>
          <p:cNvGrpSpPr/>
          <p:nvPr/>
        </p:nvGrpSpPr>
        <p:grpSpPr>
          <a:xfrm>
            <a:off x="7278954" y="4513075"/>
            <a:ext cx="581800" cy="582350"/>
            <a:chOff x="8064275" y="887850"/>
            <a:chExt cx="581800" cy="582350"/>
          </a:xfrm>
        </p:grpSpPr>
        <p:sp>
          <p:nvSpPr>
            <p:cNvPr id="884" name="Google Shape;88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5" name="Google Shape;88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6" name="Google Shape;88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7" name="Google Shape;88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8" name="Google Shape;88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9" name="Google Shape;88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90" name="Google Shape;890;p18"/>
          <p:cNvGrpSpPr/>
          <p:nvPr/>
        </p:nvGrpSpPr>
        <p:grpSpPr>
          <a:xfrm>
            <a:off x="6099454" y="4340463"/>
            <a:ext cx="292025" cy="292575"/>
            <a:chOff x="7353050" y="316275"/>
            <a:chExt cx="292025" cy="292575"/>
          </a:xfrm>
        </p:grpSpPr>
        <p:sp>
          <p:nvSpPr>
            <p:cNvPr id="891" name="Google Shape;89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2" name="Google Shape;89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3" name="Google Shape;89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4" name="Google Shape;89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95" name="Google Shape;895;p18"/>
          <p:cNvGrpSpPr/>
          <p:nvPr/>
        </p:nvGrpSpPr>
        <p:grpSpPr>
          <a:xfrm>
            <a:off x="8792779" y="4315025"/>
            <a:ext cx="175000" cy="175000"/>
            <a:chOff x="8792300" y="321275"/>
            <a:chExt cx="175000" cy="175000"/>
          </a:xfrm>
        </p:grpSpPr>
        <p:sp>
          <p:nvSpPr>
            <p:cNvPr id="896" name="Google Shape;896;p1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7" name="Google Shape;897;p1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8" name="Google Shape;898;p1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9" name="Google Shape;899;p1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00" name="Google Shape;900;p18"/>
          <p:cNvGrpSpPr/>
          <p:nvPr/>
        </p:nvGrpSpPr>
        <p:grpSpPr>
          <a:xfrm flipH="1">
            <a:off x="4972779" y="4657550"/>
            <a:ext cx="293111" cy="293388"/>
            <a:chOff x="3164039" y="430875"/>
            <a:chExt cx="293111" cy="293388"/>
          </a:xfrm>
        </p:grpSpPr>
        <p:sp>
          <p:nvSpPr>
            <p:cNvPr id="901" name="Google Shape;901;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2" name="Google Shape;902;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3" name="Google Shape;903;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4" name="Google Shape;904;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5" name="Google Shape;905;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6" name="Google Shape;906;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07" name="Google Shape;907;p18"/>
          <p:cNvGrpSpPr/>
          <p:nvPr/>
        </p:nvGrpSpPr>
        <p:grpSpPr>
          <a:xfrm>
            <a:off x="8721804" y="4142425"/>
            <a:ext cx="175013" cy="27000"/>
            <a:chOff x="5662375" y="212375"/>
            <a:chExt cx="175013" cy="27000"/>
          </a:xfrm>
        </p:grpSpPr>
        <p:sp>
          <p:nvSpPr>
            <p:cNvPr id="908" name="Google Shape;908;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9" name="Google Shape;909;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0" name="Google Shape;910;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CUSTOM_9">
    <p:spTree>
      <p:nvGrpSpPr>
        <p:cNvPr id="911" name="Shape 911"/>
        <p:cNvGrpSpPr/>
        <p:nvPr/>
      </p:nvGrpSpPr>
      <p:grpSpPr>
        <a:xfrm>
          <a:off x="0" y="0"/>
          <a:ext cx="0" cy="0"/>
          <a:chOff x="0" y="0"/>
          <a:chExt cx="0" cy="0"/>
        </a:xfrm>
      </p:grpSpPr>
      <p:sp>
        <p:nvSpPr>
          <p:cNvPr id="912" name="Google Shape;912;p19"/>
          <p:cNvSpPr txBox="1"/>
          <p:nvPr>
            <p:ph type="title"/>
          </p:nvPr>
        </p:nvSpPr>
        <p:spPr>
          <a:xfrm>
            <a:off x="2105425" y="384048"/>
            <a:ext cx="4937700" cy="10791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sz="4800"/>
            </a:lvl1pPr>
            <a:lvl2pPr lvl="1">
              <a:spcBef>
                <a:spcPts val="0"/>
              </a:spcBef>
              <a:spcAft>
                <a:spcPts val="0"/>
              </a:spcAft>
              <a:buNone/>
              <a:defRPr sz="4800"/>
            </a:lvl2pPr>
            <a:lvl3pPr lvl="2">
              <a:spcBef>
                <a:spcPts val="0"/>
              </a:spcBef>
              <a:spcAft>
                <a:spcPts val="0"/>
              </a:spcAft>
              <a:buNone/>
              <a:defRPr sz="4800"/>
            </a:lvl3pPr>
            <a:lvl4pPr lvl="3">
              <a:spcBef>
                <a:spcPts val="0"/>
              </a:spcBef>
              <a:spcAft>
                <a:spcPts val="0"/>
              </a:spcAft>
              <a:buNone/>
              <a:defRPr sz="4800"/>
            </a:lvl4pPr>
            <a:lvl5pPr lvl="4">
              <a:spcBef>
                <a:spcPts val="0"/>
              </a:spcBef>
              <a:spcAft>
                <a:spcPts val="0"/>
              </a:spcAft>
              <a:buNone/>
              <a:defRPr sz="4800"/>
            </a:lvl5pPr>
            <a:lvl6pPr lvl="5">
              <a:spcBef>
                <a:spcPts val="0"/>
              </a:spcBef>
              <a:spcAft>
                <a:spcPts val="0"/>
              </a:spcAft>
              <a:buNone/>
              <a:defRPr sz="4800"/>
            </a:lvl6pPr>
            <a:lvl7pPr lvl="6">
              <a:spcBef>
                <a:spcPts val="0"/>
              </a:spcBef>
              <a:spcAft>
                <a:spcPts val="0"/>
              </a:spcAft>
              <a:buNone/>
              <a:defRPr sz="4800"/>
            </a:lvl7pPr>
            <a:lvl8pPr lvl="7">
              <a:spcBef>
                <a:spcPts val="0"/>
              </a:spcBef>
              <a:spcAft>
                <a:spcPts val="0"/>
              </a:spcAft>
              <a:buNone/>
              <a:defRPr sz="4800"/>
            </a:lvl8pPr>
            <a:lvl9pPr lvl="8">
              <a:spcBef>
                <a:spcPts val="0"/>
              </a:spcBef>
              <a:spcAft>
                <a:spcPts val="0"/>
              </a:spcAft>
              <a:buNone/>
              <a:defRPr sz="4800"/>
            </a:lvl9pPr>
          </a:lstStyle>
          <a:p/>
        </p:txBody>
      </p:sp>
      <p:sp>
        <p:nvSpPr>
          <p:cNvPr id="913" name="Google Shape;913;p19"/>
          <p:cNvSpPr txBox="1"/>
          <p:nvPr>
            <p:ph type="subTitle" idx="1"/>
          </p:nvPr>
        </p:nvSpPr>
        <p:spPr>
          <a:xfrm>
            <a:off x="3017520" y="1709928"/>
            <a:ext cx="3099900" cy="1435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914" name="Google Shape;914;p19"/>
          <p:cNvSpPr txBox="1"/>
          <p:nvPr/>
        </p:nvSpPr>
        <p:spPr>
          <a:xfrm>
            <a:off x="2489375" y="3664200"/>
            <a:ext cx="4161600" cy="762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GB" sz="11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rPr>
              <a:t>CREDITS:</a:t>
            </a:r>
            <a:r>
              <a:rPr lang="en-GB" sz="11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rPr>
              <a:t> This presentation template was created by </a:t>
            </a:r>
            <a:r>
              <a:rPr lang="en-GB" sz="1100">
                <a:solidFill>
                  <a:schemeClr val="accent1"/>
                </a:solidFill>
                <a:uFill>
                  <a:noFill/>
                </a:u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hlinkClick r:id="rId2"/>
              </a:rPr>
              <a:t>Slidesgo</a:t>
            </a:r>
            <a:r>
              <a:rPr lang="en-GB" sz="11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rPr>
              <a:t>, including icons by </a:t>
            </a:r>
            <a:r>
              <a:rPr lang="en-GB" sz="1100">
                <a:solidFill>
                  <a:schemeClr val="accent1"/>
                </a:solidFill>
                <a:uFill>
                  <a:noFill/>
                </a:u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hlinkClick r:id="rId3"/>
              </a:rPr>
              <a:t>Flaticon</a:t>
            </a:r>
            <a:r>
              <a:rPr lang="en-GB" sz="11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rPr>
              <a:t>, infographics &amp; images by </a:t>
            </a:r>
            <a:r>
              <a:rPr lang="en-GB" sz="1100">
                <a:solidFill>
                  <a:schemeClr val="accent1"/>
                </a:solidFill>
                <a:uFill>
                  <a:noFill/>
                </a:u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hlinkClick r:id="rId4"/>
              </a:rPr>
              <a:t>Freepik</a:t>
            </a:r>
            <a:r>
              <a:rPr lang="en-GB" sz="11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rPr>
              <a:t> and illustrations by </a:t>
            </a:r>
            <a:r>
              <a:rPr lang="en-GB" sz="1100">
                <a:solidFill>
                  <a:schemeClr val="accent1"/>
                </a:solidFill>
                <a:uFill>
                  <a:noFill/>
                </a:u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hlinkClick r:id="rId5"/>
              </a:rPr>
              <a:t>Stories</a:t>
            </a:r>
            <a:endParaRPr>
              <a:solidFill>
                <a:schemeClr val="dk2"/>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endParaRPr>
          </a:p>
          <a:p>
            <a:pPr marL="0" lvl="0" indent="0" algn="ctr" rtl="0">
              <a:spcBef>
                <a:spcPts val="0"/>
              </a:spcBef>
              <a:spcAft>
                <a:spcPts val="0"/>
              </a:spcAft>
              <a:buNone/>
            </a:pPr>
            <a:endPara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endParaRPr>
          </a:p>
        </p:txBody>
      </p:sp>
      <p:cxnSp>
        <p:nvCxnSpPr>
          <p:cNvPr id="915" name="Google Shape;915;p19"/>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19"/>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17" name="Google Shape;917;p19"/>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18" name="Google Shape;918;p19"/>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19" name="Google Shape;919;p19"/>
          <p:cNvGrpSpPr/>
          <p:nvPr/>
        </p:nvGrpSpPr>
        <p:grpSpPr>
          <a:xfrm rot="5400000" flipH="1">
            <a:off x="7407333" y="1284925"/>
            <a:ext cx="581800" cy="582350"/>
            <a:chOff x="8064275" y="887850"/>
            <a:chExt cx="581800" cy="582350"/>
          </a:xfrm>
        </p:grpSpPr>
        <p:sp>
          <p:nvSpPr>
            <p:cNvPr id="920" name="Google Shape;920;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1" name="Google Shape;921;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2" name="Google Shape;922;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3" name="Google Shape;923;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4" name="Google Shape;924;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5" name="Google Shape;925;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26" name="Google Shape;926;p19"/>
          <p:cNvGrpSpPr/>
          <p:nvPr/>
        </p:nvGrpSpPr>
        <p:grpSpPr>
          <a:xfrm rot="5400000" flipH="1">
            <a:off x="7869720" y="2754200"/>
            <a:ext cx="292025" cy="292575"/>
            <a:chOff x="7353050" y="316275"/>
            <a:chExt cx="292025" cy="292575"/>
          </a:xfrm>
        </p:grpSpPr>
        <p:sp>
          <p:nvSpPr>
            <p:cNvPr id="927" name="Google Shape;927;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8" name="Google Shape;928;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9" name="Google Shape;929;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0" name="Google Shape;930;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1" name="Google Shape;931;p19"/>
          <p:cNvGrpSpPr/>
          <p:nvPr/>
        </p:nvGrpSpPr>
        <p:grpSpPr>
          <a:xfrm rot="5400000" flipH="1">
            <a:off x="8012458" y="178175"/>
            <a:ext cx="175000" cy="175000"/>
            <a:chOff x="8792300" y="321275"/>
            <a:chExt cx="175000" cy="175000"/>
          </a:xfrm>
        </p:grpSpPr>
        <p:sp>
          <p:nvSpPr>
            <p:cNvPr id="932" name="Google Shape;932;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3" name="Google Shape;933;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4" name="Google Shape;934;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5" name="Google Shape;935;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6" name="Google Shape;936;p19"/>
          <p:cNvGrpSpPr/>
          <p:nvPr/>
        </p:nvGrpSpPr>
        <p:grpSpPr>
          <a:xfrm rot="5400000">
            <a:off x="7551683" y="3879926"/>
            <a:ext cx="293111" cy="293388"/>
            <a:chOff x="3164039" y="430875"/>
            <a:chExt cx="293111" cy="293388"/>
          </a:xfrm>
        </p:grpSpPr>
        <p:sp>
          <p:nvSpPr>
            <p:cNvPr id="937" name="Google Shape;937;p19"/>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8" name="Google Shape;938;p19"/>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9" name="Google Shape;939;p19"/>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0" name="Google Shape;940;p19"/>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1" name="Google Shape;941;p19"/>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2" name="Google Shape;942;p19"/>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43" name="Google Shape;943;p19"/>
          <p:cNvGrpSpPr/>
          <p:nvPr/>
        </p:nvGrpSpPr>
        <p:grpSpPr>
          <a:xfrm rot="5400000" flipH="1">
            <a:off x="8259052" y="323144"/>
            <a:ext cx="175013" cy="27000"/>
            <a:chOff x="5662375" y="212375"/>
            <a:chExt cx="175013" cy="27000"/>
          </a:xfrm>
        </p:grpSpPr>
        <p:sp>
          <p:nvSpPr>
            <p:cNvPr id="944" name="Google Shape;94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5" name="Google Shape;94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6" name="Google Shape;94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947" name="Google Shape;947;p19"/>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948" name="Google Shape;948;p19"/>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19"/>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950" name="Google Shape;950;p19"/>
          <p:cNvGrpSpPr/>
          <p:nvPr/>
        </p:nvGrpSpPr>
        <p:grpSpPr>
          <a:xfrm rot="5400000">
            <a:off x="621475" y="4062025"/>
            <a:ext cx="581800" cy="582350"/>
            <a:chOff x="8064275" y="887850"/>
            <a:chExt cx="581800" cy="582350"/>
          </a:xfrm>
        </p:grpSpPr>
        <p:sp>
          <p:nvSpPr>
            <p:cNvPr id="951" name="Google Shape;951;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2" name="Google Shape;952;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3" name="Google Shape;953;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4" name="Google Shape;954;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5" name="Google Shape;955;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6" name="Google Shape;956;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57" name="Google Shape;957;p19"/>
          <p:cNvGrpSpPr/>
          <p:nvPr/>
        </p:nvGrpSpPr>
        <p:grpSpPr>
          <a:xfrm rot="5400000">
            <a:off x="1482825" y="3350800"/>
            <a:ext cx="292025" cy="292575"/>
            <a:chOff x="7353050" y="316275"/>
            <a:chExt cx="292025" cy="292575"/>
          </a:xfrm>
        </p:grpSpPr>
        <p:sp>
          <p:nvSpPr>
            <p:cNvPr id="958" name="Google Shape;958;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9" name="Google Shape;959;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0" name="Google Shape;960;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1" name="Google Shape;961;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62" name="Google Shape;962;p19"/>
          <p:cNvGrpSpPr/>
          <p:nvPr/>
        </p:nvGrpSpPr>
        <p:grpSpPr>
          <a:xfrm rot="5400000">
            <a:off x="1595125" y="4790325"/>
            <a:ext cx="175000" cy="175000"/>
            <a:chOff x="8792300" y="321275"/>
            <a:chExt cx="175000" cy="175000"/>
          </a:xfrm>
        </p:grpSpPr>
        <p:sp>
          <p:nvSpPr>
            <p:cNvPr id="963" name="Google Shape;963;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4" name="Google Shape;964;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5" name="Google Shape;965;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6" name="Google Shape;966;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967" name="Google Shape;967;p19"/>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8" name="Google Shape;968;p19"/>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9" name="Google Shape;969;p19"/>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0" name="Google Shape;970;p19"/>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1" name="Google Shape;971;p19"/>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2" name="Google Shape;972;p19"/>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73" name="Google Shape;973;p19"/>
          <p:cNvGrpSpPr/>
          <p:nvPr/>
        </p:nvGrpSpPr>
        <p:grpSpPr>
          <a:xfrm rot="5400000">
            <a:off x="1701119" y="1515381"/>
            <a:ext cx="175013" cy="27000"/>
            <a:chOff x="5662375" y="212375"/>
            <a:chExt cx="175013" cy="27000"/>
          </a:xfrm>
        </p:grpSpPr>
        <p:sp>
          <p:nvSpPr>
            <p:cNvPr id="974" name="Google Shape;97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5" name="Google Shape;97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6" name="Google Shape;97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77" name="Google Shape;977;p19"/>
          <p:cNvGrpSpPr/>
          <p:nvPr/>
        </p:nvGrpSpPr>
        <p:grpSpPr>
          <a:xfrm rot="5400000">
            <a:off x="1819519" y="4562081"/>
            <a:ext cx="175013" cy="27000"/>
            <a:chOff x="5662375" y="212375"/>
            <a:chExt cx="175013" cy="27000"/>
          </a:xfrm>
        </p:grpSpPr>
        <p:sp>
          <p:nvSpPr>
            <p:cNvPr id="978" name="Google Shape;978;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9" name="Google Shape;979;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0" name="Google Shape;980;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1" name="Google Shape;981;p19"/>
          <p:cNvGrpSpPr/>
          <p:nvPr/>
        </p:nvGrpSpPr>
        <p:grpSpPr>
          <a:xfrm rot="5400000">
            <a:off x="408594" y="4140781"/>
            <a:ext cx="175013" cy="27000"/>
            <a:chOff x="5662375" y="212375"/>
            <a:chExt cx="175013" cy="27000"/>
          </a:xfrm>
        </p:grpSpPr>
        <p:sp>
          <p:nvSpPr>
            <p:cNvPr id="982" name="Google Shape;982;p1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3" name="Google Shape;983;p1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4" name="Google Shape;984;p1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Highlighted numbers">
  <p:cSld name="CUSTOM_11">
    <p:spTree>
      <p:nvGrpSpPr>
        <p:cNvPr id="985" name="Shape 985"/>
        <p:cNvGrpSpPr/>
        <p:nvPr/>
      </p:nvGrpSpPr>
      <p:grpSpPr>
        <a:xfrm>
          <a:off x="0" y="0"/>
          <a:ext cx="0" cy="0"/>
          <a:chOff x="0" y="0"/>
          <a:chExt cx="0" cy="0"/>
        </a:xfrm>
      </p:grpSpPr>
      <p:sp>
        <p:nvSpPr>
          <p:cNvPr id="986" name="Google Shape;986;p20"/>
          <p:cNvSpPr txBox="1"/>
          <p:nvPr>
            <p:ph type="title" hasCustomPrompt="1"/>
          </p:nvPr>
        </p:nvSpPr>
        <p:spPr>
          <a:xfrm>
            <a:off x="2825496" y="704088"/>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7" name="Google Shape;987;p20"/>
          <p:cNvSpPr txBox="1"/>
          <p:nvPr>
            <p:ph type="subTitle" idx="1"/>
          </p:nvPr>
        </p:nvSpPr>
        <p:spPr>
          <a:xfrm>
            <a:off x="2825496" y="1225296"/>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988" name="Google Shape;988;p20"/>
          <p:cNvSpPr txBox="1"/>
          <p:nvPr>
            <p:ph type="title" idx="2" hasCustomPrompt="1"/>
          </p:nvPr>
        </p:nvSpPr>
        <p:spPr>
          <a:xfrm>
            <a:off x="2825496" y="218541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9" name="Google Shape;989;p20"/>
          <p:cNvSpPr txBox="1"/>
          <p:nvPr>
            <p:ph type="subTitle" idx="3"/>
          </p:nvPr>
        </p:nvSpPr>
        <p:spPr>
          <a:xfrm>
            <a:off x="2825496" y="2697480"/>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990" name="Google Shape;990;p20"/>
          <p:cNvSpPr txBox="1"/>
          <p:nvPr>
            <p:ph type="title" idx="4" hasCustomPrompt="1"/>
          </p:nvPr>
        </p:nvSpPr>
        <p:spPr>
          <a:xfrm>
            <a:off x="2825496" y="364845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91" name="Google Shape;991;p20"/>
          <p:cNvSpPr txBox="1"/>
          <p:nvPr>
            <p:ph type="subTitle" idx="5"/>
          </p:nvPr>
        </p:nvSpPr>
        <p:spPr>
          <a:xfrm>
            <a:off x="2834640" y="4169664"/>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992" name="Google Shape;992;p20"/>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93" name="Google Shape;993;p20"/>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94" name="Google Shape;994;p20"/>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95" name="Google Shape;995;p20"/>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96" name="Google Shape;996;p20"/>
          <p:cNvGrpSpPr/>
          <p:nvPr/>
        </p:nvGrpSpPr>
        <p:grpSpPr>
          <a:xfrm rot="5400000" flipH="1">
            <a:off x="7407333" y="1284925"/>
            <a:ext cx="581800" cy="582350"/>
            <a:chOff x="8064275" y="887850"/>
            <a:chExt cx="581800" cy="582350"/>
          </a:xfrm>
        </p:grpSpPr>
        <p:sp>
          <p:nvSpPr>
            <p:cNvPr id="997" name="Google Shape;997;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8" name="Google Shape;998;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9" name="Google Shape;999;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0" name="Google Shape;1000;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1" name="Google Shape;1001;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2" name="Google Shape;1002;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03" name="Google Shape;1003;p20"/>
          <p:cNvGrpSpPr/>
          <p:nvPr/>
        </p:nvGrpSpPr>
        <p:grpSpPr>
          <a:xfrm rot="5400000" flipH="1">
            <a:off x="7869720" y="2754200"/>
            <a:ext cx="292025" cy="292575"/>
            <a:chOff x="7353050" y="316275"/>
            <a:chExt cx="292025" cy="292575"/>
          </a:xfrm>
        </p:grpSpPr>
        <p:sp>
          <p:nvSpPr>
            <p:cNvPr id="1004" name="Google Shape;1004;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5" name="Google Shape;1005;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6" name="Google Shape;1006;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7" name="Google Shape;1007;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08" name="Google Shape;1008;p20"/>
          <p:cNvGrpSpPr/>
          <p:nvPr/>
        </p:nvGrpSpPr>
        <p:grpSpPr>
          <a:xfrm rot="5400000" flipH="1">
            <a:off x="8012458" y="178175"/>
            <a:ext cx="175000" cy="175000"/>
            <a:chOff x="8792300" y="321275"/>
            <a:chExt cx="175000" cy="175000"/>
          </a:xfrm>
        </p:grpSpPr>
        <p:sp>
          <p:nvSpPr>
            <p:cNvPr id="1009" name="Google Shape;1009;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0" name="Google Shape;1010;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1" name="Google Shape;1011;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2" name="Google Shape;1012;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13" name="Google Shape;1013;p20"/>
          <p:cNvGrpSpPr/>
          <p:nvPr/>
        </p:nvGrpSpPr>
        <p:grpSpPr>
          <a:xfrm rot="5400000">
            <a:off x="7551683" y="3879926"/>
            <a:ext cx="293111" cy="293388"/>
            <a:chOff x="3164039" y="430875"/>
            <a:chExt cx="293111" cy="293388"/>
          </a:xfrm>
        </p:grpSpPr>
        <p:sp>
          <p:nvSpPr>
            <p:cNvPr id="1014" name="Google Shape;1014;p2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5" name="Google Shape;1015;p2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6" name="Google Shape;1016;p2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7" name="Google Shape;1017;p2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8" name="Google Shape;1018;p2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9" name="Google Shape;1019;p2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20" name="Google Shape;1020;p20"/>
          <p:cNvGrpSpPr/>
          <p:nvPr/>
        </p:nvGrpSpPr>
        <p:grpSpPr>
          <a:xfrm rot="5400000" flipH="1">
            <a:off x="8259052" y="323144"/>
            <a:ext cx="175013" cy="27000"/>
            <a:chOff x="5662375" y="212375"/>
            <a:chExt cx="175013" cy="27000"/>
          </a:xfrm>
        </p:grpSpPr>
        <p:sp>
          <p:nvSpPr>
            <p:cNvPr id="1021" name="Google Shape;102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2" name="Google Shape;102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3" name="Google Shape;102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024" name="Google Shape;1024;p20"/>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025" name="Google Shape;1025;p20"/>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026" name="Google Shape;1026;p20"/>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027" name="Google Shape;1027;p20"/>
          <p:cNvGrpSpPr/>
          <p:nvPr/>
        </p:nvGrpSpPr>
        <p:grpSpPr>
          <a:xfrm rot="5400000">
            <a:off x="621475" y="4062025"/>
            <a:ext cx="581800" cy="582350"/>
            <a:chOff x="8064275" y="887850"/>
            <a:chExt cx="581800" cy="582350"/>
          </a:xfrm>
        </p:grpSpPr>
        <p:sp>
          <p:nvSpPr>
            <p:cNvPr id="1028" name="Google Shape;1028;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9" name="Google Shape;1029;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0" name="Google Shape;1030;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1" name="Google Shape;1031;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2" name="Google Shape;1032;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3" name="Google Shape;1033;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4" name="Google Shape;1034;p20"/>
          <p:cNvGrpSpPr/>
          <p:nvPr/>
        </p:nvGrpSpPr>
        <p:grpSpPr>
          <a:xfrm rot="5400000">
            <a:off x="1482825" y="3350800"/>
            <a:ext cx="292025" cy="292575"/>
            <a:chOff x="7353050" y="316275"/>
            <a:chExt cx="292025" cy="292575"/>
          </a:xfrm>
        </p:grpSpPr>
        <p:sp>
          <p:nvSpPr>
            <p:cNvPr id="1035" name="Google Shape;1035;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6" name="Google Shape;1036;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7" name="Google Shape;1037;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8" name="Google Shape;1038;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9" name="Google Shape;1039;p20"/>
          <p:cNvGrpSpPr/>
          <p:nvPr/>
        </p:nvGrpSpPr>
        <p:grpSpPr>
          <a:xfrm rot="5400000">
            <a:off x="1595125" y="4790325"/>
            <a:ext cx="175000" cy="175000"/>
            <a:chOff x="8792300" y="321275"/>
            <a:chExt cx="175000" cy="175000"/>
          </a:xfrm>
        </p:grpSpPr>
        <p:sp>
          <p:nvSpPr>
            <p:cNvPr id="1040" name="Google Shape;1040;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1" name="Google Shape;1041;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2" name="Google Shape;1042;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3" name="Google Shape;1043;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044" name="Google Shape;1044;p20"/>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5" name="Google Shape;1045;p20"/>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6" name="Google Shape;1046;p20"/>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7" name="Google Shape;1047;p20"/>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8" name="Google Shape;1048;p20"/>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9" name="Google Shape;1049;p20"/>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50" name="Google Shape;1050;p20"/>
          <p:cNvGrpSpPr/>
          <p:nvPr/>
        </p:nvGrpSpPr>
        <p:grpSpPr>
          <a:xfrm rot="5400000">
            <a:off x="1701119" y="1515381"/>
            <a:ext cx="175013" cy="27000"/>
            <a:chOff x="5662375" y="212375"/>
            <a:chExt cx="175013" cy="27000"/>
          </a:xfrm>
        </p:grpSpPr>
        <p:sp>
          <p:nvSpPr>
            <p:cNvPr id="1051" name="Google Shape;105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2" name="Google Shape;105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3" name="Google Shape;105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54" name="Google Shape;1054;p20"/>
          <p:cNvGrpSpPr/>
          <p:nvPr/>
        </p:nvGrpSpPr>
        <p:grpSpPr>
          <a:xfrm rot="5400000">
            <a:off x="1819519" y="4562081"/>
            <a:ext cx="175013" cy="27000"/>
            <a:chOff x="5662375" y="212375"/>
            <a:chExt cx="175013" cy="27000"/>
          </a:xfrm>
        </p:grpSpPr>
        <p:sp>
          <p:nvSpPr>
            <p:cNvPr id="1055" name="Google Shape;1055;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6" name="Google Shape;1056;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7" name="Google Shape;1057;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58" name="Google Shape;1058;p20"/>
          <p:cNvGrpSpPr/>
          <p:nvPr/>
        </p:nvGrpSpPr>
        <p:grpSpPr>
          <a:xfrm rot="5400000">
            <a:off x="408594" y="4140781"/>
            <a:ext cx="175013" cy="27000"/>
            <a:chOff x="5662375" y="212375"/>
            <a:chExt cx="175013" cy="27000"/>
          </a:xfrm>
        </p:grpSpPr>
        <p:sp>
          <p:nvSpPr>
            <p:cNvPr id="1059" name="Google Shape;1059;p2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0" name="Google Shape;1060;p2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1" name="Google Shape;1061;p2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columns of text 3">
  <p:cSld name="CUSTOM_13">
    <p:spTree>
      <p:nvGrpSpPr>
        <p:cNvPr id="1062" name="Shape 1062"/>
        <p:cNvGrpSpPr/>
        <p:nvPr/>
      </p:nvGrpSpPr>
      <p:grpSpPr>
        <a:xfrm>
          <a:off x="0" y="0"/>
          <a:ext cx="0" cy="0"/>
          <a:chOff x="0" y="0"/>
          <a:chExt cx="0" cy="0"/>
        </a:xfrm>
      </p:grpSpPr>
      <p:sp>
        <p:nvSpPr>
          <p:cNvPr id="1063" name="Google Shape;1063;p21"/>
          <p:cNvSpPr txBox="1"/>
          <p:nvPr>
            <p:ph type="title"/>
          </p:nvPr>
        </p:nvSpPr>
        <p:spPr>
          <a:xfrm>
            <a:off x="2962656" y="338328"/>
            <a:ext cx="32187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p:txBody>
      </p:sp>
      <p:grpSp>
        <p:nvGrpSpPr>
          <p:cNvPr id="1064" name="Google Shape;1064;p21"/>
          <p:cNvGrpSpPr/>
          <p:nvPr/>
        </p:nvGrpSpPr>
        <p:grpSpPr>
          <a:xfrm>
            <a:off x="261711" y="-1158"/>
            <a:ext cx="8550326" cy="3981600"/>
            <a:chOff x="261711" y="-1158"/>
            <a:chExt cx="8550326" cy="3981600"/>
          </a:xfrm>
        </p:grpSpPr>
        <p:cxnSp>
          <p:nvCxnSpPr>
            <p:cNvPr id="1065" name="Google Shape;1065;p21"/>
            <p:cNvCxnSpPr/>
            <p:nvPr/>
          </p:nvCxnSpPr>
          <p:spPr>
            <a:xfrm>
              <a:off x="515925" y="-1158"/>
              <a:ext cx="0" cy="3981600"/>
            </a:xfrm>
            <a:prstGeom prst="straightConnector1">
              <a:avLst/>
            </a:prstGeom>
            <a:noFill/>
            <a:ln w="9525" cap="flat" cmpd="sng">
              <a:solidFill>
                <a:schemeClr val="dk2"/>
              </a:solidFill>
              <a:prstDash val="solid"/>
              <a:round/>
              <a:headEnd type="none" w="med" len="med"/>
              <a:tailEnd type="none" w="med" len="med"/>
            </a:ln>
          </p:spPr>
        </p:cxnSp>
        <p:cxnSp>
          <p:nvCxnSpPr>
            <p:cNvPr id="1066" name="Google Shape;1066;p21"/>
            <p:cNvCxnSpPr/>
            <p:nvPr/>
          </p:nvCxnSpPr>
          <p:spPr>
            <a:xfrm>
              <a:off x="8666025" y="-1158"/>
              <a:ext cx="0" cy="1902000"/>
            </a:xfrm>
            <a:prstGeom prst="straightConnector1">
              <a:avLst/>
            </a:prstGeom>
            <a:noFill/>
            <a:ln w="9525" cap="flat" cmpd="sng">
              <a:solidFill>
                <a:schemeClr val="dk2"/>
              </a:solidFill>
              <a:prstDash val="solid"/>
              <a:round/>
              <a:headEnd type="none" w="med" len="med"/>
              <a:tailEnd type="none" w="med" len="med"/>
            </a:ln>
          </p:spPr>
        </p:cxnSp>
        <p:grpSp>
          <p:nvGrpSpPr>
            <p:cNvPr id="1067" name="Google Shape;1067;p21"/>
            <p:cNvGrpSpPr/>
            <p:nvPr/>
          </p:nvGrpSpPr>
          <p:grpSpPr>
            <a:xfrm rot="10800000">
              <a:off x="343275" y="3300779"/>
              <a:ext cx="344736" cy="345385"/>
              <a:chOff x="7353050" y="316275"/>
              <a:chExt cx="292025" cy="292575"/>
            </a:xfrm>
          </p:grpSpPr>
          <p:sp>
            <p:nvSpPr>
              <p:cNvPr id="1068" name="Google Shape;1068;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9" name="Google Shape;1069;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0" name="Google Shape;1070;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1" name="Google Shape;1071;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72" name="Google Shape;1072;p21"/>
            <p:cNvGrpSpPr/>
            <p:nvPr/>
          </p:nvGrpSpPr>
          <p:grpSpPr>
            <a:xfrm rot="10800000">
              <a:off x="8520013" y="714742"/>
              <a:ext cx="292025" cy="292575"/>
              <a:chOff x="7353050" y="316275"/>
              <a:chExt cx="292025" cy="292575"/>
            </a:xfrm>
          </p:grpSpPr>
          <p:sp>
            <p:nvSpPr>
              <p:cNvPr id="1073" name="Google Shape;1073;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4" name="Google Shape;1074;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5" name="Google Shape;1075;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6" name="Google Shape;1076;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77" name="Google Shape;1077;p21"/>
            <p:cNvGrpSpPr/>
            <p:nvPr/>
          </p:nvGrpSpPr>
          <p:grpSpPr>
            <a:xfrm rot="10800000">
              <a:off x="261711" y="465077"/>
              <a:ext cx="507562" cy="507984"/>
              <a:chOff x="8064275" y="887850"/>
              <a:chExt cx="581800" cy="582350"/>
            </a:xfrm>
          </p:grpSpPr>
          <p:sp>
            <p:nvSpPr>
              <p:cNvPr id="1078" name="Google Shape;1078;p2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9" name="Google Shape;1079;p2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0" name="Google Shape;1080;p2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1" name="Google Shape;1081;p2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2" name="Google Shape;1082;p2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3" name="Google Shape;1083;p2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84" name="Google Shape;1084;p21"/>
          <p:cNvSpPr txBox="1"/>
          <p:nvPr>
            <p:ph type="subTitle" idx="1"/>
          </p:nvPr>
        </p:nvSpPr>
        <p:spPr>
          <a:xfrm>
            <a:off x="1408175" y="1035279"/>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085" name="Google Shape;1085;p21"/>
          <p:cNvSpPr txBox="1"/>
          <p:nvPr>
            <p:ph type="subTitle" idx="2"/>
          </p:nvPr>
        </p:nvSpPr>
        <p:spPr>
          <a:xfrm>
            <a:off x="1408175" y="1336956"/>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086" name="Google Shape;1086;p21"/>
          <p:cNvSpPr txBox="1"/>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087" name="Google Shape;1087;p21"/>
          <p:cNvSpPr txBox="1"/>
          <p:nvPr>
            <p:ph type="subTitle" idx="4"/>
          </p:nvPr>
        </p:nvSpPr>
        <p:spPr>
          <a:xfrm>
            <a:off x="1408175" y="2609979"/>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088" name="Google Shape;1088;p21"/>
          <p:cNvSpPr txBox="1"/>
          <p:nvPr>
            <p:ph type="subTitle" idx="5"/>
          </p:nvPr>
        </p:nvSpPr>
        <p:spPr>
          <a:xfrm>
            <a:off x="1408175" y="3587645"/>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089" name="Google Shape;1089;p21"/>
          <p:cNvSpPr txBox="1"/>
          <p:nvPr>
            <p:ph type="subTitle" idx="6"/>
          </p:nvPr>
        </p:nvSpPr>
        <p:spPr>
          <a:xfrm>
            <a:off x="1408175" y="3889317"/>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ree columns of text 4">
  <p:cSld name="CUSTOM_14">
    <p:spTree>
      <p:nvGrpSpPr>
        <p:cNvPr id="1090" name="Shape 1090"/>
        <p:cNvGrpSpPr/>
        <p:nvPr/>
      </p:nvGrpSpPr>
      <p:grpSpPr>
        <a:xfrm>
          <a:off x="0" y="0"/>
          <a:ext cx="0" cy="0"/>
          <a:chOff x="0" y="0"/>
          <a:chExt cx="0" cy="0"/>
        </a:xfrm>
      </p:grpSpPr>
      <p:cxnSp>
        <p:nvCxnSpPr>
          <p:cNvPr id="1091" name="Google Shape;1091;p22"/>
          <p:cNvCxnSpPr/>
          <p:nvPr/>
        </p:nvCxnSpPr>
        <p:spPr>
          <a:xfrm>
            <a:off x="590450" y="4340600"/>
            <a:ext cx="670200" cy="423000"/>
          </a:xfrm>
          <a:prstGeom prst="straightConnector1">
            <a:avLst/>
          </a:prstGeom>
          <a:noFill/>
          <a:ln w="9525" cap="flat" cmpd="sng">
            <a:solidFill>
              <a:schemeClr val="dk2"/>
            </a:solidFill>
            <a:prstDash val="solid"/>
            <a:round/>
            <a:headEnd type="none" w="med" len="med"/>
            <a:tailEnd type="none" w="med" len="med"/>
          </a:ln>
        </p:spPr>
      </p:cxnSp>
      <p:sp>
        <p:nvSpPr>
          <p:cNvPr id="1092" name="Google Shape;1092;p22"/>
          <p:cNvSpPr txBox="1"/>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cxnSp>
        <p:nvCxnSpPr>
          <p:cNvPr id="1093" name="Google Shape;1093;p22"/>
          <p:cNvCxnSpPr/>
          <p:nvPr/>
        </p:nvCxnSpPr>
        <p:spPr>
          <a:xfrm rot="10800000" flipH="1">
            <a:off x="0" y="4332550"/>
            <a:ext cx="590700" cy="663900"/>
          </a:xfrm>
          <a:prstGeom prst="straightConnector1">
            <a:avLst/>
          </a:prstGeom>
          <a:noFill/>
          <a:ln w="9525" cap="flat" cmpd="sng">
            <a:solidFill>
              <a:schemeClr val="dk2"/>
            </a:solidFill>
            <a:prstDash val="solid"/>
            <a:round/>
            <a:headEnd type="none" w="med" len="med"/>
            <a:tailEnd type="none" w="med" len="med"/>
          </a:ln>
        </p:spPr>
      </p:cxnSp>
      <p:grpSp>
        <p:nvGrpSpPr>
          <p:cNvPr id="1094" name="Google Shape;1094;p22"/>
          <p:cNvGrpSpPr/>
          <p:nvPr/>
        </p:nvGrpSpPr>
        <p:grpSpPr>
          <a:xfrm flipH="1">
            <a:off x="431725" y="4183775"/>
            <a:ext cx="292025" cy="292575"/>
            <a:chOff x="7353050" y="316275"/>
            <a:chExt cx="292025" cy="292575"/>
          </a:xfrm>
        </p:grpSpPr>
        <p:sp>
          <p:nvSpPr>
            <p:cNvPr id="1095" name="Google Shape;1095;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6" name="Google Shape;1096;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7" name="Google Shape;1097;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8" name="Google Shape;1098;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99" name="Google Shape;1099;p22"/>
          <p:cNvGrpSpPr/>
          <p:nvPr/>
        </p:nvGrpSpPr>
        <p:grpSpPr>
          <a:xfrm>
            <a:off x="1075789" y="4604675"/>
            <a:ext cx="293111" cy="293388"/>
            <a:chOff x="3164039" y="430875"/>
            <a:chExt cx="293111" cy="293388"/>
          </a:xfrm>
        </p:grpSpPr>
        <p:sp>
          <p:nvSpPr>
            <p:cNvPr id="1100" name="Google Shape;1100;p22"/>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1" name="Google Shape;1101;p22"/>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2" name="Google Shape;1102;p22"/>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3" name="Google Shape;1103;p22"/>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4" name="Google Shape;1104;p22"/>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5" name="Google Shape;1105;p22"/>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106" name="Google Shape;1106;p22"/>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22"/>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108" name="Google Shape;1108;p22"/>
          <p:cNvGrpSpPr/>
          <p:nvPr/>
        </p:nvGrpSpPr>
        <p:grpSpPr>
          <a:xfrm>
            <a:off x="8064275" y="526925"/>
            <a:ext cx="581800" cy="582350"/>
            <a:chOff x="8064275" y="887850"/>
            <a:chExt cx="581800" cy="582350"/>
          </a:xfrm>
        </p:grpSpPr>
        <p:sp>
          <p:nvSpPr>
            <p:cNvPr id="1109" name="Google Shape;1109;p2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0" name="Google Shape;1110;p2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1" name="Google Shape;1111;p2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2" name="Google Shape;1112;p2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3" name="Google Shape;1113;p2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4" name="Google Shape;1114;p2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15" name="Google Shape;1115;p22"/>
          <p:cNvGrpSpPr/>
          <p:nvPr/>
        </p:nvGrpSpPr>
        <p:grpSpPr>
          <a:xfrm>
            <a:off x="7033875" y="170875"/>
            <a:ext cx="292025" cy="292575"/>
            <a:chOff x="7353050" y="316275"/>
            <a:chExt cx="292025" cy="292575"/>
          </a:xfrm>
        </p:grpSpPr>
        <p:sp>
          <p:nvSpPr>
            <p:cNvPr id="1116" name="Google Shape;1116;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7" name="Google Shape;1117;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8" name="Google Shape;1118;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9" name="Google Shape;1119;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0" name="Google Shape;1120;p22"/>
          <p:cNvGrpSpPr/>
          <p:nvPr/>
        </p:nvGrpSpPr>
        <p:grpSpPr>
          <a:xfrm>
            <a:off x="8757950" y="229650"/>
            <a:ext cx="175000" cy="175000"/>
            <a:chOff x="8792300" y="321275"/>
            <a:chExt cx="175000" cy="175000"/>
          </a:xfrm>
        </p:grpSpPr>
        <p:sp>
          <p:nvSpPr>
            <p:cNvPr id="1121" name="Google Shape;1121;p2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2" name="Google Shape;1122;p2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3" name="Google Shape;1123;p2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4" name="Google Shape;1124;p2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5" name="Google Shape;1125;p22"/>
          <p:cNvGrpSpPr/>
          <p:nvPr/>
        </p:nvGrpSpPr>
        <p:grpSpPr>
          <a:xfrm>
            <a:off x="8490050" y="170875"/>
            <a:ext cx="175013" cy="27000"/>
            <a:chOff x="5662375" y="212375"/>
            <a:chExt cx="175013" cy="27000"/>
          </a:xfrm>
        </p:grpSpPr>
        <p:sp>
          <p:nvSpPr>
            <p:cNvPr id="1126" name="Google Shape;1126;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7" name="Google Shape;1127;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8" name="Google Shape;1128;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9" name="Google Shape;1129;p22"/>
          <p:cNvGrpSpPr/>
          <p:nvPr/>
        </p:nvGrpSpPr>
        <p:grpSpPr>
          <a:xfrm>
            <a:off x="7916350" y="1124600"/>
            <a:ext cx="175013" cy="27000"/>
            <a:chOff x="5662375" y="212375"/>
            <a:chExt cx="175013" cy="27000"/>
          </a:xfrm>
        </p:grpSpPr>
        <p:sp>
          <p:nvSpPr>
            <p:cNvPr id="1130" name="Google Shape;1130;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1" name="Google Shape;1131;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2" name="Google Shape;1132;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133" name="Google Shape;1133;p22"/>
          <p:cNvSpPr txBox="1"/>
          <p:nvPr>
            <p:ph type="subTitle" idx="1"/>
          </p:nvPr>
        </p:nvSpPr>
        <p:spPr>
          <a:xfrm>
            <a:off x="5641848" y="2743200"/>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134" name="Google Shape;1134;p22"/>
          <p:cNvSpPr txBox="1"/>
          <p:nvPr>
            <p:ph type="subTitle" idx="2"/>
          </p:nvPr>
        </p:nvSpPr>
        <p:spPr>
          <a:xfrm>
            <a:off x="3639312" y="1636776"/>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135" name="Google Shape;1135;p22"/>
          <p:cNvSpPr txBox="1"/>
          <p:nvPr>
            <p:ph type="subTitle" idx="3"/>
          </p:nvPr>
        </p:nvSpPr>
        <p:spPr>
          <a:xfrm>
            <a:off x="1636776" y="2249424"/>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136" name="Google Shape;1136;p22"/>
          <p:cNvSpPr txBox="1"/>
          <p:nvPr>
            <p:ph type="subTitle" idx="4"/>
          </p:nvPr>
        </p:nvSpPr>
        <p:spPr>
          <a:xfrm>
            <a:off x="5641848" y="3081528"/>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137" name="Google Shape;1137;p22"/>
          <p:cNvSpPr txBox="1"/>
          <p:nvPr>
            <p:ph type="subTitle" idx="5"/>
          </p:nvPr>
        </p:nvSpPr>
        <p:spPr>
          <a:xfrm>
            <a:off x="3639312" y="1975104"/>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138" name="Google Shape;1138;p22"/>
          <p:cNvSpPr txBox="1"/>
          <p:nvPr>
            <p:ph type="subTitle" idx="6"/>
          </p:nvPr>
        </p:nvSpPr>
        <p:spPr>
          <a:xfrm>
            <a:off x="1636776"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3">
  <p:cSld name="TITLE_AND_BODY_1">
    <p:spTree>
      <p:nvGrpSpPr>
        <p:cNvPr id="1139" name="Shape 1139"/>
        <p:cNvGrpSpPr/>
        <p:nvPr/>
      </p:nvGrpSpPr>
      <p:grpSpPr>
        <a:xfrm>
          <a:off x="0" y="0"/>
          <a:ext cx="0" cy="0"/>
          <a:chOff x="0" y="0"/>
          <a:chExt cx="0" cy="0"/>
        </a:xfrm>
      </p:grpSpPr>
      <p:sp>
        <p:nvSpPr>
          <p:cNvPr id="1140" name="Google Shape;1140;p23"/>
          <p:cNvSpPr txBox="1"/>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1141" name="Google Shape;1141;p23"/>
          <p:cNvSpPr txBox="1"/>
          <p:nvPr>
            <p:ph type="body" idx="1"/>
          </p:nvPr>
        </p:nvSpPr>
        <p:spPr>
          <a:xfrm>
            <a:off x="714650" y="1152150"/>
            <a:ext cx="7705500" cy="3529500"/>
          </a:xfrm>
          <a:prstGeom prst="rect">
            <a:avLst/>
          </a:prstGeom>
          <a:noFill/>
          <a:ln>
            <a:noFill/>
          </a:ln>
        </p:spPr>
        <p:txBody>
          <a:bodyPr spcFirstLastPara="1" wrap="square" lIns="91425" tIns="91425" rIns="91425" bIns="91425" anchor="ctr" anchorCtr="0">
            <a:noAutofit/>
          </a:bodyPr>
          <a:lstStyle>
            <a:lvl1pPr marL="457200" lvl="0" indent="-304800" rtl="0">
              <a:spcBef>
                <a:spcPts val="0"/>
              </a:spcBef>
              <a:spcAft>
                <a:spcPts val="0"/>
              </a:spcAft>
              <a:buClr>
                <a:srgbClr val="434343"/>
              </a:buClr>
              <a:buSzPts val="1200"/>
              <a:buFont typeface="Barlow Semi Condensed Medium" panose="00000606000000000000"/>
              <a:buAutoNum type="arabicPeriod"/>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lvl="1"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lvl="2"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lvl="3" indent="-304800" rtl="0">
              <a:spcBef>
                <a:spcPts val="0"/>
              </a:spcBef>
              <a:spcAft>
                <a:spcPts val="0"/>
              </a:spcAft>
              <a:buClr>
                <a:srgbClr val="434343"/>
              </a:buClr>
              <a:buSzPts val="1200"/>
              <a:buFont typeface="Roboto Condensed Light"/>
              <a:buAutoNum type="arabi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lvl="4"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lvl="5"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lvl="6" indent="-304800" rtl="0">
              <a:spcBef>
                <a:spcPts val="0"/>
              </a:spcBef>
              <a:spcAft>
                <a:spcPts val="0"/>
              </a:spcAft>
              <a:buClr>
                <a:srgbClr val="434343"/>
              </a:buClr>
              <a:buSzPts val="1200"/>
              <a:buFont typeface="Roboto Condensed Light"/>
              <a:buAutoNum type="arabi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lvl="7"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lvl="8"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1142" name="Google Shape;1142;p23"/>
          <p:cNvCxnSpPr/>
          <p:nvPr/>
        </p:nvCxnSpPr>
        <p:spPr>
          <a:xfrm rot="10800000">
            <a:off x="303000" y="3359375"/>
            <a:ext cx="151800" cy="957300"/>
          </a:xfrm>
          <a:prstGeom prst="straightConnector1">
            <a:avLst/>
          </a:prstGeom>
          <a:noFill/>
          <a:ln w="9525" cap="flat" cmpd="sng">
            <a:solidFill>
              <a:schemeClr val="dk1"/>
            </a:solidFill>
            <a:prstDash val="solid"/>
            <a:round/>
            <a:headEnd type="none" w="med" len="med"/>
            <a:tailEnd type="none" w="med" len="med"/>
          </a:ln>
        </p:spPr>
      </p:cxnSp>
      <p:cxnSp>
        <p:nvCxnSpPr>
          <p:cNvPr id="1143" name="Google Shape;1143;p23"/>
          <p:cNvCxnSpPr/>
          <p:nvPr/>
        </p:nvCxnSpPr>
        <p:spPr>
          <a:xfrm rot="10800000" flipH="1">
            <a:off x="0" y="4332550"/>
            <a:ext cx="446700" cy="663900"/>
          </a:xfrm>
          <a:prstGeom prst="straightConnector1">
            <a:avLst/>
          </a:prstGeom>
          <a:noFill/>
          <a:ln w="9525" cap="flat" cmpd="sng">
            <a:solidFill>
              <a:schemeClr val="dk1"/>
            </a:solidFill>
            <a:prstDash val="solid"/>
            <a:round/>
            <a:headEnd type="none" w="med" len="med"/>
            <a:tailEnd type="none" w="med" len="med"/>
          </a:ln>
        </p:spPr>
      </p:cxnSp>
      <p:grpSp>
        <p:nvGrpSpPr>
          <p:cNvPr id="1144" name="Google Shape;1144;p23"/>
          <p:cNvGrpSpPr/>
          <p:nvPr/>
        </p:nvGrpSpPr>
        <p:grpSpPr>
          <a:xfrm flipH="1">
            <a:off x="300738" y="4167800"/>
            <a:ext cx="292025" cy="292575"/>
            <a:chOff x="7353050" y="316275"/>
            <a:chExt cx="292025" cy="292575"/>
          </a:xfrm>
        </p:grpSpPr>
        <p:sp>
          <p:nvSpPr>
            <p:cNvPr id="1145" name="Google Shape;1145;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6" name="Google Shape;1146;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7" name="Google Shape;1147;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8" name="Google Shape;1148;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49" name="Google Shape;1149;p23"/>
          <p:cNvGrpSpPr/>
          <p:nvPr/>
        </p:nvGrpSpPr>
        <p:grpSpPr>
          <a:xfrm>
            <a:off x="148789" y="3224300"/>
            <a:ext cx="293111" cy="293388"/>
            <a:chOff x="3164039" y="430875"/>
            <a:chExt cx="293111" cy="293388"/>
          </a:xfrm>
        </p:grpSpPr>
        <p:sp>
          <p:nvSpPr>
            <p:cNvPr id="1150" name="Google Shape;1150;p23"/>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1" name="Google Shape;1151;p23"/>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2" name="Google Shape;1152;p23"/>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3" name="Google Shape;1153;p23"/>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4" name="Google Shape;1154;p23"/>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5" name="Google Shape;1155;p23"/>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156" name="Google Shape;1156;p23"/>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1157" name="Google Shape;1157;p23"/>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1158" name="Google Shape;1158;p23"/>
          <p:cNvGrpSpPr/>
          <p:nvPr/>
        </p:nvGrpSpPr>
        <p:grpSpPr>
          <a:xfrm>
            <a:off x="8064275" y="526925"/>
            <a:ext cx="581800" cy="582350"/>
            <a:chOff x="8064275" y="887850"/>
            <a:chExt cx="581800" cy="582350"/>
          </a:xfrm>
        </p:grpSpPr>
        <p:sp>
          <p:nvSpPr>
            <p:cNvPr id="1159" name="Google Shape;1159;p2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0" name="Google Shape;1160;p2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1" name="Google Shape;1161;p2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2" name="Google Shape;1162;p2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3" name="Google Shape;1163;p2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4" name="Google Shape;1164;p2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5" name="Google Shape;1165;p23"/>
          <p:cNvGrpSpPr/>
          <p:nvPr/>
        </p:nvGrpSpPr>
        <p:grpSpPr>
          <a:xfrm>
            <a:off x="7033875" y="170875"/>
            <a:ext cx="292025" cy="292575"/>
            <a:chOff x="7353050" y="316275"/>
            <a:chExt cx="292025" cy="292575"/>
          </a:xfrm>
        </p:grpSpPr>
        <p:sp>
          <p:nvSpPr>
            <p:cNvPr id="1166" name="Google Shape;1166;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7" name="Google Shape;1167;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8" name="Google Shape;1168;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9" name="Google Shape;1169;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70" name="Google Shape;1170;p23"/>
          <p:cNvGrpSpPr/>
          <p:nvPr/>
        </p:nvGrpSpPr>
        <p:grpSpPr>
          <a:xfrm>
            <a:off x="8757950" y="229650"/>
            <a:ext cx="175000" cy="175000"/>
            <a:chOff x="8792300" y="321275"/>
            <a:chExt cx="175000" cy="175000"/>
          </a:xfrm>
        </p:grpSpPr>
        <p:sp>
          <p:nvSpPr>
            <p:cNvPr id="1171" name="Google Shape;1171;p2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2" name="Google Shape;1172;p2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3" name="Google Shape;1173;p2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4" name="Google Shape;1174;p2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75" name="Google Shape;1175;p23"/>
          <p:cNvGrpSpPr/>
          <p:nvPr/>
        </p:nvGrpSpPr>
        <p:grpSpPr>
          <a:xfrm>
            <a:off x="8490050" y="170875"/>
            <a:ext cx="175013" cy="27000"/>
            <a:chOff x="5662375" y="212375"/>
            <a:chExt cx="175013" cy="27000"/>
          </a:xfrm>
        </p:grpSpPr>
        <p:sp>
          <p:nvSpPr>
            <p:cNvPr id="1176" name="Google Shape;1176;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7" name="Google Shape;1177;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8" name="Google Shape;1178;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79" name="Google Shape;1179;p23"/>
          <p:cNvGrpSpPr/>
          <p:nvPr/>
        </p:nvGrpSpPr>
        <p:grpSpPr>
          <a:xfrm>
            <a:off x="7916350" y="1124600"/>
            <a:ext cx="175013" cy="27000"/>
            <a:chOff x="5662375" y="212375"/>
            <a:chExt cx="175013" cy="27000"/>
          </a:xfrm>
        </p:grpSpPr>
        <p:sp>
          <p:nvSpPr>
            <p:cNvPr id="1180" name="Google Shape;1180;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1" name="Google Shape;1181;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2" name="Google Shape;1182;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5">
    <p:spTree>
      <p:nvGrpSpPr>
        <p:cNvPr id="1183" name="Shape 1183"/>
        <p:cNvGrpSpPr/>
        <p:nvPr/>
      </p:nvGrpSpPr>
      <p:grpSpPr>
        <a:xfrm>
          <a:off x="0" y="0"/>
          <a:ext cx="0" cy="0"/>
          <a:chOff x="0" y="0"/>
          <a:chExt cx="0" cy="0"/>
        </a:xfrm>
      </p:grpSpPr>
      <p:sp>
        <p:nvSpPr>
          <p:cNvPr id="1184" name="Google Shape;1184;p24"/>
          <p:cNvSpPr txBox="1"/>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p:txBody>
      </p:sp>
      <p:cxnSp>
        <p:nvCxnSpPr>
          <p:cNvPr id="1185" name="Google Shape;1185;p24"/>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cxnSp>
        <p:nvCxnSpPr>
          <p:cNvPr id="1186" name="Google Shape;1186;p24"/>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1187" name="Google Shape;1187;p24"/>
          <p:cNvGrpSpPr/>
          <p:nvPr/>
        </p:nvGrpSpPr>
        <p:grpSpPr>
          <a:xfrm flipH="1">
            <a:off x="431725" y="4183775"/>
            <a:ext cx="292025" cy="292575"/>
            <a:chOff x="7353050" y="316275"/>
            <a:chExt cx="292025" cy="292575"/>
          </a:xfrm>
        </p:grpSpPr>
        <p:sp>
          <p:nvSpPr>
            <p:cNvPr id="1188" name="Google Shape;1188;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9" name="Google Shape;1189;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0" name="Google Shape;1190;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1" name="Google Shape;1191;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92" name="Google Shape;1192;p24"/>
          <p:cNvGrpSpPr/>
          <p:nvPr/>
        </p:nvGrpSpPr>
        <p:grpSpPr>
          <a:xfrm>
            <a:off x="1075789" y="4604675"/>
            <a:ext cx="293111" cy="293388"/>
            <a:chOff x="3164039" y="430875"/>
            <a:chExt cx="293111" cy="293388"/>
          </a:xfrm>
        </p:grpSpPr>
        <p:sp>
          <p:nvSpPr>
            <p:cNvPr id="1193" name="Google Shape;1193;p24"/>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4" name="Google Shape;1194;p24"/>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5" name="Google Shape;1195;p24"/>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6" name="Google Shape;1196;p24"/>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7" name="Google Shape;1197;p24"/>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8" name="Google Shape;1198;p24"/>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199" name="Google Shape;1199;p24"/>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00" name="Google Shape;1200;p24"/>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01" name="Google Shape;1201;p24"/>
          <p:cNvGrpSpPr/>
          <p:nvPr/>
        </p:nvGrpSpPr>
        <p:grpSpPr>
          <a:xfrm>
            <a:off x="8064275" y="526925"/>
            <a:ext cx="581800" cy="582350"/>
            <a:chOff x="8064275" y="887850"/>
            <a:chExt cx="581800" cy="582350"/>
          </a:xfrm>
        </p:grpSpPr>
        <p:sp>
          <p:nvSpPr>
            <p:cNvPr id="1202" name="Google Shape;1202;p2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3" name="Google Shape;1203;p2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4" name="Google Shape;1204;p2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5" name="Google Shape;1205;p2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6" name="Google Shape;1206;p2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7" name="Google Shape;1207;p2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8" name="Google Shape;1208;p24"/>
          <p:cNvGrpSpPr/>
          <p:nvPr/>
        </p:nvGrpSpPr>
        <p:grpSpPr>
          <a:xfrm>
            <a:off x="7033875" y="170875"/>
            <a:ext cx="292025" cy="292575"/>
            <a:chOff x="7353050" y="316275"/>
            <a:chExt cx="292025" cy="292575"/>
          </a:xfrm>
        </p:grpSpPr>
        <p:sp>
          <p:nvSpPr>
            <p:cNvPr id="1209" name="Google Shape;1209;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0" name="Google Shape;1210;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1" name="Google Shape;1211;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2" name="Google Shape;1212;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13" name="Google Shape;1213;p24"/>
          <p:cNvGrpSpPr/>
          <p:nvPr/>
        </p:nvGrpSpPr>
        <p:grpSpPr>
          <a:xfrm>
            <a:off x="8757950" y="229650"/>
            <a:ext cx="175000" cy="175000"/>
            <a:chOff x="8792300" y="321275"/>
            <a:chExt cx="175000" cy="175000"/>
          </a:xfrm>
        </p:grpSpPr>
        <p:sp>
          <p:nvSpPr>
            <p:cNvPr id="1214" name="Google Shape;1214;p2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5" name="Google Shape;1215;p2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6" name="Google Shape;1216;p2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7" name="Google Shape;1217;p2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18" name="Google Shape;1218;p24"/>
          <p:cNvGrpSpPr/>
          <p:nvPr/>
        </p:nvGrpSpPr>
        <p:grpSpPr>
          <a:xfrm>
            <a:off x="8490050" y="170875"/>
            <a:ext cx="175013" cy="27000"/>
            <a:chOff x="5662375" y="212375"/>
            <a:chExt cx="175013" cy="27000"/>
          </a:xfrm>
        </p:grpSpPr>
        <p:sp>
          <p:nvSpPr>
            <p:cNvPr id="1219" name="Google Shape;1219;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0" name="Google Shape;1220;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1" name="Google Shape;1221;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22" name="Google Shape;1222;p24"/>
          <p:cNvGrpSpPr/>
          <p:nvPr/>
        </p:nvGrpSpPr>
        <p:grpSpPr>
          <a:xfrm>
            <a:off x="7916350" y="1124600"/>
            <a:ext cx="175013" cy="27000"/>
            <a:chOff x="5662375" y="212375"/>
            <a:chExt cx="175013" cy="27000"/>
          </a:xfrm>
        </p:grpSpPr>
        <p:sp>
          <p:nvSpPr>
            <p:cNvPr id="1223" name="Google Shape;1223;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4" name="Google Shape;1224;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5" name="Google Shape;1225;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226" name="Shape 1226"/>
        <p:cNvGrpSpPr/>
        <p:nvPr/>
      </p:nvGrpSpPr>
      <p:grpSpPr>
        <a:xfrm>
          <a:off x="0" y="0"/>
          <a:ext cx="0" cy="0"/>
          <a:chOff x="0" y="0"/>
          <a:chExt cx="0" cy="0"/>
        </a:xfrm>
      </p:grpSpPr>
      <p:sp>
        <p:nvSpPr>
          <p:cNvPr id="1227" name="Google Shape;1227;p25"/>
          <p:cNvSpPr txBox="1"/>
          <p:nvPr>
            <p:ph type="title"/>
          </p:nvPr>
        </p:nvSpPr>
        <p:spPr>
          <a:xfrm>
            <a:off x="896100" y="1984450"/>
            <a:ext cx="3457200" cy="12921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p:txBody>
      </p:sp>
      <p:cxnSp>
        <p:nvCxnSpPr>
          <p:cNvPr id="1228" name="Google Shape;1228;p25"/>
          <p:cNvCxnSpPr/>
          <p:nvPr/>
        </p:nvCxnSpPr>
        <p:spPr>
          <a:xfrm>
            <a:off x="1645925" y="5231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229" name="Google Shape;1229;p25"/>
          <p:cNvCxnSpPr/>
          <p:nvPr/>
        </p:nvCxnSpPr>
        <p:spPr>
          <a:xfrm rot="10800000" flipH="1">
            <a:off x="803050" y="529675"/>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230" name="Google Shape;1230;p25"/>
          <p:cNvCxnSpPr/>
          <p:nvPr/>
        </p:nvCxnSpPr>
        <p:spPr>
          <a:xfrm>
            <a:off x="0" y="6520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231" name="Google Shape;1231;p25"/>
          <p:cNvGrpSpPr/>
          <p:nvPr/>
        </p:nvGrpSpPr>
        <p:grpSpPr>
          <a:xfrm flipH="1">
            <a:off x="499400" y="959675"/>
            <a:ext cx="581800" cy="582350"/>
            <a:chOff x="8064275" y="887850"/>
            <a:chExt cx="581800" cy="582350"/>
          </a:xfrm>
        </p:grpSpPr>
        <p:sp>
          <p:nvSpPr>
            <p:cNvPr id="1232" name="Google Shape;1232;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3" name="Google Shape;1233;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4" name="Google Shape;1234;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5" name="Google Shape;1235;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6" name="Google Shape;1236;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7" name="Google Shape;1237;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38" name="Google Shape;1238;p25"/>
          <p:cNvGrpSpPr/>
          <p:nvPr/>
        </p:nvGrpSpPr>
        <p:grpSpPr>
          <a:xfrm flipH="1">
            <a:off x="1500400" y="388100"/>
            <a:ext cx="292025" cy="292575"/>
            <a:chOff x="7353050" y="316275"/>
            <a:chExt cx="292025" cy="292575"/>
          </a:xfrm>
        </p:grpSpPr>
        <p:sp>
          <p:nvSpPr>
            <p:cNvPr id="1239" name="Google Shape;1239;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0" name="Google Shape;1240;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1" name="Google Shape;1241;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2" name="Google Shape;1242;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243" name="Google Shape;1243;p25"/>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4" name="Google Shape;1244;p25"/>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5" name="Google Shape;1245;p25"/>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6" name="Google Shape;1246;p25"/>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7" name="Google Shape;1247;p25"/>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8" name="Google Shape;1248;p25"/>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49" name="Google Shape;1249;p25"/>
          <p:cNvGrpSpPr/>
          <p:nvPr/>
        </p:nvGrpSpPr>
        <p:grpSpPr>
          <a:xfrm flipH="1">
            <a:off x="3527112" y="361100"/>
            <a:ext cx="175013" cy="27000"/>
            <a:chOff x="5662375" y="212375"/>
            <a:chExt cx="175013" cy="27000"/>
          </a:xfrm>
        </p:grpSpPr>
        <p:sp>
          <p:nvSpPr>
            <p:cNvPr id="1250" name="Google Shape;1250;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1" name="Google Shape;1251;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2" name="Google Shape;1252;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3" name="Google Shape;1253;p25"/>
          <p:cNvGrpSpPr/>
          <p:nvPr/>
        </p:nvGrpSpPr>
        <p:grpSpPr>
          <a:xfrm flipH="1">
            <a:off x="480412" y="242700"/>
            <a:ext cx="175013" cy="27000"/>
            <a:chOff x="5662375" y="212375"/>
            <a:chExt cx="175013" cy="27000"/>
          </a:xfrm>
        </p:grpSpPr>
        <p:sp>
          <p:nvSpPr>
            <p:cNvPr id="1254" name="Google Shape;1254;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5" name="Google Shape;1255;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6" name="Google Shape;1256;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7" name="Google Shape;1257;p25"/>
          <p:cNvGrpSpPr/>
          <p:nvPr/>
        </p:nvGrpSpPr>
        <p:grpSpPr>
          <a:xfrm flipH="1">
            <a:off x="901712" y="1653625"/>
            <a:ext cx="175013" cy="27000"/>
            <a:chOff x="5662375" y="212375"/>
            <a:chExt cx="175013" cy="27000"/>
          </a:xfrm>
        </p:grpSpPr>
        <p:sp>
          <p:nvSpPr>
            <p:cNvPr id="1258" name="Google Shape;1258;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9" name="Google Shape;1259;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0" name="Google Shape;1260;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261" name="Google Shape;1261;p25"/>
          <p:cNvCxnSpPr/>
          <p:nvPr/>
        </p:nvCxnSpPr>
        <p:spPr>
          <a:xfrm>
            <a:off x="791400" y="42124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25"/>
          <p:cNvCxnSpPr/>
          <p:nvPr/>
        </p:nvCxnSpPr>
        <p:spPr>
          <a:xfrm rot="10800000" flipH="1">
            <a:off x="0" y="42204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63" name="Google Shape;1263;p25"/>
          <p:cNvGrpSpPr/>
          <p:nvPr/>
        </p:nvGrpSpPr>
        <p:grpSpPr>
          <a:xfrm rot="10800000">
            <a:off x="499400" y="3940925"/>
            <a:ext cx="581800" cy="582350"/>
            <a:chOff x="8064275" y="887850"/>
            <a:chExt cx="581800" cy="582350"/>
          </a:xfrm>
        </p:grpSpPr>
        <p:sp>
          <p:nvSpPr>
            <p:cNvPr id="1264" name="Google Shape;1264;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5" name="Google Shape;1265;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6" name="Google Shape;1266;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7" name="Google Shape;1267;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8" name="Google Shape;1268;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9" name="Google Shape;1269;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70" name="Google Shape;1270;p25"/>
          <p:cNvGrpSpPr/>
          <p:nvPr/>
        </p:nvGrpSpPr>
        <p:grpSpPr>
          <a:xfrm rot="10800000">
            <a:off x="1819575" y="4586750"/>
            <a:ext cx="292025" cy="292575"/>
            <a:chOff x="7353050" y="316275"/>
            <a:chExt cx="292025" cy="292575"/>
          </a:xfrm>
        </p:grpSpPr>
        <p:sp>
          <p:nvSpPr>
            <p:cNvPr id="1271" name="Google Shape;1271;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2" name="Google Shape;1272;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3" name="Google Shape;1273;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4" name="Google Shape;1274;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75" name="Google Shape;1275;p25"/>
          <p:cNvGrpSpPr/>
          <p:nvPr/>
        </p:nvGrpSpPr>
        <p:grpSpPr>
          <a:xfrm rot="10800000">
            <a:off x="212525" y="4645550"/>
            <a:ext cx="175000" cy="175000"/>
            <a:chOff x="8792300" y="321275"/>
            <a:chExt cx="175000" cy="175000"/>
          </a:xfrm>
        </p:grpSpPr>
        <p:sp>
          <p:nvSpPr>
            <p:cNvPr id="1276" name="Google Shape;1276;p2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7" name="Google Shape;1277;p2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8" name="Google Shape;1278;p2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9" name="Google Shape;1279;p2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80" name="Google Shape;1280;p25"/>
          <p:cNvGrpSpPr/>
          <p:nvPr/>
        </p:nvGrpSpPr>
        <p:grpSpPr>
          <a:xfrm rot="10800000">
            <a:off x="480412" y="4852325"/>
            <a:ext cx="175013" cy="27000"/>
            <a:chOff x="5662375" y="212375"/>
            <a:chExt cx="175013" cy="27000"/>
          </a:xfrm>
        </p:grpSpPr>
        <p:sp>
          <p:nvSpPr>
            <p:cNvPr id="1281" name="Google Shape;1281;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2" name="Google Shape;1282;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3" name="Google Shape;1283;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84" name="Google Shape;1284;p25"/>
          <p:cNvGrpSpPr/>
          <p:nvPr/>
        </p:nvGrpSpPr>
        <p:grpSpPr>
          <a:xfrm rot="10800000">
            <a:off x="1054112" y="3898600"/>
            <a:ext cx="175013" cy="27000"/>
            <a:chOff x="5662375" y="212375"/>
            <a:chExt cx="175013" cy="27000"/>
          </a:xfrm>
        </p:grpSpPr>
        <p:sp>
          <p:nvSpPr>
            <p:cNvPr id="1285" name="Google Shape;1285;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6" name="Google Shape;1286;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7" name="Google Shape;1287;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288" name="Shape 1288"/>
        <p:cNvGrpSpPr/>
        <p:nvPr/>
      </p:nvGrpSpPr>
      <p:grpSpPr>
        <a:xfrm>
          <a:off x="0" y="0"/>
          <a:ext cx="0" cy="0"/>
          <a:chOff x="0" y="0"/>
          <a:chExt cx="0" cy="0"/>
        </a:xfrm>
      </p:grpSpPr>
      <p:sp>
        <p:nvSpPr>
          <p:cNvPr id="1289" name="Google Shape;1289;p26"/>
          <p:cNvSpPr txBox="1"/>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p:txBody>
      </p:sp>
      <p:cxnSp>
        <p:nvCxnSpPr>
          <p:cNvPr id="1290" name="Google Shape;1290;p26"/>
          <p:cNvCxnSpPr/>
          <p:nvPr/>
        </p:nvCxnSpPr>
        <p:spPr>
          <a:xfrm rot="10800000">
            <a:off x="8109000" y="501275"/>
            <a:ext cx="737700" cy="73770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26"/>
          <p:cNvCxnSpPr/>
          <p:nvPr/>
        </p:nvCxnSpPr>
        <p:spPr>
          <a:xfrm>
            <a:off x="582475" y="282188"/>
            <a:ext cx="1212900" cy="4227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26"/>
          <p:cNvCxnSpPr/>
          <p:nvPr/>
        </p:nvCxnSpPr>
        <p:spPr>
          <a:xfrm rot="10800000" flipH="1">
            <a:off x="0" y="274188"/>
            <a:ext cx="582600" cy="654300"/>
          </a:xfrm>
          <a:prstGeom prst="straightConnector1">
            <a:avLst/>
          </a:prstGeom>
          <a:noFill/>
          <a:ln w="9525" cap="flat" cmpd="sng">
            <a:solidFill>
              <a:schemeClr val="dk2"/>
            </a:solidFill>
            <a:prstDash val="solid"/>
            <a:round/>
            <a:headEnd type="none" w="med" len="med"/>
            <a:tailEnd type="none" w="med" len="med"/>
          </a:ln>
        </p:spPr>
      </p:cxnSp>
      <p:grpSp>
        <p:nvGrpSpPr>
          <p:cNvPr id="1293" name="Google Shape;1293;p26"/>
          <p:cNvGrpSpPr/>
          <p:nvPr/>
        </p:nvGrpSpPr>
        <p:grpSpPr>
          <a:xfrm flipH="1">
            <a:off x="423750" y="125363"/>
            <a:ext cx="292025" cy="292575"/>
            <a:chOff x="7353050" y="316275"/>
            <a:chExt cx="292025" cy="292575"/>
          </a:xfrm>
        </p:grpSpPr>
        <p:sp>
          <p:nvSpPr>
            <p:cNvPr id="1294" name="Google Shape;1294;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5" name="Google Shape;1295;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6" name="Google Shape;1296;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7" name="Google Shape;1297;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98" name="Google Shape;1298;p26"/>
          <p:cNvGrpSpPr/>
          <p:nvPr/>
        </p:nvGrpSpPr>
        <p:grpSpPr>
          <a:xfrm>
            <a:off x="1638739" y="558163"/>
            <a:ext cx="293111" cy="293388"/>
            <a:chOff x="3164039" y="430875"/>
            <a:chExt cx="293111" cy="293388"/>
          </a:xfrm>
        </p:grpSpPr>
        <p:sp>
          <p:nvSpPr>
            <p:cNvPr id="1299" name="Google Shape;1299;p2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0" name="Google Shape;1300;p2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1" name="Google Shape;1301;p2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2" name="Google Shape;1302;p2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3" name="Google Shape;1303;p2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4" name="Google Shape;1304;p2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05" name="Google Shape;1305;p26"/>
          <p:cNvGrpSpPr/>
          <p:nvPr/>
        </p:nvGrpSpPr>
        <p:grpSpPr>
          <a:xfrm>
            <a:off x="1591750" y="362600"/>
            <a:ext cx="175013" cy="27000"/>
            <a:chOff x="5662375" y="212375"/>
            <a:chExt cx="175013" cy="27000"/>
          </a:xfrm>
        </p:grpSpPr>
        <p:sp>
          <p:nvSpPr>
            <p:cNvPr id="1306" name="Google Shape;1306;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7" name="Google Shape;1307;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8" name="Google Shape;1308;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309" name="Google Shape;1309;p26"/>
          <p:cNvCxnSpPr/>
          <p:nvPr/>
        </p:nvCxnSpPr>
        <p:spPr>
          <a:xfrm flipH="1">
            <a:off x="8151325" y="6875"/>
            <a:ext cx="1002600" cy="494400"/>
          </a:xfrm>
          <a:prstGeom prst="straightConnector1">
            <a:avLst/>
          </a:prstGeom>
          <a:noFill/>
          <a:ln w="9525" cap="flat" cmpd="sng">
            <a:solidFill>
              <a:schemeClr val="dk2"/>
            </a:solidFill>
            <a:prstDash val="solid"/>
            <a:round/>
            <a:headEnd type="none" w="med" len="med"/>
            <a:tailEnd type="none" w="med" len="med"/>
          </a:ln>
        </p:spPr>
      </p:cxnSp>
      <p:grpSp>
        <p:nvGrpSpPr>
          <p:cNvPr id="1310" name="Google Shape;1310;p26"/>
          <p:cNvGrpSpPr/>
          <p:nvPr/>
        </p:nvGrpSpPr>
        <p:grpSpPr>
          <a:xfrm>
            <a:off x="7823875" y="202375"/>
            <a:ext cx="581800" cy="582350"/>
            <a:chOff x="8064275" y="887850"/>
            <a:chExt cx="581800" cy="582350"/>
          </a:xfrm>
        </p:grpSpPr>
        <p:sp>
          <p:nvSpPr>
            <p:cNvPr id="1311" name="Google Shape;1311;p2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2" name="Google Shape;1312;p2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3" name="Google Shape;1313;p2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4" name="Google Shape;1314;p2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5" name="Google Shape;1315;p2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6" name="Google Shape;1316;p2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17" name="Google Shape;1317;p26"/>
          <p:cNvGrpSpPr/>
          <p:nvPr/>
        </p:nvGrpSpPr>
        <p:grpSpPr>
          <a:xfrm flipH="1">
            <a:off x="8698650" y="1117488"/>
            <a:ext cx="292025" cy="292575"/>
            <a:chOff x="7353050" y="316275"/>
            <a:chExt cx="292025" cy="292575"/>
          </a:xfrm>
        </p:grpSpPr>
        <p:sp>
          <p:nvSpPr>
            <p:cNvPr id="1318" name="Google Shape;1318;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9" name="Google Shape;1319;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0" name="Google Shape;1320;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1" name="Google Shape;1321;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22" name="Google Shape;1322;p26"/>
          <p:cNvGrpSpPr/>
          <p:nvPr/>
        </p:nvGrpSpPr>
        <p:grpSpPr>
          <a:xfrm>
            <a:off x="8678350" y="1581800"/>
            <a:ext cx="175013" cy="27000"/>
            <a:chOff x="5662375" y="212375"/>
            <a:chExt cx="175013" cy="27000"/>
          </a:xfrm>
        </p:grpSpPr>
        <p:sp>
          <p:nvSpPr>
            <p:cNvPr id="1323" name="Google Shape;1323;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4" name="Google Shape;1324;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5" name="Google Shape;1325;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326"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397"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418"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478"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2">
  <p:cSld name="CUSTOM_22">
    <p:spTree>
      <p:nvGrpSpPr>
        <p:cNvPr id="1546" name="Shape 1546"/>
        <p:cNvGrpSpPr/>
        <p:nvPr/>
      </p:nvGrpSpPr>
      <p:grpSpPr>
        <a:xfrm>
          <a:off x="0" y="0"/>
          <a:ext cx="0" cy="0"/>
          <a:chOff x="0" y="0"/>
          <a:chExt cx="0" cy="0"/>
        </a:xfrm>
      </p:grpSpPr>
      <p:grpSp>
        <p:nvGrpSpPr>
          <p:cNvPr id="1547" name="Google Shape;1547;p31"/>
          <p:cNvGrpSpPr/>
          <p:nvPr/>
        </p:nvGrpSpPr>
        <p:grpSpPr>
          <a:xfrm>
            <a:off x="1349626" y="598417"/>
            <a:ext cx="6453730" cy="3631136"/>
            <a:chOff x="365750" y="1285025"/>
            <a:chExt cx="6934275" cy="3315500"/>
          </a:xfrm>
        </p:grpSpPr>
        <p:sp>
          <p:nvSpPr>
            <p:cNvPr id="1548" name="Google Shape;1548;p31"/>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9" name="Google Shape;1549;p31"/>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50" name="Google Shape;1550;p31"/>
          <p:cNvSpPr txBox="1"/>
          <p:nvPr>
            <p:ph type="title"/>
          </p:nvPr>
        </p:nvSpPr>
        <p:spPr>
          <a:xfrm>
            <a:off x="2624328" y="1018528"/>
            <a:ext cx="3904500" cy="190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p:txBody>
      </p:sp>
      <p:grpSp>
        <p:nvGrpSpPr>
          <p:cNvPr id="1551" name="Google Shape;1551;p31"/>
          <p:cNvGrpSpPr/>
          <p:nvPr/>
        </p:nvGrpSpPr>
        <p:grpSpPr>
          <a:xfrm>
            <a:off x="-6867" y="-6625"/>
            <a:ext cx="9152342" cy="5102050"/>
            <a:chOff x="-6867" y="-6625"/>
            <a:chExt cx="9152342" cy="5102050"/>
          </a:xfrm>
        </p:grpSpPr>
        <p:cxnSp>
          <p:nvCxnSpPr>
            <p:cNvPr id="1552" name="Google Shape;1552;p31"/>
            <p:cNvCxnSpPr/>
            <p:nvPr/>
          </p:nvCxnSpPr>
          <p:spPr>
            <a:xfrm>
              <a:off x="2904283" y="4513075"/>
              <a:ext cx="1133100" cy="306300"/>
            </a:xfrm>
            <a:prstGeom prst="straightConnector1">
              <a:avLst/>
            </a:prstGeom>
            <a:noFill/>
            <a:ln w="9525" cap="flat" cmpd="sng">
              <a:solidFill>
                <a:srgbClr val="595959"/>
              </a:solidFill>
              <a:prstDash val="solid"/>
              <a:round/>
              <a:headEnd type="none" w="med" len="med"/>
              <a:tailEnd type="none" w="med" len="med"/>
            </a:ln>
          </p:spPr>
        </p:cxnSp>
        <p:cxnSp>
          <p:nvCxnSpPr>
            <p:cNvPr id="1553" name="Google Shape;1553;p31"/>
            <p:cNvCxnSpPr/>
            <p:nvPr/>
          </p:nvCxnSpPr>
          <p:spPr>
            <a:xfrm rot="10800000" flipH="1">
              <a:off x="1562083" y="4492325"/>
              <a:ext cx="1342200" cy="315300"/>
            </a:xfrm>
            <a:prstGeom prst="straightConnector1">
              <a:avLst/>
            </a:prstGeom>
            <a:noFill/>
            <a:ln w="9525" cap="flat" cmpd="sng">
              <a:solidFill>
                <a:srgbClr val="595959"/>
              </a:solidFill>
              <a:prstDash val="solid"/>
              <a:round/>
              <a:headEnd type="none" w="med" len="med"/>
              <a:tailEnd type="none" w="med" len="med"/>
            </a:ln>
          </p:spPr>
        </p:cxnSp>
        <p:cxnSp>
          <p:nvCxnSpPr>
            <p:cNvPr id="1554" name="Google Shape;1554;p31"/>
            <p:cNvCxnSpPr/>
            <p:nvPr/>
          </p:nvCxnSpPr>
          <p:spPr>
            <a:xfrm>
              <a:off x="259558" y="4408000"/>
              <a:ext cx="1332000" cy="392100"/>
            </a:xfrm>
            <a:prstGeom prst="straightConnector1">
              <a:avLst/>
            </a:prstGeom>
            <a:noFill/>
            <a:ln w="9525" cap="flat" cmpd="sng">
              <a:solidFill>
                <a:srgbClr val="595959"/>
              </a:solidFill>
              <a:prstDash val="solid"/>
              <a:round/>
              <a:headEnd type="none" w="med" len="med"/>
              <a:tailEnd type="none" w="med" len="med"/>
            </a:ln>
          </p:spPr>
        </p:cxnSp>
        <p:cxnSp>
          <p:nvCxnSpPr>
            <p:cNvPr id="1555" name="Google Shape;1555;p31"/>
            <p:cNvCxnSpPr/>
            <p:nvPr/>
          </p:nvCxnSpPr>
          <p:spPr>
            <a:xfrm>
              <a:off x="-6867" y="3993550"/>
              <a:ext cx="273900" cy="407100"/>
            </a:xfrm>
            <a:prstGeom prst="straightConnector1">
              <a:avLst/>
            </a:prstGeom>
            <a:noFill/>
            <a:ln w="9525" cap="flat" cmpd="sng">
              <a:solidFill>
                <a:srgbClr val="595959"/>
              </a:solidFill>
              <a:prstDash val="solid"/>
              <a:round/>
              <a:headEnd type="none" w="med" len="med"/>
              <a:tailEnd type="none" w="med" len="med"/>
            </a:ln>
          </p:spPr>
        </p:cxnSp>
        <p:grpSp>
          <p:nvGrpSpPr>
            <p:cNvPr id="1556" name="Google Shape;1556;p31"/>
            <p:cNvGrpSpPr/>
            <p:nvPr/>
          </p:nvGrpSpPr>
          <p:grpSpPr>
            <a:xfrm flipH="1">
              <a:off x="1278333" y="4513075"/>
              <a:ext cx="581800" cy="582350"/>
              <a:chOff x="8064275" y="887850"/>
              <a:chExt cx="581800" cy="582350"/>
            </a:xfrm>
          </p:grpSpPr>
          <p:sp>
            <p:nvSpPr>
              <p:cNvPr id="1557" name="Google Shape;1557;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58" name="Google Shape;1558;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59" name="Google Shape;1559;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0" name="Google Shape;1560;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1" name="Google Shape;1561;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2" name="Google Shape;1562;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63" name="Google Shape;1563;p31"/>
            <p:cNvGrpSpPr/>
            <p:nvPr/>
          </p:nvGrpSpPr>
          <p:grpSpPr>
            <a:xfrm flipH="1">
              <a:off x="2747608" y="4340463"/>
              <a:ext cx="292025" cy="292575"/>
              <a:chOff x="7353050" y="316275"/>
              <a:chExt cx="292025" cy="292575"/>
            </a:xfrm>
          </p:grpSpPr>
          <p:sp>
            <p:nvSpPr>
              <p:cNvPr id="1564" name="Google Shape;1564;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5" name="Google Shape;1565;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6" name="Google Shape;1566;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7" name="Google Shape;1567;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68" name="Google Shape;1568;p31"/>
            <p:cNvGrpSpPr/>
            <p:nvPr/>
          </p:nvGrpSpPr>
          <p:grpSpPr>
            <a:xfrm flipH="1">
              <a:off x="171308" y="4315025"/>
              <a:ext cx="175000" cy="175000"/>
              <a:chOff x="8792300" y="321275"/>
              <a:chExt cx="175000" cy="175000"/>
            </a:xfrm>
          </p:grpSpPr>
          <p:sp>
            <p:nvSpPr>
              <p:cNvPr id="1569" name="Google Shape;1569;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0" name="Google Shape;1570;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1" name="Google Shape;1571;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2" name="Google Shape;1572;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73" name="Google Shape;1573;p31"/>
            <p:cNvGrpSpPr/>
            <p:nvPr/>
          </p:nvGrpSpPr>
          <p:grpSpPr>
            <a:xfrm>
              <a:off x="3873197" y="4657550"/>
              <a:ext cx="293111" cy="293388"/>
              <a:chOff x="3164039" y="430875"/>
              <a:chExt cx="293111" cy="293388"/>
            </a:xfrm>
          </p:grpSpPr>
          <p:sp>
            <p:nvSpPr>
              <p:cNvPr id="1574" name="Google Shape;1574;p3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5" name="Google Shape;1575;p3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6" name="Google Shape;1576;p3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7" name="Google Shape;1577;p3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8" name="Google Shape;1578;p3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9" name="Google Shape;1579;p3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80" name="Google Shape;1580;p31"/>
            <p:cNvGrpSpPr/>
            <p:nvPr/>
          </p:nvGrpSpPr>
          <p:grpSpPr>
            <a:xfrm flipH="1">
              <a:off x="242270" y="4142425"/>
              <a:ext cx="175013" cy="27000"/>
              <a:chOff x="5662375" y="212375"/>
              <a:chExt cx="175013" cy="27000"/>
            </a:xfrm>
          </p:grpSpPr>
          <p:sp>
            <p:nvSpPr>
              <p:cNvPr id="1581" name="Google Shape;1581;p3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82" name="Google Shape;1582;p3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83" name="Google Shape;1583;p3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584" name="Google Shape;1584;p31"/>
            <p:cNvCxnSpPr/>
            <p:nvPr/>
          </p:nvCxnSpPr>
          <p:spPr>
            <a:xfrm rot="10800000">
              <a:off x="5995050" y="226600"/>
              <a:ext cx="1504500" cy="224700"/>
            </a:xfrm>
            <a:prstGeom prst="straightConnector1">
              <a:avLst/>
            </a:prstGeom>
            <a:noFill/>
            <a:ln w="9525" cap="flat" cmpd="sng">
              <a:solidFill>
                <a:srgbClr val="595959"/>
              </a:solidFill>
              <a:prstDash val="solid"/>
              <a:round/>
              <a:headEnd type="none" w="med" len="med"/>
              <a:tailEnd type="none" w="med" len="med"/>
            </a:ln>
          </p:spPr>
        </p:cxnSp>
        <p:cxnSp>
          <p:nvCxnSpPr>
            <p:cNvPr id="1585" name="Google Shape;1585;p31"/>
            <p:cNvCxnSpPr/>
            <p:nvPr/>
          </p:nvCxnSpPr>
          <p:spPr>
            <a:xfrm rot="10800000">
              <a:off x="7512925" y="457850"/>
              <a:ext cx="829500" cy="743400"/>
            </a:xfrm>
            <a:prstGeom prst="straightConnector1">
              <a:avLst/>
            </a:prstGeom>
            <a:noFill/>
            <a:ln w="9525" cap="flat" cmpd="sng">
              <a:solidFill>
                <a:srgbClr val="595959"/>
              </a:solidFill>
              <a:prstDash val="solid"/>
              <a:round/>
              <a:headEnd type="none" w="med" len="med"/>
              <a:tailEnd type="none" w="med" len="med"/>
            </a:ln>
          </p:spPr>
        </p:cxnSp>
        <p:cxnSp>
          <p:nvCxnSpPr>
            <p:cNvPr id="1586" name="Google Shape;1586;p31"/>
            <p:cNvCxnSpPr/>
            <p:nvPr/>
          </p:nvCxnSpPr>
          <p:spPr>
            <a:xfrm flipH="1">
              <a:off x="8348975" y="-6625"/>
              <a:ext cx="796500" cy="1188000"/>
            </a:xfrm>
            <a:prstGeom prst="straightConnector1">
              <a:avLst/>
            </a:prstGeom>
            <a:noFill/>
            <a:ln w="9525" cap="flat" cmpd="sng">
              <a:solidFill>
                <a:srgbClr val="595959"/>
              </a:solidFill>
              <a:prstDash val="solid"/>
              <a:round/>
              <a:headEnd type="none" w="med" len="med"/>
              <a:tailEnd type="none" w="med" len="med"/>
            </a:ln>
          </p:spPr>
        </p:cxnSp>
        <p:grpSp>
          <p:nvGrpSpPr>
            <p:cNvPr id="1587" name="Google Shape;1587;p31"/>
            <p:cNvGrpSpPr/>
            <p:nvPr/>
          </p:nvGrpSpPr>
          <p:grpSpPr>
            <a:xfrm>
              <a:off x="8064275" y="1040250"/>
              <a:ext cx="581800" cy="582350"/>
              <a:chOff x="8064275" y="887850"/>
              <a:chExt cx="581800" cy="582350"/>
            </a:xfrm>
          </p:grpSpPr>
          <p:sp>
            <p:nvSpPr>
              <p:cNvPr id="1588" name="Google Shape;1588;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89" name="Google Shape;1589;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0" name="Google Shape;1590;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1" name="Google Shape;1591;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2" name="Google Shape;1592;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3" name="Google Shape;1593;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94" name="Google Shape;1594;p31"/>
            <p:cNvGrpSpPr/>
            <p:nvPr/>
          </p:nvGrpSpPr>
          <p:grpSpPr>
            <a:xfrm>
              <a:off x="7353050" y="316275"/>
              <a:ext cx="292025" cy="292575"/>
              <a:chOff x="7353050" y="316275"/>
              <a:chExt cx="292025" cy="292575"/>
            </a:xfrm>
          </p:grpSpPr>
          <p:sp>
            <p:nvSpPr>
              <p:cNvPr id="1595" name="Google Shape;1595;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6" name="Google Shape;1596;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7" name="Google Shape;1597;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8" name="Google Shape;1598;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99" name="Google Shape;1599;p31"/>
            <p:cNvGrpSpPr/>
            <p:nvPr/>
          </p:nvGrpSpPr>
          <p:grpSpPr>
            <a:xfrm>
              <a:off x="8792300" y="321275"/>
              <a:ext cx="175000" cy="175000"/>
              <a:chOff x="8792300" y="321275"/>
              <a:chExt cx="175000" cy="175000"/>
            </a:xfrm>
          </p:grpSpPr>
          <p:sp>
            <p:nvSpPr>
              <p:cNvPr id="1600" name="Google Shape;1600;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1" name="Google Shape;1601;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2" name="Google Shape;1602;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3" name="Google Shape;1603;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604" name="Google Shape;1604;p31"/>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5" name="Google Shape;1605;p31"/>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6" name="Google Shape;1606;p31"/>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7" name="Google Shape;1607;p31"/>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8" name="Google Shape;1608;p31"/>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9" name="Google Shape;1609;p31"/>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610" name="Google Shape;1610;p31"/>
            <p:cNvGrpSpPr/>
            <p:nvPr/>
          </p:nvGrpSpPr>
          <p:grpSpPr>
            <a:xfrm>
              <a:off x="8490050" y="170875"/>
              <a:ext cx="175013" cy="27000"/>
              <a:chOff x="5662375" y="212375"/>
              <a:chExt cx="175013" cy="27000"/>
            </a:xfrm>
          </p:grpSpPr>
          <p:sp>
            <p:nvSpPr>
              <p:cNvPr id="1611" name="Google Shape;1611;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2" name="Google Shape;1612;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3" name="Google Shape;1613;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14" name="Google Shape;1614;p31"/>
            <p:cNvGrpSpPr/>
            <p:nvPr/>
          </p:nvGrpSpPr>
          <p:grpSpPr>
            <a:xfrm>
              <a:off x="8678350" y="1658000"/>
              <a:ext cx="175013" cy="27000"/>
              <a:chOff x="5662375" y="212375"/>
              <a:chExt cx="175013" cy="27000"/>
            </a:xfrm>
          </p:grpSpPr>
          <p:sp>
            <p:nvSpPr>
              <p:cNvPr id="1615" name="Google Shape;1615;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6" name="Google Shape;1616;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7" name="Google Shape;1617;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618" name="Google Shape;1618;p31"/>
          <p:cNvSpPr txBox="1"/>
          <p:nvPr>
            <p:ph type="subTitle" idx="1"/>
          </p:nvPr>
        </p:nvSpPr>
        <p:spPr>
          <a:xfrm>
            <a:off x="3639300"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1">
  <p:cSld name="CUSTOM_23">
    <p:spTree>
      <p:nvGrpSpPr>
        <p:cNvPr id="1619" name="Shape 1619"/>
        <p:cNvGrpSpPr/>
        <p:nvPr/>
      </p:nvGrpSpPr>
      <p:grpSpPr>
        <a:xfrm>
          <a:off x="0" y="0"/>
          <a:ext cx="0" cy="0"/>
          <a:chOff x="0" y="0"/>
          <a:chExt cx="0" cy="0"/>
        </a:xfrm>
      </p:grpSpPr>
      <p:sp>
        <p:nvSpPr>
          <p:cNvPr id="1620" name="Google Shape;1620;p32"/>
          <p:cNvSpPr txBox="1"/>
          <p:nvPr>
            <p:ph type="body" idx="1"/>
          </p:nvPr>
        </p:nvSpPr>
        <p:spPr>
          <a:xfrm>
            <a:off x="1881350" y="1246850"/>
            <a:ext cx="21333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lvl="1"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lvl="2"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lvl="3"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lvl="4"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lvl="5"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lvl="6"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lvl="7"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lvl="8"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621" name="Google Shape;1621;p32"/>
          <p:cNvSpPr txBox="1"/>
          <p:nvPr>
            <p:ph type="body" idx="2"/>
          </p:nvPr>
        </p:nvSpPr>
        <p:spPr>
          <a:xfrm>
            <a:off x="4220325" y="1246850"/>
            <a:ext cx="30999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lvl="1"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lvl="2"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lvl="3"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lvl="4"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lvl="5"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lvl="6"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lvl="7"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lvl="8"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622" name="Google Shape;1622;p32"/>
          <p:cNvSpPr txBox="1"/>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grpSp>
        <p:nvGrpSpPr>
          <p:cNvPr id="1623" name="Google Shape;1623;p32"/>
          <p:cNvGrpSpPr/>
          <p:nvPr/>
        </p:nvGrpSpPr>
        <p:grpSpPr>
          <a:xfrm>
            <a:off x="432850" y="0"/>
            <a:ext cx="8278300" cy="5165700"/>
            <a:chOff x="432850" y="0"/>
            <a:chExt cx="8278300" cy="5165700"/>
          </a:xfrm>
        </p:grpSpPr>
        <p:cxnSp>
          <p:nvCxnSpPr>
            <p:cNvPr id="1624" name="Google Shape;1624;p32"/>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25" name="Google Shape;1625;p32"/>
            <p:cNvGrpSpPr/>
            <p:nvPr/>
          </p:nvGrpSpPr>
          <p:grpSpPr>
            <a:xfrm>
              <a:off x="8129350" y="4292175"/>
              <a:ext cx="581800" cy="582350"/>
              <a:chOff x="8064275" y="887850"/>
              <a:chExt cx="581800" cy="582350"/>
            </a:xfrm>
          </p:grpSpPr>
          <p:sp>
            <p:nvSpPr>
              <p:cNvPr id="1626" name="Google Shape;1626;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7" name="Google Shape;1627;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8" name="Google Shape;1628;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9" name="Google Shape;1629;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0" name="Google Shape;1630;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1" name="Google Shape;1631;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32" name="Google Shape;1632;p32"/>
            <p:cNvGrpSpPr/>
            <p:nvPr/>
          </p:nvGrpSpPr>
          <p:grpSpPr>
            <a:xfrm>
              <a:off x="8274238" y="3720600"/>
              <a:ext cx="292025" cy="292575"/>
              <a:chOff x="7353050" y="316275"/>
              <a:chExt cx="292025" cy="292575"/>
            </a:xfrm>
          </p:grpSpPr>
          <p:sp>
            <p:nvSpPr>
              <p:cNvPr id="1633" name="Google Shape;1633;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4" name="Google Shape;1634;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5" name="Google Shape;1635;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6" name="Google Shape;1636;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37" name="Google Shape;1637;p32"/>
            <p:cNvGrpSpPr/>
            <p:nvPr/>
          </p:nvGrpSpPr>
          <p:grpSpPr>
            <a:xfrm>
              <a:off x="8332763" y="3212475"/>
              <a:ext cx="175000" cy="175000"/>
              <a:chOff x="8792300" y="321275"/>
              <a:chExt cx="175000" cy="175000"/>
            </a:xfrm>
          </p:grpSpPr>
          <p:sp>
            <p:nvSpPr>
              <p:cNvPr id="1638" name="Google Shape;1638;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9" name="Google Shape;1639;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0" name="Google Shape;1640;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1" name="Google Shape;1641;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642" name="Google Shape;1642;p32"/>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43" name="Google Shape;1643;p32"/>
            <p:cNvGrpSpPr/>
            <p:nvPr/>
          </p:nvGrpSpPr>
          <p:grpSpPr>
            <a:xfrm rot="10800000">
              <a:off x="432850" y="291788"/>
              <a:ext cx="581800" cy="582350"/>
              <a:chOff x="8064275" y="887850"/>
              <a:chExt cx="581800" cy="582350"/>
            </a:xfrm>
          </p:grpSpPr>
          <p:sp>
            <p:nvSpPr>
              <p:cNvPr id="1644" name="Google Shape;1644;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5" name="Google Shape;1645;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6" name="Google Shape;1646;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7" name="Google Shape;1647;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8" name="Google Shape;1648;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9" name="Google Shape;1649;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50" name="Google Shape;1650;p32"/>
            <p:cNvGrpSpPr/>
            <p:nvPr/>
          </p:nvGrpSpPr>
          <p:grpSpPr>
            <a:xfrm rot="10800000">
              <a:off x="577738" y="1153138"/>
              <a:ext cx="292025" cy="292575"/>
              <a:chOff x="7353050" y="316275"/>
              <a:chExt cx="292025" cy="292575"/>
            </a:xfrm>
          </p:grpSpPr>
          <p:sp>
            <p:nvSpPr>
              <p:cNvPr id="1651" name="Google Shape;1651;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2" name="Google Shape;1652;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3" name="Google Shape;1653;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4" name="Google Shape;1654;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55" name="Google Shape;1655;p32"/>
            <p:cNvGrpSpPr/>
            <p:nvPr/>
          </p:nvGrpSpPr>
          <p:grpSpPr>
            <a:xfrm rot="10800000">
              <a:off x="636238" y="1778838"/>
              <a:ext cx="175000" cy="175000"/>
              <a:chOff x="8792300" y="321275"/>
              <a:chExt cx="175000" cy="175000"/>
            </a:xfrm>
          </p:grpSpPr>
          <p:sp>
            <p:nvSpPr>
              <p:cNvPr id="1656" name="Google Shape;1656;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7" name="Google Shape;1657;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8" name="Google Shape;1658;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9" name="Google Shape;1659;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60" name="Google Shape;1660;p32"/>
            <p:cNvGrpSpPr/>
            <p:nvPr/>
          </p:nvGrpSpPr>
          <p:grpSpPr>
            <a:xfrm>
              <a:off x="432850" y="2003163"/>
              <a:ext cx="175013" cy="27000"/>
              <a:chOff x="5662375" y="212375"/>
              <a:chExt cx="175013" cy="27000"/>
            </a:xfrm>
          </p:grpSpPr>
          <p:sp>
            <p:nvSpPr>
              <p:cNvPr id="1661" name="Google Shape;1661;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2" name="Google Shape;1662;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3" name="Google Shape;1663;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64" name="Google Shape;1664;p32"/>
            <p:cNvGrpSpPr/>
            <p:nvPr/>
          </p:nvGrpSpPr>
          <p:grpSpPr>
            <a:xfrm>
              <a:off x="788100" y="208488"/>
              <a:ext cx="175013" cy="27000"/>
              <a:chOff x="5662375" y="212375"/>
              <a:chExt cx="175013" cy="27000"/>
            </a:xfrm>
          </p:grpSpPr>
          <p:sp>
            <p:nvSpPr>
              <p:cNvPr id="1665" name="Google Shape;1665;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6" name="Google Shape;1666;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7" name="Google Shape;1667;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68" name="Google Shape;1668;p32"/>
            <p:cNvGrpSpPr/>
            <p:nvPr/>
          </p:nvGrpSpPr>
          <p:grpSpPr>
            <a:xfrm>
              <a:off x="8129350" y="4988725"/>
              <a:ext cx="175013" cy="27000"/>
              <a:chOff x="5662375" y="212375"/>
              <a:chExt cx="175013" cy="27000"/>
            </a:xfrm>
          </p:grpSpPr>
          <p:sp>
            <p:nvSpPr>
              <p:cNvPr id="1669" name="Google Shape;1669;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0" name="Google Shape;1670;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1" name="Google Shape;1671;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72" name="Google Shape;1672;p32"/>
            <p:cNvGrpSpPr/>
            <p:nvPr/>
          </p:nvGrpSpPr>
          <p:grpSpPr>
            <a:xfrm>
              <a:off x="8497550" y="3429425"/>
              <a:ext cx="175013" cy="27000"/>
              <a:chOff x="5662375" y="212375"/>
              <a:chExt cx="175013" cy="27000"/>
            </a:xfrm>
          </p:grpSpPr>
          <p:sp>
            <p:nvSpPr>
              <p:cNvPr id="1673" name="Google Shape;1673;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4" name="Google Shape;1674;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5" name="Google Shape;1675;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676" name="Google Shape;1676;p32"/>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677" name="Google Shape;1677;p32"/>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678" name="Google Shape;1678;p32"/>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9" name="Google Shape;1679;p32"/>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80" name="Google Shape;1680;p32"/>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81" name="Google Shape;1681;p32"/>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2" Type="http://schemas.openxmlformats.org/officeDocument/2006/relationships/theme" Target="../theme/theme1.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 Type="http://schemas.openxmlformats.org/officeDocument/2006/relationships/slideLayout" Target="../slideLayouts/slideLayout3.xml"/><Relationship Id="rId29" Type="http://schemas.openxmlformats.org/officeDocument/2006/relationships/slideLayout" Target="../slideLayouts/slideLayout2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1.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6" Type="http://schemas.openxmlformats.org/officeDocument/2006/relationships/notesSlide" Target="../notesSlides/notesSlide2.xml"/><Relationship Id="rId5" Type="http://schemas.openxmlformats.org/officeDocument/2006/relationships/slideLayout" Target="../slideLayouts/slideLayout9.xml"/><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1.xml"/><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1.xml"/></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31.xml"/><Relationship Id="rId2" Type="http://schemas.openxmlformats.org/officeDocument/2006/relationships/image" Target="../media/image9.png"/><Relationship Id="rId1"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2.xml"/><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2.xml"/><Relationship Id="rId1" Type="http://schemas.openxmlformats.org/officeDocument/2006/relationships/tags" Target="../tags/tag1.xml"/></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22.xml"/><Relationship Id="rId2" Type="http://schemas.openxmlformats.org/officeDocument/2006/relationships/image" Target="../media/image13.png"/><Relationship Id="rId1" Type="http://schemas.openxmlformats.org/officeDocument/2006/relationships/tags" Target="../tags/tag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31.xml"/><Relationship Id="rId2" Type="http://schemas.openxmlformats.org/officeDocument/2006/relationships/tags" Target="../tags/tag3.xml"/><Relationship Id="rId1" Type="http://schemas.openxmlformats.org/officeDocument/2006/relationships/image" Target="../media/image14.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31.xml"/><Relationship Id="rId2" Type="http://schemas.openxmlformats.org/officeDocument/2006/relationships/image" Target="../media/image15.png"/><Relationship Id="rId1" Type="http://schemas.openxmlformats.org/officeDocument/2006/relationships/tags" Target="../tags/tag4.xml"/></Relationships>
</file>

<file path=ppt/slides/_rels/slide20.xml.rels><?xml version="1.0" encoding="UTF-8" standalone="yes"?>
<Relationships xmlns="http://schemas.openxmlformats.org/package/2006/relationships"><Relationship Id="rId4" Type="http://schemas.openxmlformats.org/officeDocument/2006/relationships/notesSlide" Target="../notesSlides/notesSlide20.xml"/><Relationship Id="rId3" Type="http://schemas.openxmlformats.org/officeDocument/2006/relationships/slideLayout" Target="../slideLayouts/slideLayout31.xml"/><Relationship Id="rId2" Type="http://schemas.openxmlformats.org/officeDocument/2006/relationships/image" Target="../media/image16.png"/><Relationship Id="rId1" Type="http://schemas.openxmlformats.org/officeDocument/2006/relationships/tags" Target="../tags/tag5.xml"/></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21.xml"/><Relationship Id="rId3" Type="http://schemas.openxmlformats.org/officeDocument/2006/relationships/slideLayout" Target="../slideLayouts/slideLayout31.xml"/><Relationship Id="rId2" Type="http://schemas.openxmlformats.org/officeDocument/2006/relationships/image" Target="../media/image17.png"/><Relationship Id="rId1" Type="http://schemas.openxmlformats.org/officeDocument/2006/relationships/tags" Target="../tags/tag6.xml"/></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22.xml"/><Relationship Id="rId3" Type="http://schemas.openxmlformats.org/officeDocument/2006/relationships/slideLayout" Target="../slideLayouts/slideLayout31.xml"/><Relationship Id="rId2" Type="http://schemas.openxmlformats.org/officeDocument/2006/relationships/image" Target="../media/image18.png"/><Relationship Id="rId1" Type="http://schemas.openxmlformats.org/officeDocument/2006/relationships/tags" Target="../tags/tag7.xml"/></Relationships>
</file>

<file path=ppt/slides/_rels/slide23.xml.rels><?xml version="1.0" encoding="UTF-8" standalone="yes"?>
<Relationships xmlns="http://schemas.openxmlformats.org/package/2006/relationships"><Relationship Id="rId4" Type="http://schemas.openxmlformats.org/officeDocument/2006/relationships/notesSlide" Target="../notesSlides/notesSlide23.xml"/><Relationship Id="rId3" Type="http://schemas.openxmlformats.org/officeDocument/2006/relationships/slideLayout" Target="../slideLayouts/slideLayout31.xml"/><Relationship Id="rId2" Type="http://schemas.openxmlformats.org/officeDocument/2006/relationships/image" Target="../media/image19.png"/><Relationship Id="rId1" Type="http://schemas.openxmlformats.org/officeDocument/2006/relationships/tags" Target="../tags/tag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4" Type="http://schemas.openxmlformats.org/officeDocument/2006/relationships/notesSlide" Target="../notesSlides/notesSlide25.xml"/><Relationship Id="rId3" Type="http://schemas.openxmlformats.org/officeDocument/2006/relationships/slideLayout" Target="../slideLayouts/slideLayout31.xml"/><Relationship Id="rId2" Type="http://schemas.openxmlformats.org/officeDocument/2006/relationships/image" Target="../media/image20.png"/><Relationship Id="rId1" Type="http://schemas.openxmlformats.org/officeDocument/2006/relationships/tags" Target="../tags/tag9.xml"/></Relationships>
</file>

<file path=ppt/slides/_rels/slide26.xml.rels><?xml version="1.0" encoding="UTF-8" standalone="yes"?>
<Relationships xmlns="http://schemas.openxmlformats.org/package/2006/relationships"><Relationship Id="rId4" Type="http://schemas.openxmlformats.org/officeDocument/2006/relationships/notesSlide" Target="../notesSlides/notesSlide26.xml"/><Relationship Id="rId3" Type="http://schemas.openxmlformats.org/officeDocument/2006/relationships/slideLayout" Target="../slideLayouts/slideLayout31.xml"/><Relationship Id="rId2" Type="http://schemas.openxmlformats.org/officeDocument/2006/relationships/image" Target="../media/image21.png"/><Relationship Id="rId1" Type="http://schemas.openxmlformats.org/officeDocument/2006/relationships/tags" Target="../tags/tag10.xml"/></Relationships>
</file>

<file path=ppt/slides/_rels/slide27.xml.rels><?xml version="1.0" encoding="UTF-8" standalone="yes"?>
<Relationships xmlns="http://schemas.openxmlformats.org/package/2006/relationships"><Relationship Id="rId4" Type="http://schemas.openxmlformats.org/officeDocument/2006/relationships/notesSlide" Target="../notesSlides/notesSlide27.xml"/><Relationship Id="rId3" Type="http://schemas.openxmlformats.org/officeDocument/2006/relationships/slideLayout" Target="../slideLayouts/slideLayout31.xml"/><Relationship Id="rId2" Type="http://schemas.openxmlformats.org/officeDocument/2006/relationships/image" Target="../media/image22.png"/><Relationship Id="rId1" Type="http://schemas.openxmlformats.org/officeDocument/2006/relationships/tags" Target="../tags/tag11.xml"/></Relationships>
</file>

<file path=ppt/slides/_rels/slide28.xml.rels><?xml version="1.0" encoding="UTF-8" standalone="yes"?>
<Relationships xmlns="http://schemas.openxmlformats.org/package/2006/relationships"><Relationship Id="rId5" Type="http://schemas.openxmlformats.org/officeDocument/2006/relationships/notesSlide" Target="../notesSlides/notesSlide28.xml"/><Relationship Id="rId4" Type="http://schemas.openxmlformats.org/officeDocument/2006/relationships/slideLayout" Target="../slideLayouts/slideLayout31.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tags" Target="../tags/tag12.xml"/></Relationships>
</file>

<file path=ppt/slides/_rels/slide29.xml.rels><?xml version="1.0" encoding="UTF-8" standalone="yes"?>
<Relationships xmlns="http://schemas.openxmlformats.org/package/2006/relationships"><Relationship Id="rId4" Type="http://schemas.openxmlformats.org/officeDocument/2006/relationships/notesSlide" Target="../notesSlides/notesSlide29.xml"/><Relationship Id="rId3" Type="http://schemas.openxmlformats.org/officeDocument/2006/relationships/slideLayout" Target="../slideLayouts/slideLayout31.xml"/><Relationship Id="rId2" Type="http://schemas.openxmlformats.org/officeDocument/2006/relationships/image" Target="../media/image26.png"/><Relationship Id="rId1" Type="http://schemas.openxmlformats.org/officeDocument/2006/relationships/image" Target="../media/image25.png"/></Relationships>
</file>

<file path=ppt/slides/_rels/slide30.xml.rels><?xml version="1.0" encoding="UTF-8" standalone="yes"?>
<Relationships xmlns="http://schemas.openxmlformats.org/package/2006/relationships"><Relationship Id="rId4" Type="http://schemas.openxmlformats.org/officeDocument/2006/relationships/notesSlide" Target="../notesSlides/notesSlide30.xml"/><Relationship Id="rId3" Type="http://schemas.openxmlformats.org/officeDocument/2006/relationships/slideLayout" Target="../slideLayouts/slideLayout31.xml"/><Relationship Id="rId2" Type="http://schemas.openxmlformats.org/officeDocument/2006/relationships/image" Target="../media/image27.png"/><Relationship Id="rId1" Type="http://schemas.openxmlformats.org/officeDocument/2006/relationships/tags" Target="../tags/tag13.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31.xml"/><Relationship Id="rId1" Type="http://schemas.openxmlformats.org/officeDocument/2006/relationships/image" Target="../media/image28.png"/></Relationships>
</file>

<file path=ppt/slides/_rels/slide32.xml.rels><?xml version="1.0" encoding="UTF-8" standalone="yes"?>
<Relationships xmlns="http://schemas.openxmlformats.org/package/2006/relationships"><Relationship Id="rId4" Type="http://schemas.openxmlformats.org/officeDocument/2006/relationships/notesSlide" Target="../notesSlides/notesSlide32.xml"/><Relationship Id="rId3" Type="http://schemas.openxmlformats.org/officeDocument/2006/relationships/slideLayout" Target="../slideLayouts/slideLayout31.xml"/><Relationship Id="rId2" Type="http://schemas.openxmlformats.org/officeDocument/2006/relationships/image" Target="../media/image29.png"/><Relationship Id="rId1" Type="http://schemas.openxmlformats.org/officeDocument/2006/relationships/tags" Target="../tags/tag14.xml"/></Relationships>
</file>

<file path=ppt/slides/_rels/slide33.xml.rels><?xml version="1.0" encoding="UTF-8" standalone="yes"?>
<Relationships xmlns="http://schemas.openxmlformats.org/package/2006/relationships"><Relationship Id="rId4" Type="http://schemas.openxmlformats.org/officeDocument/2006/relationships/notesSlide" Target="../notesSlides/notesSlide33.xml"/><Relationship Id="rId3" Type="http://schemas.openxmlformats.org/officeDocument/2006/relationships/slideLayout" Target="../slideLayouts/slideLayout31.xml"/><Relationship Id="rId2" Type="http://schemas.openxmlformats.org/officeDocument/2006/relationships/image" Target="../media/image30.png"/><Relationship Id="rId1" Type="http://schemas.openxmlformats.org/officeDocument/2006/relationships/tags" Target="../tags/tag15.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31.xml"/><Relationship Id="rId1" Type="http://schemas.openxmlformats.org/officeDocument/2006/relationships/tags" Target="../tags/tag1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4" Type="http://schemas.openxmlformats.org/officeDocument/2006/relationships/notesSlide" Target="../notesSlides/notesSlide36.xml"/><Relationship Id="rId3" Type="http://schemas.openxmlformats.org/officeDocument/2006/relationships/slideLayout" Target="../slideLayouts/slideLayout31.xml"/><Relationship Id="rId2" Type="http://schemas.openxmlformats.org/officeDocument/2006/relationships/image" Target="../media/image32.png"/><Relationship Id="rId1" Type="http://schemas.openxmlformats.org/officeDocument/2006/relationships/image" Target="../media/image31.pn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31.xml"/><Relationship Id="rId1" Type="http://schemas.openxmlformats.org/officeDocument/2006/relationships/image" Target="../media/image33.png"/></Relationships>
</file>

<file path=ppt/slides/_rels/slide38.xml.rels><?xml version="1.0" encoding="UTF-8" standalone="yes"?>
<Relationships xmlns="http://schemas.openxmlformats.org/package/2006/relationships"><Relationship Id="rId4" Type="http://schemas.openxmlformats.org/officeDocument/2006/relationships/notesSlide" Target="../notesSlides/notesSlide38.xml"/><Relationship Id="rId3" Type="http://schemas.openxmlformats.org/officeDocument/2006/relationships/slideLayout" Target="../slideLayouts/slideLayout31.xml"/><Relationship Id="rId2" Type="http://schemas.openxmlformats.org/officeDocument/2006/relationships/image" Target="../media/image34.png"/><Relationship Id="rId1" Type="http://schemas.openxmlformats.org/officeDocument/2006/relationships/tags" Target="../tags/tag17.xml"/></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31.xml"/><Relationship Id="rId1" Type="http://schemas.openxmlformats.org/officeDocument/2006/relationships/tags" Target="../tags/tag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1.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31.xml"/><Relationship Id="rId1" Type="http://schemas.openxmlformats.org/officeDocument/2006/relationships/image" Target="../media/image35.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31.xml"/><Relationship Id="rId1" Type="http://schemas.openxmlformats.org/officeDocument/2006/relationships/tags" Target="../tags/tag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5.xml.rels><?xml version="1.0" encoding="UTF-8" standalone="yes"?>
<Relationships xmlns="http://schemas.openxmlformats.org/package/2006/relationships"><Relationship Id="rId5" Type="http://schemas.openxmlformats.org/officeDocument/2006/relationships/slideLayout" Target="../slideLayouts/slideLayout11.xml"/><Relationship Id="rId4" Type="http://schemas.openxmlformats.org/officeDocument/2006/relationships/image" Target="../media/image37.png"/><Relationship Id="rId3" Type="http://schemas.openxmlformats.org/officeDocument/2006/relationships/image" Target="../media/image36.png"/><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884" name="Google Shape;1884;p35"/>
          <p:cNvSpPr txBox="1"/>
          <p:nvPr/>
        </p:nvSpPr>
        <p:spPr>
          <a:xfrm>
            <a:off x="680720" y="771525"/>
            <a:ext cx="7741285" cy="2711450"/>
          </a:xfrm>
          <a:prstGeom prst="rect">
            <a:avLst/>
          </a:prstGeom>
          <a:noFill/>
          <a:ln>
            <a:noFill/>
          </a:ln>
        </p:spPr>
        <p:txBody>
          <a:bodyPr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1pPr>
            <a:lvl2pPr marR="0" lvl="1"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2pPr>
            <a:lvl3pPr marR="0" lvl="2"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3pPr>
            <a:lvl4pPr marR="0" lvl="3"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4pPr>
            <a:lvl5pPr marR="0" lvl="4"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5pPr>
            <a:lvl6pPr marR="0" lvl="5"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6pPr>
            <a:lvl7pPr marR="0" lvl="6"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7pPr>
            <a:lvl8pPr marR="0" lvl="7"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8pPr>
            <a:lvl9pPr marR="0" lvl="8"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9pPr>
          </a:lstStyle>
          <a:p>
            <a:pPr marL="0" lvl="0" indent="0" algn="ctr" rtl="0">
              <a:spcBef>
                <a:spcPts val="0"/>
              </a:spcBef>
              <a:spcAft>
                <a:spcPts val="0"/>
              </a:spcAft>
              <a:buNone/>
            </a:pPr>
            <a:r>
              <a:rPr lang="en-US" altLang="en-US" sz="2400" b="1">
                <a:solidFill>
                  <a:schemeClr val="dk2"/>
                </a:solidFill>
                <a:latin typeface="Times New Roman" panose="02020603050405020304" charset="0"/>
                <a:cs typeface="Times New Roman" panose="02020603050405020304" charset="0"/>
              </a:rPr>
              <a:t>Анализа, оптимизација и доменска адаптација Whisper модела за аутоматско препознавање говора на српском језику</a:t>
            </a:r>
            <a:endParaRPr lang="en-US" altLang="en-US" sz="2400" b="1">
              <a:solidFill>
                <a:schemeClr val="dk2"/>
              </a:solidFill>
              <a:latin typeface="Times New Roman" panose="02020603050405020304" charset="0"/>
              <a:cs typeface="Times New Roman" panose="02020603050405020304" charset="0"/>
            </a:endParaRPr>
          </a:p>
          <a:p>
            <a:pPr marL="0" lvl="0" indent="0" algn="ctr" rtl="0">
              <a:spcBef>
                <a:spcPts val="0"/>
              </a:spcBef>
              <a:spcAft>
                <a:spcPts val="0"/>
              </a:spcAft>
              <a:buNone/>
            </a:pPr>
            <a:endParaRPr lang="en-US" altLang="en-US" sz="2400" b="1">
              <a:solidFill>
                <a:schemeClr val="dk2"/>
              </a:solidFill>
              <a:latin typeface="Times New Roman" panose="02020603050405020304" charset="0"/>
              <a:cs typeface="Times New Roman" panose="02020603050405020304" charset="0"/>
            </a:endParaRPr>
          </a:p>
          <a:p>
            <a:pPr marL="0" lvl="0" indent="0" algn="ctr" rtl="0">
              <a:spcBef>
                <a:spcPts val="0"/>
              </a:spcBef>
              <a:spcAft>
                <a:spcPts val="0"/>
              </a:spcAft>
              <a:buNone/>
            </a:pPr>
            <a:r>
              <a:rPr lang="sr-Cyrl-BA" altLang="sr-Latn-RS" sz="18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sym typeface="+mn-ea"/>
              </a:rPr>
              <a:t>МАСТЕР РАД</a:t>
            </a:r>
            <a:endParaRPr lang="sr-Cyrl-BA" altLang="sr-Latn-RS" sz="18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sym typeface="+mn-ea"/>
            </a:endParaRPr>
          </a:p>
          <a:p>
            <a:pPr marL="0" lvl="0" indent="0" algn="ctr" rtl="0">
              <a:spcBef>
                <a:spcPts val="0"/>
              </a:spcBef>
              <a:spcAft>
                <a:spcPts val="0"/>
              </a:spcAft>
              <a:buNone/>
            </a:pPr>
            <a:r>
              <a:rPr lang="sr-Cyrl-BA" altLang="sr-Latn-RS" sz="1800">
                <a:solidFill>
                  <a:schemeClr val="dk2"/>
                </a:solidFill>
                <a:latin typeface="Times New Roman" panose="02020603050405020304" charset="0"/>
                <a:cs typeface="Times New Roman" panose="02020603050405020304" charset="0"/>
              </a:rPr>
              <a:t>Студијски програм: Вештачка интелигенција и машинско учење</a:t>
            </a:r>
            <a:endParaRPr lang="sr-Cyrl-BA" altLang="sr-Latn-RS" sz="1800">
              <a:solidFill>
                <a:schemeClr val="dk2"/>
              </a:solidFill>
              <a:latin typeface="Times New Roman" panose="02020603050405020304" charset="0"/>
              <a:cs typeface="Times New Roman" panose="02020603050405020304" charset="0"/>
            </a:endParaRPr>
          </a:p>
        </p:txBody>
      </p:sp>
      <p:pic>
        <p:nvPicPr>
          <p:cNvPr id="5" name="Picture 4"/>
          <p:cNvPicPr>
            <a:picLocks noChangeAspect="1"/>
          </p:cNvPicPr>
          <p:nvPr/>
        </p:nvPicPr>
        <p:blipFill>
          <a:blip r:embed="rId1"/>
          <a:stretch>
            <a:fillRect/>
          </a:stretch>
        </p:blipFill>
        <p:spPr>
          <a:xfrm>
            <a:off x="681355" y="123825"/>
            <a:ext cx="1082040" cy="1045210"/>
          </a:xfrm>
          <a:prstGeom prst="rect">
            <a:avLst/>
          </a:prstGeom>
        </p:spPr>
      </p:pic>
      <p:pic>
        <p:nvPicPr>
          <p:cNvPr id="6" name="Picture 5"/>
          <p:cNvPicPr>
            <a:picLocks noChangeAspect="1"/>
          </p:cNvPicPr>
          <p:nvPr/>
        </p:nvPicPr>
        <p:blipFill>
          <a:blip r:embed="rId2"/>
          <a:stretch>
            <a:fillRect/>
          </a:stretch>
        </p:blipFill>
        <p:spPr>
          <a:xfrm>
            <a:off x="7452360" y="123825"/>
            <a:ext cx="1010285" cy="1031240"/>
          </a:xfrm>
          <a:prstGeom prst="rect">
            <a:avLst/>
          </a:prstGeom>
        </p:spPr>
      </p:pic>
      <p:sp>
        <p:nvSpPr>
          <p:cNvPr id="4" name="Google Shape;1885;p35"/>
          <p:cNvSpPr txBox="1"/>
          <p:nvPr/>
        </p:nvSpPr>
        <p:spPr>
          <a:xfrm>
            <a:off x="2776220" y="195580"/>
            <a:ext cx="3660140" cy="895985"/>
          </a:xfrm>
          <a:prstGeom prst="rect">
            <a:avLst/>
          </a:prstGeom>
        </p:spPr>
        <p:txBody>
          <a:bodyPr wrap="square" lIns="91425" tIns="91425" rIns="91425" bIns="91425"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marR="0" lvl="1"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marR="0" lvl="2"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marR="0" lvl="3"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marR="0" lvl="4"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marR="0" lvl="5"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marR="0" lvl="6"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marR="0" lvl="7"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marR="0" lvl="8"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a:pPr marL="0" lvl="0" indent="0" algn="ctr" rtl="0">
              <a:spcBef>
                <a:spcPts val="0"/>
              </a:spcBef>
              <a:spcAft>
                <a:spcPts val="0"/>
              </a:spcAft>
              <a:buClr>
                <a:schemeClr val="dk1"/>
              </a:buClr>
              <a:buSzPts val="1100"/>
              <a:buFont typeface="Arial" panose="020B0604020202020204"/>
              <a:buNone/>
            </a:pPr>
            <a:r>
              <a:rPr lang="sr-Cyrl-BA" altLang="sr-Latn-RS" sz="2000">
                <a:solidFill>
                  <a:schemeClr val="accent1"/>
                </a:solidFill>
                <a:latin typeface="Times New Roman" panose="02020603050405020304" charset="0"/>
                <a:cs typeface="Times New Roman" panose="02020603050405020304" charset="0"/>
              </a:rPr>
              <a:t>УНИВЕРЗИТЕТ У НИШУ</a:t>
            </a:r>
            <a:endParaRPr lang="sr-Cyrl-BA" altLang="sr-Latn-RS" sz="2000">
              <a:solidFill>
                <a:schemeClr val="accent1"/>
              </a:solidFill>
              <a:latin typeface="Times New Roman" panose="02020603050405020304" charset="0"/>
              <a:cs typeface="Times New Roman" panose="02020603050405020304" charset="0"/>
            </a:endParaRPr>
          </a:p>
          <a:p>
            <a:pPr marL="0" lvl="0" indent="0" algn="ctr" rtl="0">
              <a:spcBef>
                <a:spcPts val="0"/>
              </a:spcBef>
              <a:spcAft>
                <a:spcPts val="0"/>
              </a:spcAft>
              <a:buClr>
                <a:schemeClr val="dk1"/>
              </a:buClr>
              <a:buSzPts val="1100"/>
              <a:buFont typeface="Arial" panose="020B0604020202020204"/>
              <a:buNone/>
            </a:pPr>
            <a:r>
              <a:rPr lang="sr-Cyrl-BA" altLang="sr-Latn-RS" sz="2000">
                <a:solidFill>
                  <a:schemeClr val="accent1"/>
                </a:solidFill>
                <a:latin typeface="Times New Roman" panose="02020603050405020304" charset="0"/>
                <a:cs typeface="Times New Roman" panose="02020603050405020304" charset="0"/>
              </a:rPr>
              <a:t>ЕЛЕКТРОНСКИ ФАКУЛТЕТ</a:t>
            </a:r>
            <a:endParaRPr lang="sr-Cyrl-BA" altLang="sr-Latn-RS" sz="2000">
              <a:solidFill>
                <a:schemeClr val="accent1"/>
              </a:solidFill>
              <a:latin typeface="Times New Roman" panose="02020603050405020304" charset="0"/>
              <a:cs typeface="Times New Roman" panose="02020603050405020304" charset="0"/>
            </a:endParaRPr>
          </a:p>
        </p:txBody>
      </p:sp>
      <p:sp>
        <p:nvSpPr>
          <p:cNvPr id="1885" name="Google Shape;1885;p35"/>
          <p:cNvSpPr txBox="1"/>
          <p:nvPr/>
        </p:nvSpPr>
        <p:spPr>
          <a:xfrm>
            <a:off x="43815" y="3724275"/>
            <a:ext cx="4527550" cy="895985"/>
          </a:xfrm>
          <a:prstGeom prst="rect">
            <a:avLst/>
          </a:prstGeom>
        </p:spPr>
        <p:txBody>
          <a:bodyPr wrap="square" lIns="91425" tIns="91425" rIns="91425" bIns="91425"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marR="0" lvl="1"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marR="0" lvl="2"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marR="0" lvl="3"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marR="0" lvl="4"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marR="0" lvl="5"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marR="0" lvl="6"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marR="0" lvl="7"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marR="0" lvl="8"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a:pPr marL="0" lvl="0" indent="0" algn="ctr" rtl="0">
              <a:spcBef>
                <a:spcPts val="0"/>
              </a:spcBef>
              <a:spcAft>
                <a:spcPts val="0"/>
              </a:spcAft>
              <a:buClr>
                <a:schemeClr val="dk1"/>
              </a:buClr>
              <a:buSzPts val="1100"/>
              <a:buFont typeface="Arial" panose="020B0604020202020204"/>
              <a:buNone/>
            </a:pPr>
            <a:r>
              <a:rPr lang="sr-Cyrl-BA" altLang="sr-Latn-RS" sz="1800">
                <a:solidFill>
                  <a:schemeClr val="accent1"/>
                </a:solidFill>
                <a:latin typeface="Times New Roman" panose="02020603050405020304" charset="0"/>
                <a:cs typeface="Times New Roman" panose="02020603050405020304" charset="0"/>
              </a:rPr>
              <a:t>Студент:</a:t>
            </a:r>
            <a:endParaRPr lang="sr-Latn-RS" sz="1800">
              <a:solidFill>
                <a:schemeClr val="accent1"/>
              </a:solidFill>
              <a:latin typeface="Times New Roman" panose="02020603050405020304" charset="0"/>
              <a:cs typeface="Times New Roman" panose="02020603050405020304" charset="0"/>
            </a:endParaRPr>
          </a:p>
          <a:p>
            <a:pPr marL="0" lvl="0" indent="0" algn="ctr" rtl="0">
              <a:spcBef>
                <a:spcPts val="0"/>
              </a:spcBef>
              <a:spcAft>
                <a:spcPts val="0"/>
              </a:spcAft>
              <a:buClr>
                <a:schemeClr val="dk1"/>
              </a:buClr>
              <a:buSzPts val="1100"/>
              <a:buFont typeface="Arial" panose="020B0604020202020204"/>
              <a:buNone/>
            </a:pPr>
            <a:r>
              <a:rPr lang="sr-Cyrl-BA" altLang="sr-Latn-RS" sz="1800">
                <a:solidFill>
                  <a:schemeClr val="accent1"/>
                </a:solidFill>
                <a:latin typeface="Times New Roman" panose="02020603050405020304" charset="0"/>
                <a:cs typeface="Times New Roman" panose="02020603050405020304" charset="0"/>
              </a:rPr>
              <a:t>Александар Јовановић</a:t>
            </a:r>
            <a:r>
              <a:rPr lang="sr-Latn-RS" sz="1800">
                <a:solidFill>
                  <a:schemeClr val="accent1"/>
                </a:solidFill>
                <a:latin typeface="Times New Roman" panose="02020603050405020304" charset="0"/>
                <a:cs typeface="Times New Roman" panose="02020603050405020304" charset="0"/>
              </a:rPr>
              <a:t> </a:t>
            </a:r>
            <a:endParaRPr lang="sr-Latn-RS" sz="1800">
              <a:solidFill>
                <a:schemeClr val="accent1"/>
              </a:solidFill>
              <a:latin typeface="Times New Roman" panose="02020603050405020304" charset="0"/>
              <a:cs typeface="Times New Roman" panose="02020603050405020304" charset="0"/>
            </a:endParaRPr>
          </a:p>
          <a:p>
            <a:pPr marL="0" lvl="0" indent="0" algn="ctr" rtl="0">
              <a:spcBef>
                <a:spcPts val="0"/>
              </a:spcBef>
              <a:spcAft>
                <a:spcPts val="0"/>
              </a:spcAft>
              <a:buClr>
                <a:schemeClr val="dk1"/>
              </a:buClr>
              <a:buSzPts val="1100"/>
              <a:buFont typeface="Arial" panose="020B0604020202020204"/>
              <a:buNone/>
            </a:pPr>
            <a:r>
              <a:rPr lang="sr-Cyrl-BA" altLang="sr-Latn-RS" sz="1800">
                <a:solidFill>
                  <a:schemeClr val="accent1"/>
                </a:solidFill>
                <a:latin typeface="Times New Roman" panose="02020603050405020304" charset="0"/>
                <a:cs typeface="Times New Roman" panose="02020603050405020304" charset="0"/>
              </a:rPr>
              <a:t>Бр</a:t>
            </a:r>
            <a:r>
              <a:rPr lang="sr-Latn-RS" sz="1800">
                <a:solidFill>
                  <a:schemeClr val="accent1"/>
                </a:solidFill>
                <a:latin typeface="Times New Roman" panose="02020603050405020304" charset="0"/>
                <a:cs typeface="Times New Roman" panose="02020603050405020304" charset="0"/>
              </a:rPr>
              <a:t>.</a:t>
            </a:r>
            <a:r>
              <a:rPr lang="sr-Cyrl-BA" altLang="sr-Latn-RS" sz="1800">
                <a:solidFill>
                  <a:schemeClr val="accent1"/>
                </a:solidFill>
                <a:latin typeface="Times New Roman" panose="02020603050405020304" charset="0"/>
                <a:cs typeface="Times New Roman" panose="02020603050405020304" charset="0"/>
              </a:rPr>
              <a:t> индекса</a:t>
            </a:r>
            <a:r>
              <a:rPr lang="sr-Latn-RS" sz="1800">
                <a:solidFill>
                  <a:schemeClr val="accent1"/>
                </a:solidFill>
                <a:latin typeface="Times New Roman" panose="02020603050405020304" charset="0"/>
                <a:cs typeface="Times New Roman" panose="02020603050405020304" charset="0"/>
              </a:rPr>
              <a:t> </a:t>
            </a:r>
            <a:r>
              <a:rPr lang="en-US" altLang="sr-Latn-RS" sz="1800">
                <a:solidFill>
                  <a:schemeClr val="accent1"/>
                </a:solidFill>
                <a:latin typeface="Times New Roman" panose="02020603050405020304" charset="0"/>
                <a:cs typeface="Times New Roman" panose="02020603050405020304" charset="0"/>
              </a:rPr>
              <a:t>2120</a:t>
            </a:r>
            <a:endParaRPr sz="1800">
              <a:solidFill>
                <a:schemeClr val="accent1"/>
              </a:solidFill>
              <a:latin typeface="Times New Roman" panose="02020603050405020304" charset="0"/>
              <a:cs typeface="Times New Roman" panose="02020603050405020304" charset="0"/>
            </a:endParaRPr>
          </a:p>
          <a:p>
            <a:pPr marL="0" lvl="0" indent="0" algn="ctr" rtl="0">
              <a:spcBef>
                <a:spcPts val="0"/>
              </a:spcBef>
              <a:spcAft>
                <a:spcPts val="0"/>
              </a:spcAft>
              <a:buClr>
                <a:schemeClr val="dk1"/>
              </a:buClr>
              <a:buSzPts val="1100"/>
              <a:buFont typeface="Arial" panose="020B0604020202020204"/>
              <a:buNone/>
            </a:pPr>
            <a:endParaRPr sz="1800">
              <a:solidFill>
                <a:schemeClr val="accent1"/>
              </a:solidFill>
              <a:latin typeface="Times New Roman" panose="02020603050405020304" charset="0"/>
              <a:cs typeface="Times New Roman" panose="02020603050405020304" charset="0"/>
            </a:endParaRPr>
          </a:p>
        </p:txBody>
      </p:sp>
      <p:sp>
        <p:nvSpPr>
          <p:cNvPr id="7" name="Google Shape;1885;p35"/>
          <p:cNvSpPr txBox="1"/>
          <p:nvPr/>
        </p:nvSpPr>
        <p:spPr>
          <a:xfrm>
            <a:off x="4589780" y="3724275"/>
            <a:ext cx="4572000" cy="895985"/>
          </a:xfrm>
          <a:prstGeom prst="rect">
            <a:avLst/>
          </a:prstGeom>
        </p:spPr>
        <p:txBody>
          <a:bodyPr wrap="square" lIns="91425" tIns="91425" rIns="91425" bIns="91425"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marR="0" lvl="1"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marR="0" lvl="2"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marR="0" lvl="3"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marR="0" lvl="4"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marR="0" lvl="5"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marR="0" lvl="6"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marR="0" lvl="7"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marR="0" lvl="8"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a:pPr marL="0" lvl="0" indent="0" algn="ctr" rtl="0">
              <a:spcBef>
                <a:spcPts val="0"/>
              </a:spcBef>
              <a:spcAft>
                <a:spcPts val="0"/>
              </a:spcAft>
              <a:buClr>
                <a:schemeClr val="dk1"/>
              </a:buClr>
              <a:buSzPts val="1100"/>
              <a:buFont typeface="Arial" panose="020B0604020202020204"/>
              <a:buNone/>
            </a:pPr>
            <a:r>
              <a:rPr lang="sr-Cyrl-BA" altLang="sr-Latn-RS" sz="1800">
                <a:solidFill>
                  <a:schemeClr val="accent1"/>
                </a:solidFill>
                <a:latin typeface="Times New Roman" panose="02020603050405020304" charset="0"/>
                <a:cs typeface="Times New Roman" panose="02020603050405020304" charset="0"/>
              </a:rPr>
              <a:t>Ментор:</a:t>
            </a:r>
            <a:endParaRPr lang="sr-Latn-RS" sz="1800">
              <a:solidFill>
                <a:schemeClr val="accent1"/>
              </a:solidFill>
              <a:latin typeface="Times New Roman" panose="02020603050405020304" charset="0"/>
              <a:cs typeface="Times New Roman" panose="02020603050405020304" charset="0"/>
            </a:endParaRPr>
          </a:p>
          <a:p>
            <a:pPr marL="0" lvl="0" indent="0" algn="ctr" rtl="0">
              <a:spcBef>
                <a:spcPts val="0"/>
              </a:spcBef>
              <a:spcAft>
                <a:spcPts val="0"/>
              </a:spcAft>
              <a:buClr>
                <a:schemeClr val="dk1"/>
              </a:buClr>
              <a:buSzPts val="1100"/>
              <a:buFont typeface="Arial" panose="020B0604020202020204"/>
              <a:buNone/>
            </a:pPr>
            <a:r>
              <a:rPr lang="sr-Cyrl-BA" altLang="sr-Latn-RS" sz="1800">
                <a:solidFill>
                  <a:schemeClr val="accent1"/>
                </a:solidFill>
                <a:latin typeface="Times New Roman" panose="02020603050405020304" charset="0"/>
                <a:cs typeface="Times New Roman" panose="02020603050405020304" charset="0"/>
              </a:rPr>
              <a:t>Проф. др</a:t>
            </a:r>
            <a:r>
              <a:rPr lang="sr-Latn-RS" sz="1800">
                <a:solidFill>
                  <a:schemeClr val="accent1"/>
                </a:solidFill>
                <a:latin typeface="Times New Roman" panose="02020603050405020304" charset="0"/>
                <a:cs typeface="Times New Roman" panose="02020603050405020304" charset="0"/>
              </a:rPr>
              <a:t> </a:t>
            </a:r>
            <a:r>
              <a:rPr lang="sr-Cyrl-BA" altLang="sr-Latn-RS" sz="1800">
                <a:solidFill>
                  <a:schemeClr val="accent1"/>
                </a:solidFill>
                <a:latin typeface="Times New Roman" panose="02020603050405020304" charset="0"/>
                <a:cs typeface="Times New Roman" panose="02020603050405020304" charset="0"/>
              </a:rPr>
              <a:t>Јелена</a:t>
            </a:r>
            <a:r>
              <a:rPr lang="sr-Cyrl-BA" altLang="sr-Latn-RS" sz="1800">
                <a:solidFill>
                  <a:schemeClr val="accent1"/>
                </a:solidFill>
                <a:latin typeface="Times New Roman" panose="02020603050405020304" charset="0"/>
                <a:cs typeface="Times New Roman" panose="02020603050405020304" charset="0"/>
              </a:rPr>
              <a:t> Николић</a:t>
            </a:r>
            <a:endParaRPr lang="sr-Latn-RS" sz="1800">
              <a:solidFill>
                <a:schemeClr val="accent1"/>
              </a:solidFill>
              <a:latin typeface="Times New Roman" panose="02020603050405020304" charset="0"/>
              <a:cs typeface="Times New Roman" panose="020206030504050203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3512" name="Shape 3512"/>
        <p:cNvGrpSpPr/>
        <p:nvPr/>
      </p:nvGrpSpPr>
      <p:grpSpPr>
        <a:xfrm>
          <a:off x="0" y="0"/>
          <a:ext cx="0" cy="0"/>
          <a:chOff x="0" y="0"/>
          <a:chExt cx="0" cy="0"/>
        </a:xfrm>
      </p:grpSpPr>
      <p:sp>
        <p:nvSpPr>
          <p:cNvPr id="3515" name="Google Shape;3515;p62"/>
          <p:cNvSpPr txBox="1"/>
          <p:nvPr>
            <p:ph type="title"/>
          </p:nvPr>
        </p:nvSpPr>
        <p:spPr>
          <a:xfrm>
            <a:off x="1572895" y="347345"/>
            <a:ext cx="5474970" cy="58547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US">
                <a:latin typeface="Times New Roman" panose="02020603050405020304" charset="0"/>
                <a:cs typeface="Times New Roman" panose="02020603050405020304" charset="0"/>
              </a:rPr>
              <a:t>Мотивација и проблем истраживања</a:t>
            </a:r>
            <a:endParaRPr lang="en-US" altLang="en-US">
              <a:latin typeface="Times New Roman" panose="02020603050405020304" charset="0"/>
              <a:cs typeface="Times New Roman" panose="02020603050405020304" charset="0"/>
            </a:endParaRPr>
          </a:p>
        </p:txBody>
      </p:sp>
      <p:pic>
        <p:nvPicPr>
          <p:cNvPr id="4" name="Picture 3"/>
          <p:cNvPicPr>
            <a:picLocks noChangeAspect="1"/>
          </p:cNvPicPr>
          <p:nvPr/>
        </p:nvPicPr>
        <p:blipFill>
          <a:blip r:embed="rId1"/>
          <a:stretch>
            <a:fillRect/>
          </a:stretch>
        </p:blipFill>
        <p:spPr>
          <a:xfrm>
            <a:off x="731520" y="1059815"/>
            <a:ext cx="371475" cy="361950"/>
          </a:xfrm>
          <a:prstGeom prst="rect">
            <a:avLst/>
          </a:prstGeom>
        </p:spPr>
      </p:pic>
      <p:sp>
        <p:nvSpPr>
          <p:cNvPr id="7" name="Text Box 6"/>
          <p:cNvSpPr txBox="1"/>
          <p:nvPr/>
        </p:nvSpPr>
        <p:spPr>
          <a:xfrm>
            <a:off x="731520" y="1609090"/>
            <a:ext cx="3048000" cy="107632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Препознавање српског говора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Испитивање тачности транскрипције на природним аудио-записима.</a:t>
            </a:r>
            <a:endParaRPr lang="en-US" sz="1600">
              <a:latin typeface="Times New Roman" panose="02020603050405020304" charset="0"/>
              <a:cs typeface="Times New Roman" panose="02020603050405020304" charset="0"/>
            </a:endParaRPr>
          </a:p>
        </p:txBody>
      </p:sp>
      <p:sp>
        <p:nvSpPr>
          <p:cNvPr id="8" name="Text Box 7"/>
          <p:cNvSpPr txBox="1"/>
          <p:nvPr/>
        </p:nvSpPr>
        <p:spPr>
          <a:xfrm>
            <a:off x="5470525" y="1635760"/>
            <a:ext cx="3048000" cy="107632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Ограничени ресурси</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Време обраде и потрошња меморије приликом CPU извршавања.</a:t>
            </a:r>
            <a:endParaRPr lang="en-US" sz="1600">
              <a:latin typeface="Times New Roman" panose="02020603050405020304" charset="0"/>
              <a:cs typeface="Times New Roman" panose="02020603050405020304" charset="0"/>
            </a:endParaRPr>
          </a:p>
        </p:txBody>
      </p:sp>
      <p:pic>
        <p:nvPicPr>
          <p:cNvPr id="9" name="Picture 8"/>
          <p:cNvPicPr>
            <a:picLocks noChangeAspect="1"/>
          </p:cNvPicPr>
          <p:nvPr/>
        </p:nvPicPr>
        <p:blipFill>
          <a:blip r:embed="rId2"/>
          <a:stretch>
            <a:fillRect/>
          </a:stretch>
        </p:blipFill>
        <p:spPr>
          <a:xfrm>
            <a:off x="5507990" y="1146175"/>
            <a:ext cx="285750" cy="276225"/>
          </a:xfrm>
          <a:prstGeom prst="rect">
            <a:avLst/>
          </a:prstGeom>
        </p:spPr>
      </p:pic>
      <p:pic>
        <p:nvPicPr>
          <p:cNvPr id="10" name="Picture 9"/>
          <p:cNvPicPr>
            <a:picLocks noChangeAspect="1"/>
          </p:cNvPicPr>
          <p:nvPr/>
        </p:nvPicPr>
        <p:blipFill>
          <a:blip r:embed="rId3"/>
          <a:stretch>
            <a:fillRect/>
          </a:stretch>
        </p:blipFill>
        <p:spPr>
          <a:xfrm>
            <a:off x="755650" y="2859405"/>
            <a:ext cx="285750" cy="276225"/>
          </a:xfrm>
          <a:prstGeom prst="rect">
            <a:avLst/>
          </a:prstGeom>
        </p:spPr>
      </p:pic>
      <p:sp>
        <p:nvSpPr>
          <p:cNvPr id="11" name="Text Box 10"/>
          <p:cNvSpPr txBox="1"/>
          <p:nvPr/>
        </p:nvSpPr>
        <p:spPr>
          <a:xfrm>
            <a:off x="731520" y="3361690"/>
            <a:ext cx="3048000" cy="82994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Различите конфигурације</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Величина модела, квантизација, декодирање и VAD.</a:t>
            </a:r>
            <a:endParaRPr lang="en-US" altLang="en-US" sz="1600">
              <a:latin typeface="Times New Roman" panose="02020603050405020304" charset="0"/>
              <a:cs typeface="Times New Roman" panose="02020603050405020304" charset="0"/>
            </a:endParaRPr>
          </a:p>
        </p:txBody>
      </p:sp>
      <p:pic>
        <p:nvPicPr>
          <p:cNvPr id="30" name="Picture 29"/>
          <p:cNvPicPr>
            <a:picLocks noChangeAspect="1"/>
          </p:cNvPicPr>
          <p:nvPr/>
        </p:nvPicPr>
        <p:blipFill>
          <a:blip r:embed="rId4"/>
          <a:stretch>
            <a:fillRect/>
          </a:stretch>
        </p:blipFill>
        <p:spPr>
          <a:xfrm>
            <a:off x="5527040" y="2840355"/>
            <a:ext cx="266700" cy="295275"/>
          </a:xfrm>
          <a:prstGeom prst="rect">
            <a:avLst/>
          </a:prstGeom>
        </p:spPr>
      </p:pic>
      <p:sp>
        <p:nvSpPr>
          <p:cNvPr id="31" name="Text Box 30"/>
          <p:cNvSpPr txBox="1"/>
          <p:nvPr/>
        </p:nvSpPr>
        <p:spPr>
          <a:xfrm>
            <a:off x="5436235" y="3364230"/>
            <a:ext cx="3048000" cy="82994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Специфична терминологија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Прилагођавање препознавања говора области пољопривреде.</a:t>
            </a:r>
            <a:endParaRPr lang="en-US" sz="1600">
              <a:latin typeface="Times New Roman" panose="02020603050405020304" charset="0"/>
              <a:cs typeface="Times New Roman" panose="02020603050405020304" charset="0"/>
            </a:endParaRPr>
          </a:p>
        </p:txBody>
      </p:sp>
      <p:sp>
        <p:nvSpPr>
          <p:cNvPr id="32" name="Text Box 31"/>
          <p:cNvSpPr txBox="1"/>
          <p:nvPr/>
        </p:nvSpPr>
        <p:spPr>
          <a:xfrm>
            <a:off x="2051685" y="4227830"/>
            <a:ext cx="6898005" cy="668020"/>
          </a:xfrm>
          <a:prstGeom prst="rect">
            <a:avLst/>
          </a:prstGeom>
          <a:noFill/>
        </p:spPr>
        <p:txBody>
          <a:bodyPr wrap="square" rtlCol="0">
            <a:noAutofit/>
          </a:bodyPr>
          <a:p>
            <a:pPr algn="l"/>
            <a:r>
              <a:rPr lang="en-US" altLang="en-US" sz="2400">
                <a:solidFill>
                  <a:schemeClr val="accent1"/>
                </a:solidFill>
                <a:highlight>
                  <a:srgbClr val="000000"/>
                </a:highlight>
                <a:latin typeface="Times New Roman" panose="02020603050405020304" charset="0"/>
                <a:cs typeface="Times New Roman" panose="02020603050405020304" charset="0"/>
              </a:rPr>
              <a:t>Како постићи добар однос тачности, брзине и меморијске ефикасности?</a:t>
            </a:r>
            <a:endParaRPr lang="en-US" altLang="en-US" sz="2400">
              <a:solidFill>
                <a:schemeClr val="accent1"/>
              </a:solidFill>
              <a:highlight>
                <a:srgbClr val="000000"/>
              </a:highlight>
              <a:latin typeface="Times New Roman" panose="02020603050405020304" charset="0"/>
              <a:cs typeface="Times New Roman" panose="020206030504050203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3512" name="Shape 3512"/>
        <p:cNvGrpSpPr/>
        <p:nvPr/>
      </p:nvGrpSpPr>
      <p:grpSpPr>
        <a:xfrm>
          <a:off x="0" y="0"/>
          <a:ext cx="0" cy="0"/>
          <a:chOff x="0" y="0"/>
          <a:chExt cx="0" cy="0"/>
        </a:xfrm>
      </p:grpSpPr>
      <p:sp>
        <p:nvSpPr>
          <p:cNvPr id="3515" name="Google Shape;3515;p62"/>
          <p:cNvSpPr txBox="1"/>
          <p:nvPr>
            <p:ph type="title"/>
          </p:nvPr>
        </p:nvSpPr>
        <p:spPr>
          <a:xfrm>
            <a:off x="2100600" y="347472"/>
            <a:ext cx="4947000" cy="58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US">
                <a:latin typeface="Times New Roman" panose="02020603050405020304" charset="0"/>
                <a:cs typeface="Times New Roman" panose="02020603050405020304" charset="0"/>
              </a:rPr>
              <a:t>Циљ и истраживачка питања</a:t>
            </a:r>
            <a:endParaRPr lang="en-US" altLang="en-US">
              <a:latin typeface="Times New Roman" panose="02020603050405020304" charset="0"/>
              <a:cs typeface="Times New Roman" panose="02020603050405020304" charset="0"/>
            </a:endParaRPr>
          </a:p>
        </p:txBody>
      </p:sp>
      <p:sp>
        <p:nvSpPr>
          <p:cNvPr id="2" name="Text Placeholder 1"/>
          <p:cNvSpPr/>
          <p:nvPr>
            <p:ph type="body" idx="1"/>
          </p:nvPr>
        </p:nvSpPr>
        <p:spPr>
          <a:xfrm>
            <a:off x="755650" y="2139315"/>
            <a:ext cx="5505450" cy="687070"/>
          </a:xfrm>
        </p:spPr>
        <p:txBody>
          <a:bodyPr/>
          <a:p>
            <a:pPr marL="139700" indent="0" algn="l"/>
            <a:r>
              <a:rPr lang="en-US" altLang="en-US">
                <a:solidFill>
                  <a:schemeClr val="accent1"/>
                </a:solidFill>
                <a:latin typeface="Times New Roman" panose="02020603050405020304" charset="0"/>
                <a:cs typeface="Times New Roman" panose="02020603050405020304" charset="0"/>
              </a:rPr>
              <a:t>ОСНОВНИ ЦИЉ</a:t>
            </a:r>
            <a:endParaRPr lang="en-US" altLang="en-US">
              <a:solidFill>
                <a:schemeClr val="accent1"/>
              </a:solidFill>
              <a:latin typeface="Times New Roman" panose="02020603050405020304" charset="0"/>
              <a:cs typeface="Times New Roman" panose="02020603050405020304" charset="0"/>
            </a:endParaRPr>
          </a:p>
          <a:p>
            <a:pPr marL="139700" indent="0" algn="l"/>
            <a:r>
              <a:rPr lang="en-US" altLang="en-US" b="1">
                <a:latin typeface="Times New Roman" panose="02020603050405020304" charset="0"/>
                <a:cs typeface="Times New Roman" panose="02020603050405020304" charset="0"/>
              </a:rPr>
              <a:t>Анализа и оптимизација Whisper система за српски говор, уз испитивање ефеката доменске адаптације.</a:t>
            </a:r>
            <a:endParaRPr lang="en-US" altLang="en-US" b="1">
              <a:latin typeface="Times New Roman" panose="02020603050405020304" charset="0"/>
              <a:cs typeface="Times New Roman" panose="02020603050405020304" charset="0"/>
            </a:endParaRPr>
          </a:p>
          <a:p>
            <a:pPr marL="139700" indent="0" algn="l"/>
            <a:endParaRPr lang="en-US" altLang="en-US">
              <a:latin typeface="Times New Roman" panose="02020603050405020304" charset="0"/>
              <a:cs typeface="Times New Roman" panose="02020603050405020304" charset="0"/>
            </a:endParaRPr>
          </a:p>
          <a:p>
            <a:pPr marL="482600" indent="-342900" algn="l">
              <a:buAutoNum type="arabicPeriod"/>
            </a:pPr>
            <a:r>
              <a:rPr lang="en-US" altLang="en-US">
                <a:latin typeface="Times New Roman" panose="02020603050405020304" charset="0"/>
                <a:cs typeface="Times New Roman" panose="02020603050405020304" charset="0"/>
              </a:rPr>
              <a:t>Какве су разлике између Whisper и Faster-Whisper система?</a:t>
            </a:r>
            <a:endParaRPr lang="en-US" altLang="en-US">
              <a:latin typeface="Times New Roman" panose="02020603050405020304" charset="0"/>
              <a:cs typeface="Times New Roman" panose="02020603050405020304" charset="0"/>
            </a:endParaRPr>
          </a:p>
          <a:p>
            <a:pPr marL="482600" indent="-342900" algn="l">
              <a:buAutoNum type="arabicPeriod"/>
            </a:pPr>
            <a:r>
              <a:rPr lang="en-US" altLang="en-US">
                <a:latin typeface="Times New Roman" panose="02020603050405020304" charset="0"/>
                <a:cs typeface="Times New Roman" panose="02020603050405020304" charset="0"/>
              </a:rPr>
              <a:t>Како конфигурација и</a:t>
            </a:r>
            <a:r>
              <a:rPr lang="sr-Latn-RS" altLang="en-US">
                <a:latin typeface="Times New Roman" panose="02020603050405020304" charset="0"/>
                <a:cs typeface="Times New Roman" panose="02020603050405020304" charset="0"/>
              </a:rPr>
              <a:t> </a:t>
            </a:r>
            <a:r>
              <a:rPr lang="sr-Cyrl-BA" altLang="en-US">
                <a:latin typeface="Times New Roman" panose="02020603050405020304" charset="0"/>
                <a:cs typeface="Times New Roman" panose="02020603050405020304" charset="0"/>
              </a:rPr>
              <a:t>остали</a:t>
            </a:r>
            <a:r>
              <a:rPr lang="en-US" altLang="en-US">
                <a:latin typeface="Times New Roman" panose="02020603050405020304" charset="0"/>
                <a:cs typeface="Times New Roman" panose="02020603050405020304" charset="0"/>
              </a:rPr>
              <a:t> услови утичу на WER, RTF и RAM?</a:t>
            </a:r>
            <a:endParaRPr lang="en-US" altLang="en-US">
              <a:latin typeface="Times New Roman" panose="02020603050405020304" charset="0"/>
              <a:cs typeface="Times New Roman" panose="02020603050405020304" charset="0"/>
            </a:endParaRPr>
          </a:p>
          <a:p>
            <a:pPr marL="482600" indent="-342900" algn="l">
              <a:buAutoNum type="arabicPeriod"/>
            </a:pPr>
            <a:r>
              <a:rPr lang="en-US" altLang="en-US">
                <a:latin typeface="Times New Roman" panose="02020603050405020304" charset="0"/>
                <a:cs typeface="Times New Roman" panose="02020603050405020304" charset="0"/>
              </a:rPr>
              <a:t>Како одабрати конфигурацију на основу више критеријума?</a:t>
            </a:r>
            <a:endParaRPr lang="en-US" altLang="en-US">
              <a:latin typeface="Times New Roman" panose="02020603050405020304" charset="0"/>
              <a:cs typeface="Times New Roman" panose="02020603050405020304" charset="0"/>
            </a:endParaRPr>
          </a:p>
          <a:p>
            <a:pPr marL="482600" indent="-342900" algn="l">
              <a:buAutoNum type="arabicPeriod"/>
            </a:pPr>
            <a:r>
              <a:rPr lang="en-US" altLang="en-US">
                <a:latin typeface="Times New Roman" panose="02020603050405020304" charset="0"/>
                <a:cs typeface="Times New Roman" panose="02020603050405020304" charset="0"/>
              </a:rPr>
              <a:t>Какав ефекат има адаптација на пољопривредни говор и новог говорника?</a:t>
            </a:r>
            <a:endParaRPr lang="en-US" altLang="en-US">
              <a:latin typeface="Times New Roman" panose="02020603050405020304" charset="0"/>
              <a:cs typeface="Times New Roman" panose="02020603050405020304" charset="0"/>
            </a:endParaRPr>
          </a:p>
        </p:txBody>
      </p:sp>
      <p:grpSp>
        <p:nvGrpSpPr>
          <p:cNvPr id="8" name="Google Shape;1690;p35"/>
          <p:cNvGrpSpPr/>
          <p:nvPr/>
        </p:nvGrpSpPr>
        <p:grpSpPr>
          <a:xfrm>
            <a:off x="6634480" y="3203575"/>
            <a:ext cx="1861820" cy="1282700"/>
            <a:chOff x="469775" y="238125"/>
            <a:chExt cx="6679425" cy="5229600"/>
          </a:xfrm>
        </p:grpSpPr>
        <p:sp>
          <p:nvSpPr>
            <p:cNvPr id="9"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0"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5"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8"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8"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9"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0"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1"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4"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5"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6"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7"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8"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9"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0"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1"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2"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3"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6"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7"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8"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9"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0"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200785" y="988060"/>
            <a:ext cx="6885940" cy="3524250"/>
          </a:xfrm>
        </p:spPr>
        <p:txBody>
          <a:bodyPr/>
          <a:p>
            <a:pPr marL="139700" indent="0">
              <a:buNone/>
            </a:pPr>
            <a:r>
              <a:rPr lang="en-US" altLang="en-US" sz="1600" b="1">
                <a:latin typeface="Times New Roman" panose="02020603050405020304" charset="0"/>
                <a:cs typeface="Times New Roman" panose="02020603050405020304" charset="0"/>
              </a:rPr>
              <a:t>Говорни скуп за евалуацију</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40 природних снимака српског говора · 3 говорника</a:t>
            </a:r>
            <a:endParaRPr lang="en-US" altLang="en-US" sz="1600">
              <a:latin typeface="Times New Roman" panose="02020603050405020304" charset="0"/>
              <a:cs typeface="Times New Roman" panose="02020603050405020304" charset="0"/>
            </a:endParaRPr>
          </a:p>
          <a:p>
            <a:endParaRPr lang="en-US" altLang="en-US" sz="1600">
              <a:latin typeface="Times New Roman" panose="02020603050405020304" charset="0"/>
              <a:cs typeface="Times New Roman" panose="02020603050405020304" charset="0"/>
            </a:endParaRPr>
          </a:p>
          <a:p>
            <a:pPr marL="139700" indent="0">
              <a:buNone/>
            </a:pPr>
            <a:r>
              <a:rPr lang="en-US" altLang="en-US" sz="1600" b="1">
                <a:latin typeface="Times New Roman" panose="02020603050405020304" charset="0"/>
                <a:cs typeface="Times New Roman" panose="02020603050405020304" charset="0"/>
              </a:rPr>
              <a:t>Систематска анализа и оптимизација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Величина модела, шум, квантизација, Beam Search и VAD</a:t>
            </a:r>
            <a:endParaRPr lang="en-US" altLang="en-US" sz="1600">
              <a:latin typeface="Times New Roman" panose="02020603050405020304" charset="0"/>
              <a:cs typeface="Times New Roman" panose="02020603050405020304" charset="0"/>
            </a:endParaRPr>
          </a:p>
          <a:p>
            <a:endParaRPr lang="en-US" altLang="en-US" sz="1600">
              <a:latin typeface="Times New Roman" panose="02020603050405020304" charset="0"/>
              <a:cs typeface="Times New Roman" panose="02020603050405020304" charset="0"/>
            </a:endParaRPr>
          </a:p>
          <a:p>
            <a:pPr marL="139700" indent="0" algn="l">
              <a:buNone/>
            </a:pPr>
            <a:r>
              <a:rPr lang="en-US" altLang="en-US" sz="1600" b="1">
                <a:latin typeface="Times New Roman" panose="02020603050405020304" charset="0"/>
                <a:cs typeface="Times New Roman" panose="02020603050405020304" charset="0"/>
              </a:rPr>
              <a:t>Симулирана streaming транскрипција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Утицај величине сегмента на латенцију, RTF и тачност</a:t>
            </a:r>
            <a:endParaRPr lang="en-US" altLang="en-US" sz="1600">
              <a:latin typeface="Times New Roman" panose="02020603050405020304" charset="0"/>
              <a:cs typeface="Times New Roman" panose="02020603050405020304" charset="0"/>
            </a:endParaRPr>
          </a:p>
          <a:p>
            <a:endParaRPr lang="en-US" altLang="en-US" sz="1600">
              <a:latin typeface="Times New Roman" panose="02020603050405020304" charset="0"/>
              <a:cs typeface="Times New Roman" panose="02020603050405020304" charset="0"/>
            </a:endParaRPr>
          </a:p>
          <a:p>
            <a:pPr marL="139700" indent="0" algn="l">
              <a:buNone/>
            </a:pPr>
            <a:r>
              <a:rPr lang="en-US" altLang="en-US" sz="1600" b="1">
                <a:latin typeface="Times New Roman" panose="02020603050405020304" charset="0"/>
                <a:cs typeface="Times New Roman" panose="02020603050405020304" charset="0"/>
              </a:rPr>
              <a:t>Аутоматски избор конфигурације</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Вишекритеријумска оптимизација · Pareto анализа · осетљивост</a:t>
            </a:r>
            <a:endParaRPr lang="en-US" altLang="en-US" sz="1600">
              <a:latin typeface="Times New Roman" panose="02020603050405020304" charset="0"/>
              <a:cs typeface="Times New Roman" panose="02020603050405020304" charset="0"/>
            </a:endParaRPr>
          </a:p>
          <a:p>
            <a:endParaRPr lang="en-US" altLang="en-US" sz="1600">
              <a:latin typeface="Times New Roman" panose="02020603050405020304" charset="0"/>
              <a:cs typeface="Times New Roman" panose="02020603050405020304" charset="0"/>
            </a:endParaRPr>
          </a:p>
          <a:p>
            <a:pPr marL="139700" indent="0" algn="l">
              <a:buNone/>
            </a:pPr>
            <a:r>
              <a:rPr lang="en-US" altLang="en-US" sz="1600" b="1">
                <a:latin typeface="Times New Roman" panose="02020603050405020304" charset="0"/>
                <a:cs typeface="Times New Roman" panose="02020603050405020304" charset="0"/>
              </a:rPr>
              <a:t>Доменска адаптација за пољопривреду</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800 снимака · fine-tuning · евалуација на новом говорнику</a:t>
            </a:r>
            <a:endParaRPr lang="en-US" altLang="en-US" sz="1600">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Оригинални доприноси рада</a:t>
            </a:r>
            <a:endParaRPr lang="en-US" altLang="en-US">
              <a:latin typeface="Times New Roman" panose="02020603050405020304" charset="0"/>
              <a:cs typeface="Times New Roman" panose="020206030504050203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itle 5"/>
          <p:cNvSpPr/>
          <p:nvPr>
            <p:ph type="title"/>
          </p:nvPr>
        </p:nvSpPr>
        <p:spPr>
          <a:xfrm>
            <a:off x="520700" y="290830"/>
            <a:ext cx="7033260" cy="575945"/>
          </a:xfrm>
        </p:spPr>
        <p:txBody>
          <a:bodyPr/>
          <a:p>
            <a:r>
              <a:rPr lang="en-US" altLang="en-US">
                <a:latin typeface="Times New Roman" panose="02020603050405020304" charset="0"/>
                <a:cs typeface="Times New Roman" panose="02020603050405020304" charset="0"/>
              </a:rPr>
              <a:t>Организација истраживања</a:t>
            </a:r>
            <a:endParaRPr lang="en-US" altLang="en-US">
              <a:latin typeface="Times New Roman" panose="02020603050405020304" charset="0"/>
              <a:cs typeface="Times New Roman" panose="02020603050405020304" charset="0"/>
            </a:endParaRPr>
          </a:p>
        </p:txBody>
      </p:sp>
      <p:sp>
        <p:nvSpPr>
          <p:cNvPr id="3" name="Rounded Rectangle 2"/>
          <p:cNvSpPr/>
          <p:nvPr/>
        </p:nvSpPr>
        <p:spPr>
          <a:xfrm>
            <a:off x="899795" y="988060"/>
            <a:ext cx="122047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21405B"/>
                </a:solidFill>
                <a:latin typeface="Times New Roman" panose="02020603050405020304" charset="0"/>
                <a:cs typeface="Times New Roman" panose="02020603050405020304" charset="0"/>
                <a:sym typeface="+mn-ea"/>
              </a:rPr>
              <a:t>Аудио скуп</a:t>
            </a:r>
            <a:endParaRPr>
              <a:latin typeface="Times New Roman" panose="02020603050405020304" charset="0"/>
              <a:cs typeface="Times New Roman" panose="02020603050405020304" charset="0"/>
            </a:endParaRPr>
          </a:p>
        </p:txBody>
      </p:sp>
      <p:sp>
        <p:nvSpPr>
          <p:cNvPr id="7" name="TextBox 10"/>
          <p:cNvSpPr txBox="1"/>
          <p:nvPr/>
        </p:nvSpPr>
        <p:spPr>
          <a:xfrm>
            <a:off x="2051431" y="170815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30" name="TextBox 14"/>
          <p:cNvSpPr txBox="1"/>
          <p:nvPr/>
        </p:nvSpPr>
        <p:spPr>
          <a:xfrm>
            <a:off x="3491738" y="235585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34" name="TextBox 18"/>
          <p:cNvSpPr txBox="1"/>
          <p:nvPr/>
        </p:nvSpPr>
        <p:spPr>
          <a:xfrm>
            <a:off x="5220335" y="307594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38" name="TextBox 22"/>
          <p:cNvSpPr txBox="1"/>
          <p:nvPr/>
        </p:nvSpPr>
        <p:spPr>
          <a:xfrm>
            <a:off x="6660642" y="386842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42" name="Rounded Rectangle 41"/>
          <p:cNvSpPr/>
          <p:nvPr/>
        </p:nvSpPr>
        <p:spPr>
          <a:xfrm>
            <a:off x="2339975" y="1779905"/>
            <a:ext cx="122047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21405B"/>
                </a:solidFill>
                <a:latin typeface="Times New Roman" panose="02020603050405020304" charset="0"/>
                <a:cs typeface="Times New Roman" panose="02020603050405020304" charset="0"/>
                <a:sym typeface="+mn-ea"/>
              </a:rPr>
              <a:t>Benchmark</a:t>
            </a:r>
            <a:endParaRPr b="1" i="0">
              <a:solidFill>
                <a:srgbClr val="21405B"/>
              </a:solidFill>
              <a:latin typeface="Times New Roman" panose="02020603050405020304" charset="0"/>
              <a:cs typeface="Times New Roman" panose="02020603050405020304" charset="0"/>
            </a:endParaRPr>
          </a:p>
          <a:p>
            <a:pPr algn="ctr"/>
            <a:endParaRPr>
              <a:latin typeface="Times New Roman" panose="02020603050405020304" charset="0"/>
              <a:cs typeface="Times New Roman" panose="02020603050405020304" charset="0"/>
            </a:endParaRPr>
          </a:p>
        </p:txBody>
      </p:sp>
      <p:sp>
        <p:nvSpPr>
          <p:cNvPr id="43" name="Rounded Rectangle 42"/>
          <p:cNvSpPr/>
          <p:nvPr/>
        </p:nvSpPr>
        <p:spPr>
          <a:xfrm>
            <a:off x="3780155" y="2428240"/>
            <a:ext cx="149098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21405B"/>
                </a:solidFill>
                <a:latin typeface="Times New Roman" panose="02020603050405020304" charset="0"/>
                <a:cs typeface="Times New Roman" panose="02020603050405020304" charset="0"/>
                <a:sym typeface="+mn-ea"/>
              </a:rPr>
              <a:t>Оптимизације</a:t>
            </a:r>
            <a:endParaRPr b="1" i="0">
              <a:solidFill>
                <a:srgbClr val="21405B"/>
              </a:solidFill>
              <a:latin typeface="Times New Roman" panose="02020603050405020304" charset="0"/>
              <a:cs typeface="Times New Roman" panose="02020603050405020304" charset="0"/>
            </a:endParaRPr>
          </a:p>
          <a:p>
            <a:pPr algn="ctr"/>
            <a:endParaRPr>
              <a:latin typeface="Times New Roman" panose="02020603050405020304" charset="0"/>
              <a:cs typeface="Times New Roman" panose="02020603050405020304" charset="0"/>
            </a:endParaRPr>
          </a:p>
        </p:txBody>
      </p:sp>
      <p:sp>
        <p:nvSpPr>
          <p:cNvPr id="44" name="Rounded Rectangle 43"/>
          <p:cNvSpPr/>
          <p:nvPr/>
        </p:nvSpPr>
        <p:spPr>
          <a:xfrm>
            <a:off x="5490845" y="3220085"/>
            <a:ext cx="122047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21405B"/>
                </a:solidFill>
                <a:latin typeface="Times New Roman" panose="02020603050405020304" charset="0"/>
                <a:cs typeface="Times New Roman" panose="02020603050405020304" charset="0"/>
                <a:sym typeface="+mn-ea"/>
              </a:rPr>
              <a:t>Избор</a:t>
            </a:r>
            <a:endParaRPr b="1" i="0">
              <a:solidFill>
                <a:srgbClr val="21405B"/>
              </a:solidFill>
              <a:latin typeface="Times New Roman" panose="02020603050405020304" charset="0"/>
              <a:cs typeface="Times New Roman" panose="02020603050405020304" charset="0"/>
            </a:endParaRPr>
          </a:p>
          <a:p>
            <a:pPr algn="ctr"/>
            <a:endParaRPr>
              <a:latin typeface="Times New Roman" panose="02020603050405020304" charset="0"/>
              <a:cs typeface="Times New Roman" panose="02020603050405020304" charset="0"/>
            </a:endParaRPr>
          </a:p>
        </p:txBody>
      </p:sp>
      <p:sp>
        <p:nvSpPr>
          <p:cNvPr id="45" name="Rounded Rectangle 44"/>
          <p:cNvSpPr/>
          <p:nvPr/>
        </p:nvSpPr>
        <p:spPr>
          <a:xfrm>
            <a:off x="6931025" y="4011930"/>
            <a:ext cx="122047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21405B"/>
                </a:solidFill>
                <a:latin typeface="Times New Roman" panose="02020603050405020304" charset="0"/>
                <a:cs typeface="Times New Roman" panose="02020603050405020304" charset="0"/>
                <a:sym typeface="+mn-ea"/>
              </a:rPr>
              <a:t>Адаптација</a:t>
            </a:r>
            <a:endParaRPr b="1" i="0">
              <a:solidFill>
                <a:srgbClr val="21405B"/>
              </a:solidFill>
              <a:latin typeface="Times New Roman" panose="02020603050405020304" charset="0"/>
              <a:cs typeface="Times New Roman" panose="02020603050405020304" charset="0"/>
            </a:endParaRPr>
          </a:p>
          <a:p>
            <a:pPr algn="ctr"/>
            <a:endParaRPr>
              <a:latin typeface="Times New Roman" panose="02020603050405020304" charset="0"/>
              <a:cs typeface="Times New Roman" panose="0202060305040502030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881505" y="1247140"/>
            <a:ext cx="5554345" cy="3524250"/>
          </a:xfrm>
        </p:spPr>
        <p:txBody>
          <a:bodyPr/>
          <a:p>
            <a:pPr marL="139700" indent="0">
              <a:buNone/>
            </a:pPr>
            <a:r>
              <a:rPr lang="en-US" altLang="en-US" sz="1600" b="1">
                <a:latin typeface="Times New Roman" panose="02020603050405020304" charset="0"/>
                <a:cs typeface="Times New Roman" panose="02020603050405020304" charset="0"/>
              </a:rPr>
              <a:t>Претварање говорног сигнала у текстуалну секвенцу.</a:t>
            </a:r>
            <a:endParaRPr lang="en-US" altLang="en-US" sz="1600" b="1">
              <a:latin typeface="Times New Roman" panose="02020603050405020304" charset="0"/>
              <a:cs typeface="Times New Roman" panose="02020603050405020304" charset="0"/>
            </a:endParaRPr>
          </a:p>
          <a:p>
            <a:pPr marL="139700" indent="0">
              <a:buNone/>
            </a:pPr>
            <a:endParaRPr lang="en-US" altLang="en-US" sz="1600" b="1">
              <a:latin typeface="Times New Roman" panose="02020603050405020304" charset="0"/>
              <a:cs typeface="Times New Roman" panose="02020603050405020304" charset="0"/>
            </a:endParaRPr>
          </a:p>
          <a:p>
            <a:pPr marL="139700" indent="0">
              <a:buNone/>
            </a:pPr>
            <a:endParaRPr lang="en-US" altLang="en-US" sz="1600" b="1">
              <a:latin typeface="Times New Roman" panose="02020603050405020304" charset="0"/>
              <a:cs typeface="Times New Roman" panose="02020603050405020304" charset="0"/>
            </a:endParaRPr>
          </a:p>
          <a:p>
            <a:pPr marL="139700" indent="0" algn="ctr">
              <a:buNone/>
            </a:pPr>
            <a:r>
              <a:rPr lang="en-US" altLang="en-US" sz="1600" b="1">
                <a:solidFill>
                  <a:schemeClr val="accent1"/>
                </a:solidFill>
                <a:latin typeface="Times New Roman" panose="02020603050405020304" charset="0"/>
                <a:cs typeface="Times New Roman" panose="02020603050405020304" charset="0"/>
              </a:rPr>
              <a:t>Говор → аудио-сигнал → ASR модел → текст</a:t>
            </a:r>
            <a:endParaRPr lang="en-US" altLang="en-US" sz="1600" b="1">
              <a:solidFill>
                <a:schemeClr val="accent1"/>
              </a:solidFill>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Аутоматско препознавање говора (ASR)</a:t>
            </a:r>
            <a:endParaRPr lang="en-US" altLang="en-US">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tretch>
            <a:fillRect/>
          </a:stretch>
        </p:blipFill>
        <p:spPr>
          <a:xfrm>
            <a:off x="3708400" y="1635760"/>
            <a:ext cx="2324100" cy="390525"/>
          </a:xfrm>
          <a:prstGeom prst="rect">
            <a:avLst/>
          </a:prstGeom>
        </p:spPr>
      </p:pic>
      <p:sp>
        <p:nvSpPr>
          <p:cNvPr id="3" name="Text Box 2"/>
          <p:cNvSpPr txBox="1"/>
          <p:nvPr/>
        </p:nvSpPr>
        <p:spPr>
          <a:xfrm>
            <a:off x="3564255" y="2571750"/>
            <a:ext cx="3048000" cy="398780"/>
          </a:xfrm>
          <a:prstGeom prst="rect">
            <a:avLst/>
          </a:prstGeom>
          <a:noFill/>
        </p:spPr>
        <p:txBody>
          <a:bodyPr wrap="square" rtlCol="0">
            <a:spAutoFit/>
          </a:bodyPr>
          <a:p>
            <a:r>
              <a:rPr lang="en-US" altLang="en-US" sz="2000">
                <a:latin typeface="Times New Roman" panose="02020603050405020304" charset="0"/>
                <a:cs typeface="Times New Roman" panose="02020603050405020304" charset="0"/>
              </a:rPr>
              <a:t>Главни изазови</a:t>
            </a:r>
            <a:r>
              <a:rPr lang="sr-Cyrl-BA" altLang="en-US" sz="2000">
                <a:latin typeface="Times New Roman" panose="02020603050405020304" charset="0"/>
                <a:cs typeface="Times New Roman" panose="02020603050405020304" charset="0"/>
              </a:rPr>
              <a:t>:</a:t>
            </a:r>
            <a:endParaRPr lang="sr-Cyrl-BA" altLang="en-US" sz="2000">
              <a:latin typeface="Times New Roman" panose="02020603050405020304" charset="0"/>
              <a:cs typeface="Times New Roman" panose="02020603050405020304" charset="0"/>
            </a:endParaRPr>
          </a:p>
        </p:txBody>
      </p:sp>
      <p:sp>
        <p:nvSpPr>
          <p:cNvPr id="5" name="Text Box 4"/>
          <p:cNvSpPr txBox="1"/>
          <p:nvPr/>
        </p:nvSpPr>
        <p:spPr>
          <a:xfrm>
            <a:off x="1053465" y="3148330"/>
            <a:ext cx="304800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Говорник и изговор</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Акценат, темпо, паузе</a:t>
            </a:r>
            <a:endParaRPr lang="en-US" altLang="en-US" sz="1600">
              <a:latin typeface="Times New Roman" panose="02020603050405020304" charset="0"/>
              <a:cs typeface="Times New Roman" panose="02020603050405020304" charset="0"/>
            </a:endParaRPr>
          </a:p>
        </p:txBody>
      </p:sp>
      <p:sp>
        <p:nvSpPr>
          <p:cNvPr id="8" name="Text Box 7"/>
          <p:cNvSpPr txBox="1"/>
          <p:nvPr/>
        </p:nvSpPr>
        <p:spPr>
          <a:xfrm>
            <a:off x="5038725" y="3148330"/>
            <a:ext cx="304800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Услови снимања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Шум, микрофон, просторија</a:t>
            </a:r>
            <a:endParaRPr lang="en-US" altLang="en-US" sz="1600">
              <a:latin typeface="Times New Roman" panose="02020603050405020304" charset="0"/>
              <a:cs typeface="Times New Roman" panose="02020603050405020304" charset="0"/>
            </a:endParaRPr>
          </a:p>
        </p:txBody>
      </p:sp>
      <p:sp>
        <p:nvSpPr>
          <p:cNvPr id="9" name="Text Box 8"/>
          <p:cNvSpPr txBox="1"/>
          <p:nvPr/>
        </p:nvSpPr>
        <p:spPr>
          <a:xfrm>
            <a:off x="1053465" y="4084320"/>
            <a:ext cx="304800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Тачност препознавања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Грешке у транскрипцији</a:t>
            </a:r>
            <a:endParaRPr lang="en-US" altLang="en-US" sz="1600">
              <a:latin typeface="Times New Roman" panose="02020603050405020304" charset="0"/>
              <a:cs typeface="Times New Roman" panose="02020603050405020304" charset="0"/>
            </a:endParaRPr>
          </a:p>
        </p:txBody>
      </p:sp>
      <p:sp>
        <p:nvSpPr>
          <p:cNvPr id="12" name="Text Box 11"/>
          <p:cNvSpPr txBox="1"/>
          <p:nvPr/>
        </p:nvSpPr>
        <p:spPr>
          <a:xfrm>
            <a:off x="5038725" y="4084320"/>
            <a:ext cx="304800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Ефикасност извршавања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Време обраде и меморија</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619885" y="988060"/>
            <a:ext cx="5554345" cy="3524250"/>
          </a:xfrm>
        </p:spPr>
        <p:txBody>
          <a:bodyPr/>
          <a:p>
            <a:pPr marL="139700" indent="0">
              <a:buNone/>
            </a:pPr>
            <a:r>
              <a:rPr lang="en-US" altLang="en-US" sz="1600" b="1">
                <a:latin typeface="Times New Roman" panose="02020603050405020304" charset="0"/>
                <a:cs typeface="Times New Roman" panose="02020603050405020304" charset="0"/>
              </a:rPr>
              <a:t>Whisper користи лог-Mel спектрограм као улазну репрезентацију.</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Обрада и представљање аудио-сигнала</a:t>
            </a:r>
            <a:endParaRPr lang="en-US" altLang="en-US">
              <a:latin typeface="Times New Roman" panose="02020603050405020304" charset="0"/>
              <a:cs typeface="Times New Roman" panose="02020603050405020304" charset="0"/>
            </a:endParaRPr>
          </a:p>
        </p:txBody>
      </p:sp>
      <p:sp>
        <p:nvSpPr>
          <p:cNvPr id="50" name="Rounded Rectangle 49"/>
          <p:cNvSpPr/>
          <p:nvPr/>
        </p:nvSpPr>
        <p:spPr>
          <a:xfrm>
            <a:off x="1331595" y="1779905"/>
            <a:ext cx="122047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accent1"/>
                </a:solidFill>
                <a:latin typeface="Times New Roman" panose="02020603050405020304" charset="0"/>
                <a:cs typeface="Times New Roman" panose="02020603050405020304" charset="0"/>
              </a:rPr>
              <a:t>Дигитални аудио-сигнал (16 kHz)</a:t>
            </a:r>
            <a:endParaRPr lang="en-US" altLang="en-US">
              <a:solidFill>
                <a:schemeClr val="accent1"/>
              </a:solidFill>
              <a:latin typeface="Times New Roman" panose="02020603050405020304" charset="0"/>
              <a:cs typeface="Times New Roman" panose="02020603050405020304" charset="0"/>
            </a:endParaRPr>
          </a:p>
        </p:txBody>
      </p:sp>
      <p:sp>
        <p:nvSpPr>
          <p:cNvPr id="51" name="TextBox 10"/>
          <p:cNvSpPr txBox="1"/>
          <p:nvPr/>
        </p:nvSpPr>
        <p:spPr>
          <a:xfrm>
            <a:off x="2483231" y="249999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2" name="TextBox 14"/>
          <p:cNvSpPr txBox="1"/>
          <p:nvPr/>
        </p:nvSpPr>
        <p:spPr>
          <a:xfrm>
            <a:off x="3923538" y="314769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3" name="TextBox 18"/>
          <p:cNvSpPr txBox="1"/>
          <p:nvPr/>
        </p:nvSpPr>
        <p:spPr>
          <a:xfrm>
            <a:off x="5652135" y="386778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4" name="Rounded Rectangle 53"/>
          <p:cNvSpPr/>
          <p:nvPr/>
        </p:nvSpPr>
        <p:spPr>
          <a:xfrm>
            <a:off x="2771775" y="2571750"/>
            <a:ext cx="122047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accent1"/>
                </a:solidFill>
                <a:latin typeface="Times New Roman" panose="02020603050405020304" charset="0"/>
                <a:cs typeface="Times New Roman" panose="02020603050405020304" charset="0"/>
              </a:rPr>
              <a:t>STFT — временско-фреквенцијска анализа</a:t>
            </a:r>
            <a:endParaRPr lang="en-US" altLang="en-US">
              <a:solidFill>
                <a:schemeClr val="accent1"/>
              </a:solidFill>
              <a:latin typeface="Times New Roman" panose="02020603050405020304" charset="0"/>
              <a:cs typeface="Times New Roman" panose="02020603050405020304" charset="0"/>
            </a:endParaRPr>
          </a:p>
        </p:txBody>
      </p:sp>
      <p:sp>
        <p:nvSpPr>
          <p:cNvPr id="55" name="Rounded Rectangle 54"/>
          <p:cNvSpPr/>
          <p:nvPr/>
        </p:nvSpPr>
        <p:spPr>
          <a:xfrm>
            <a:off x="4211955" y="3220085"/>
            <a:ext cx="149098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accent1"/>
                </a:solidFill>
                <a:latin typeface="Times New Roman" panose="02020603050405020304" charset="0"/>
                <a:cs typeface="Times New Roman" panose="02020603050405020304" charset="0"/>
              </a:rPr>
              <a:t>Mel филтерска банка</a:t>
            </a:r>
            <a:endParaRPr lang="en-US" altLang="en-US">
              <a:solidFill>
                <a:schemeClr val="accent1"/>
              </a:solidFill>
              <a:latin typeface="Times New Roman" panose="02020603050405020304" charset="0"/>
              <a:cs typeface="Times New Roman" panose="02020603050405020304" charset="0"/>
            </a:endParaRPr>
          </a:p>
        </p:txBody>
      </p:sp>
      <p:sp>
        <p:nvSpPr>
          <p:cNvPr id="56" name="Rounded Rectangle 55"/>
          <p:cNvSpPr/>
          <p:nvPr/>
        </p:nvSpPr>
        <p:spPr>
          <a:xfrm>
            <a:off x="5922645" y="4011930"/>
            <a:ext cx="122047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accent1"/>
                </a:solidFill>
                <a:latin typeface="Times New Roman" panose="02020603050405020304" charset="0"/>
                <a:cs typeface="Times New Roman" panose="02020603050405020304" charset="0"/>
              </a:rPr>
              <a:t>Лог-Mel спектрограм → Whisper encoder</a:t>
            </a:r>
            <a:endParaRPr lang="en-US" altLang="en-US">
              <a:solidFill>
                <a:schemeClr val="accent1"/>
              </a:solidFill>
              <a:latin typeface="Times New Roman" panose="02020603050405020304" charset="0"/>
              <a:cs typeface="Times New Roman" panose="020206030504050203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Transformer и Encoder–Decoder архитектура</a:t>
            </a:r>
            <a:endParaRPr lang="en-US" altLang="en-US">
              <a:latin typeface="Times New Roman" panose="02020603050405020304" charset="0"/>
              <a:cs typeface="Times New Roman" panose="02020603050405020304" charset="0"/>
            </a:endParaRPr>
          </a:p>
        </p:txBody>
      </p:sp>
      <p:sp>
        <p:nvSpPr>
          <p:cNvPr id="50" name="Rounded Rectangle 49"/>
          <p:cNvSpPr/>
          <p:nvPr/>
        </p:nvSpPr>
        <p:spPr>
          <a:xfrm>
            <a:off x="1331595" y="1779905"/>
            <a:ext cx="122047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Улаз:</a:t>
            </a:r>
            <a:r>
              <a:rPr lang="en-US" altLang="en-US">
                <a:solidFill>
                  <a:schemeClr val="tx1"/>
                </a:solidFill>
                <a:latin typeface="Times New Roman" panose="02020603050405020304" charset="0"/>
                <a:cs typeface="Times New Roman" panose="02020603050405020304" charset="0"/>
              </a:rPr>
              <a:t> лог-Mel спектрограм</a:t>
            </a:r>
            <a:endParaRPr lang="en-US" altLang="en-US">
              <a:solidFill>
                <a:schemeClr val="tx1"/>
              </a:solidFill>
              <a:latin typeface="Times New Roman" panose="02020603050405020304" charset="0"/>
              <a:cs typeface="Times New Roman" panose="02020603050405020304" charset="0"/>
            </a:endParaRPr>
          </a:p>
        </p:txBody>
      </p:sp>
      <p:sp>
        <p:nvSpPr>
          <p:cNvPr id="51" name="TextBox 10"/>
          <p:cNvSpPr txBox="1"/>
          <p:nvPr/>
        </p:nvSpPr>
        <p:spPr>
          <a:xfrm>
            <a:off x="2483231" y="249999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2" name="TextBox 14"/>
          <p:cNvSpPr txBox="1"/>
          <p:nvPr/>
        </p:nvSpPr>
        <p:spPr>
          <a:xfrm>
            <a:off x="4352798" y="321945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3" name="TextBox 18"/>
          <p:cNvSpPr txBox="1"/>
          <p:nvPr/>
        </p:nvSpPr>
        <p:spPr>
          <a:xfrm>
            <a:off x="6155690" y="386778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4" name="Rounded Rectangle 53"/>
          <p:cNvSpPr/>
          <p:nvPr/>
        </p:nvSpPr>
        <p:spPr>
          <a:xfrm>
            <a:off x="2771775" y="2571750"/>
            <a:ext cx="1538605" cy="122618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Encoder</a:t>
            </a:r>
            <a:endParaRPr lang="en-US" altLang="en-US" b="1">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Анализа аудио-карактеристика и контекста</a:t>
            </a:r>
            <a:endParaRPr lang="en-US" altLang="en-US">
              <a:solidFill>
                <a:schemeClr val="tx1"/>
              </a:solidFill>
              <a:latin typeface="Times New Roman" panose="02020603050405020304" charset="0"/>
              <a:cs typeface="Times New Roman" panose="02020603050405020304" charset="0"/>
            </a:endParaRPr>
          </a:p>
        </p:txBody>
      </p:sp>
      <p:sp>
        <p:nvSpPr>
          <p:cNvPr id="55" name="Rounded Rectangle 54"/>
          <p:cNvSpPr/>
          <p:nvPr/>
        </p:nvSpPr>
        <p:spPr>
          <a:xfrm>
            <a:off x="4715510" y="3291840"/>
            <a:ext cx="1490980" cy="114935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Decoder</a:t>
            </a:r>
            <a:endParaRPr lang="en-US" altLang="en-US" b="1">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Генерисање текстуалних токена</a:t>
            </a:r>
            <a:endParaRPr lang="en-US" altLang="en-US">
              <a:solidFill>
                <a:schemeClr val="tx1"/>
              </a:solidFill>
              <a:latin typeface="Times New Roman" panose="02020603050405020304" charset="0"/>
              <a:cs typeface="Times New Roman" panose="02020603050405020304" charset="0"/>
            </a:endParaRPr>
          </a:p>
        </p:txBody>
      </p:sp>
      <p:sp>
        <p:nvSpPr>
          <p:cNvPr id="56" name="Rounded Rectangle 55"/>
          <p:cNvSpPr/>
          <p:nvPr/>
        </p:nvSpPr>
        <p:spPr>
          <a:xfrm>
            <a:off x="6426200" y="4011930"/>
            <a:ext cx="148209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Излаз: </a:t>
            </a:r>
            <a:r>
              <a:rPr lang="en-US" altLang="en-US">
                <a:solidFill>
                  <a:schemeClr val="tx1"/>
                </a:solidFill>
                <a:latin typeface="Times New Roman" panose="02020603050405020304" charset="0"/>
                <a:cs typeface="Times New Roman" panose="02020603050405020304" charset="0"/>
              </a:rPr>
              <a:t>транскрипција говора</a:t>
            </a:r>
            <a:endParaRPr lang="en-US" altLang="en-US">
              <a:solidFill>
                <a:schemeClr val="tx1"/>
              </a:solidFill>
              <a:latin typeface="Times New Roman" panose="02020603050405020304" charset="0"/>
              <a:cs typeface="Times New Roman" panose="02020603050405020304" charset="0"/>
            </a:endParaRPr>
          </a:p>
        </p:txBody>
      </p:sp>
      <p:sp>
        <p:nvSpPr>
          <p:cNvPr id="2" name="Text Box 1"/>
          <p:cNvSpPr txBox="1"/>
          <p:nvPr/>
        </p:nvSpPr>
        <p:spPr>
          <a:xfrm>
            <a:off x="1331595" y="1131570"/>
            <a:ext cx="6668135" cy="58356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Attention:</a:t>
            </a:r>
            <a:r>
              <a:rPr lang="en-US" altLang="en-US" sz="1600">
                <a:latin typeface="Times New Roman" panose="02020603050405020304" charset="0"/>
                <a:cs typeface="Times New Roman" panose="02020603050405020304" charset="0"/>
              </a:rPr>
              <a:t> омогућава моделу да повеже релевантне делове аудио-секвенце и текста.</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691640" y="988060"/>
            <a:ext cx="5554345" cy="3524250"/>
          </a:xfrm>
        </p:spPr>
        <p:txBody>
          <a:bodyPr/>
          <a:p>
            <a:pPr marL="139700" indent="0">
              <a:buNone/>
            </a:pPr>
            <a:r>
              <a:rPr lang="en-US" altLang="en-US" sz="1600" b="1">
                <a:latin typeface="Times New Roman" panose="02020603050405020304" charset="0"/>
                <a:cs typeface="Times New Roman" panose="02020603050405020304" charset="0"/>
              </a:rPr>
              <a:t>Вишејезички Encoder–Decoder Transformer за обраду говора.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Whisper модел</a:t>
            </a:r>
            <a:endParaRPr lang="en-US" altLang="en-US">
              <a:latin typeface="Times New Roman" panose="02020603050405020304" charset="0"/>
              <a:cs typeface="Times New Roman" panose="02020603050405020304" charset="0"/>
            </a:endParaRPr>
          </a:p>
        </p:txBody>
      </p:sp>
      <p:sp>
        <p:nvSpPr>
          <p:cNvPr id="7" name="Text Box 6"/>
          <p:cNvSpPr txBox="1"/>
          <p:nvPr/>
        </p:nvSpPr>
        <p:spPr>
          <a:xfrm>
            <a:off x="1043305" y="1995805"/>
            <a:ext cx="3048000" cy="829945"/>
          </a:xfrm>
          <a:prstGeom prst="rect">
            <a:avLst/>
          </a:prstGeom>
          <a:noFill/>
        </p:spPr>
        <p:txBody>
          <a:bodyPr wrap="square" rtlCol="0">
            <a:spAutoFit/>
          </a:bodyPr>
          <a:p>
            <a:r>
              <a:rPr lang="en-US" altLang="en-US" sz="1600" b="1">
                <a:solidFill>
                  <a:schemeClr val="tx1"/>
                </a:solidFill>
                <a:latin typeface="Times New Roman" panose="02020603050405020304" charset="0"/>
                <a:cs typeface="Times New Roman" panose="02020603050405020304" charset="0"/>
              </a:rPr>
              <a:t>Вишејезичност</a:t>
            </a:r>
            <a:endParaRPr lang="en-US" altLang="en-US" sz="1600" b="1">
              <a:solidFill>
                <a:schemeClr val="tx1"/>
              </a:solidFill>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Подршка за српски и друге језике.</a:t>
            </a:r>
            <a:endParaRPr lang="en-US" altLang="en-US" sz="1600">
              <a:latin typeface="Times New Roman" panose="02020603050405020304" charset="0"/>
              <a:cs typeface="Times New Roman" panose="02020603050405020304" charset="0"/>
            </a:endParaRPr>
          </a:p>
        </p:txBody>
      </p:sp>
      <p:sp>
        <p:nvSpPr>
          <p:cNvPr id="8" name="Text Box 7"/>
          <p:cNvSpPr txBox="1"/>
          <p:nvPr/>
        </p:nvSpPr>
        <p:spPr>
          <a:xfrm>
            <a:off x="5566410" y="2060575"/>
            <a:ext cx="3048000" cy="82994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Улаз и излаз</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Лог-Mel спектрограм → текстуални токени.</a:t>
            </a:r>
            <a:endParaRPr lang="en-US" altLang="en-US" sz="1600">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tretch>
            <a:fillRect/>
          </a:stretch>
        </p:blipFill>
        <p:spPr>
          <a:xfrm>
            <a:off x="1115060" y="1633855"/>
            <a:ext cx="342900" cy="361950"/>
          </a:xfrm>
          <a:prstGeom prst="rect">
            <a:avLst/>
          </a:prstGeom>
        </p:spPr>
      </p:pic>
      <p:pic>
        <p:nvPicPr>
          <p:cNvPr id="3" name="Picture 2"/>
          <p:cNvPicPr>
            <a:picLocks noChangeAspect="1"/>
          </p:cNvPicPr>
          <p:nvPr/>
        </p:nvPicPr>
        <p:blipFill>
          <a:blip r:embed="rId2"/>
          <a:stretch>
            <a:fillRect/>
          </a:stretch>
        </p:blipFill>
        <p:spPr>
          <a:xfrm>
            <a:off x="5566410" y="1664335"/>
            <a:ext cx="400050" cy="333375"/>
          </a:xfrm>
          <a:prstGeom prst="rect">
            <a:avLst/>
          </a:prstGeom>
        </p:spPr>
      </p:pic>
      <p:sp>
        <p:nvSpPr>
          <p:cNvPr id="5" name="Text Box 4"/>
          <p:cNvSpPr txBox="1"/>
          <p:nvPr/>
        </p:nvSpPr>
        <p:spPr>
          <a:xfrm>
            <a:off x="1053465" y="2953385"/>
            <a:ext cx="4537710" cy="368300"/>
          </a:xfrm>
          <a:prstGeom prst="rect">
            <a:avLst/>
          </a:prstGeom>
          <a:noFill/>
        </p:spPr>
        <p:txBody>
          <a:bodyPr wrap="square" rtlCol="0">
            <a:spAutoFit/>
          </a:bodyPr>
          <a:p>
            <a:r>
              <a:rPr lang="en-US" altLang="en-US" sz="1800" b="1">
                <a:latin typeface="Times New Roman" panose="02020603050405020304" charset="0"/>
                <a:cs typeface="Times New Roman" panose="02020603050405020304" charset="0"/>
              </a:rPr>
              <a:t>Варијанте испитиване у раду</a:t>
            </a:r>
            <a:endParaRPr lang="en-US" altLang="en-US" sz="1800" b="1">
              <a:latin typeface="Times New Roman" panose="02020603050405020304" charset="0"/>
              <a:cs typeface="Times New Roman" panose="02020603050405020304" charset="0"/>
            </a:endParaRPr>
          </a:p>
        </p:txBody>
      </p:sp>
      <p:sp>
        <p:nvSpPr>
          <p:cNvPr id="50" name="Rounded Rectangle 49"/>
          <p:cNvSpPr/>
          <p:nvPr/>
        </p:nvSpPr>
        <p:spPr>
          <a:xfrm>
            <a:off x="1176655" y="353695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Tiny</a:t>
            </a:r>
            <a:endParaRPr lang="en-US" altLang="en-US" b="1">
              <a:solidFill>
                <a:schemeClr val="tx1"/>
              </a:solidFill>
              <a:latin typeface="Times New Roman" panose="02020603050405020304" charset="0"/>
              <a:cs typeface="Times New Roman" panose="02020603050405020304" charset="0"/>
            </a:endParaRPr>
          </a:p>
        </p:txBody>
      </p:sp>
      <p:sp>
        <p:nvSpPr>
          <p:cNvPr id="51" name="TextBox 10"/>
          <p:cNvSpPr txBox="1"/>
          <p:nvPr/>
        </p:nvSpPr>
        <p:spPr>
          <a:xfrm>
            <a:off x="2411476" y="369697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10" name="Rounded Rectangle 9"/>
          <p:cNvSpPr/>
          <p:nvPr/>
        </p:nvSpPr>
        <p:spPr>
          <a:xfrm>
            <a:off x="2783840" y="351536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Base</a:t>
            </a:r>
            <a:endParaRPr lang="en-US" altLang="en-US" b="1">
              <a:solidFill>
                <a:schemeClr val="tx1"/>
              </a:solidFill>
              <a:latin typeface="Times New Roman" panose="02020603050405020304" charset="0"/>
              <a:cs typeface="Times New Roman" panose="02020603050405020304" charset="0"/>
            </a:endParaRPr>
          </a:p>
        </p:txBody>
      </p:sp>
      <p:sp>
        <p:nvSpPr>
          <p:cNvPr id="11" name="TextBox 10"/>
          <p:cNvSpPr txBox="1"/>
          <p:nvPr/>
        </p:nvSpPr>
        <p:spPr>
          <a:xfrm>
            <a:off x="4007866" y="370268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12" name="Rounded Rectangle 11"/>
          <p:cNvSpPr/>
          <p:nvPr/>
        </p:nvSpPr>
        <p:spPr>
          <a:xfrm>
            <a:off x="4572000" y="353695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Small</a:t>
            </a:r>
            <a:endParaRPr lang="en-US" altLang="en-US" b="1">
              <a:solidFill>
                <a:schemeClr val="tx1"/>
              </a:solidFill>
              <a:latin typeface="Times New Roman" panose="02020603050405020304" charset="0"/>
              <a:cs typeface="Times New Roman" panose="02020603050405020304" charset="0"/>
            </a:endParaRPr>
          </a:p>
        </p:txBody>
      </p:sp>
      <p:sp>
        <p:nvSpPr>
          <p:cNvPr id="13" name="TextBox 10"/>
          <p:cNvSpPr txBox="1"/>
          <p:nvPr/>
        </p:nvSpPr>
        <p:spPr>
          <a:xfrm>
            <a:off x="5796026" y="372427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14" name="Rounded Rectangle 13"/>
          <p:cNvSpPr/>
          <p:nvPr/>
        </p:nvSpPr>
        <p:spPr>
          <a:xfrm>
            <a:off x="6372225" y="353695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Medium</a:t>
            </a:r>
            <a:endParaRPr lang="en-US" altLang="en-US" b="1">
              <a:solidFill>
                <a:schemeClr val="tx1"/>
              </a:solidFill>
              <a:latin typeface="Times New Roman" panose="02020603050405020304" charset="0"/>
              <a:cs typeface="Times New Roman" panose="02020603050405020304" charset="0"/>
            </a:endParaRPr>
          </a:p>
        </p:txBody>
      </p:sp>
      <p:sp>
        <p:nvSpPr>
          <p:cNvPr id="16" name="Text Box 15"/>
          <p:cNvSpPr txBox="1"/>
          <p:nvPr/>
        </p:nvSpPr>
        <p:spPr>
          <a:xfrm>
            <a:off x="1115695" y="4300220"/>
            <a:ext cx="7223760" cy="829945"/>
          </a:xfrm>
          <a:prstGeom prst="rect">
            <a:avLst/>
          </a:prstGeom>
          <a:noFill/>
        </p:spPr>
        <p:txBody>
          <a:bodyPr wrap="square" rtlCol="0">
            <a:spAutoFit/>
          </a:bodyPr>
          <a:p>
            <a:pPr algn="l">
              <a:buSzTx/>
            </a:pPr>
            <a:r>
              <a:rPr lang="sr-Cyrl-BA" altLang="en-US" sz="2400">
                <a:solidFill>
                  <a:schemeClr val="accent1"/>
                </a:solidFill>
                <a:highlight>
                  <a:srgbClr val="000000"/>
                </a:highlight>
                <a:latin typeface="Times New Roman" panose="02020603050405020304" charset="0"/>
                <a:cs typeface="Times New Roman" panose="02020603050405020304" charset="0"/>
              </a:rPr>
              <a:t>И</a:t>
            </a:r>
            <a:r>
              <a:rPr lang="en-US" altLang="en-US" sz="2400">
                <a:solidFill>
                  <a:schemeClr val="accent1"/>
                </a:solidFill>
                <a:highlight>
                  <a:srgbClr val="000000"/>
                </a:highlight>
                <a:latin typeface="Times New Roman" panose="02020603050405020304" charset="0"/>
                <a:cs typeface="Times New Roman" panose="02020603050405020304" charset="0"/>
              </a:rPr>
              <a:t>страживачко питање: како величина модела утиче на WER, време обраде и RTF?</a:t>
            </a:r>
            <a:endParaRPr lang="en-US" altLang="en-US" sz="2400">
              <a:solidFill>
                <a:schemeClr val="accent1"/>
              </a:solidFill>
              <a:highlight>
                <a:srgbClr val="000000"/>
              </a:highlight>
              <a:latin typeface="Times New Roman" panose="02020603050405020304" charset="0"/>
              <a:cs typeface="Times New Roman" panose="020206030504050203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881505" y="1059815"/>
            <a:ext cx="5554345" cy="3524250"/>
          </a:xfrm>
        </p:spPr>
        <p:txBody>
          <a:bodyPr/>
          <a:p>
            <a:pPr marL="139700" indent="0" algn="ctr">
              <a:buNone/>
            </a:pPr>
            <a:r>
              <a:rPr lang="en-US" altLang="en-US" sz="1600" b="1">
                <a:latin typeface="Times New Roman" panose="02020603050405020304" charset="0"/>
                <a:cs typeface="Times New Roman" panose="02020603050405020304" charset="0"/>
              </a:rPr>
              <a:t>Иста основна Whisper архитектура</a:t>
            </a:r>
            <a:endParaRPr lang="en-US" altLang="en-US" sz="1600" b="1">
              <a:latin typeface="Times New Roman" panose="02020603050405020304" charset="0"/>
              <a:cs typeface="Times New Roman" panose="02020603050405020304" charset="0"/>
            </a:endParaRPr>
          </a:p>
          <a:p>
            <a:pPr marL="139700" indent="0" algn="ctr">
              <a:buNone/>
            </a:pPr>
            <a:r>
              <a:rPr lang="en-US" altLang="en-US" sz="1600">
                <a:latin typeface="Times New Roman" panose="02020603050405020304" charset="0"/>
                <a:cs typeface="Times New Roman" panose="02020603050405020304" charset="0"/>
              </a:rPr>
              <a:t>Различит начин извршавања модела</a:t>
            </a:r>
            <a:endParaRPr lang="en-US" altLang="en-US" sz="1600">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Faster-Whisper и CTranslate2</a:t>
            </a:r>
            <a:endParaRPr lang="en-US" altLang="en-US">
              <a:latin typeface="Times New Roman" panose="02020603050405020304" charset="0"/>
              <a:cs typeface="Times New Roman" panose="02020603050405020304" charset="0"/>
            </a:endParaRPr>
          </a:p>
        </p:txBody>
      </p:sp>
      <p:sp>
        <p:nvSpPr>
          <p:cNvPr id="50" name="Rounded Rectangle 49"/>
          <p:cNvSpPr/>
          <p:nvPr/>
        </p:nvSpPr>
        <p:spPr>
          <a:xfrm>
            <a:off x="1439545" y="1873250"/>
            <a:ext cx="295338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Whisper</a:t>
            </a:r>
            <a:endParaRPr lang="en-US" altLang="en-US" b="1">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Оригинална имплементација</a:t>
            </a:r>
            <a:endParaRPr lang="en-US" altLang="en-US">
              <a:solidFill>
                <a:schemeClr val="tx1"/>
              </a:solidFill>
              <a:latin typeface="Times New Roman" panose="02020603050405020304" charset="0"/>
              <a:cs typeface="Times New Roman" panose="02020603050405020304" charset="0"/>
            </a:endParaRPr>
          </a:p>
          <a:p>
            <a:pPr algn="ctr"/>
            <a:r>
              <a:rPr lang="en-US" altLang="en-US" b="1">
                <a:solidFill>
                  <a:schemeClr val="tx1"/>
                </a:solidFill>
                <a:latin typeface="Times New Roman" panose="02020603050405020304" charset="0"/>
                <a:cs typeface="Times New Roman" panose="02020603050405020304" charset="0"/>
              </a:rPr>
              <a:t>PyTorch</a:t>
            </a:r>
            <a:endParaRPr lang="en-US" altLang="en-US" b="1">
              <a:solidFill>
                <a:schemeClr val="tx1"/>
              </a:solidFill>
              <a:latin typeface="Times New Roman" panose="02020603050405020304" charset="0"/>
              <a:cs typeface="Times New Roman" panose="02020603050405020304" charset="0"/>
            </a:endParaRPr>
          </a:p>
        </p:txBody>
      </p:sp>
      <p:sp>
        <p:nvSpPr>
          <p:cNvPr id="10" name="Rounded Rectangle 9"/>
          <p:cNvSpPr/>
          <p:nvPr/>
        </p:nvSpPr>
        <p:spPr>
          <a:xfrm>
            <a:off x="4874260" y="1851660"/>
            <a:ext cx="286321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buNone/>
            </a:pPr>
            <a:r>
              <a:rPr lang="en-US" altLang="en-US" b="1">
                <a:solidFill>
                  <a:schemeClr val="tx1"/>
                </a:solidFill>
                <a:latin typeface="Times New Roman" panose="02020603050405020304" charset="0"/>
                <a:cs typeface="Times New Roman" panose="02020603050405020304" charset="0"/>
              </a:rPr>
              <a:t>Faster-Whisper</a:t>
            </a:r>
            <a:endParaRPr lang="en-US" altLang="en-US" b="1">
              <a:solidFill>
                <a:schemeClr val="tx1"/>
              </a:solidFill>
              <a:latin typeface="Times New Roman" panose="02020603050405020304" charset="0"/>
              <a:cs typeface="Times New Roman" panose="02020603050405020304" charset="0"/>
            </a:endParaRPr>
          </a:p>
          <a:p>
            <a:pPr algn="ctr">
              <a:buSzTx/>
              <a:buNone/>
            </a:pPr>
            <a:r>
              <a:rPr lang="en-US" altLang="en-US">
                <a:solidFill>
                  <a:schemeClr val="tx1"/>
                </a:solidFill>
                <a:latin typeface="Times New Roman" panose="02020603050405020304" charset="0"/>
                <a:cs typeface="Times New Roman" panose="02020603050405020304" charset="0"/>
              </a:rPr>
              <a:t>Оптимизована имплементација</a:t>
            </a:r>
            <a:endParaRPr lang="en-US" altLang="en-US">
              <a:solidFill>
                <a:schemeClr val="tx1"/>
              </a:solidFill>
              <a:latin typeface="Times New Roman" panose="02020603050405020304" charset="0"/>
              <a:cs typeface="Times New Roman" panose="02020603050405020304" charset="0"/>
            </a:endParaRPr>
          </a:p>
          <a:p>
            <a:pPr algn="ctr">
              <a:buSzTx/>
              <a:buNone/>
            </a:pPr>
            <a:r>
              <a:rPr lang="en-US" altLang="en-US" b="1">
                <a:solidFill>
                  <a:schemeClr val="tx1"/>
                </a:solidFill>
                <a:latin typeface="Times New Roman" panose="02020603050405020304" charset="0"/>
                <a:cs typeface="Times New Roman" panose="02020603050405020304" charset="0"/>
              </a:rPr>
              <a:t>CTranslate2</a:t>
            </a:r>
            <a:endParaRPr lang="en-US" altLang="en-US" b="1">
              <a:solidFill>
                <a:schemeClr val="tx1"/>
              </a:solidFill>
              <a:latin typeface="Times New Roman" panose="02020603050405020304" charset="0"/>
              <a:cs typeface="Times New Roman" panose="02020603050405020304" charset="0"/>
            </a:endParaRPr>
          </a:p>
        </p:txBody>
      </p:sp>
      <p:sp>
        <p:nvSpPr>
          <p:cNvPr id="3" name="Text Box 2"/>
          <p:cNvSpPr txBox="1"/>
          <p:nvPr/>
        </p:nvSpPr>
        <p:spPr>
          <a:xfrm>
            <a:off x="3131820" y="2680335"/>
            <a:ext cx="3048000"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Могућности оптимизације</a:t>
            </a:r>
            <a:endParaRPr lang="en-US" altLang="en-US" sz="1600" b="1">
              <a:latin typeface="Times New Roman" panose="02020603050405020304" charset="0"/>
              <a:cs typeface="Times New Roman" panose="02020603050405020304" charset="0"/>
            </a:endParaRPr>
          </a:p>
        </p:txBody>
      </p:sp>
      <p:sp>
        <p:nvSpPr>
          <p:cNvPr id="7" name="Rounded Rectangle 6"/>
          <p:cNvSpPr/>
          <p:nvPr/>
        </p:nvSpPr>
        <p:spPr>
          <a:xfrm>
            <a:off x="1249045" y="336423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b="1">
                <a:solidFill>
                  <a:schemeClr val="tx1"/>
                </a:solidFill>
                <a:latin typeface="Times New Roman" panose="02020603050405020304" charset="0"/>
                <a:cs typeface="Times New Roman" panose="02020603050405020304" charset="0"/>
                <a:sym typeface="+mn-ea"/>
              </a:rPr>
              <a:t>INT8 / FLOAT32</a:t>
            </a:r>
            <a:endParaRPr lang="en-US" altLang="zh-CN" b="1">
              <a:solidFill>
                <a:schemeClr val="tx1"/>
              </a:solidFill>
              <a:latin typeface="Times New Roman" panose="02020603050405020304" charset="0"/>
              <a:cs typeface="Times New Roman" panose="02020603050405020304" charset="0"/>
              <a:sym typeface="+mn-ea"/>
            </a:endParaRPr>
          </a:p>
        </p:txBody>
      </p:sp>
      <p:sp>
        <p:nvSpPr>
          <p:cNvPr id="9" name="Rounded Rectangle 8"/>
          <p:cNvSpPr/>
          <p:nvPr/>
        </p:nvSpPr>
        <p:spPr>
          <a:xfrm>
            <a:off x="2856230" y="334264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zh-CN" b="1">
                <a:solidFill>
                  <a:schemeClr val="tx1"/>
                </a:solidFill>
                <a:latin typeface="Times New Roman" panose="02020603050405020304" charset="0"/>
                <a:cs typeface="Times New Roman" panose="02020603050405020304" charset="0"/>
                <a:sym typeface="+mn-ea"/>
              </a:rPr>
              <a:t>CPU / GPU</a:t>
            </a:r>
            <a:endParaRPr lang="en-US" altLang="zh-CN" b="1">
              <a:solidFill>
                <a:schemeClr val="tx1"/>
              </a:solidFill>
              <a:latin typeface="Times New Roman" panose="02020603050405020304" charset="0"/>
              <a:cs typeface="Times New Roman" panose="02020603050405020304" charset="0"/>
            </a:endParaRPr>
          </a:p>
        </p:txBody>
      </p:sp>
      <p:sp>
        <p:nvSpPr>
          <p:cNvPr id="12" name="Rounded Rectangle 11"/>
          <p:cNvSpPr/>
          <p:nvPr/>
        </p:nvSpPr>
        <p:spPr>
          <a:xfrm>
            <a:off x="4541520" y="3148965"/>
            <a:ext cx="1327150" cy="117157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zh-CN" b="1">
                <a:solidFill>
                  <a:schemeClr val="tx1"/>
                </a:solidFill>
                <a:latin typeface="Times New Roman" panose="02020603050405020304" charset="0"/>
                <a:cs typeface="Times New Roman" panose="02020603050405020304" charset="0"/>
                <a:sym typeface="+mn-ea"/>
              </a:rPr>
              <a:t>Ефикасније управљање меморијом</a:t>
            </a:r>
            <a:endParaRPr lang="en-US" altLang="zh-CN" b="1">
              <a:solidFill>
                <a:schemeClr val="tx1"/>
              </a:solidFill>
              <a:latin typeface="Times New Roman" panose="02020603050405020304" charset="0"/>
              <a:cs typeface="Times New Roman" panose="02020603050405020304" charset="0"/>
            </a:endParaRPr>
          </a:p>
        </p:txBody>
      </p:sp>
      <p:sp>
        <p:nvSpPr>
          <p:cNvPr id="14" name="Rounded Rectangle 13"/>
          <p:cNvSpPr/>
          <p:nvPr/>
        </p:nvSpPr>
        <p:spPr>
          <a:xfrm>
            <a:off x="6444615" y="3364230"/>
            <a:ext cx="1480820"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zh-CN" b="1">
                <a:solidFill>
                  <a:schemeClr val="tx1"/>
                </a:solidFill>
                <a:latin typeface="Times New Roman" panose="02020603050405020304" charset="0"/>
                <a:cs typeface="Times New Roman" panose="02020603050405020304" charset="0"/>
                <a:sym typeface="+mn-ea"/>
              </a:rPr>
              <a:t>Оптимизоване операције</a:t>
            </a:r>
            <a:endParaRPr lang="en-US" altLang="zh-CN" b="1">
              <a:solidFill>
                <a:schemeClr val="tx1"/>
              </a:solidFill>
              <a:latin typeface="Times New Roman" panose="02020603050405020304" charset="0"/>
              <a:cs typeface="Times New Roman" panose="02020603050405020304" charset="0"/>
            </a:endParaRPr>
          </a:p>
        </p:txBody>
      </p:sp>
      <p:sp>
        <p:nvSpPr>
          <p:cNvPr id="15" name="Text Box 14"/>
          <p:cNvSpPr txBox="1"/>
          <p:nvPr/>
        </p:nvSpPr>
        <p:spPr>
          <a:xfrm>
            <a:off x="1115695" y="4314190"/>
            <a:ext cx="7016115" cy="764540"/>
          </a:xfrm>
          <a:prstGeom prst="rect">
            <a:avLst/>
          </a:prstGeom>
          <a:noFill/>
        </p:spPr>
        <p:txBody>
          <a:bodyPr wrap="square" rtlCol="0">
            <a:noAutofit/>
          </a:bodyPr>
          <a:p>
            <a:pPr algn="l">
              <a:buSzTx/>
            </a:pPr>
            <a:r>
              <a:rPr lang="sr-Cyrl-BA" altLang="en-US" sz="2400">
                <a:solidFill>
                  <a:schemeClr val="accent1"/>
                </a:solidFill>
                <a:highlight>
                  <a:srgbClr val="000000"/>
                </a:highlight>
                <a:latin typeface="Times New Roman" panose="02020603050405020304" charset="0"/>
                <a:cs typeface="Times New Roman" panose="02020603050405020304" charset="0"/>
              </a:rPr>
              <a:t>Циљ поређења: измерити разлике у WER-у, времену, RTF-у и RAM меморији.</a:t>
            </a:r>
            <a:endParaRPr lang="sr-Cyrl-BA" altLang="en-US" sz="2400">
              <a:solidFill>
                <a:schemeClr val="accent1"/>
              </a:solidFill>
              <a:highlight>
                <a:srgbClr val="000000"/>
              </a:highlight>
              <a:latin typeface="Times New Roman" panose="02020603050405020304" charset="0"/>
              <a:cs typeface="Times New Roman" panose="020206030504050203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1640205" y="339090"/>
            <a:ext cx="5151120" cy="575945"/>
          </a:xfrm>
        </p:spPr>
        <p:txBody>
          <a:bodyPr/>
          <a:p>
            <a:pPr algn="ctr"/>
            <a:r>
              <a:rPr lang="en-US" altLang="en-US">
                <a:latin typeface="Times New Roman" panose="02020603050405020304" charset="0"/>
                <a:cs typeface="Times New Roman" panose="02020603050405020304" charset="0"/>
              </a:rPr>
              <a:t>Кључни механизми и метрике</a:t>
            </a:r>
            <a:endParaRPr lang="en-US" altLang="en-US">
              <a:latin typeface="Times New Roman" panose="02020603050405020304" charset="0"/>
              <a:cs typeface="Times New Roman" panose="02020603050405020304" charset="0"/>
            </a:endParaRPr>
          </a:p>
        </p:txBody>
      </p:sp>
      <p:sp>
        <p:nvSpPr>
          <p:cNvPr id="2" name="Text Box 1"/>
          <p:cNvSpPr txBox="1"/>
          <p:nvPr/>
        </p:nvSpPr>
        <p:spPr>
          <a:xfrm>
            <a:off x="1115695" y="987425"/>
            <a:ext cx="3048000"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Шта подешавамо?</a:t>
            </a:r>
            <a:endParaRPr lang="en-US" altLang="en-US" sz="1600" b="1">
              <a:latin typeface="Times New Roman" panose="02020603050405020304" charset="0"/>
              <a:cs typeface="Times New Roman" panose="02020603050405020304" charset="0"/>
            </a:endParaRPr>
          </a:p>
        </p:txBody>
      </p:sp>
      <p:sp>
        <p:nvSpPr>
          <p:cNvPr id="8" name="Text Box 7"/>
          <p:cNvSpPr txBox="1"/>
          <p:nvPr/>
        </p:nvSpPr>
        <p:spPr>
          <a:xfrm>
            <a:off x="1115695" y="1397000"/>
            <a:ext cx="2619375"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Квантизација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INT8 / FLOAT32</a:t>
            </a:r>
            <a:endParaRPr lang="en-US" altLang="en-US" sz="1600">
              <a:latin typeface="Times New Roman" panose="02020603050405020304" charset="0"/>
              <a:cs typeface="Times New Roman" panose="02020603050405020304" charset="0"/>
            </a:endParaRPr>
          </a:p>
        </p:txBody>
      </p:sp>
      <p:sp>
        <p:nvSpPr>
          <p:cNvPr id="9" name="Text Box 8"/>
          <p:cNvSpPr txBox="1"/>
          <p:nvPr/>
        </p:nvSpPr>
        <p:spPr>
          <a:xfrm>
            <a:off x="1115695" y="2139950"/>
            <a:ext cx="2618740" cy="82994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Beam Search</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Број кандидата при декодирању</a:t>
            </a:r>
            <a:endParaRPr lang="en-US" altLang="en-US" sz="1600">
              <a:latin typeface="Times New Roman" panose="02020603050405020304" charset="0"/>
              <a:cs typeface="Times New Roman" panose="02020603050405020304" charset="0"/>
            </a:endParaRPr>
          </a:p>
        </p:txBody>
      </p:sp>
      <p:sp>
        <p:nvSpPr>
          <p:cNvPr id="11" name="Text Box 10"/>
          <p:cNvSpPr txBox="1"/>
          <p:nvPr/>
        </p:nvSpPr>
        <p:spPr>
          <a:xfrm>
            <a:off x="1115695" y="2987040"/>
            <a:ext cx="2618740" cy="82994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VAD</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Детекција говорне активности</a:t>
            </a:r>
            <a:endParaRPr lang="en-US" altLang="en-US" sz="1600">
              <a:latin typeface="Times New Roman" panose="02020603050405020304" charset="0"/>
              <a:cs typeface="Times New Roman" panose="02020603050405020304" charset="0"/>
            </a:endParaRPr>
          </a:p>
        </p:txBody>
      </p:sp>
      <p:sp>
        <p:nvSpPr>
          <p:cNvPr id="12" name="Text Box 11"/>
          <p:cNvSpPr txBox="1"/>
          <p:nvPr/>
        </p:nvSpPr>
        <p:spPr>
          <a:xfrm>
            <a:off x="4427855" y="1524000"/>
            <a:ext cx="2619375"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WER / CER</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Грешке у препознавању</a:t>
            </a:r>
            <a:endParaRPr lang="en-US" altLang="en-US" sz="1600">
              <a:latin typeface="Times New Roman" panose="02020603050405020304" charset="0"/>
              <a:cs typeface="Times New Roman" panose="02020603050405020304" charset="0"/>
            </a:endParaRPr>
          </a:p>
        </p:txBody>
      </p:sp>
      <p:sp>
        <p:nvSpPr>
          <p:cNvPr id="13" name="Text Box 12"/>
          <p:cNvSpPr txBox="1"/>
          <p:nvPr/>
        </p:nvSpPr>
        <p:spPr>
          <a:xfrm>
            <a:off x="4427855" y="2266950"/>
            <a:ext cx="261874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Време / RTF</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Брзина транскрипције</a:t>
            </a:r>
            <a:endParaRPr lang="en-US" altLang="en-US" sz="1600">
              <a:latin typeface="Times New Roman" panose="02020603050405020304" charset="0"/>
              <a:cs typeface="Times New Roman" panose="02020603050405020304" charset="0"/>
            </a:endParaRPr>
          </a:p>
        </p:txBody>
      </p:sp>
      <p:sp>
        <p:nvSpPr>
          <p:cNvPr id="14" name="Text Box 13"/>
          <p:cNvSpPr txBox="1"/>
          <p:nvPr/>
        </p:nvSpPr>
        <p:spPr>
          <a:xfrm>
            <a:off x="4428490" y="2987040"/>
            <a:ext cx="261874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RAM / латенција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Ресурси и кашњење</a:t>
            </a:r>
            <a:endParaRPr lang="en-US" altLang="en-US" sz="1600">
              <a:latin typeface="Times New Roman" panose="02020603050405020304" charset="0"/>
              <a:cs typeface="Times New Roman" panose="02020603050405020304" charset="0"/>
            </a:endParaRPr>
          </a:p>
        </p:txBody>
      </p:sp>
      <p:sp>
        <p:nvSpPr>
          <p:cNvPr id="15" name="Text Box 14"/>
          <p:cNvSpPr txBox="1"/>
          <p:nvPr/>
        </p:nvSpPr>
        <p:spPr>
          <a:xfrm>
            <a:off x="4427855" y="987425"/>
            <a:ext cx="3048000"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Шта </a:t>
            </a:r>
            <a:r>
              <a:rPr lang="sr-Cyrl-BA" altLang="en-US" sz="1600" b="1">
                <a:latin typeface="Times New Roman" panose="02020603050405020304" charset="0"/>
                <a:cs typeface="Times New Roman" panose="02020603050405020304" charset="0"/>
              </a:rPr>
              <a:t>меримо</a:t>
            </a:r>
            <a:r>
              <a:rPr lang="en-US" altLang="en-US" sz="1600" b="1">
                <a:latin typeface="Times New Roman" panose="02020603050405020304" charset="0"/>
                <a:cs typeface="Times New Roman" panose="02020603050405020304" charset="0"/>
              </a:rPr>
              <a:t>?</a:t>
            </a:r>
            <a:endParaRPr lang="en-US" altLang="en-US" sz="1600" b="1">
              <a:latin typeface="Times New Roman" panose="02020603050405020304" charset="0"/>
              <a:cs typeface="Times New Roman" panose="02020603050405020304" charset="0"/>
            </a:endParaRPr>
          </a:p>
        </p:txBody>
      </p:sp>
      <p:pic>
        <p:nvPicPr>
          <p:cNvPr id="16" name="Picture 15"/>
          <p:cNvPicPr>
            <a:picLocks noChangeAspect="1"/>
          </p:cNvPicPr>
          <p:nvPr/>
        </p:nvPicPr>
        <p:blipFill>
          <a:blip r:embed="rId1"/>
          <a:stretch>
            <a:fillRect/>
          </a:stretch>
        </p:blipFill>
        <p:spPr>
          <a:xfrm>
            <a:off x="539115" y="1733550"/>
            <a:ext cx="342900" cy="1676400"/>
          </a:xfrm>
          <a:prstGeom prst="rect">
            <a:avLst/>
          </a:prstGeom>
        </p:spPr>
      </p:pic>
      <p:pic>
        <p:nvPicPr>
          <p:cNvPr id="17" name="Picture 16"/>
          <p:cNvPicPr>
            <a:picLocks noChangeAspect="1"/>
          </p:cNvPicPr>
          <p:nvPr/>
        </p:nvPicPr>
        <p:blipFill>
          <a:blip r:embed="rId2"/>
          <a:stretch>
            <a:fillRect/>
          </a:stretch>
        </p:blipFill>
        <p:spPr>
          <a:xfrm>
            <a:off x="3943350" y="1737995"/>
            <a:ext cx="419100" cy="1666875"/>
          </a:xfrm>
          <a:prstGeom prst="rect">
            <a:avLst/>
          </a:prstGeom>
        </p:spPr>
      </p:pic>
      <p:sp>
        <p:nvSpPr>
          <p:cNvPr id="18" name="Text Box 17"/>
          <p:cNvSpPr txBox="1"/>
          <p:nvPr/>
        </p:nvSpPr>
        <p:spPr>
          <a:xfrm>
            <a:off x="4027805" y="3707130"/>
            <a:ext cx="4808220" cy="1239520"/>
          </a:xfrm>
          <a:prstGeom prst="rect">
            <a:avLst/>
          </a:prstGeom>
          <a:noFill/>
        </p:spPr>
        <p:txBody>
          <a:bodyPr wrap="square" rtlCol="0">
            <a:noAutofit/>
          </a:bodyPr>
          <a:p>
            <a:r>
              <a:rPr lang="en-US" altLang="en-US" sz="1600" b="1">
                <a:latin typeface="Times New Roman" panose="02020603050405020304" charset="0"/>
                <a:cs typeface="Times New Roman" panose="02020603050405020304" charset="0"/>
              </a:rPr>
              <a:t>Основне метрике</a:t>
            </a:r>
            <a:r>
              <a:rPr lang="sr-Cyrl-BA" altLang="en-US" sz="1600" b="1">
                <a:latin typeface="Times New Roman" panose="02020603050405020304" charset="0"/>
                <a:cs typeface="Times New Roman" panose="02020603050405020304" charset="0"/>
              </a:rPr>
              <a:t>:</a:t>
            </a:r>
            <a:endParaRPr lang="en-US" altLang="en-US" sz="1600" b="1">
              <a:latin typeface="Times New Roman" panose="02020603050405020304" charset="0"/>
              <a:cs typeface="Times New Roman" panose="02020603050405020304" charset="0"/>
            </a:endParaRPr>
          </a:p>
          <a:p>
            <a:endParaRPr lang="en-US" altLang="en-US" sz="1600" b="1">
              <a:latin typeface="Times New Roman" panose="02020603050405020304" charset="0"/>
              <a:cs typeface="Times New Roman" panose="02020603050405020304" charset="0"/>
            </a:endParaRPr>
          </a:p>
          <a:p>
            <a:endParaRPr lang="en-US" altLang="en-US" sz="1600" b="1">
              <a:latin typeface="Times New Roman" panose="02020603050405020304" charset="0"/>
              <a:cs typeface="Times New Roman" panose="02020603050405020304" charset="0"/>
            </a:endParaRPr>
          </a:p>
          <a:p>
            <a:endParaRPr lang="en-US" altLang="en-US" sz="1600" b="1">
              <a:latin typeface="Times New Roman" panose="02020603050405020304" charset="0"/>
              <a:cs typeface="Times New Roman" panose="02020603050405020304" charset="0"/>
            </a:endParaRPr>
          </a:p>
          <a:p>
            <a:r>
              <a:rPr lang="en-US" altLang="en-US" sz="1600" b="1">
                <a:latin typeface="Times New Roman" panose="02020603050405020304" charset="0"/>
                <a:cs typeface="Times New Roman" panose="02020603050405020304" charset="0"/>
              </a:rPr>
              <a:t>Мање вредности WER и RTF су пожељне.</a:t>
            </a:r>
            <a:endParaRPr lang="en-US" altLang="en-US" sz="1600" b="1">
              <a:latin typeface="Times New Roman" panose="02020603050405020304" charset="0"/>
              <a:cs typeface="Times New Roman" panose="02020603050405020304" charset="0"/>
            </a:endParaRPr>
          </a:p>
        </p:txBody>
      </p:sp>
      <p:pic>
        <p:nvPicPr>
          <p:cNvPr id="19" name="Picture 18"/>
          <p:cNvPicPr>
            <a:picLocks noChangeAspect="1"/>
          </p:cNvPicPr>
          <p:nvPr/>
        </p:nvPicPr>
        <p:blipFill>
          <a:blip r:embed="rId3"/>
          <a:stretch>
            <a:fillRect/>
          </a:stretch>
        </p:blipFill>
        <p:spPr>
          <a:xfrm>
            <a:off x="4140200" y="4083685"/>
            <a:ext cx="3194685" cy="6146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933450" y="339090"/>
            <a:ext cx="5857875" cy="575945"/>
          </a:xfrm>
        </p:spPr>
        <p:txBody>
          <a:bodyPr/>
          <a:p>
            <a:pPr algn="ctr"/>
            <a:r>
              <a:rPr lang="en-US" altLang="en-US">
                <a:latin typeface="Times New Roman" panose="02020603050405020304" charset="0"/>
                <a:cs typeface="Times New Roman" panose="02020603050405020304" charset="0"/>
              </a:rPr>
              <a:t>Хардверско и софтверско окружење</a:t>
            </a:r>
            <a:endParaRPr lang="en-US" altLang="en-US">
              <a:latin typeface="Times New Roman" panose="02020603050405020304" charset="0"/>
              <a:cs typeface="Times New Roman" panose="02020603050405020304" charset="0"/>
            </a:endParaRPr>
          </a:p>
        </p:txBody>
      </p:sp>
      <p:sp>
        <p:nvSpPr>
          <p:cNvPr id="5" name="Text Placeholder 4"/>
          <p:cNvSpPr/>
          <p:nvPr>
            <p:ph type="body" idx="1"/>
          </p:nvPr>
        </p:nvSpPr>
        <p:spPr>
          <a:xfrm>
            <a:off x="1115060" y="951230"/>
            <a:ext cx="6111240" cy="424180"/>
          </a:xfrm>
        </p:spPr>
        <p:txBody>
          <a:bodyPr/>
          <a:p>
            <a:pPr marL="0" algn="l">
              <a:buSzTx/>
              <a:buFont typeface="Arial" panose="020B0604020202020204"/>
              <a:buNone/>
            </a:pPr>
            <a:r>
              <a:rPr lang="en-US" altLang="en-US" sz="1600" b="1">
                <a:solidFill>
                  <a:srgbClr val="000000"/>
                </a:solidFill>
                <a:latin typeface="Times New Roman" panose="02020603050405020304" charset="0"/>
                <a:ea typeface="Arial" panose="020B0604020202020204"/>
                <a:cs typeface="Times New Roman" panose="02020603050405020304" charset="0"/>
              </a:rPr>
              <a:t>Хардвер</a:t>
            </a:r>
            <a:endParaRPr lang="en-US" altLang="en-US" sz="1600" b="1">
              <a:solidFill>
                <a:srgbClr val="000000"/>
              </a:solidFill>
              <a:latin typeface="Times New Roman" panose="02020603050405020304" charset="0"/>
              <a:ea typeface="Arial" panose="020B0604020202020204"/>
              <a:cs typeface="Times New Roman" panose="02020603050405020304" charset="0"/>
            </a:endParaRPr>
          </a:p>
        </p:txBody>
      </p:sp>
      <p:graphicFrame>
        <p:nvGraphicFramePr>
          <p:cNvPr id="2" name="Table 1"/>
          <p:cNvGraphicFramePr/>
          <p:nvPr/>
        </p:nvGraphicFramePr>
        <p:xfrm>
          <a:off x="1115060" y="1411605"/>
          <a:ext cx="4650740" cy="1524000"/>
        </p:xfrm>
        <a:graphic>
          <a:graphicData uri="http://schemas.openxmlformats.org/drawingml/2006/table">
            <a:tbl>
              <a:tblPr firstRow="1" bandRow="1">
                <a:tableStyleId>{5C22544A-7EE6-4342-B048-85BDC9FD1C3A}</a:tableStyleId>
              </a:tblPr>
              <a:tblGrid>
                <a:gridCol w="1908175"/>
                <a:gridCol w="2742565"/>
              </a:tblGrid>
              <a:tr h="381000">
                <a:tc>
                  <a:txBody>
                    <a:bodyPr/>
                    <a:p>
                      <a:pPr algn="ctr">
                        <a:buNone/>
                      </a:pPr>
                      <a:r>
                        <a:rPr lang="sr-Cyrl-BA" altLang="sr-Latn-RS" sz="1600">
                          <a:solidFill>
                            <a:schemeClr val="tx1"/>
                          </a:solidFill>
                          <a:latin typeface="Times New Roman" panose="02020603050405020304" charset="0"/>
                          <a:cs typeface="Times New Roman" panose="02020603050405020304" charset="0"/>
                        </a:rPr>
                        <a:t>Процесор</a:t>
                      </a:r>
                      <a:endParaRPr lang="sr-Cyrl-BA" altLang="sr-Latn-RS" sz="1600">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en-US" altLang="zh-CN" sz="1600">
                          <a:solidFill>
                            <a:schemeClr val="tx1"/>
                          </a:solidFill>
                          <a:latin typeface="Times New Roman" panose="02020603050405020304" charset="0"/>
                          <a:cs typeface="Times New Roman" panose="02020603050405020304" charset="0"/>
                          <a:sym typeface="+mn-ea"/>
                        </a:rPr>
                        <a:t>AMD Ryzen 5 5600H · 3,30 GHz</a:t>
                      </a:r>
                      <a:endParaRPr lang="en-US" altLang="zh-CN" sz="1600">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r>
              <a:tr h="381000">
                <a:tc>
                  <a:txBody>
                    <a:bodyPr/>
                    <a:p>
                      <a:pPr algn="ctr">
                        <a:buNone/>
                      </a:pPr>
                      <a:r>
                        <a:rPr lang="en-US" altLang="sr-Latn-RS" sz="1600">
                          <a:solidFill>
                            <a:schemeClr val="tx1"/>
                          </a:solidFill>
                          <a:latin typeface="Times New Roman" panose="02020603050405020304" charset="0"/>
                          <a:cs typeface="Times New Roman" panose="02020603050405020304" charset="0"/>
                        </a:rPr>
                        <a:t>RAM</a:t>
                      </a:r>
                      <a:endParaRPr lang="en-US" altLang="sr-Latn-RS" sz="1600">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en-US" altLang="zh-CN" sz="1600">
                          <a:solidFill>
                            <a:schemeClr val="tx1"/>
                          </a:solidFill>
                          <a:latin typeface="Times New Roman" panose="02020603050405020304" charset="0"/>
                          <a:cs typeface="Times New Roman" panose="02020603050405020304" charset="0"/>
                          <a:sym typeface="+mn-ea"/>
                        </a:rPr>
                        <a:t>8 GB (7,34 GB доступно)</a:t>
                      </a:r>
                      <a:endParaRPr lang="en-US" altLang="zh-CN" sz="1600">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r>
              <a:tr h="381000">
                <a:tc>
                  <a:txBody>
                    <a:bodyPr/>
                    <a:p>
                      <a:pPr algn="ctr">
                        <a:buNone/>
                      </a:pPr>
                      <a:r>
                        <a:rPr lang="sr-Cyrl-BA" altLang="sr-Latn-RS" sz="1600">
                          <a:solidFill>
                            <a:schemeClr val="tx1"/>
                          </a:solidFill>
                          <a:latin typeface="Times New Roman" panose="02020603050405020304" charset="0"/>
                          <a:cs typeface="Times New Roman" panose="02020603050405020304" charset="0"/>
                        </a:rPr>
                        <a:t>Оперативни систем</a:t>
                      </a:r>
                      <a:endParaRPr lang="sr-Cyrl-BA" altLang="sr-Latn-RS" sz="1600">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600">
                          <a:solidFill>
                            <a:schemeClr val="tx1"/>
                          </a:solidFill>
                          <a:latin typeface="Times New Roman" panose="02020603050405020304" charset="0"/>
                          <a:cs typeface="Times New Roman" panose="02020603050405020304" charset="0"/>
                          <a:sym typeface="+mn-ea"/>
                        </a:rPr>
                        <a:t>Windows 64-bit</a:t>
                      </a:r>
                      <a:endParaRPr lang="en-US" altLang="zh-CN" sz="1600">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1000">
                <a:tc>
                  <a:txBody>
                    <a:bodyPr/>
                    <a:p>
                      <a:pPr algn="ctr">
                        <a:buNone/>
                      </a:pPr>
                      <a:r>
                        <a:rPr lang="sr-Cyrl-BA" altLang="sr-Latn-RS" sz="1600">
                          <a:solidFill>
                            <a:schemeClr val="tx1"/>
                          </a:solidFill>
                          <a:latin typeface="Times New Roman" panose="02020603050405020304" charset="0"/>
                          <a:cs typeface="Times New Roman" panose="02020603050405020304" charset="0"/>
                        </a:rPr>
                        <a:t>Извршавање</a:t>
                      </a:r>
                      <a:endParaRPr lang="sr-Cyrl-BA" altLang="sr-Latn-RS" sz="1600">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en-US" altLang="zh-CN" sz="1600">
                          <a:solidFill>
                            <a:schemeClr val="tx1"/>
                          </a:solidFill>
                          <a:latin typeface="Times New Roman" panose="02020603050405020304" charset="0"/>
                          <a:cs typeface="Times New Roman" panose="02020603050405020304" charset="0"/>
                          <a:sym typeface="+mn-ea"/>
                        </a:rPr>
                        <a:t>CPU</a:t>
                      </a:r>
                      <a:endParaRPr lang="en-US" altLang="zh-CN" sz="1600">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
        <p:nvSpPr>
          <p:cNvPr id="7" name="Text Box 6"/>
          <p:cNvSpPr txBox="1"/>
          <p:nvPr/>
        </p:nvSpPr>
        <p:spPr>
          <a:xfrm>
            <a:off x="1115695" y="3162935"/>
            <a:ext cx="3048000"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Софтвер</a:t>
            </a:r>
            <a:endParaRPr lang="en-US" altLang="en-US" sz="1600" b="1">
              <a:latin typeface="Times New Roman" panose="02020603050405020304" charset="0"/>
              <a:cs typeface="Times New Roman" panose="02020603050405020304" charset="0"/>
            </a:endParaRPr>
          </a:p>
        </p:txBody>
      </p:sp>
      <p:sp>
        <p:nvSpPr>
          <p:cNvPr id="50" name="Rounded Rectangle 49"/>
          <p:cNvSpPr/>
          <p:nvPr/>
        </p:nvSpPr>
        <p:spPr>
          <a:xfrm>
            <a:off x="1064895" y="3529330"/>
            <a:ext cx="3214370"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Модели и инференција</a:t>
            </a:r>
            <a:endParaRPr lang="en-US" altLang="en-US" b="1">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Python · PyTorch · OpenAI Whisper · Faster-Whisper / CTranslate2</a:t>
            </a:r>
            <a:endParaRPr lang="en-US" altLang="en-US">
              <a:solidFill>
                <a:schemeClr val="tx1"/>
              </a:solidFill>
              <a:latin typeface="Times New Roman" panose="02020603050405020304" charset="0"/>
              <a:cs typeface="Times New Roman" panose="02020603050405020304" charset="0"/>
            </a:endParaRPr>
          </a:p>
        </p:txBody>
      </p:sp>
      <p:sp>
        <p:nvSpPr>
          <p:cNvPr id="10" name="Rounded Rectangle 9"/>
          <p:cNvSpPr/>
          <p:nvPr/>
        </p:nvSpPr>
        <p:spPr>
          <a:xfrm>
            <a:off x="4715510" y="3529330"/>
            <a:ext cx="411162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buNone/>
            </a:pPr>
            <a:r>
              <a:rPr lang="en-US" altLang="en-US" b="1">
                <a:solidFill>
                  <a:schemeClr val="tx1"/>
                </a:solidFill>
                <a:latin typeface="Times New Roman" panose="02020603050405020304" charset="0"/>
                <a:cs typeface="Times New Roman" panose="02020603050405020304" charset="0"/>
              </a:rPr>
              <a:t>Експерименти и анализа</a:t>
            </a:r>
            <a:endParaRPr lang="en-US" altLang="en-US" b="1">
              <a:solidFill>
                <a:schemeClr val="tx1"/>
              </a:solidFill>
              <a:latin typeface="Times New Roman" panose="02020603050405020304" charset="0"/>
              <a:cs typeface="Times New Roman" panose="02020603050405020304" charset="0"/>
            </a:endParaRPr>
          </a:p>
          <a:p>
            <a:pPr algn="ctr">
              <a:buSzTx/>
              <a:buNone/>
            </a:pPr>
            <a:r>
              <a:rPr lang="en-US" altLang="en-US">
                <a:solidFill>
                  <a:schemeClr val="tx1"/>
                </a:solidFill>
                <a:latin typeface="Times New Roman" panose="02020603050405020304" charset="0"/>
                <a:cs typeface="Times New Roman" panose="02020603050405020304" charset="0"/>
              </a:rPr>
              <a:t>Anaconda ·Jupyter·NumPy ·Pandas Matplotlib · JiWER · psutil</a:t>
            </a:r>
            <a:endParaRPr lang="en-US" altLang="en-US">
              <a:solidFill>
                <a:schemeClr val="tx1"/>
              </a:solidFill>
              <a:latin typeface="Times New Roman" panose="02020603050405020304" charset="0"/>
              <a:cs typeface="Times New Roman" panose="02020603050405020304" charset="0"/>
            </a:endParaRPr>
          </a:p>
        </p:txBody>
      </p:sp>
      <p:sp>
        <p:nvSpPr>
          <p:cNvPr id="8" name="Text Box 7"/>
          <p:cNvSpPr txBox="1"/>
          <p:nvPr/>
        </p:nvSpPr>
        <p:spPr>
          <a:xfrm>
            <a:off x="1185545" y="4300220"/>
            <a:ext cx="7221855" cy="795020"/>
          </a:xfrm>
          <a:prstGeom prst="rect">
            <a:avLst/>
          </a:prstGeom>
          <a:noFill/>
        </p:spPr>
        <p:txBody>
          <a:bodyPr wrap="square" rtlCol="0">
            <a:noAutofit/>
          </a:bodyPr>
          <a:p>
            <a:pPr algn="l">
              <a:buSzTx/>
            </a:pPr>
            <a:r>
              <a:rPr lang="sr-Cyrl-BA" altLang="en-US" sz="2400">
                <a:solidFill>
                  <a:schemeClr val="accent1"/>
                </a:solidFill>
                <a:highlight>
                  <a:srgbClr val="000000"/>
                </a:highlight>
                <a:latin typeface="Times New Roman" panose="02020603050405020304" charset="0"/>
                <a:cs typeface="Times New Roman" panose="02020603050405020304" charset="0"/>
              </a:rPr>
              <a:t>Циљ: поређење конфигурација у истом локалном CPU окружењу.</a:t>
            </a:r>
            <a:endParaRPr lang="sr-Cyrl-BA" altLang="en-US" sz="2400">
              <a:solidFill>
                <a:schemeClr val="accent1"/>
              </a:solidFill>
              <a:highlight>
                <a:srgbClr val="000000"/>
              </a:highlight>
              <a:latin typeface="Times New Roman" panose="02020603050405020304" charset="0"/>
              <a:cs typeface="Times New Roman" panose="020206030504050203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315595" y="339090"/>
            <a:ext cx="6475730" cy="575945"/>
          </a:xfrm>
        </p:spPr>
        <p:txBody>
          <a:bodyPr/>
          <a:p>
            <a:pPr algn="ctr"/>
            <a:r>
              <a:rPr lang="en-US" altLang="en-US">
                <a:latin typeface="Times New Roman" panose="02020603050405020304" charset="0"/>
                <a:cs typeface="Times New Roman" panose="02020603050405020304" charset="0"/>
              </a:rPr>
              <a:t>Главни benchmark скуп — српски говор</a:t>
            </a:r>
            <a:endParaRPr lang="en-US" altLang="en-US">
              <a:latin typeface="Times New Roman" panose="02020603050405020304" charset="0"/>
              <a:cs typeface="Times New Roman" panose="02020603050405020304" charset="0"/>
            </a:endParaRPr>
          </a:p>
        </p:txBody>
      </p:sp>
      <p:sp>
        <p:nvSpPr>
          <p:cNvPr id="7" name="Rounded Rectangle 6"/>
          <p:cNvSpPr/>
          <p:nvPr/>
        </p:nvSpPr>
        <p:spPr>
          <a:xfrm>
            <a:off x="2277745" y="1224915"/>
            <a:ext cx="1125855" cy="85153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800" b="1">
                <a:solidFill>
                  <a:schemeClr val="tx1"/>
                </a:solidFill>
                <a:latin typeface="Times New Roman" panose="02020603050405020304" charset="0"/>
                <a:cs typeface="Times New Roman" panose="02020603050405020304" charset="0"/>
                <a:sym typeface="+mn-ea"/>
              </a:rPr>
              <a:t>40</a:t>
            </a:r>
            <a:endParaRPr lang="sr-Cyrl-BA" altLang="en-US" sz="2800" b="1">
              <a:solidFill>
                <a:schemeClr val="tx1"/>
              </a:solidFill>
              <a:latin typeface="Times New Roman" panose="02020603050405020304" charset="0"/>
              <a:cs typeface="Times New Roman" panose="02020603050405020304" charset="0"/>
              <a:sym typeface="+mn-ea"/>
            </a:endParaRPr>
          </a:p>
          <a:p>
            <a:pPr algn="ctr"/>
            <a:r>
              <a:rPr lang="en-US" altLang="en-US" b="1">
                <a:solidFill>
                  <a:schemeClr val="tx1"/>
                </a:solidFill>
                <a:latin typeface="Times New Roman" panose="02020603050405020304" charset="0"/>
                <a:cs typeface="Times New Roman" panose="02020603050405020304" charset="0"/>
                <a:sym typeface="+mn-ea"/>
              </a:rPr>
              <a:t>WAV снимака</a:t>
            </a:r>
            <a:endParaRPr lang="en-US" altLang="en-US" b="1">
              <a:solidFill>
                <a:schemeClr val="tx1"/>
              </a:solidFill>
              <a:latin typeface="Times New Roman" panose="02020603050405020304" charset="0"/>
              <a:cs typeface="Times New Roman" panose="02020603050405020304" charset="0"/>
              <a:sym typeface="+mn-ea"/>
            </a:endParaRPr>
          </a:p>
        </p:txBody>
      </p:sp>
      <p:sp>
        <p:nvSpPr>
          <p:cNvPr id="9" name="Rounded Rectangle 8"/>
          <p:cNvSpPr/>
          <p:nvPr/>
        </p:nvSpPr>
        <p:spPr>
          <a:xfrm>
            <a:off x="3884930" y="1203325"/>
            <a:ext cx="1125855"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altLang="en-US" sz="2800" b="1">
                <a:solidFill>
                  <a:schemeClr val="tx1"/>
                </a:solidFill>
                <a:latin typeface="Times New Roman" panose="02020603050405020304" charset="0"/>
                <a:cs typeface="Times New Roman" panose="02020603050405020304" charset="0"/>
                <a:sym typeface="+mn-ea"/>
              </a:rPr>
              <a:t>3</a:t>
            </a:r>
            <a:endParaRPr lang="sr-Cyrl-BA" altLang="en-US" sz="2800" b="1">
              <a:solidFill>
                <a:schemeClr val="tx1"/>
              </a:solidFill>
              <a:latin typeface="Times New Roman" panose="02020603050405020304" charset="0"/>
              <a:cs typeface="Times New Roman" panose="02020603050405020304" charset="0"/>
              <a:sym typeface="+mn-ea"/>
            </a:endParaRPr>
          </a:p>
          <a:p>
            <a:pPr algn="ctr">
              <a:buSzTx/>
            </a:pPr>
            <a:r>
              <a:rPr lang="sr-Cyrl-BA" altLang="en-US" b="1">
                <a:solidFill>
                  <a:schemeClr val="tx1"/>
                </a:solidFill>
                <a:latin typeface="Times New Roman" panose="02020603050405020304" charset="0"/>
                <a:cs typeface="Times New Roman" panose="02020603050405020304" charset="0"/>
                <a:sym typeface="+mn-ea"/>
              </a:rPr>
              <a:t>говорника</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2" name="Rounded Rectangle 1"/>
          <p:cNvSpPr/>
          <p:nvPr/>
        </p:nvSpPr>
        <p:spPr>
          <a:xfrm>
            <a:off x="5435600" y="1203325"/>
            <a:ext cx="112649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800" b="1">
                <a:solidFill>
                  <a:schemeClr val="tx1"/>
                </a:solidFill>
                <a:latin typeface="Times New Roman" panose="02020603050405020304" charset="0"/>
                <a:cs typeface="Times New Roman" panose="02020603050405020304" charset="0"/>
                <a:sym typeface="+mn-ea"/>
              </a:rPr>
              <a:t>4</a:t>
            </a:r>
            <a:endParaRPr lang="sr-Cyrl-BA" altLang="en-US" sz="2800" b="1">
              <a:solidFill>
                <a:schemeClr val="tx1"/>
              </a:solidFill>
              <a:latin typeface="Times New Roman" panose="02020603050405020304" charset="0"/>
              <a:cs typeface="Times New Roman" panose="02020603050405020304" charset="0"/>
              <a:sym typeface="+mn-ea"/>
            </a:endParaRPr>
          </a:p>
          <a:p>
            <a:pPr algn="ctr"/>
            <a:r>
              <a:rPr lang="sr-Cyrl-BA" altLang="en-US" b="1">
                <a:solidFill>
                  <a:schemeClr val="tx1"/>
                </a:solidFill>
                <a:latin typeface="Times New Roman" panose="02020603050405020304" charset="0"/>
                <a:cs typeface="Times New Roman" panose="02020603050405020304" charset="0"/>
                <a:sym typeface="+mn-ea"/>
              </a:rPr>
              <a:t>групе трајања</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8" name="Text Box 7"/>
          <p:cNvSpPr txBox="1"/>
          <p:nvPr/>
        </p:nvSpPr>
        <p:spPr>
          <a:xfrm>
            <a:off x="3275965" y="2211705"/>
            <a:ext cx="3048000"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Организација скупа</a:t>
            </a:r>
            <a:endParaRPr lang="en-US" altLang="en-US" sz="1600" b="1">
              <a:latin typeface="Times New Roman" panose="02020603050405020304" charset="0"/>
              <a:cs typeface="Times New Roman" panose="02020603050405020304" charset="0"/>
            </a:endParaRPr>
          </a:p>
        </p:txBody>
      </p:sp>
      <p:sp>
        <p:nvSpPr>
          <p:cNvPr id="12" name="Text Box 11"/>
          <p:cNvSpPr txBox="1"/>
          <p:nvPr/>
        </p:nvSpPr>
        <p:spPr>
          <a:xfrm>
            <a:off x="1035685" y="4732020"/>
            <a:ext cx="7084695" cy="337185"/>
          </a:xfrm>
          <a:prstGeom prst="rect">
            <a:avLst/>
          </a:prstGeom>
        </p:spPr>
        <p:txBody>
          <a:bodyPr wrap="square">
            <a:spAutoFit/>
          </a:bodyPr>
          <a:p>
            <a:r>
              <a:rPr lang="en-US" altLang="zh-CN" sz="1600" b="1">
                <a:latin typeface="Times New Roman" panose="02020603050405020304" charset="0"/>
                <a:cs typeface="Times New Roman" panose="02020603050405020304" charset="0"/>
              </a:rPr>
              <a:t>Различит садржај и трајање · природан говор · референтни транскрипти</a:t>
            </a:r>
            <a:endParaRPr lang="en-US" altLang="zh-CN" sz="1600"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645795" y="2787650"/>
          <a:ext cx="7863840" cy="1877060"/>
        </p:xfrm>
        <a:graphic>
          <a:graphicData uri="http://schemas.openxmlformats.org/drawingml/2006/table">
            <a:tbl>
              <a:tblPr firstRow="1" bandRow="1">
                <a:tableStyleId>{5C22544A-7EE6-4342-B048-85BDC9FD1C3A}</a:tableStyleId>
              </a:tblPr>
              <a:tblGrid>
                <a:gridCol w="2028825"/>
                <a:gridCol w="2917825"/>
                <a:gridCol w="2917190"/>
              </a:tblGrid>
              <a:tr h="579120">
                <a:tc>
                  <a:txBody>
                    <a:bodyPr/>
                    <a:p>
                      <a:pPr algn="ctr">
                        <a:buNone/>
                      </a:pPr>
                      <a:r>
                        <a:rPr lang="sr-Cyrl-BA" altLang="sr-Latn-RS" sz="1600" b="1">
                          <a:solidFill>
                            <a:schemeClr val="tx1"/>
                          </a:solidFill>
                          <a:latin typeface="Times New Roman" panose="02020603050405020304" charset="0"/>
                          <a:cs typeface="Times New Roman" panose="02020603050405020304" charset="0"/>
                        </a:rPr>
                        <a:t>Група 1</a:t>
                      </a:r>
                      <a:endParaRPr lang="sr-Cyrl-BA" altLang="sr-Latn-RS" sz="1600" b="1">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Кратки снимци</a:t>
                      </a:r>
                      <a:endParaRPr lang="sr-Cyrl-BA" altLang="en-US" sz="1600" b="1">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1-10</a:t>
                      </a:r>
                      <a:endParaRPr lang="sr-Cyrl-BA" altLang="en-US" sz="1600" b="1">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r>
              <a:tr h="383540">
                <a:tc>
                  <a:txBody>
                    <a:bodyPr/>
                    <a:p>
                      <a:pPr algn="ctr">
                        <a:buNone/>
                      </a:pPr>
                      <a:r>
                        <a:rPr lang="sr-Cyrl-BA" altLang="en-US" sz="1600" b="1">
                          <a:solidFill>
                            <a:schemeClr val="tx1"/>
                          </a:solidFill>
                          <a:latin typeface="Times New Roman" panose="02020603050405020304" charset="0"/>
                          <a:cs typeface="Times New Roman" panose="02020603050405020304" charset="0"/>
                        </a:rPr>
                        <a:t>Група 2</a:t>
                      </a:r>
                      <a:endParaRPr lang="sr-Cyrl-BA" altLang="en-US" sz="1600" b="1">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Краћи средњи снимци</a:t>
                      </a:r>
                      <a:endParaRPr lang="sr-Cyrl-BA" altLang="en-US" sz="1600" b="1">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11-20</a:t>
                      </a:r>
                      <a:endParaRPr lang="sr-Cyrl-BA" altLang="en-US" sz="1600" b="1">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r>
              <a:tr h="579120">
                <a:tc>
                  <a:txBody>
                    <a:bodyPr/>
                    <a:p>
                      <a:pPr algn="ctr">
                        <a:buNone/>
                      </a:pPr>
                      <a:r>
                        <a:rPr lang="sr-Cyrl-BA" altLang="sr-Latn-RS" sz="1600" b="1">
                          <a:solidFill>
                            <a:schemeClr val="tx1"/>
                          </a:solidFill>
                          <a:latin typeface="Times New Roman" panose="02020603050405020304" charset="0"/>
                          <a:cs typeface="Times New Roman" panose="02020603050405020304" charset="0"/>
                        </a:rPr>
                        <a:t>Група 3</a:t>
                      </a:r>
                      <a:endParaRPr lang="sr-Cyrl-BA" altLang="sr-Latn-RS" sz="1600" b="1">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Cyrl-BA" altLang="en-US" sz="1600" b="1">
                          <a:solidFill>
                            <a:schemeClr val="tx1"/>
                          </a:solidFill>
                          <a:latin typeface="Times New Roman" panose="02020603050405020304" charset="0"/>
                          <a:cs typeface="Times New Roman" panose="02020603050405020304" charset="0"/>
                          <a:sym typeface="+mn-ea"/>
                        </a:rPr>
                        <a:t>Дужи средњи снимци</a:t>
                      </a:r>
                      <a:endParaRPr lang="sr-Cyrl-BA" altLang="en-US" sz="1600" b="1">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21-30</a:t>
                      </a:r>
                      <a:endParaRPr lang="sr-Cyrl-BA" altLang="en-US" sz="1600" b="1">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35280">
                <a:tc>
                  <a:txBody>
                    <a:bodyPr/>
                    <a:p>
                      <a:pPr algn="ctr">
                        <a:buNone/>
                      </a:pPr>
                      <a:r>
                        <a:rPr lang="sr-Cyrl-BA" altLang="sr-Latn-RS" sz="1600" b="1">
                          <a:solidFill>
                            <a:schemeClr val="tx1"/>
                          </a:solidFill>
                          <a:latin typeface="Times New Roman" panose="02020603050405020304" charset="0"/>
                          <a:cs typeface="Times New Roman" panose="02020603050405020304" charset="0"/>
                        </a:rPr>
                        <a:t>Група 4</a:t>
                      </a:r>
                      <a:endParaRPr lang="sr-Cyrl-BA" altLang="sr-Latn-RS" sz="1600" b="1">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Дуги снимци</a:t>
                      </a:r>
                      <a:endParaRPr lang="sr-Cyrl-BA" altLang="en-US" sz="1600" b="1">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31-40</a:t>
                      </a:r>
                      <a:endParaRPr lang="sr-Cyrl-BA" altLang="en-US" sz="1600" b="1">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700405" y="339090"/>
            <a:ext cx="6090920" cy="575945"/>
          </a:xfrm>
        </p:spPr>
        <p:txBody>
          <a:bodyPr/>
          <a:p>
            <a:pPr algn="ctr"/>
            <a:r>
              <a:rPr lang="en-US" altLang="en-US">
                <a:latin typeface="Times New Roman" panose="02020603050405020304" charset="0"/>
                <a:cs typeface="Times New Roman" panose="02020603050405020304" charset="0"/>
              </a:rPr>
              <a:t>Додатни експериментални скупови</a:t>
            </a:r>
            <a:endParaRPr lang="en-US" altLang="en-US">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700405" y="987425"/>
          <a:ext cx="6862445" cy="2595880"/>
        </p:xfrm>
        <a:graphic>
          <a:graphicData uri="http://schemas.openxmlformats.org/drawingml/2006/table">
            <a:tbl>
              <a:tblPr firstRow="1" bandRow="1">
                <a:tableStyleId>{5C22544A-7EE6-4342-B048-85BDC9FD1C3A}</a:tableStyleId>
              </a:tblPr>
              <a:tblGrid>
                <a:gridCol w="2814320"/>
                <a:gridCol w="4048125"/>
              </a:tblGrid>
              <a:tr h="471170">
                <a:tc>
                  <a:txBody>
                    <a:bodyPr/>
                    <a:p>
                      <a:pPr algn="ctr"/>
                      <a:r>
                        <a:rPr lang="en-US" altLang="zh-CN" sz="1400" b="1">
                          <a:solidFill>
                            <a:schemeClr val="tx1"/>
                          </a:solidFill>
                          <a:latin typeface="Times New Roman" panose="02020603050405020304" charset="0"/>
                          <a:cs typeface="Times New Roman" panose="02020603050405020304" charset="0"/>
                        </a:rPr>
                        <a:t>Скуп</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Намена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0535">
                <a:tc>
                  <a:txBody>
                    <a:bodyPr/>
                    <a:p>
                      <a:pPr algn="ctr"/>
                      <a:r>
                        <a:rPr lang="en-US" altLang="zh-CN" sz="1400" b="0">
                          <a:solidFill>
                            <a:schemeClr val="tx1"/>
                          </a:solidFill>
                          <a:latin typeface="Times New Roman" panose="02020603050405020304" charset="0"/>
                          <a:cs typeface="Times New Roman" panose="02020603050405020304" charset="0"/>
                        </a:rPr>
                        <a:t>Шум и SNR</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0">
                          <a:solidFill>
                            <a:schemeClr val="tx1"/>
                          </a:solidFill>
                          <a:latin typeface="Times New Roman" panose="02020603050405020304" charset="0"/>
                          <a:cs typeface="Times New Roman" panose="02020603050405020304" charset="0"/>
                        </a:rPr>
                        <a:t>Бели и розе шум; различити нивои деградације</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en-US" altLang="zh-CN" sz="1400" b="0">
                          <a:solidFill>
                            <a:schemeClr val="tx1"/>
                          </a:solidFill>
                          <a:latin typeface="Times New Roman" panose="02020603050405020304" charset="0"/>
                          <a:cs typeface="Times New Roman" panose="02020603050405020304" charset="0"/>
                        </a:rPr>
                        <a:t>Српски / енглески</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0">
                          <a:solidFill>
                            <a:schemeClr val="tx1"/>
                          </a:solidFill>
                          <a:latin typeface="Times New Roman" panose="02020603050405020304" charset="0"/>
                          <a:cs typeface="Times New Roman" panose="02020603050405020304" charset="0"/>
                        </a:rPr>
                        <a:t>Контролисано поређење синтетичког говора</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39420">
                <a:tc>
                  <a:txBody>
                    <a:bodyPr/>
                    <a:p>
                      <a:pPr algn="ctr"/>
                      <a:r>
                        <a:rPr lang="en-US" altLang="zh-CN" sz="1400" b="0">
                          <a:solidFill>
                            <a:schemeClr val="tx1"/>
                          </a:solidFill>
                          <a:latin typeface="Times New Roman" panose="02020603050405020304" charset="0"/>
                          <a:cs typeface="Times New Roman" panose="02020603050405020304" charset="0"/>
                        </a:rPr>
                        <a:t>VAD</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0">
                          <a:solidFill>
                            <a:schemeClr val="tx1"/>
                          </a:solidFill>
                          <a:latin typeface="Times New Roman" panose="02020603050405020304" charset="0"/>
                          <a:cs typeface="Times New Roman" panose="02020603050405020304" charset="0"/>
                        </a:rPr>
                        <a:t>5 природних српских снимака са паузама + 5 синтетичких енглеских</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en-US" altLang="zh-CN" sz="1400" b="0">
                          <a:solidFill>
                            <a:schemeClr val="tx1"/>
                          </a:solidFill>
                          <a:latin typeface="Times New Roman" panose="02020603050405020304" charset="0"/>
                          <a:cs typeface="Times New Roman" panose="02020603050405020304" charset="0"/>
                        </a:rPr>
                        <a:t>Streaming</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0">
                          <a:solidFill>
                            <a:schemeClr val="tx1"/>
                          </a:solidFill>
                          <a:latin typeface="Times New Roman" panose="02020603050405020304" charset="0"/>
                          <a:cs typeface="Times New Roman" panose="02020603050405020304" charset="0"/>
                        </a:rPr>
                        <a:t>5 најдужих снимака; сегменти од 2, 5 и 10 s</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72415">
                <a:tc>
                  <a:txBody>
                    <a:bodyPr/>
                    <a:p>
                      <a:pPr algn="ctr"/>
                      <a:r>
                        <a:rPr lang="en-US" altLang="zh-CN" sz="1400" b="0">
                          <a:solidFill>
                            <a:schemeClr val="tx1"/>
                          </a:solidFill>
                          <a:latin typeface="Times New Roman" panose="02020603050405020304" charset="0"/>
                          <a:cs typeface="Times New Roman" panose="02020603050405020304" charset="0"/>
                        </a:rPr>
                        <a:t>Пољопривреда</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0">
                          <a:solidFill>
                            <a:schemeClr val="tx1"/>
                          </a:solidFill>
                          <a:latin typeface="Times New Roman" panose="02020603050405020304" charset="0"/>
                          <a:cs typeface="Times New Roman" panose="02020603050405020304" charset="0"/>
                        </a:rPr>
                        <a:t>800 снимака за доменску адаптацију</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10" name="Picture 9"/>
          <p:cNvPicPr>
            <a:picLocks noChangeAspect="1"/>
          </p:cNvPicPr>
          <p:nvPr/>
        </p:nvPicPr>
        <p:blipFill>
          <a:blip r:embed="rId2"/>
          <a:stretch>
            <a:fillRect/>
          </a:stretch>
        </p:blipFill>
        <p:spPr>
          <a:xfrm>
            <a:off x="251460" y="4371975"/>
            <a:ext cx="8753475" cy="504825"/>
          </a:xfrm>
          <a:prstGeom prst="rect">
            <a:avLst/>
          </a:prstGeom>
        </p:spPr>
      </p:pic>
      <p:sp>
        <p:nvSpPr>
          <p:cNvPr id="11" name="Text Box 10"/>
          <p:cNvSpPr txBox="1"/>
          <p:nvPr/>
        </p:nvSpPr>
        <p:spPr>
          <a:xfrm>
            <a:off x="2771775" y="3809365"/>
            <a:ext cx="3048000" cy="337185"/>
          </a:xfrm>
          <a:prstGeom prst="rect">
            <a:avLst/>
          </a:prstGeom>
          <a:noFill/>
        </p:spPr>
        <p:txBody>
          <a:bodyPr wrap="square" rtlCol="0">
            <a:spAutoFit/>
          </a:bodyPr>
          <a:p>
            <a:r>
              <a:rPr lang="sr-Cyrl-BA" altLang="en-US" sz="1600" b="1">
                <a:latin typeface="Times New Roman" panose="02020603050405020304" charset="0"/>
                <a:cs typeface="Times New Roman" panose="02020603050405020304" charset="0"/>
              </a:rPr>
              <a:t>Доменски скуп: 800 снимака</a:t>
            </a:r>
            <a:endParaRPr lang="sr-Cyrl-BA" altLang="en-US" sz="1600" b="1">
              <a:latin typeface="Times New Roman" panose="02020603050405020304" charset="0"/>
              <a:cs typeface="Times New Roman" panose="020206030504050203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194310" y="339090"/>
            <a:ext cx="6884035" cy="575945"/>
          </a:xfrm>
        </p:spPr>
        <p:txBody>
          <a:bodyPr/>
          <a:p>
            <a:pPr algn="ctr"/>
            <a:r>
              <a:rPr lang="en-US" altLang="en-US">
                <a:latin typeface="Times New Roman" panose="02020603050405020304" charset="0"/>
                <a:cs typeface="Times New Roman" panose="02020603050405020304" charset="0"/>
              </a:rPr>
              <a:t>Припрема и претпроцесирање аудио-записа</a:t>
            </a:r>
            <a:endParaRPr lang="en-US" altLang="en-US">
              <a:latin typeface="Times New Roman" panose="02020603050405020304" charset="0"/>
              <a:cs typeface="Times New Roman" panose="02020603050405020304" charset="0"/>
            </a:endParaRPr>
          </a:p>
        </p:txBody>
      </p:sp>
      <p:sp>
        <p:nvSpPr>
          <p:cNvPr id="50" name="Rounded Rectangle 49"/>
          <p:cNvSpPr/>
          <p:nvPr/>
        </p:nvSpPr>
        <p:spPr>
          <a:xfrm>
            <a:off x="394970" y="1059815"/>
            <a:ext cx="122047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tx1"/>
                </a:solidFill>
                <a:latin typeface="Times New Roman" panose="02020603050405020304" charset="0"/>
                <a:cs typeface="Times New Roman" panose="02020603050405020304" charset="0"/>
              </a:rPr>
              <a:t>Аудио-запис + референтни текст</a:t>
            </a:r>
            <a:endParaRPr lang="en-US" altLang="en-US">
              <a:solidFill>
                <a:schemeClr val="tx1"/>
              </a:solidFill>
              <a:latin typeface="Times New Roman" panose="02020603050405020304" charset="0"/>
              <a:cs typeface="Times New Roman" panose="02020603050405020304" charset="0"/>
            </a:endParaRPr>
          </a:p>
        </p:txBody>
      </p:sp>
      <p:sp>
        <p:nvSpPr>
          <p:cNvPr id="51" name="TextBox 10"/>
          <p:cNvSpPr txBox="1"/>
          <p:nvPr/>
        </p:nvSpPr>
        <p:spPr>
          <a:xfrm>
            <a:off x="1546606" y="177990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2" name="TextBox 14"/>
          <p:cNvSpPr txBox="1"/>
          <p:nvPr/>
        </p:nvSpPr>
        <p:spPr>
          <a:xfrm>
            <a:off x="2986913" y="242760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3" name="TextBox 18"/>
          <p:cNvSpPr txBox="1"/>
          <p:nvPr/>
        </p:nvSpPr>
        <p:spPr>
          <a:xfrm>
            <a:off x="4859655" y="314769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4" name="Rounded Rectangle 53"/>
          <p:cNvSpPr/>
          <p:nvPr/>
        </p:nvSpPr>
        <p:spPr>
          <a:xfrm>
            <a:off x="1835150" y="1851660"/>
            <a:ext cx="1220470" cy="122618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tx1"/>
                </a:solidFill>
                <a:latin typeface="Times New Roman" panose="02020603050405020304" charset="0"/>
                <a:cs typeface="Times New Roman" panose="02020603050405020304" charset="0"/>
              </a:rPr>
              <a:t>Провера формата, трајања и припрема улаза</a:t>
            </a:r>
            <a:endParaRPr lang="en-US" altLang="en-US">
              <a:solidFill>
                <a:schemeClr val="tx1"/>
              </a:solidFill>
              <a:latin typeface="Times New Roman" panose="02020603050405020304" charset="0"/>
              <a:cs typeface="Times New Roman" panose="02020603050405020304" charset="0"/>
            </a:endParaRPr>
          </a:p>
        </p:txBody>
      </p:sp>
      <p:sp>
        <p:nvSpPr>
          <p:cNvPr id="55" name="Rounded Rectangle 54"/>
          <p:cNvSpPr/>
          <p:nvPr/>
        </p:nvSpPr>
        <p:spPr>
          <a:xfrm>
            <a:off x="3215640" y="2574290"/>
            <a:ext cx="1729740" cy="114935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tx1"/>
                </a:solidFill>
                <a:latin typeface="Times New Roman" panose="02020603050405020304" charset="0"/>
                <a:cs typeface="Times New Roman" panose="02020603050405020304" charset="0"/>
              </a:rPr>
              <a:t>Претпроцесирање према експерименту</a:t>
            </a:r>
            <a:endParaRPr lang="en-US" altLang="en-US">
              <a:solidFill>
                <a:schemeClr val="tx1"/>
              </a:solidFill>
              <a:latin typeface="Times New Roman" panose="02020603050405020304" charset="0"/>
              <a:cs typeface="Times New Roman" panose="02020603050405020304" charset="0"/>
            </a:endParaRPr>
          </a:p>
        </p:txBody>
      </p:sp>
      <p:sp>
        <p:nvSpPr>
          <p:cNvPr id="56" name="Rounded Rectangle 55"/>
          <p:cNvSpPr/>
          <p:nvPr/>
        </p:nvSpPr>
        <p:spPr>
          <a:xfrm>
            <a:off x="5090160" y="3291840"/>
            <a:ext cx="2220595"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tx1"/>
                </a:solidFill>
                <a:latin typeface="Times New Roman" panose="02020603050405020304" charset="0"/>
                <a:cs typeface="Times New Roman" panose="02020603050405020304" charset="0"/>
              </a:rPr>
              <a:t>Шум / SNR</a:t>
            </a:r>
            <a:endParaRPr lang="en-US" altLang="en-US">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VAD / паузе</a:t>
            </a:r>
            <a:endParaRPr lang="en-US" altLang="en-US">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Streaming / сегменти</a:t>
            </a:r>
            <a:endParaRPr lang="en-US" altLang="en-US">
              <a:solidFill>
                <a:schemeClr val="tx1"/>
              </a:solidFill>
              <a:latin typeface="Times New Roman" panose="02020603050405020304" charset="0"/>
              <a:cs typeface="Times New Roman" panose="02020603050405020304" charset="0"/>
            </a:endParaRPr>
          </a:p>
        </p:txBody>
      </p:sp>
      <p:sp>
        <p:nvSpPr>
          <p:cNvPr id="3" name="Rounded Rectangle 2"/>
          <p:cNvSpPr/>
          <p:nvPr/>
        </p:nvSpPr>
        <p:spPr>
          <a:xfrm>
            <a:off x="7524750" y="3723640"/>
            <a:ext cx="148209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tx1"/>
                </a:solidFill>
                <a:latin typeface="Times New Roman" panose="02020603050405020304" charset="0"/>
                <a:cs typeface="Times New Roman" panose="02020603050405020304" charset="0"/>
              </a:rPr>
              <a:t>Транскрипција → нормализација текста → WER</a:t>
            </a:r>
            <a:endParaRPr lang="en-US" altLang="en-US">
              <a:solidFill>
                <a:schemeClr val="tx1"/>
              </a:solidFill>
              <a:latin typeface="Times New Roman" panose="02020603050405020304" charset="0"/>
              <a:cs typeface="Times New Roman" panose="02020603050405020304" charset="0"/>
            </a:endParaRPr>
          </a:p>
        </p:txBody>
      </p:sp>
      <p:sp>
        <p:nvSpPr>
          <p:cNvPr id="7" name="TextBox 18"/>
          <p:cNvSpPr txBox="1"/>
          <p:nvPr/>
        </p:nvSpPr>
        <p:spPr>
          <a:xfrm>
            <a:off x="7236460" y="379603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8" name="Text Box 7"/>
          <p:cNvSpPr txBox="1"/>
          <p:nvPr/>
        </p:nvSpPr>
        <p:spPr>
          <a:xfrm>
            <a:off x="611505" y="4660265"/>
            <a:ext cx="7723505" cy="460375"/>
          </a:xfrm>
          <a:prstGeom prst="rect">
            <a:avLst/>
          </a:prstGeom>
          <a:noFill/>
        </p:spPr>
        <p:txBody>
          <a:bodyPr wrap="square" rtlCol="0">
            <a:spAutoFit/>
          </a:bodyPr>
          <a:p>
            <a:r>
              <a:rPr lang="sr-Cyrl-BA" altLang="en-US" sz="2400">
                <a:solidFill>
                  <a:schemeClr val="accent1"/>
                </a:solidFill>
                <a:highlight>
                  <a:srgbClr val="000000"/>
                </a:highlight>
                <a:latin typeface="Times New Roman" panose="02020603050405020304" charset="0"/>
                <a:cs typeface="Times New Roman" panose="02020603050405020304" charset="0"/>
              </a:rPr>
              <a:t>Принцип поређења: исти улаз и исти референтни текст.</a:t>
            </a:r>
            <a:endParaRPr lang="sr-Cyrl-BA" altLang="en-US" sz="2400">
              <a:solidFill>
                <a:schemeClr val="accent1"/>
              </a:solidFill>
              <a:highlight>
                <a:srgbClr val="000000"/>
              </a:highlight>
              <a:latin typeface="Times New Roman" panose="02020603050405020304" charset="0"/>
              <a:cs typeface="Times New Roman" panose="0202060305040502030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1021080" y="339090"/>
            <a:ext cx="5770245" cy="575945"/>
          </a:xfrm>
        </p:spPr>
        <p:txBody>
          <a:bodyPr/>
          <a:p>
            <a:pPr algn="ctr"/>
            <a:r>
              <a:rPr lang="en-US" altLang="en-US">
                <a:latin typeface="Times New Roman" panose="02020603050405020304" charset="0"/>
                <a:cs typeface="Times New Roman" panose="02020603050405020304" charset="0"/>
              </a:rPr>
              <a:t>Методологија евалуације и мерења</a:t>
            </a:r>
            <a:endParaRPr lang="en-US" altLang="en-US">
              <a:latin typeface="Times New Roman" panose="02020603050405020304" charset="0"/>
              <a:cs typeface="Times New Roman" panose="02020603050405020304" charset="0"/>
            </a:endParaRPr>
          </a:p>
        </p:txBody>
      </p:sp>
      <p:sp>
        <p:nvSpPr>
          <p:cNvPr id="5" name="Text Placeholder 4"/>
          <p:cNvSpPr/>
          <p:nvPr>
            <p:ph type="body" idx="1"/>
          </p:nvPr>
        </p:nvSpPr>
        <p:spPr>
          <a:xfrm>
            <a:off x="1187450" y="771525"/>
            <a:ext cx="6111240" cy="928370"/>
          </a:xfrm>
        </p:spPr>
        <p:txBody>
          <a:bodyPr/>
          <a:p>
            <a:pPr marL="139700" indent="0" algn="l">
              <a:buNone/>
            </a:pPr>
            <a:r>
              <a:rPr lang="en-US" altLang="en-US" sz="1600" b="1">
                <a:latin typeface="Times New Roman" panose="02020603050405020304" charset="0"/>
                <a:cs typeface="Times New Roman" panose="02020603050405020304" charset="0"/>
              </a:rPr>
              <a:t>Исти аудио-запис + исти референтни текст</a:t>
            </a:r>
            <a:endParaRPr lang="en-US" altLang="en-US" sz="1600" b="1">
              <a:latin typeface="Times New Roman" panose="02020603050405020304" charset="0"/>
              <a:cs typeface="Times New Roman" panose="02020603050405020304" charset="0"/>
            </a:endParaRPr>
          </a:p>
        </p:txBody>
      </p:sp>
      <p:sp>
        <p:nvSpPr>
          <p:cNvPr id="50" name="Rounded Rectangle 49"/>
          <p:cNvSpPr/>
          <p:nvPr/>
        </p:nvSpPr>
        <p:spPr>
          <a:xfrm>
            <a:off x="1439545" y="1873250"/>
            <a:ext cx="295338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Тачност</a:t>
            </a:r>
            <a:endParaRPr lang="en-US" altLang="en-US" b="1">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WER</a:t>
            </a:r>
            <a:endParaRPr lang="en-US" altLang="en-US">
              <a:solidFill>
                <a:schemeClr val="tx1"/>
              </a:solidFill>
              <a:latin typeface="Times New Roman" panose="02020603050405020304" charset="0"/>
              <a:cs typeface="Times New Roman" panose="02020603050405020304" charset="0"/>
            </a:endParaRPr>
          </a:p>
          <a:p>
            <a:pPr algn="ctr"/>
            <a:r>
              <a:rPr lang="en-US" altLang="en-US" b="1">
                <a:solidFill>
                  <a:schemeClr val="tx1"/>
                </a:solidFill>
                <a:latin typeface="Times New Roman" panose="02020603050405020304" charset="0"/>
                <a:cs typeface="Times New Roman" panose="02020603050405020304" charset="0"/>
              </a:rPr>
              <a:t>Просек · медијана · corpus WER</a:t>
            </a:r>
            <a:endParaRPr lang="en-US" altLang="en-US" b="1">
              <a:solidFill>
                <a:schemeClr val="tx1"/>
              </a:solidFill>
              <a:latin typeface="Times New Roman" panose="02020603050405020304" charset="0"/>
              <a:cs typeface="Times New Roman" panose="02020603050405020304" charset="0"/>
            </a:endParaRPr>
          </a:p>
        </p:txBody>
      </p:sp>
      <p:sp>
        <p:nvSpPr>
          <p:cNvPr id="10" name="Rounded Rectangle 9"/>
          <p:cNvSpPr/>
          <p:nvPr/>
        </p:nvSpPr>
        <p:spPr>
          <a:xfrm>
            <a:off x="4874260" y="1851660"/>
            <a:ext cx="286321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buNone/>
            </a:pPr>
            <a:r>
              <a:rPr lang="en-US" altLang="en-US" b="1">
                <a:solidFill>
                  <a:schemeClr val="tx1"/>
                </a:solidFill>
                <a:latin typeface="Times New Roman" panose="02020603050405020304" charset="0"/>
                <a:cs typeface="Times New Roman" panose="02020603050405020304" charset="0"/>
              </a:rPr>
              <a:t>Перформансе</a:t>
            </a:r>
            <a:endParaRPr lang="en-US" altLang="en-US" b="1">
              <a:solidFill>
                <a:schemeClr val="tx1"/>
              </a:solidFill>
              <a:latin typeface="Times New Roman" panose="02020603050405020304" charset="0"/>
              <a:cs typeface="Times New Roman" panose="02020603050405020304" charset="0"/>
            </a:endParaRPr>
          </a:p>
          <a:p>
            <a:pPr algn="ctr">
              <a:buSzTx/>
              <a:buNone/>
            </a:pPr>
            <a:r>
              <a:rPr lang="en-US" altLang="en-US">
                <a:solidFill>
                  <a:schemeClr val="tx1"/>
                </a:solidFill>
                <a:latin typeface="Times New Roman" panose="02020603050405020304" charset="0"/>
                <a:cs typeface="Times New Roman" panose="02020603050405020304" charset="0"/>
              </a:rPr>
              <a:t>Време · RTF · RAM</a:t>
            </a:r>
            <a:endParaRPr lang="en-US" altLang="en-US">
              <a:solidFill>
                <a:schemeClr val="tx1"/>
              </a:solidFill>
              <a:latin typeface="Times New Roman" panose="02020603050405020304" charset="0"/>
              <a:cs typeface="Times New Roman" panose="02020603050405020304" charset="0"/>
            </a:endParaRPr>
          </a:p>
          <a:p>
            <a:pPr algn="ctr">
              <a:buSzTx/>
              <a:buNone/>
            </a:pPr>
            <a:r>
              <a:rPr lang="en-US" altLang="en-US" b="1">
                <a:solidFill>
                  <a:schemeClr val="tx1"/>
                </a:solidFill>
                <a:latin typeface="Times New Roman" panose="02020603050405020304" charset="0"/>
                <a:cs typeface="Times New Roman" panose="02020603050405020304" charset="0"/>
              </a:rPr>
              <a:t>Убрзање · streaming латенција</a:t>
            </a:r>
            <a:endParaRPr lang="en-US" altLang="en-US" b="1">
              <a:solidFill>
                <a:schemeClr val="tx1"/>
              </a:solidFill>
              <a:latin typeface="Times New Roman" panose="02020603050405020304" charset="0"/>
              <a:cs typeface="Times New Roman" panose="02020603050405020304" charset="0"/>
            </a:endParaRPr>
          </a:p>
        </p:txBody>
      </p:sp>
      <p:sp>
        <p:nvSpPr>
          <p:cNvPr id="3" name="Text Box 2"/>
          <p:cNvSpPr txBox="1"/>
          <p:nvPr/>
        </p:nvSpPr>
        <p:spPr>
          <a:xfrm>
            <a:off x="1331595" y="2931795"/>
            <a:ext cx="6878955" cy="1568450"/>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Контролисано поређење</a:t>
            </a:r>
            <a:endParaRPr lang="en-US" altLang="en-US" sz="1600" b="1">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sz="1600">
                <a:latin typeface="Times New Roman" panose="02020603050405020304" charset="0"/>
                <a:cs typeface="Times New Roman" panose="02020603050405020304" charset="0"/>
              </a:rPr>
              <a:t>Мења се испитивани параметар; остали услови остају што је могуће више непромењени.</a:t>
            </a:r>
            <a:endParaRPr lang="en-US" altLang="en-US" sz="1600">
              <a:latin typeface="Times New Roman" panose="02020603050405020304" charset="0"/>
              <a:cs typeface="Times New Roman" panose="02020603050405020304" charset="0"/>
            </a:endParaRPr>
          </a:p>
          <a:p>
            <a:endParaRPr lang="en-US" altLang="en-US" sz="1600">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Време учитавања модела није укључено у време транскрипције. RAM представља измерену RSS меморију процеса.</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3512" name="Shape 3512"/>
        <p:cNvGrpSpPr/>
        <p:nvPr/>
      </p:nvGrpSpPr>
      <p:grpSpPr>
        <a:xfrm>
          <a:off x="0" y="0"/>
          <a:ext cx="0" cy="0"/>
          <a:chOff x="0" y="0"/>
          <a:chExt cx="0" cy="0"/>
        </a:xfrm>
      </p:grpSpPr>
      <p:sp>
        <p:nvSpPr>
          <p:cNvPr id="3515" name="Google Shape;3515;p62"/>
          <p:cNvSpPr txBox="1"/>
          <p:nvPr>
            <p:ph type="title"/>
          </p:nvPr>
        </p:nvSpPr>
        <p:spPr>
          <a:xfrm>
            <a:off x="968375" y="347345"/>
            <a:ext cx="6079490" cy="58547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US">
                <a:latin typeface="Times New Roman" panose="02020603050405020304" charset="0"/>
                <a:cs typeface="Times New Roman" panose="02020603050405020304" charset="0"/>
              </a:rPr>
              <a:t>Whisper vs Faster-Whisper: поставка</a:t>
            </a:r>
            <a:endParaRPr lang="en-US" altLang="en-US">
              <a:latin typeface="Times New Roman" panose="02020603050405020304" charset="0"/>
              <a:cs typeface="Times New Roman" panose="02020603050405020304" charset="0"/>
            </a:endParaRPr>
          </a:p>
        </p:txBody>
      </p:sp>
      <p:sp>
        <p:nvSpPr>
          <p:cNvPr id="7" name="Rounded Rectangle 6"/>
          <p:cNvSpPr/>
          <p:nvPr/>
        </p:nvSpPr>
        <p:spPr>
          <a:xfrm>
            <a:off x="2277745" y="1224915"/>
            <a:ext cx="2062480" cy="85153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800" b="1">
                <a:solidFill>
                  <a:schemeClr val="tx1"/>
                </a:solidFill>
                <a:latin typeface="Times New Roman" panose="02020603050405020304" charset="0"/>
                <a:cs typeface="Times New Roman" panose="02020603050405020304" charset="0"/>
                <a:sym typeface="+mn-ea"/>
              </a:rPr>
              <a:t>40</a:t>
            </a:r>
            <a:endParaRPr lang="sr-Cyrl-BA" altLang="en-US" sz="2800" b="1">
              <a:solidFill>
                <a:schemeClr val="tx1"/>
              </a:solidFill>
              <a:latin typeface="Times New Roman" panose="02020603050405020304" charset="0"/>
              <a:cs typeface="Times New Roman" panose="02020603050405020304" charset="0"/>
              <a:sym typeface="+mn-ea"/>
            </a:endParaRPr>
          </a:p>
          <a:p>
            <a:pPr algn="ctr"/>
            <a:r>
              <a:rPr lang="sr-Cyrl-BA" altLang="en-US" b="1">
                <a:solidFill>
                  <a:schemeClr val="tx1"/>
                </a:solidFill>
                <a:latin typeface="Times New Roman" panose="02020603050405020304" charset="0"/>
                <a:cs typeface="Times New Roman" panose="02020603050405020304" charset="0"/>
                <a:sym typeface="+mn-ea"/>
              </a:rPr>
              <a:t>Природних</a:t>
            </a:r>
            <a:r>
              <a:rPr lang="en-US" altLang="en-US" b="1">
                <a:solidFill>
                  <a:schemeClr val="tx1"/>
                </a:solidFill>
                <a:latin typeface="Times New Roman" panose="02020603050405020304" charset="0"/>
                <a:cs typeface="Times New Roman" panose="02020603050405020304" charset="0"/>
                <a:sym typeface="+mn-ea"/>
              </a:rPr>
              <a:t> </a:t>
            </a:r>
            <a:r>
              <a:rPr lang="sr-Cyrl-BA" altLang="en-US" b="1">
                <a:solidFill>
                  <a:schemeClr val="tx1"/>
                </a:solidFill>
                <a:latin typeface="Times New Roman" panose="02020603050405020304" charset="0"/>
                <a:cs typeface="Times New Roman" panose="02020603050405020304" charset="0"/>
                <a:sym typeface="+mn-ea"/>
              </a:rPr>
              <a:t>црпских </a:t>
            </a:r>
            <a:r>
              <a:rPr lang="en-US" altLang="en-US" b="1">
                <a:solidFill>
                  <a:schemeClr val="tx1"/>
                </a:solidFill>
                <a:latin typeface="Times New Roman" panose="02020603050405020304" charset="0"/>
                <a:cs typeface="Times New Roman" panose="02020603050405020304" charset="0"/>
                <a:sym typeface="+mn-ea"/>
              </a:rPr>
              <a:t>снимака</a:t>
            </a:r>
            <a:endParaRPr lang="en-US" altLang="en-US" b="1">
              <a:solidFill>
                <a:schemeClr val="tx1"/>
              </a:solidFill>
              <a:latin typeface="Times New Roman" panose="02020603050405020304" charset="0"/>
              <a:cs typeface="Times New Roman" panose="02020603050405020304" charset="0"/>
              <a:sym typeface="+mn-ea"/>
            </a:endParaRPr>
          </a:p>
        </p:txBody>
      </p:sp>
      <p:sp>
        <p:nvSpPr>
          <p:cNvPr id="9" name="Rounded Rectangle 8"/>
          <p:cNvSpPr/>
          <p:nvPr/>
        </p:nvSpPr>
        <p:spPr>
          <a:xfrm>
            <a:off x="4644390" y="1203325"/>
            <a:ext cx="20624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sr-Cyrl-BA" sz="2800" b="1">
                <a:solidFill>
                  <a:schemeClr val="tx1"/>
                </a:solidFill>
                <a:latin typeface="Times New Roman" panose="02020603050405020304" charset="0"/>
                <a:cs typeface="Times New Roman" panose="02020603050405020304" charset="0"/>
                <a:sym typeface="+mn-ea"/>
              </a:rPr>
              <a:t>CPU </a:t>
            </a:r>
            <a:endParaRPr lang="sr-Cyrl-BA" altLang="en-US" sz="2800" b="1">
              <a:solidFill>
                <a:schemeClr val="tx1"/>
              </a:solidFill>
              <a:latin typeface="Times New Roman" panose="02020603050405020304" charset="0"/>
              <a:cs typeface="Times New Roman" panose="02020603050405020304" charset="0"/>
              <a:sym typeface="+mn-ea"/>
            </a:endParaRPr>
          </a:p>
          <a:p>
            <a:pPr algn="ctr">
              <a:buSzTx/>
            </a:pPr>
            <a:r>
              <a:rPr lang="sr-Latn-RS" altLang="sr-Cyrl-BA" b="1">
                <a:solidFill>
                  <a:schemeClr val="tx1"/>
                </a:solidFill>
                <a:latin typeface="Times New Roman" panose="02020603050405020304" charset="0"/>
                <a:cs typeface="Times New Roman" panose="02020603050405020304" charset="0"/>
                <a:sym typeface="+mn-ea"/>
              </a:rPr>
              <a:t> </a:t>
            </a:r>
            <a:r>
              <a:rPr lang="sr-Cyrl-BA" altLang="sr-Cyrl-BA" b="1">
                <a:solidFill>
                  <a:schemeClr val="tx1"/>
                </a:solidFill>
                <a:latin typeface="Times New Roman" panose="02020603050405020304" charset="0"/>
                <a:cs typeface="Times New Roman" panose="02020603050405020304" charset="0"/>
                <a:sym typeface="+mn-ea"/>
              </a:rPr>
              <a:t>Исто хардверско окружење</a:t>
            </a:r>
            <a:endParaRPr lang="sr-Cyrl-BA" altLang="sr-Cyrl-BA" b="1">
              <a:solidFill>
                <a:schemeClr val="tx1"/>
              </a:solidFill>
              <a:latin typeface="Times New Roman" panose="02020603050405020304" charset="0"/>
              <a:cs typeface="Times New Roman" panose="02020603050405020304" charset="0"/>
              <a:sym typeface="+mn-ea"/>
            </a:endParaRPr>
          </a:p>
        </p:txBody>
      </p:sp>
      <p:sp>
        <p:nvSpPr>
          <p:cNvPr id="2" name="Text Box 1"/>
          <p:cNvSpPr txBox="1"/>
          <p:nvPr/>
        </p:nvSpPr>
        <p:spPr>
          <a:xfrm>
            <a:off x="1320800" y="2368550"/>
            <a:ext cx="6686550" cy="107632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Три конфигурације Base модела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1. Whisper Base </a:t>
            </a:r>
            <a:r>
              <a:rPr lang="sr-Cyrl-BA" altLang="en-US" sz="1600">
                <a:latin typeface="Times New Roman" panose="02020603050405020304" charset="0"/>
                <a:cs typeface="Times New Roman" panose="02020603050405020304" charset="0"/>
              </a:rPr>
              <a:t>-</a:t>
            </a:r>
            <a:r>
              <a:rPr lang="en-US" altLang="en-US" sz="1600">
                <a:latin typeface="Times New Roman" panose="02020603050405020304" charset="0"/>
                <a:cs typeface="Times New Roman" panose="02020603050405020304" charset="0"/>
              </a:rPr>
              <a:t> оригинална имплементација</a:t>
            </a:r>
            <a:endParaRPr lang="en-US" altLang="en-US" sz="1600">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2. Faster-Whisper Base INT8 </a:t>
            </a:r>
            <a:r>
              <a:rPr lang="sr-Cyrl-BA" altLang="en-US" sz="1600">
                <a:latin typeface="Times New Roman" panose="02020603050405020304" charset="0"/>
                <a:cs typeface="Times New Roman" panose="02020603050405020304" charset="0"/>
              </a:rPr>
              <a:t>-</a:t>
            </a:r>
            <a:r>
              <a:rPr lang="en-US" altLang="en-US" sz="1600">
                <a:latin typeface="Times New Roman" panose="02020603050405020304" charset="0"/>
                <a:cs typeface="Times New Roman" panose="02020603050405020304" charset="0"/>
              </a:rPr>
              <a:t> оптимизована имплементација</a:t>
            </a:r>
            <a:endParaRPr lang="en-US" altLang="en-US" sz="1600">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3. Faster-Whisper Base FLOAT32 </a:t>
            </a:r>
            <a:r>
              <a:rPr lang="sr-Cyrl-BA" altLang="en-US" sz="1600">
                <a:latin typeface="Times New Roman" panose="02020603050405020304" charset="0"/>
                <a:cs typeface="Times New Roman" panose="02020603050405020304" charset="0"/>
              </a:rPr>
              <a:t>- </a:t>
            </a:r>
            <a:r>
              <a:rPr lang="en-US" altLang="en-US" sz="1600">
                <a:latin typeface="Times New Roman" panose="02020603050405020304" charset="0"/>
                <a:cs typeface="Times New Roman" panose="02020603050405020304" charset="0"/>
              </a:rPr>
              <a:t>оптимизована имплементација</a:t>
            </a:r>
            <a:endParaRPr lang="en-US" altLang="en-US" sz="1600">
              <a:latin typeface="Times New Roman" panose="02020603050405020304" charset="0"/>
              <a:cs typeface="Times New Roman" panose="02020603050405020304" charset="0"/>
            </a:endParaRPr>
          </a:p>
        </p:txBody>
      </p:sp>
      <p:sp>
        <p:nvSpPr>
          <p:cNvPr id="3" name="Text Box 2"/>
          <p:cNvSpPr txBox="1"/>
          <p:nvPr/>
        </p:nvSpPr>
        <p:spPr>
          <a:xfrm>
            <a:off x="3348355" y="3760470"/>
            <a:ext cx="3048000" cy="1322070"/>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Мерене метрике</a:t>
            </a:r>
            <a:endParaRPr lang="en-US" altLang="en-US" sz="1600">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sz="1600">
                <a:latin typeface="Times New Roman" panose="02020603050405020304" charset="0"/>
                <a:cs typeface="Times New Roman" panose="02020603050405020304" charset="0"/>
              </a:rPr>
              <a:t>WER</a:t>
            </a:r>
            <a:endParaRPr lang="en-US" altLang="en-US" sz="1600">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sz="1600">
                <a:latin typeface="Times New Roman" panose="02020603050405020304" charset="0"/>
                <a:cs typeface="Times New Roman" panose="02020603050405020304" charset="0"/>
              </a:rPr>
              <a:t>Време [s]</a:t>
            </a:r>
            <a:endParaRPr lang="en-US" altLang="en-US" sz="1600">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sz="1600">
                <a:latin typeface="Times New Roman" panose="02020603050405020304" charset="0"/>
                <a:cs typeface="Times New Roman" panose="02020603050405020304" charset="0"/>
              </a:rPr>
              <a:t>RTF</a:t>
            </a:r>
            <a:endParaRPr lang="en-US" altLang="en-US" sz="1600">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sz="1600">
                <a:latin typeface="Times New Roman" panose="02020603050405020304" charset="0"/>
                <a:cs typeface="Times New Roman" panose="02020603050405020304" charset="0"/>
              </a:rPr>
              <a:t>RAM [MB]</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397635" y="1247140"/>
            <a:ext cx="6791960" cy="645795"/>
          </a:xfrm>
        </p:spPr>
        <p:txBody>
          <a:bodyPr/>
          <a:p>
            <a:pPr algn="l"/>
            <a:r>
              <a:rPr lang="en-US" altLang="en-US" sz="1600" b="1">
                <a:latin typeface="Times New Roman" panose="02020603050405020304" charset="0"/>
                <a:cs typeface="Times New Roman" panose="02020603050405020304" charset="0"/>
              </a:rPr>
              <a:t>Просечан WER на 40 природних српских снимака · Base модел</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Поређење тачности транскрипције</a:t>
            </a:r>
            <a:endParaRPr lang="en-US" altLang="en-US">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tretch>
            <a:fillRect/>
          </a:stretch>
        </p:blipFill>
        <p:spPr>
          <a:xfrm>
            <a:off x="755650" y="1851660"/>
            <a:ext cx="5054600" cy="2577465"/>
          </a:xfrm>
          <a:prstGeom prst="rect">
            <a:avLst/>
          </a:prstGeom>
        </p:spPr>
      </p:pic>
      <p:sp>
        <p:nvSpPr>
          <p:cNvPr id="3" name="Text Box 2"/>
          <p:cNvSpPr txBox="1"/>
          <p:nvPr/>
        </p:nvSpPr>
        <p:spPr>
          <a:xfrm>
            <a:off x="1908175" y="4371975"/>
            <a:ext cx="5792470" cy="73723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Мањи WER означава мање грешака у транскрипцији</a:t>
            </a:r>
            <a:r>
              <a:rPr lang="sr-Latn-RS" altLang="en-US" b="1">
                <a:latin typeface="Times New Roman" panose="02020603050405020304" charset="0"/>
                <a:cs typeface="Times New Roman" panose="02020603050405020304" charset="0"/>
              </a:rPr>
              <a:t>.</a:t>
            </a:r>
            <a:endParaRPr lang="sr-Latn-RS" altLang="en-US" b="1">
              <a:latin typeface="Times New Roman" panose="02020603050405020304" charset="0"/>
              <a:cs typeface="Times New Roman" panose="02020603050405020304" charset="0"/>
            </a:endParaRPr>
          </a:p>
          <a:p>
            <a:r>
              <a:rPr lang="sr-Latn-RS" altLang="en-US" b="1">
                <a:latin typeface="Times New Roman" panose="02020603050405020304" charset="0"/>
                <a:cs typeface="Times New Roman" panose="02020603050405020304" charset="0"/>
              </a:rPr>
              <a:t> </a:t>
            </a:r>
            <a:r>
              <a:rPr lang="en-US" altLang="en-US" b="1">
                <a:latin typeface="Times New Roman" panose="02020603050405020304" charset="0"/>
                <a:cs typeface="Times New Roman" panose="02020603050405020304" charset="0"/>
              </a:rPr>
              <a:t>−6,44 </a:t>
            </a:r>
            <a:r>
              <a:rPr lang="sr-Cyrl-BA" altLang="en-US" b="1">
                <a:latin typeface="Times New Roman" panose="02020603050405020304" charset="0"/>
                <a:cs typeface="Times New Roman" panose="02020603050405020304" charset="0"/>
              </a:rPr>
              <a:t>процената</a:t>
            </a:r>
            <a:r>
              <a:rPr lang="sr-Latn-RS" altLang="en-US" b="1">
                <a:latin typeface="Times New Roman" panose="02020603050405020304" charset="0"/>
                <a:cs typeface="Times New Roman" panose="02020603050405020304" charset="0"/>
              </a:rPr>
              <a:t> </a:t>
            </a:r>
            <a:r>
              <a:rPr lang="sr-Cyrl-BA" altLang="sr-Latn-RS" b="1">
                <a:latin typeface="Times New Roman" panose="02020603050405020304" charset="0"/>
                <a:cs typeface="Times New Roman" panose="02020603050405020304" charset="0"/>
              </a:rPr>
              <a:t>разлика </a:t>
            </a:r>
            <a:r>
              <a:rPr lang="en-US" altLang="en-US" b="1">
                <a:latin typeface="Times New Roman" panose="02020603050405020304" charset="0"/>
                <a:cs typeface="Times New Roman" panose="02020603050405020304" charset="0"/>
              </a:rPr>
              <a:t>INT8 у односу на Whisper</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0,13 </a:t>
            </a:r>
            <a:r>
              <a:rPr lang="sr-Cyrl-BA" altLang="en-US" b="1">
                <a:latin typeface="Times New Roman" panose="02020603050405020304" charset="0"/>
                <a:cs typeface="Times New Roman" panose="02020603050405020304" charset="0"/>
              </a:rPr>
              <a:t>процента</a:t>
            </a:r>
            <a:r>
              <a:rPr lang="sr-Latn-RS" altLang="en-US" b="1">
                <a:latin typeface="Times New Roman" panose="02020603050405020304" charset="0"/>
                <a:cs typeface="Times New Roman" panose="02020603050405020304" charset="0"/>
              </a:rPr>
              <a:t> </a:t>
            </a:r>
            <a:r>
              <a:rPr lang="sr-Cyrl-BA" altLang="sr-Latn-RS" b="1">
                <a:latin typeface="Times New Roman" panose="02020603050405020304" charset="0"/>
                <a:cs typeface="Times New Roman" panose="02020603050405020304" charset="0"/>
              </a:rPr>
              <a:t>р</a:t>
            </a:r>
            <a:r>
              <a:rPr lang="en-US" altLang="en-US" b="1">
                <a:latin typeface="Times New Roman" panose="02020603050405020304" charset="0"/>
                <a:cs typeface="Times New Roman" panose="02020603050405020304" charset="0"/>
              </a:rPr>
              <a:t>азлика INT8 и FLOAT32</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2"/>
            </p:custDataLst>
          </p:nvPr>
        </p:nvGraphicFramePr>
        <p:xfrm>
          <a:off x="5882005" y="2270125"/>
          <a:ext cx="2431415" cy="1818640"/>
        </p:xfrm>
        <a:graphic>
          <a:graphicData uri="http://schemas.openxmlformats.org/drawingml/2006/table">
            <a:tbl>
              <a:tblPr firstRow="1" bandRow="1">
                <a:tableStyleId>{5C22544A-7EE6-4342-B048-85BDC9FD1C3A}</a:tableStyleId>
              </a:tblPr>
              <a:tblGrid>
                <a:gridCol w="1429385"/>
                <a:gridCol w="1002030"/>
              </a:tblGrid>
              <a:tr h="405765">
                <a:tc>
                  <a:txBody>
                    <a:bodyPr/>
                    <a:p>
                      <a:pPr algn="ctr"/>
                      <a:r>
                        <a:rPr lang="sr-Cyrl-BA" altLang="en-US" sz="1400" b="1">
                          <a:solidFill>
                            <a:schemeClr val="tx1"/>
                          </a:solidFill>
                          <a:latin typeface="Times New Roman" panose="02020603050405020304" charset="0"/>
                          <a:cs typeface="Times New Roman" panose="02020603050405020304" charset="0"/>
                        </a:rPr>
                        <a:t>Конфигурација</a:t>
                      </a:r>
                      <a:endParaRPr lang="sr-Cyrl-BA"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Cyrl-BA" altLang="en-US" sz="1400" b="1">
                          <a:solidFill>
                            <a:schemeClr val="tx1"/>
                          </a:solidFill>
                          <a:latin typeface="Times New Roman" panose="02020603050405020304" charset="0"/>
                          <a:cs typeface="Times New Roman" panose="02020603050405020304" charset="0"/>
                        </a:rPr>
                        <a:t> </a:t>
                      </a:r>
                      <a:r>
                        <a:rPr lang="en-US" altLang="sr-Cyrl-BA" sz="1400" b="1">
                          <a:solidFill>
                            <a:schemeClr val="tx1"/>
                          </a:solidFill>
                          <a:latin typeface="Times New Roman" panose="02020603050405020304" charset="0"/>
                          <a:cs typeface="Times New Roman" panose="02020603050405020304" charset="0"/>
                        </a:rPr>
                        <a:t>WER</a:t>
                      </a:r>
                      <a:endParaRPr lang="en-US" altLang="sr-Cyrl-BA"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buNone/>
                      </a:pPr>
                      <a:r>
                        <a:rPr lang="sr-Latn-RS" altLang="sr-Cyrl-BA" sz="1400" b="1">
                          <a:solidFill>
                            <a:schemeClr val="tx1"/>
                          </a:solidFill>
                          <a:latin typeface="Times New Roman" panose="02020603050405020304" charset="0"/>
                          <a:cs typeface="Times New Roman" panose="02020603050405020304" charset="0"/>
                        </a:rPr>
                        <a:t>Whisper</a:t>
                      </a:r>
                      <a:endParaRPr lang="sr-Latn-RS" altLang="sr-Cyrl-BA"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Latn-RS" altLang="en-US" sz="1400" b="1">
                          <a:solidFill>
                            <a:schemeClr val="tx1"/>
                          </a:solidFill>
                          <a:latin typeface="Times New Roman" panose="02020603050405020304" charset="0"/>
                          <a:cs typeface="Times New Roman" panose="02020603050405020304" charset="0"/>
                        </a:rPr>
                        <a:t>49.52</a:t>
                      </a:r>
                      <a:endParaRPr lang="sr-Latn-R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0535">
                <a:tc>
                  <a:txBody>
                    <a:bodyPr/>
                    <a:p>
                      <a:pPr algn="ctr"/>
                      <a:r>
                        <a:rPr lang="sr-Latn-RS" altLang="en-US" sz="1400" b="1">
                          <a:solidFill>
                            <a:schemeClr val="tx1"/>
                          </a:solidFill>
                          <a:latin typeface="Times New Roman" panose="02020603050405020304" charset="0"/>
                          <a:cs typeface="Times New Roman" panose="02020603050405020304" charset="0"/>
                        </a:rPr>
                        <a:t>FW INT8</a:t>
                      </a:r>
                      <a:endParaRPr lang="sr-Latn-R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Latn-RS" altLang="en-US" sz="1400" b="1">
                          <a:solidFill>
                            <a:schemeClr val="tx1"/>
                          </a:solidFill>
                          <a:latin typeface="Times New Roman" panose="02020603050405020304" charset="0"/>
                          <a:cs typeface="Times New Roman" panose="02020603050405020304" charset="0"/>
                        </a:rPr>
                        <a:t>43.08</a:t>
                      </a:r>
                      <a:endParaRPr lang="sr-Latn-R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sr-Latn-RS" altLang="en-US" sz="1400" b="1">
                          <a:solidFill>
                            <a:schemeClr val="tx1"/>
                          </a:solidFill>
                          <a:latin typeface="Times New Roman" panose="02020603050405020304" charset="0"/>
                          <a:cs typeface="Times New Roman" panose="02020603050405020304" charset="0"/>
                        </a:rPr>
                        <a:t>FW FLAOT 32</a:t>
                      </a:r>
                      <a:endParaRPr lang="sr-Latn-R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Latn-RS" altLang="en-US" sz="1400" b="1">
                          <a:solidFill>
                            <a:schemeClr val="tx1"/>
                          </a:solidFill>
                          <a:latin typeface="Times New Roman" panose="02020603050405020304" charset="0"/>
                          <a:cs typeface="Times New Roman" panose="02020603050405020304" charset="0"/>
                        </a:rPr>
                        <a:t>42.95</a:t>
                      </a:r>
                      <a:endParaRPr lang="sr-Latn-R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397635" y="1247140"/>
            <a:ext cx="6791960" cy="645795"/>
          </a:xfrm>
        </p:spPr>
        <p:txBody>
          <a:bodyPr/>
          <a:p>
            <a:pPr algn="l"/>
            <a:r>
              <a:rPr lang="en-US" altLang="en-US" sz="1600" b="1">
                <a:latin typeface="Times New Roman" panose="02020603050405020304" charset="0"/>
                <a:cs typeface="Times New Roman" panose="02020603050405020304" charset="0"/>
              </a:rPr>
              <a:t>Просечно време обраде једног снимка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Поређење брзине и RTF-а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908175" y="4371975"/>
            <a:ext cx="5792470"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INT8: приближно 1,10× убрзање у односу на оригинални Whisper.</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882005" y="2270125"/>
          <a:ext cx="2431415" cy="1818640"/>
        </p:xfrm>
        <a:graphic>
          <a:graphicData uri="http://schemas.openxmlformats.org/drawingml/2006/table">
            <a:tbl>
              <a:tblPr firstRow="1" bandRow="1">
                <a:tableStyleId>{5C22544A-7EE6-4342-B048-85BDC9FD1C3A}</a:tableStyleId>
              </a:tblPr>
              <a:tblGrid>
                <a:gridCol w="1374775"/>
                <a:gridCol w="1056640"/>
              </a:tblGrid>
              <a:tr h="405765">
                <a:tc>
                  <a:txBody>
                    <a:bodyPr/>
                    <a:p>
                      <a:pPr algn="ctr"/>
                      <a:r>
                        <a:rPr lang="sr-Cyrl-BA" altLang="en-US" sz="1400" b="1">
                          <a:solidFill>
                            <a:schemeClr val="tx1"/>
                          </a:solidFill>
                          <a:latin typeface="Times New Roman" panose="02020603050405020304" charset="0"/>
                          <a:cs typeface="Times New Roman" panose="02020603050405020304" charset="0"/>
                        </a:rPr>
                        <a:t>Конфигурација</a:t>
                      </a:r>
                      <a:endParaRPr lang="sr-Cyrl-BA"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Cyrl-BA" altLang="en-US" sz="1400" b="1">
                          <a:solidFill>
                            <a:schemeClr val="tx1"/>
                          </a:solidFill>
                          <a:latin typeface="Times New Roman" panose="02020603050405020304" charset="0"/>
                          <a:cs typeface="Times New Roman" panose="02020603050405020304" charset="0"/>
                        </a:rPr>
                        <a:t> </a:t>
                      </a:r>
                      <a:r>
                        <a:rPr lang="en-US" altLang="sr-Cyrl-BA" sz="1400" b="1">
                          <a:solidFill>
                            <a:schemeClr val="tx1"/>
                          </a:solidFill>
                          <a:latin typeface="Times New Roman" panose="02020603050405020304" charset="0"/>
                          <a:cs typeface="Times New Roman" panose="02020603050405020304" charset="0"/>
                        </a:rPr>
                        <a:t>WER</a:t>
                      </a:r>
                      <a:endParaRPr lang="en-US" altLang="sr-Cyrl-BA"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en-US" altLang="zh-CN" sz="1400" b="1">
                          <a:latin typeface="Times New Roman" panose="02020603050405020304" charset="0"/>
                          <a:cs typeface="Times New Roman" panose="02020603050405020304" charset="0"/>
                        </a:rPr>
                        <a:t>Whisper </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latin typeface="Times New Roman" panose="02020603050405020304" charset="0"/>
                          <a:cs typeface="Times New Roman" panose="02020603050405020304" charset="0"/>
                        </a:rPr>
                        <a:t>0,163</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0535">
                <a:tc>
                  <a:txBody>
                    <a:bodyPr/>
                    <a:p>
                      <a:pPr algn="ctr"/>
                      <a:r>
                        <a:rPr lang="en-US" altLang="zh-CN" sz="1400" b="1">
                          <a:latin typeface="Times New Roman" panose="02020603050405020304" charset="0"/>
                          <a:cs typeface="Times New Roman" panose="02020603050405020304" charset="0"/>
                        </a:rPr>
                        <a:t>FW INT8</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latin typeface="Times New Roman" panose="02020603050405020304" charset="0"/>
                          <a:cs typeface="Times New Roman" panose="02020603050405020304" charset="0"/>
                        </a:rPr>
                        <a:t>0,136</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en-US" altLang="zh-CN" sz="1400" b="1">
                          <a:latin typeface="Times New Roman" panose="02020603050405020304" charset="0"/>
                          <a:cs typeface="Times New Roman" panose="02020603050405020304" charset="0"/>
                        </a:rPr>
                        <a:t>FW FLOAT32</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latin typeface="Times New Roman" panose="02020603050405020304" charset="0"/>
                          <a:cs typeface="Times New Roman" panose="02020603050405020304" charset="0"/>
                        </a:rPr>
                        <a:t>0,206</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5" name="Picture 4"/>
          <p:cNvPicPr>
            <a:picLocks noChangeAspect="1"/>
          </p:cNvPicPr>
          <p:nvPr/>
        </p:nvPicPr>
        <p:blipFill>
          <a:blip r:embed="rId2"/>
          <a:stretch>
            <a:fillRect/>
          </a:stretch>
        </p:blipFill>
        <p:spPr>
          <a:xfrm>
            <a:off x="1123315" y="1635760"/>
            <a:ext cx="4566920" cy="263588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397635" y="1247140"/>
            <a:ext cx="6791960" cy="645795"/>
          </a:xfrm>
        </p:spPr>
        <p:txBody>
          <a:bodyPr/>
          <a:p>
            <a:pPr algn="l"/>
            <a:r>
              <a:rPr lang="en-US" altLang="en-US" sz="1600" b="1">
                <a:latin typeface="Times New Roman" panose="02020603050405020304" charset="0"/>
                <a:cs typeface="Times New Roman" panose="02020603050405020304" charset="0"/>
              </a:rPr>
              <a:t>Измерена промена RSS меморије Python процеса при учитавању модела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Поређење меморијске потрошње</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397000" y="4242435"/>
            <a:ext cx="6582410" cy="73723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98,93 MB</a:t>
            </a:r>
            <a:r>
              <a:rPr lang="sr-Cyrl-BA" altLang="en-US" b="1">
                <a:latin typeface="Times New Roman" panose="02020603050405020304" charset="0"/>
                <a:cs typeface="Times New Roman" panose="02020603050405020304" charset="0"/>
              </a:rPr>
              <a:t> </a:t>
            </a:r>
            <a:r>
              <a:rPr lang="en-US" altLang="en-US" b="1">
                <a:latin typeface="Times New Roman" panose="02020603050405020304" charset="0"/>
                <a:cs typeface="Times New Roman" panose="02020603050405020304" charset="0"/>
              </a:rPr>
              <a:t>мања измерена промена RSS</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52,7%</a:t>
            </a:r>
            <a:r>
              <a:rPr lang="sr-Cyrl-BA" altLang="en-US" b="1">
                <a:latin typeface="Times New Roman" panose="02020603050405020304" charset="0"/>
                <a:cs typeface="Times New Roman" panose="02020603050405020304" charset="0"/>
              </a:rPr>
              <a:t> </a:t>
            </a:r>
            <a:r>
              <a:rPr lang="en-US" altLang="en-US" b="1">
                <a:latin typeface="Times New Roman" panose="02020603050405020304" charset="0"/>
                <a:cs typeface="Times New Roman" panose="02020603050405020304" charset="0"/>
              </a:rPr>
              <a:t>мање у односу на Whisper</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RSS је меморија целог процеса, а не изолована величина параметара модела.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882005" y="2270125"/>
          <a:ext cx="2431415" cy="1818640"/>
        </p:xfrm>
        <a:graphic>
          <a:graphicData uri="http://schemas.openxmlformats.org/drawingml/2006/table">
            <a:tbl>
              <a:tblPr firstRow="1" bandRow="1">
                <a:tableStyleId>{5C22544A-7EE6-4342-B048-85BDC9FD1C3A}</a:tableStyleId>
              </a:tblPr>
              <a:tblGrid>
                <a:gridCol w="1374775"/>
                <a:gridCol w="1056640"/>
              </a:tblGrid>
              <a:tr h="405765">
                <a:tc>
                  <a:txBody>
                    <a:bodyPr/>
                    <a:p>
                      <a:pPr algn="ctr"/>
                      <a:r>
                        <a:rPr lang="sr-Cyrl-BA" altLang="en-US" sz="1400" b="1">
                          <a:solidFill>
                            <a:schemeClr val="tx1"/>
                          </a:solidFill>
                          <a:latin typeface="Times New Roman" panose="02020603050405020304" charset="0"/>
                          <a:cs typeface="Times New Roman" panose="02020603050405020304" charset="0"/>
                        </a:rPr>
                        <a:t>Конфигурација</a:t>
                      </a:r>
                      <a:endParaRPr lang="sr-Cyrl-BA"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Cyrl-BA" altLang="en-US" sz="1400" b="1">
                          <a:solidFill>
                            <a:schemeClr val="tx1"/>
                          </a:solidFill>
                          <a:latin typeface="Times New Roman" panose="02020603050405020304" charset="0"/>
                          <a:cs typeface="Times New Roman" panose="02020603050405020304" charset="0"/>
                        </a:rPr>
                        <a:t> </a:t>
                      </a:r>
                      <a:r>
                        <a:rPr lang="en-US" altLang="sr-Cyrl-BA" sz="1400" b="1">
                          <a:solidFill>
                            <a:schemeClr val="tx1"/>
                          </a:solidFill>
                          <a:latin typeface="Times New Roman" panose="02020603050405020304" charset="0"/>
                          <a:cs typeface="Times New Roman" panose="02020603050405020304" charset="0"/>
                        </a:rPr>
                        <a:t>WER</a:t>
                      </a:r>
                      <a:endParaRPr lang="en-US" altLang="sr-Cyrl-BA"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en-US" altLang="zh-CN" sz="1400" b="1">
                          <a:latin typeface="Times New Roman" panose="02020603050405020304" charset="0"/>
                          <a:cs typeface="Times New Roman" panose="02020603050405020304" charset="0"/>
                        </a:rPr>
                        <a:t>Whisper </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en-US" sz="1400" b="1">
                          <a:latin typeface="Times New Roman" panose="02020603050405020304" charset="0"/>
                          <a:cs typeface="Times New Roman" panose="02020603050405020304" charset="0"/>
                        </a:rPr>
                        <a:t>187.68</a:t>
                      </a:r>
                      <a:endParaRPr lang="en-US" altLang="en-US"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0535">
                <a:tc>
                  <a:txBody>
                    <a:bodyPr/>
                    <a:p>
                      <a:pPr algn="ctr"/>
                      <a:r>
                        <a:rPr lang="en-US" altLang="zh-CN" sz="1400" b="1">
                          <a:latin typeface="Times New Roman" panose="02020603050405020304" charset="0"/>
                          <a:cs typeface="Times New Roman" panose="02020603050405020304" charset="0"/>
                        </a:rPr>
                        <a:t>FW</a:t>
                      </a:r>
                      <a:r>
                        <a:rPr lang="sr-Cyrl-BA" altLang="en-US" sz="1400" b="1">
                          <a:latin typeface="Times New Roman" panose="02020603050405020304" charset="0"/>
                          <a:cs typeface="Times New Roman" panose="02020603050405020304" charset="0"/>
                        </a:rPr>
                        <a:t> </a:t>
                      </a:r>
                      <a:r>
                        <a:rPr lang="en-US" altLang="zh-CN" sz="1400" b="1">
                          <a:latin typeface="Times New Roman" panose="02020603050405020304" charset="0"/>
                          <a:cs typeface="Times New Roman" panose="02020603050405020304" charset="0"/>
                        </a:rPr>
                        <a:t>INT8</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latin typeface="Times New Roman" panose="02020603050405020304" charset="0"/>
                          <a:cs typeface="Times New Roman" panose="02020603050405020304" charset="0"/>
                        </a:rPr>
                        <a:t>88,75</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988695" y="1633220"/>
            <a:ext cx="4714240" cy="260921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294765" y="771525"/>
            <a:ext cx="6791960" cy="645795"/>
          </a:xfrm>
        </p:spPr>
        <p:txBody>
          <a:bodyPr/>
          <a:p>
            <a:pPr algn="l"/>
            <a:r>
              <a:rPr lang="en-US" altLang="en-US" sz="1600" b="1">
                <a:latin typeface="Times New Roman" panose="02020603050405020304" charset="0"/>
                <a:cs typeface="Times New Roman" panose="02020603050405020304" charset="0"/>
              </a:rPr>
              <a:t>Основни benchmark · 40 природних српских снимака · Base модел</a:t>
            </a:r>
            <a:endParaRPr lang="en-US" altLang="en-US" sz="1600" b="1">
              <a:latin typeface="Times New Roman" panose="02020603050405020304" charset="0"/>
              <a:cs typeface="Times New Roman" panose="02020603050405020304" charset="0"/>
            </a:endParaRPr>
          </a:p>
          <a:p>
            <a:pPr algn="l"/>
            <a:endParaRPr lang="en-US" altLang="en-US" sz="1600" b="1">
              <a:latin typeface="Times New Roman" panose="02020603050405020304" charset="0"/>
              <a:cs typeface="Times New Roman" panose="02020603050405020304" charset="0"/>
            </a:endParaRPr>
          </a:p>
          <a:p>
            <a:pPr marL="139700" indent="0" algn="l">
              <a:buNone/>
            </a:pPr>
            <a:r>
              <a:rPr lang="en-US" altLang="en-US" sz="1600" b="1">
                <a:latin typeface="Times New Roman" panose="02020603050405020304" charset="0"/>
                <a:cs typeface="Times New Roman" panose="02020603050405020304" charset="0"/>
              </a:rPr>
              <a:t>Просечан WER према говорнику</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трајања и говорника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03985" y="3975100"/>
            <a:ext cx="6582410" cy="1168400"/>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Резултати према трајању</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Најнижи RTF за INT8 код кратких, средњих и дугих снимака;</a:t>
            </a:r>
            <a:endParaRPr lang="en-US" altLang="en-US">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 код веома дугих Whisper има 0,142, а INT8 0,151.</a:t>
            </a:r>
            <a:endParaRPr lang="en-US" altLang="en-US">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Тачност више варира између говорника; дуже трајање не значи нужно већи WER.</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667375" y="1851660"/>
          <a:ext cx="2567305" cy="2040255"/>
        </p:xfrm>
        <a:graphic>
          <a:graphicData uri="http://schemas.openxmlformats.org/drawingml/2006/table">
            <a:tbl>
              <a:tblPr firstRow="1" bandRow="1">
                <a:tableStyleId>{5C22544A-7EE6-4342-B048-85BDC9FD1C3A}</a:tableStyleId>
              </a:tblPr>
              <a:tblGrid>
                <a:gridCol w="1011555"/>
                <a:gridCol w="777875"/>
                <a:gridCol w="777875"/>
              </a:tblGrid>
              <a:tr h="657225">
                <a:tc>
                  <a:txBody>
                    <a:bodyPr/>
                    <a:p>
                      <a:r>
                        <a:rPr lang="en-US" altLang="zh-CN" sz="1400" b="1">
                          <a:solidFill>
                            <a:schemeClr val="tx1"/>
                          </a:solidFill>
                          <a:latin typeface="Times New Roman" panose="02020603050405020304" charset="0"/>
                          <a:cs typeface="Times New Roman" panose="02020603050405020304" charset="0"/>
                        </a:rPr>
                        <a:t>Говорник</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Whisper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Faster-Whisper INT8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16560">
                <a:tc>
                  <a:txBody>
                    <a:bodyPr/>
                    <a:p>
                      <a:r>
                        <a:rPr lang="en-US" altLang="zh-CN" sz="1400" b="1">
                          <a:solidFill>
                            <a:schemeClr val="tx1"/>
                          </a:solidFill>
                          <a:latin typeface="Times New Roman" panose="02020603050405020304" charset="0"/>
                          <a:cs typeface="Times New Roman" panose="02020603050405020304" charset="0"/>
                        </a:rPr>
                        <a:t>Говорник 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53.28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45.39</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83235">
                <a:tc>
                  <a:txBody>
                    <a:bodyPr/>
                    <a:p>
                      <a:r>
                        <a:rPr lang="en-US" altLang="zh-CN" sz="1400" b="1">
                          <a:solidFill>
                            <a:schemeClr val="tx1"/>
                          </a:solidFill>
                          <a:latin typeface="Times New Roman" panose="02020603050405020304" charset="0"/>
                          <a:cs typeface="Times New Roman" panose="02020603050405020304" charset="0"/>
                        </a:rPr>
                        <a:t>Говорник 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32.77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25.68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83235">
                <a:tc>
                  <a:txBody>
                    <a:bodyPr/>
                    <a:p>
                      <a:r>
                        <a:rPr lang="en-US" altLang="zh-CN" sz="1400" b="1">
                          <a:solidFill>
                            <a:schemeClr val="tx1"/>
                          </a:solidFill>
                          <a:latin typeface="Times New Roman" panose="02020603050405020304" charset="0"/>
                          <a:cs typeface="Times New Roman" panose="02020603050405020304" charset="0"/>
                        </a:rPr>
                        <a:t>Говорник 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61.58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57.09</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5" name="Picture 4"/>
          <p:cNvPicPr>
            <a:picLocks noChangeAspect="1"/>
          </p:cNvPicPr>
          <p:nvPr/>
        </p:nvPicPr>
        <p:blipFill>
          <a:blip r:embed="rId2"/>
          <a:stretch>
            <a:fillRect/>
          </a:stretch>
        </p:blipFill>
        <p:spPr>
          <a:xfrm>
            <a:off x="869315" y="1612265"/>
            <a:ext cx="4798060" cy="24180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294765" y="843915"/>
            <a:ext cx="6791960" cy="645795"/>
          </a:xfrm>
        </p:spPr>
        <p:txBody>
          <a:bodyPr/>
          <a:p>
            <a:pPr algn="l"/>
            <a:r>
              <a:rPr lang="en-US" altLang="en-US" sz="1600" b="1">
                <a:latin typeface="Times New Roman" panose="02020603050405020304" charset="0"/>
                <a:cs typeface="Times New Roman" panose="02020603050405020304" charset="0"/>
              </a:rPr>
              <a:t>Faster-Whisper · 20 природних српских снимака · исти тест скуп</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величине модела на тачност</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03985" y="3975100"/>
            <a:ext cx="6582410" cy="95313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Base → Small: смањење за 20,87 процентних поена, </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док је Small → Medium: смањење за 6,88 процентних поена.</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Повећање модела смањује просечан WER у овом експерименту, али се додатни добитак постепено смањује.</a:t>
            </a:r>
            <a:endParaRPr lang="en-US" altLang="en-US">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673090" y="1564005"/>
          <a:ext cx="2128520" cy="2348230"/>
        </p:xfrm>
        <a:graphic>
          <a:graphicData uri="http://schemas.openxmlformats.org/drawingml/2006/table">
            <a:tbl>
              <a:tblPr firstRow="1" bandRow="1">
                <a:tableStyleId>{5C22544A-7EE6-4342-B048-85BDC9FD1C3A}</a:tableStyleId>
              </a:tblPr>
              <a:tblGrid>
                <a:gridCol w="1203325"/>
                <a:gridCol w="925195"/>
              </a:tblGrid>
              <a:tr h="611505">
                <a:tc>
                  <a:txBody>
                    <a:bodyPr/>
                    <a:p>
                      <a:r>
                        <a:rPr lang="en-US" altLang="zh-CN" sz="1400" b="1">
                          <a:solidFill>
                            <a:schemeClr val="tx1"/>
                          </a:solidFill>
                          <a:latin typeface="Times New Roman" panose="02020603050405020304" charset="0"/>
                          <a:cs typeface="Times New Roman" panose="02020603050405020304" charset="0"/>
                        </a:rPr>
                        <a:t>Модел</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WER (%)</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7985">
                <a:tc>
                  <a:txBody>
                    <a:bodyPr/>
                    <a:p>
                      <a:r>
                        <a:rPr lang="en-US" altLang="zh-CN" sz="1400" b="1">
                          <a:solidFill>
                            <a:schemeClr val="tx1"/>
                          </a:solidFill>
                          <a:latin typeface="Times New Roman" panose="02020603050405020304" charset="0"/>
                          <a:cs typeface="Times New Roman" panose="02020603050405020304" charset="0"/>
                        </a:rPr>
                        <a:t>Tiny</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63,97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r>
                        <a:rPr lang="en-US" altLang="zh-CN" sz="1400" b="1">
                          <a:solidFill>
                            <a:schemeClr val="tx1"/>
                          </a:solidFill>
                          <a:latin typeface="Times New Roman" panose="02020603050405020304" charset="0"/>
                          <a:cs typeface="Times New Roman" panose="02020603050405020304" charset="0"/>
                        </a:rPr>
                        <a:t>Base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40,89</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r>
                        <a:rPr lang="en-US" altLang="zh-CN" sz="1400" b="1">
                          <a:solidFill>
                            <a:schemeClr val="tx1"/>
                          </a:solidFill>
                          <a:latin typeface="Times New Roman" panose="02020603050405020304" charset="0"/>
                          <a:cs typeface="Times New Roman" panose="02020603050405020304" charset="0"/>
                        </a:rPr>
                        <a:t>Small</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20,02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r>
                        <a:rPr lang="en-US" altLang="zh-CN" sz="1400" b="1">
                          <a:solidFill>
                            <a:schemeClr val="tx1"/>
                          </a:solidFill>
                          <a:latin typeface="Times New Roman" panose="02020603050405020304" charset="0"/>
                          <a:cs typeface="Times New Roman" panose="02020603050405020304" charset="0"/>
                        </a:rPr>
                        <a:t>Medium</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13,14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904240" y="1617345"/>
            <a:ext cx="4471035" cy="227901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294765" y="843915"/>
            <a:ext cx="6791960" cy="645795"/>
          </a:xfrm>
        </p:spPr>
        <p:txBody>
          <a:bodyPr/>
          <a:p>
            <a:pPr algn="l"/>
            <a:r>
              <a:rPr lang="en-US" altLang="en-US" sz="1600" b="1">
                <a:latin typeface="Times New Roman" panose="02020603050405020304" charset="0"/>
                <a:cs typeface="Times New Roman" panose="02020603050405020304" charset="0"/>
              </a:rPr>
              <a:t>Просечно време транскрипције по снимку · CPU</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величине модела на брзину</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03985" y="4228465"/>
            <a:ext cx="6582410"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Medium: око 2,75× дуже време обраде од Small модела.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673090" y="1564005"/>
          <a:ext cx="2128520" cy="2348230"/>
        </p:xfrm>
        <a:graphic>
          <a:graphicData uri="http://schemas.openxmlformats.org/drawingml/2006/table">
            <a:tbl>
              <a:tblPr firstRow="1" bandRow="1">
                <a:tableStyleId>{5C22544A-7EE6-4342-B048-85BDC9FD1C3A}</a:tableStyleId>
              </a:tblPr>
              <a:tblGrid>
                <a:gridCol w="1203325"/>
                <a:gridCol w="925195"/>
              </a:tblGrid>
              <a:tr h="611505">
                <a:tc>
                  <a:txBody>
                    <a:bodyPr/>
                    <a:p>
                      <a:pPr algn="ctr"/>
                      <a:r>
                        <a:rPr lang="en-US" altLang="zh-CN" sz="1400" b="1">
                          <a:solidFill>
                            <a:schemeClr val="tx1"/>
                          </a:solidFill>
                          <a:latin typeface="Times New Roman" panose="02020603050405020304" charset="0"/>
                          <a:cs typeface="Times New Roman" panose="02020603050405020304" charset="0"/>
                        </a:rPr>
                        <a:t>Модел</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Просечан RTF</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7985">
                <a:tc>
                  <a:txBody>
                    <a:bodyPr/>
                    <a:p>
                      <a:pPr algn="ctr"/>
                      <a:r>
                        <a:rPr lang="en-US" altLang="zh-CN" sz="1400" b="1">
                          <a:solidFill>
                            <a:schemeClr val="tx1"/>
                          </a:solidFill>
                          <a:latin typeface="Times New Roman" panose="02020603050405020304" charset="0"/>
                          <a:cs typeface="Times New Roman" panose="02020603050405020304" charset="0"/>
                        </a:rPr>
                        <a:t>Tiny</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0,0871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pPr algn="ctr"/>
                      <a:r>
                        <a:rPr lang="en-US" altLang="zh-CN" sz="1400" b="1">
                          <a:solidFill>
                            <a:schemeClr val="tx1"/>
                          </a:solidFill>
                          <a:latin typeface="Times New Roman" panose="02020603050405020304" charset="0"/>
                          <a:cs typeface="Times New Roman" panose="02020603050405020304" charset="0"/>
                        </a:rPr>
                        <a:t>Base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0,1405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pPr algn="ctr"/>
                      <a:r>
                        <a:rPr lang="en-US" altLang="zh-CN" sz="1400" b="1">
                          <a:solidFill>
                            <a:schemeClr val="tx1"/>
                          </a:solidFill>
                          <a:latin typeface="Times New Roman" panose="02020603050405020304" charset="0"/>
                          <a:cs typeface="Times New Roman" panose="02020603050405020304" charset="0"/>
                        </a:rPr>
                        <a:t>Small</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0,3907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pPr algn="ctr"/>
                      <a:r>
                        <a:rPr lang="en-US" altLang="zh-CN" sz="1400" b="1">
                          <a:solidFill>
                            <a:schemeClr val="tx1"/>
                          </a:solidFill>
                          <a:latin typeface="Times New Roman" panose="02020603050405020304" charset="0"/>
                          <a:cs typeface="Times New Roman" panose="02020603050405020304" charset="0"/>
                        </a:rPr>
                        <a:t>Medium</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1,0452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5" name="Picture 4"/>
          <p:cNvPicPr>
            <a:picLocks noChangeAspect="1"/>
          </p:cNvPicPr>
          <p:nvPr/>
        </p:nvPicPr>
        <p:blipFill>
          <a:blip r:embed="rId2"/>
          <a:stretch>
            <a:fillRect/>
          </a:stretch>
        </p:blipFill>
        <p:spPr>
          <a:xfrm>
            <a:off x="958850" y="1330325"/>
            <a:ext cx="4410710" cy="264541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315595" y="339090"/>
            <a:ext cx="6475730" cy="575945"/>
          </a:xfrm>
        </p:spPr>
        <p:txBody>
          <a:bodyPr/>
          <a:p>
            <a:pPr algn="ctr"/>
            <a:r>
              <a:rPr lang="en-US" altLang="en-US">
                <a:latin typeface="Times New Roman" panose="02020603050405020304" charset="0"/>
                <a:cs typeface="Times New Roman" panose="02020603050405020304" charset="0"/>
              </a:rPr>
              <a:t>Главни benchmark скуп — српски говор</a:t>
            </a:r>
            <a:endParaRPr lang="en-US" altLang="en-US">
              <a:latin typeface="Times New Roman" panose="02020603050405020304" charset="0"/>
              <a:cs typeface="Times New Roman" panose="02020603050405020304" charset="0"/>
            </a:endParaRPr>
          </a:p>
        </p:txBody>
      </p:sp>
      <p:sp>
        <p:nvSpPr>
          <p:cNvPr id="7" name="Rounded Rectangle 6"/>
          <p:cNvSpPr/>
          <p:nvPr/>
        </p:nvSpPr>
        <p:spPr>
          <a:xfrm>
            <a:off x="2277745" y="1224915"/>
            <a:ext cx="1125855" cy="85153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800" b="1">
                <a:solidFill>
                  <a:schemeClr val="tx1"/>
                </a:solidFill>
                <a:latin typeface="Times New Roman" panose="02020603050405020304" charset="0"/>
                <a:cs typeface="Times New Roman" panose="02020603050405020304" charset="0"/>
                <a:sym typeface="+mn-ea"/>
              </a:rPr>
              <a:t>10</a:t>
            </a:r>
            <a:endParaRPr lang="sr-Cyrl-BA" altLang="en-US" sz="2800" b="1">
              <a:solidFill>
                <a:schemeClr val="tx1"/>
              </a:solidFill>
              <a:latin typeface="Times New Roman" panose="02020603050405020304" charset="0"/>
              <a:cs typeface="Times New Roman" panose="02020603050405020304" charset="0"/>
              <a:sym typeface="+mn-ea"/>
            </a:endParaRPr>
          </a:p>
          <a:p>
            <a:pPr algn="ctr"/>
            <a:r>
              <a:rPr lang="sr-Cyrl-BA" altLang="en-US" b="1">
                <a:solidFill>
                  <a:schemeClr val="tx1"/>
                </a:solidFill>
                <a:latin typeface="Times New Roman" panose="02020603050405020304" charset="0"/>
                <a:cs typeface="Times New Roman" panose="02020603050405020304" charset="0"/>
                <a:sym typeface="+mn-ea"/>
              </a:rPr>
              <a:t>чистих</a:t>
            </a:r>
            <a:endParaRPr lang="sr-Cyrl-BA" altLang="en-US" b="1">
              <a:solidFill>
                <a:schemeClr val="tx1"/>
              </a:solidFill>
              <a:latin typeface="Times New Roman" panose="02020603050405020304" charset="0"/>
              <a:cs typeface="Times New Roman" panose="02020603050405020304" charset="0"/>
              <a:sym typeface="+mn-ea"/>
            </a:endParaRPr>
          </a:p>
          <a:p>
            <a:pPr algn="ctr"/>
            <a:r>
              <a:rPr lang="en-US" altLang="en-US" b="1">
                <a:solidFill>
                  <a:schemeClr val="tx1"/>
                </a:solidFill>
                <a:latin typeface="Times New Roman" panose="02020603050405020304" charset="0"/>
                <a:cs typeface="Times New Roman" panose="02020603050405020304" charset="0"/>
                <a:sym typeface="+mn-ea"/>
              </a:rPr>
              <a:t>снимака</a:t>
            </a:r>
            <a:endParaRPr lang="en-US" altLang="en-US" b="1">
              <a:solidFill>
                <a:schemeClr val="tx1"/>
              </a:solidFill>
              <a:latin typeface="Times New Roman" panose="02020603050405020304" charset="0"/>
              <a:cs typeface="Times New Roman" panose="02020603050405020304" charset="0"/>
              <a:sym typeface="+mn-ea"/>
            </a:endParaRPr>
          </a:p>
        </p:txBody>
      </p:sp>
      <p:sp>
        <p:nvSpPr>
          <p:cNvPr id="9" name="Rounded Rectangle 8"/>
          <p:cNvSpPr/>
          <p:nvPr/>
        </p:nvSpPr>
        <p:spPr>
          <a:xfrm>
            <a:off x="3884930" y="1203325"/>
            <a:ext cx="1176655"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altLang="en-US" sz="2800" b="1">
                <a:solidFill>
                  <a:schemeClr val="tx1"/>
                </a:solidFill>
                <a:latin typeface="Times New Roman" panose="02020603050405020304" charset="0"/>
                <a:cs typeface="Times New Roman" panose="02020603050405020304" charset="0"/>
                <a:sym typeface="+mn-ea"/>
              </a:rPr>
              <a:t>2</a:t>
            </a:r>
            <a:endParaRPr lang="sr-Cyrl-BA" altLang="en-US" sz="2800" b="1">
              <a:solidFill>
                <a:schemeClr val="tx1"/>
              </a:solidFill>
              <a:latin typeface="Times New Roman" panose="02020603050405020304" charset="0"/>
              <a:cs typeface="Times New Roman" panose="02020603050405020304" charset="0"/>
              <a:sym typeface="+mn-ea"/>
            </a:endParaRPr>
          </a:p>
          <a:p>
            <a:pPr algn="ctr">
              <a:buSzTx/>
            </a:pPr>
            <a:r>
              <a:rPr lang="sr-Cyrl-BA" altLang="en-US" b="1">
                <a:solidFill>
                  <a:schemeClr val="tx1"/>
                </a:solidFill>
                <a:latin typeface="Times New Roman" panose="02020603050405020304" charset="0"/>
                <a:cs typeface="Times New Roman" panose="02020603050405020304" charset="0"/>
                <a:sym typeface="+mn-ea"/>
              </a:rPr>
              <a:t>врсте шума</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2" name="Rounded Rectangle 1"/>
          <p:cNvSpPr/>
          <p:nvPr/>
        </p:nvSpPr>
        <p:spPr>
          <a:xfrm>
            <a:off x="5435600" y="1203325"/>
            <a:ext cx="12369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800" b="1">
                <a:solidFill>
                  <a:schemeClr val="tx1"/>
                </a:solidFill>
                <a:latin typeface="Times New Roman" panose="02020603050405020304" charset="0"/>
                <a:cs typeface="Times New Roman" panose="02020603050405020304" charset="0"/>
                <a:sym typeface="+mn-ea"/>
              </a:rPr>
              <a:t>7</a:t>
            </a:r>
            <a:endParaRPr lang="sr-Cyrl-BA" altLang="en-US" sz="2800" b="1">
              <a:solidFill>
                <a:schemeClr val="tx1"/>
              </a:solidFill>
              <a:latin typeface="Times New Roman" panose="02020603050405020304" charset="0"/>
              <a:cs typeface="Times New Roman" panose="02020603050405020304" charset="0"/>
              <a:sym typeface="+mn-ea"/>
            </a:endParaRPr>
          </a:p>
          <a:p>
            <a:pPr algn="ctr"/>
            <a:r>
              <a:rPr lang="en-US" altLang="en-US" b="1">
                <a:solidFill>
                  <a:schemeClr val="tx1"/>
                </a:solidFill>
                <a:latin typeface="Times New Roman" panose="02020603050405020304" charset="0"/>
                <a:cs typeface="Times New Roman" panose="02020603050405020304" charset="0"/>
                <a:sym typeface="+mn-ea"/>
              </a:rPr>
              <a:t>SNR </a:t>
            </a:r>
            <a:r>
              <a:rPr lang="sr-Cyrl-BA" altLang="en-US" b="1">
                <a:solidFill>
                  <a:schemeClr val="tx1"/>
                </a:solidFill>
                <a:latin typeface="Times New Roman" panose="02020603050405020304" charset="0"/>
                <a:cs typeface="Times New Roman" panose="02020603050405020304" charset="0"/>
                <a:sym typeface="+mn-ea"/>
              </a:rPr>
              <a:t>нивоа</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8" name="Text Box 7"/>
          <p:cNvSpPr txBox="1"/>
          <p:nvPr/>
        </p:nvSpPr>
        <p:spPr>
          <a:xfrm>
            <a:off x="1498600" y="2211705"/>
            <a:ext cx="6134735"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sym typeface="+mn-ea"/>
              </a:rPr>
              <a:t>На сваки чист снимак програмски су додаване две врсте шума:</a:t>
            </a:r>
            <a:endParaRPr lang="sr-Cyrl-BA" altLang="en-US" sz="1600" b="1">
              <a:latin typeface="Times New Roman" panose="02020603050405020304" charset="0"/>
              <a:cs typeface="Times New Roman" panose="02020603050405020304" charset="0"/>
            </a:endParaRPr>
          </a:p>
        </p:txBody>
      </p:sp>
      <p:sp>
        <p:nvSpPr>
          <p:cNvPr id="12" name="Text Box 11"/>
          <p:cNvSpPr txBox="1"/>
          <p:nvPr/>
        </p:nvSpPr>
        <p:spPr>
          <a:xfrm>
            <a:off x="971550" y="4311015"/>
            <a:ext cx="7084695" cy="583565"/>
          </a:xfrm>
          <a:prstGeom prst="rect">
            <a:avLst/>
          </a:prstGeom>
        </p:spPr>
        <p:txBody>
          <a:bodyPr wrap="square">
            <a:spAutoFit/>
          </a:bodyPr>
          <a:p>
            <a:pPr algn="ctr"/>
            <a:r>
              <a:rPr lang="en-US" altLang="en-US" sz="1600" b="1">
                <a:latin typeface="Times New Roman" panose="02020603050405020304" charset="0"/>
                <a:cs typeface="Times New Roman" panose="02020603050405020304" charset="0"/>
              </a:rPr>
              <a:t>150 транскрипција</a:t>
            </a:r>
            <a:endParaRPr lang="en-US" altLang="en-US" sz="1600" b="1">
              <a:latin typeface="Times New Roman" panose="02020603050405020304" charset="0"/>
              <a:cs typeface="Times New Roman" panose="02020603050405020304" charset="0"/>
            </a:endParaRPr>
          </a:p>
          <a:p>
            <a:pPr algn="ctr"/>
            <a:r>
              <a:rPr lang="en-US" altLang="en-US" sz="1600">
                <a:latin typeface="Times New Roman" panose="02020603050405020304" charset="0"/>
                <a:cs typeface="Times New Roman" panose="02020603050405020304" charset="0"/>
              </a:rPr>
              <a:t>10 чистих + 140 зашумљених варијанти</a:t>
            </a:r>
            <a:endParaRPr lang="en-US" altLang="en-US" sz="1600">
              <a:latin typeface="Times New Roman" panose="02020603050405020304" charset="0"/>
              <a:cs typeface="Times New Roman" panose="02020603050405020304" charset="0"/>
            </a:endParaRPr>
          </a:p>
        </p:txBody>
      </p:sp>
      <p:sp>
        <p:nvSpPr>
          <p:cNvPr id="3" name="Rounded Rectangle 2"/>
          <p:cNvSpPr/>
          <p:nvPr/>
        </p:nvSpPr>
        <p:spPr>
          <a:xfrm>
            <a:off x="3059430" y="2787650"/>
            <a:ext cx="1176655"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altLang="en-US" b="1">
                <a:solidFill>
                  <a:schemeClr val="tx1"/>
                </a:solidFill>
                <a:latin typeface="Times New Roman" panose="02020603050405020304" charset="0"/>
                <a:cs typeface="Times New Roman" panose="02020603050405020304" charset="0"/>
                <a:sym typeface="+mn-ea"/>
              </a:rPr>
              <a:t>бели шум</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5" name="Rounded Rectangle 4"/>
          <p:cNvSpPr/>
          <p:nvPr/>
        </p:nvSpPr>
        <p:spPr>
          <a:xfrm>
            <a:off x="4610100" y="2787650"/>
            <a:ext cx="12369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b="1">
                <a:solidFill>
                  <a:schemeClr val="tx1"/>
                </a:solidFill>
                <a:latin typeface="Times New Roman" panose="02020603050405020304" charset="0"/>
                <a:cs typeface="Times New Roman" panose="02020603050405020304" charset="0"/>
                <a:sym typeface="+mn-ea"/>
              </a:rPr>
              <a:t>розе шум</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6" name="Text Box 5"/>
          <p:cNvSpPr txBox="1"/>
          <p:nvPr/>
        </p:nvSpPr>
        <p:spPr>
          <a:xfrm>
            <a:off x="1907540" y="3816985"/>
            <a:ext cx="5584190" cy="337185"/>
          </a:xfrm>
          <a:prstGeom prst="rect">
            <a:avLst/>
          </a:prstGeom>
          <a:noFill/>
        </p:spPr>
        <p:txBody>
          <a:bodyPr wrap="square" rtlCol="0">
            <a:spAutoFit/>
          </a:bodyPr>
          <a:p>
            <a:pPr algn="l">
              <a:buSzTx/>
            </a:pPr>
            <a:r>
              <a:rPr lang="sr-Cyrl-BA" altLang="en-US" sz="1600" b="1">
                <a:latin typeface="Times New Roman" panose="02020603050405020304" charset="0"/>
                <a:cs typeface="Times New Roman" panose="02020603050405020304" charset="0"/>
              </a:rPr>
              <a:t>са </a:t>
            </a:r>
            <a:r>
              <a:rPr lang="en-US" altLang="en-US" sz="1600" b="1">
                <a:latin typeface="Times New Roman" panose="02020603050405020304" charset="0"/>
                <a:cs typeface="Times New Roman" panose="02020603050405020304" charset="0"/>
                <a:sym typeface="+mn-ea"/>
              </a:rPr>
              <a:t>седам SNR нивоа</a:t>
            </a:r>
            <a:r>
              <a:rPr lang="sr-Cyrl-BA" altLang="en-US" sz="1600" b="1">
                <a:latin typeface="Times New Roman" panose="02020603050405020304" charset="0"/>
                <a:cs typeface="Times New Roman" panose="02020603050405020304" charset="0"/>
                <a:sym typeface="+mn-ea"/>
              </a:rPr>
              <a:t>: </a:t>
            </a:r>
            <a:r>
              <a:rPr lang="sr-Cyrl-BA" altLang="en-US" sz="1600" b="1">
                <a:latin typeface="Times New Roman" panose="02020603050405020304" charset="0"/>
                <a:cs typeface="Times New Roman" panose="02020603050405020304" charset="0"/>
              </a:rPr>
              <a:t>20 · 10 · 5 · 0 · −5 · −10 · −15 dB</a:t>
            </a:r>
            <a:endParaRPr lang="sr-Cyrl-BA" altLang="en-US" sz="1600" b="1">
              <a:latin typeface="Times New Roman" panose="02020603050405020304" charset="0"/>
              <a:cs typeface="Times New Roman" panose="0202060305040502030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Просечан WER у зависности од SNR-а · 10 природних српских снимака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шума на тачност транскрипције</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03985" y="4228465"/>
            <a:ext cx="6582410" cy="73723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WER без додатог шума износи 47,89%, док при 0 dB расте на приближно 82,7%.</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WER може прећи 100% због додатих речи. Пад WER-а на −15 dB не означава опоравак модела.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6083935" y="1301750"/>
          <a:ext cx="2128520" cy="2858135"/>
        </p:xfrm>
        <a:graphic>
          <a:graphicData uri="http://schemas.openxmlformats.org/drawingml/2006/table">
            <a:tbl>
              <a:tblPr firstRow="1" bandRow="1">
                <a:tableStyleId>{5C22544A-7EE6-4342-B048-85BDC9FD1C3A}</a:tableStyleId>
              </a:tblPr>
              <a:tblGrid>
                <a:gridCol w="838835"/>
                <a:gridCol w="720725"/>
                <a:gridCol w="568960"/>
              </a:tblGrid>
              <a:tr h="853440">
                <a:tc>
                  <a:txBody>
                    <a:bodyPr/>
                    <a:p>
                      <a:pPr algn="ctr"/>
                      <a:r>
                        <a:rPr lang="en-US" altLang="zh-CN" sz="1400" b="1">
                          <a:solidFill>
                            <a:schemeClr val="tx1"/>
                          </a:solidFill>
                          <a:latin typeface="Times New Roman" panose="02020603050405020304" charset="0"/>
                          <a:cs typeface="Times New Roman" panose="02020603050405020304" charset="0"/>
                        </a:rPr>
                        <a:t>SNR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Бели шум – WER (%)</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Розе шум – WER (%)</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52730">
                <a:tc>
                  <a:txBody>
                    <a:bodyPr/>
                    <a:p>
                      <a:pPr algn="ctr"/>
                      <a:r>
                        <a:rPr lang="en-US" altLang="zh-CN" sz="1400" b="1">
                          <a:solidFill>
                            <a:schemeClr val="tx1"/>
                          </a:solidFill>
                          <a:latin typeface="Times New Roman" panose="02020603050405020304" charset="0"/>
                          <a:cs typeface="Times New Roman" panose="02020603050405020304" charset="0"/>
                        </a:rPr>
                        <a:t>20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48,16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50,71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10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58,75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59,06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5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65,84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63,38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1465">
                <a:tc>
                  <a:txBody>
                    <a:bodyPr/>
                    <a:p>
                      <a:pPr algn="ctr"/>
                      <a:r>
                        <a:rPr lang="en-US" altLang="zh-CN" sz="1400" b="1">
                          <a:solidFill>
                            <a:schemeClr val="tx1"/>
                          </a:solidFill>
                          <a:latin typeface="Times New Roman" panose="02020603050405020304" charset="0"/>
                          <a:cs typeface="Times New Roman" panose="02020603050405020304" charset="0"/>
                        </a:rPr>
                        <a:t>0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82,74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82,70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735">
                <a:tc>
                  <a:txBody>
                    <a:bodyPr/>
                    <a:p>
                      <a:pPr algn="ctr"/>
                      <a:r>
                        <a:rPr lang="en-US" altLang="zh-CN" sz="1400" b="1">
                          <a:solidFill>
                            <a:schemeClr val="tx1"/>
                          </a:solidFill>
                          <a:latin typeface="Times New Roman" panose="02020603050405020304" charset="0"/>
                          <a:cs typeface="Times New Roman" panose="02020603050405020304" charset="0"/>
                        </a:rPr>
                        <a:t>−5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95,86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101,76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1465">
                <a:tc>
                  <a:txBody>
                    <a:bodyPr/>
                    <a:p>
                      <a:pPr algn="ctr"/>
                      <a:r>
                        <a:rPr lang="en-US" altLang="zh-CN" sz="1400" b="1">
                          <a:solidFill>
                            <a:schemeClr val="tx1"/>
                          </a:solidFill>
                          <a:latin typeface="Times New Roman" panose="02020603050405020304" charset="0"/>
                          <a:cs typeface="Times New Roman" panose="02020603050405020304" charset="0"/>
                        </a:rPr>
                        <a:t>−10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115,34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104,56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−15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100,67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99,32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1081405" y="1447165"/>
            <a:ext cx="4480560" cy="27813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171575" y="843915"/>
            <a:ext cx="7077710" cy="645795"/>
          </a:xfrm>
        </p:spPr>
        <p:txBody>
          <a:bodyPr/>
          <a:p>
            <a:pPr algn="l"/>
            <a:r>
              <a:rPr lang="en-US" altLang="en-US" sz="1600" b="1">
                <a:latin typeface="Times New Roman" panose="02020603050405020304" charset="0"/>
                <a:cs typeface="Times New Roman" panose="02020603050405020304" charset="0"/>
              </a:rPr>
              <a:t>Faster-Whisper Base INT8 · 5 SR + 5 EN синтетичких снимака (gTTS)</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Поређење српског и енглеског говора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03985" y="4228465"/>
            <a:ext cx="6582410"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Разлика просечног WER-а: 40,67 процентних поена.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673090" y="1564005"/>
          <a:ext cx="2442210" cy="1487805"/>
        </p:xfrm>
        <a:graphic>
          <a:graphicData uri="http://schemas.openxmlformats.org/drawingml/2006/table">
            <a:tbl>
              <a:tblPr firstRow="1" bandRow="1">
                <a:tableStyleId>{5C22544A-7EE6-4342-B048-85BDC9FD1C3A}</a:tableStyleId>
              </a:tblPr>
              <a:tblGrid>
                <a:gridCol w="962660"/>
                <a:gridCol w="803275"/>
                <a:gridCol w="676275"/>
              </a:tblGrid>
              <a:tr h="611505">
                <a:tc>
                  <a:txBody>
                    <a:bodyPr/>
                    <a:p>
                      <a:pPr algn="ctr"/>
                      <a:r>
                        <a:rPr lang="en-US" altLang="zh-CN" sz="1400" b="1">
                          <a:solidFill>
                            <a:schemeClr val="tx1"/>
                          </a:solidFill>
                          <a:latin typeface="Times New Roman" panose="02020603050405020304" charset="0"/>
                          <a:cs typeface="Times New Roman" panose="02020603050405020304" charset="0"/>
                        </a:rPr>
                        <a:t>Метрика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Енглески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Српски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7985">
                <a:tc>
                  <a:txBody>
                    <a:bodyPr/>
                    <a:p>
                      <a:pPr algn="ctr"/>
                      <a:r>
                        <a:rPr lang="en-US" altLang="zh-CN" sz="1400" b="1">
                          <a:solidFill>
                            <a:schemeClr val="tx1"/>
                          </a:solidFill>
                          <a:latin typeface="Times New Roman" panose="02020603050405020304" charset="0"/>
                          <a:cs typeface="Times New Roman" panose="02020603050405020304" charset="0"/>
                        </a:rPr>
                        <a:t>Corpus WER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3,30%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43,93%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pPr algn="ctr"/>
                      <a:r>
                        <a:rPr lang="en-US" altLang="zh-CN" sz="1400" b="1">
                          <a:solidFill>
                            <a:schemeClr val="tx1"/>
                          </a:solidFill>
                          <a:latin typeface="Times New Roman" panose="02020603050405020304" charset="0"/>
                          <a:cs typeface="Times New Roman" panose="02020603050405020304" charset="0"/>
                        </a:rPr>
                        <a:t>Просечан RTF</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0,076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0,114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971550" y="1348105"/>
            <a:ext cx="4498340" cy="2823845"/>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15 природних српских снимака · Faster-Whisper Base INT8</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Beam Search параметра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72540" y="4228465"/>
            <a:ext cx="6713855"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Већи beam повећава време, али не гарантује стално смањење просечног WER-а.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981065" y="1708150"/>
          <a:ext cx="2231390" cy="1981835"/>
        </p:xfrm>
        <a:graphic>
          <a:graphicData uri="http://schemas.openxmlformats.org/drawingml/2006/table">
            <a:tbl>
              <a:tblPr firstRow="1" bandRow="1">
                <a:tableStyleId>{5C22544A-7EE6-4342-B048-85BDC9FD1C3A}</a:tableStyleId>
              </a:tblPr>
              <a:tblGrid>
                <a:gridCol w="879475"/>
                <a:gridCol w="755650"/>
                <a:gridCol w="596265"/>
              </a:tblGrid>
              <a:tr h="853440">
                <a:tc>
                  <a:txBody>
                    <a:bodyPr/>
                    <a:p>
                      <a:pPr algn="ctr"/>
                      <a:r>
                        <a:rPr lang="en-US" altLang="zh-CN" sz="1400" b="1">
                          <a:solidFill>
                            <a:schemeClr val="tx1"/>
                          </a:solidFill>
                          <a:latin typeface="Times New Roman" panose="02020603050405020304" charset="0"/>
                          <a:cs typeface="Times New Roman" panose="02020603050405020304" charset="0"/>
                        </a:rPr>
                        <a:t>Beam size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Време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RTF</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52730">
                <a:tc>
                  <a:txBody>
                    <a:bodyPr/>
                    <a:p>
                      <a:pPr algn="ctr"/>
                      <a:r>
                        <a:rPr lang="en-US" altLang="zh-CN" sz="1400" b="1">
                          <a:solidFill>
                            <a:schemeClr val="tx1"/>
                          </a:solidFill>
                          <a:latin typeface="Times New Roman" panose="02020603050405020304" charset="0"/>
                          <a:cs typeface="Times New Roman" panose="02020603050405020304" charset="0"/>
                        </a:rPr>
                        <a:t>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2,499</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0,1076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3,276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0,1218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4,045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0,1425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1465">
                <a:tc>
                  <a:txBody>
                    <a:bodyPr/>
                    <a:p>
                      <a:pPr algn="ctr"/>
                      <a:r>
                        <a:rPr lang="en-US" altLang="zh-CN" sz="1400" b="1">
                          <a:solidFill>
                            <a:schemeClr val="tx1"/>
                          </a:solidFill>
                          <a:latin typeface="Times New Roman" panose="02020603050405020304" charset="0"/>
                          <a:cs typeface="Times New Roman" panose="02020603050405020304" charset="0"/>
                        </a:rPr>
                        <a:t>10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6,439</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0,1988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5" name="Picture 4"/>
          <p:cNvPicPr>
            <a:picLocks noChangeAspect="1"/>
          </p:cNvPicPr>
          <p:nvPr/>
        </p:nvPicPr>
        <p:blipFill>
          <a:blip r:embed="rId2"/>
          <a:stretch>
            <a:fillRect/>
          </a:stretch>
        </p:blipFill>
        <p:spPr>
          <a:xfrm>
            <a:off x="1053465" y="1419860"/>
            <a:ext cx="4691380" cy="27762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40 природних српских снимака · 4 модела × 2 формата = 320 транскрипција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INT8 квантизације на брзину</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156075"/>
            <a:ext cx="6713855" cy="95313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Убрзање INT8 у односу на FLOAT32</a:t>
            </a:r>
            <a:endParaRPr lang="en-US" altLang="en-US" b="1">
              <a:latin typeface="Times New Roman" panose="02020603050405020304" charset="0"/>
              <a:cs typeface="Times New Roman" panose="02020603050405020304" charset="0"/>
            </a:endParaRPr>
          </a:p>
          <a:p>
            <a:endParaRPr lang="en-US" altLang="en-US" b="1">
              <a:latin typeface="Times New Roman" panose="02020603050405020304" charset="0"/>
              <a:cs typeface="Times New Roman" panose="02020603050405020304" charset="0"/>
            </a:endParaRPr>
          </a:p>
          <a:p>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Medium RTF: 1,390 (FLOAT32) → 0,832 (INT8)</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636260" y="1851660"/>
          <a:ext cx="2557780" cy="1720215"/>
        </p:xfrm>
        <a:graphic>
          <a:graphicData uri="http://schemas.openxmlformats.org/drawingml/2006/table">
            <a:tbl>
              <a:tblPr firstRow="1" bandRow="1">
                <a:tableStyleId>{5C22544A-7EE6-4342-B048-85BDC9FD1C3A}</a:tableStyleId>
              </a:tblPr>
              <a:tblGrid>
                <a:gridCol w="668655"/>
                <a:gridCol w="758190"/>
                <a:gridCol w="1130935"/>
              </a:tblGrid>
              <a:tr h="591820">
                <a:tc>
                  <a:txBody>
                    <a:bodyPr/>
                    <a:p>
                      <a:pPr algn="ctr"/>
                      <a:r>
                        <a:rPr lang="en-US" altLang="zh-CN" sz="1400" b="1">
                          <a:solidFill>
                            <a:schemeClr val="tx1"/>
                          </a:solidFill>
                          <a:latin typeface="Times New Roman" panose="02020603050405020304" charset="0"/>
                          <a:cs typeface="Times New Roman" panose="02020603050405020304" charset="0"/>
                        </a:rPr>
                        <a:t>Модел</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INT8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FLOAT32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52730">
                <a:tc>
                  <a:txBody>
                    <a:bodyPr/>
                    <a:p>
                      <a:pPr algn="ctr"/>
                      <a:r>
                        <a:rPr lang="en-US" altLang="zh-CN" sz="1400" b="1">
                          <a:solidFill>
                            <a:schemeClr val="tx1"/>
                          </a:solidFill>
                          <a:latin typeface="Times New Roman" panose="02020603050405020304" charset="0"/>
                          <a:cs typeface="Times New Roman" panose="02020603050405020304" charset="0"/>
                        </a:rPr>
                        <a:t>Tiny</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1,355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1,656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Base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2,161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3,002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Small</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7,203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8,734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1465">
                <a:tc>
                  <a:txBody>
                    <a:bodyPr/>
                    <a:p>
                      <a:pPr algn="ctr"/>
                      <a:r>
                        <a:rPr lang="en-US" altLang="zh-CN" sz="1400" b="1">
                          <a:solidFill>
                            <a:schemeClr val="tx1"/>
                          </a:solidFill>
                          <a:latin typeface="Times New Roman" panose="02020603050405020304" charset="0"/>
                          <a:cs typeface="Times New Roman" panose="02020603050405020304" charset="0"/>
                        </a:rPr>
                        <a:t>Medium</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17,633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28,991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899160" y="1635760"/>
            <a:ext cx="4737100" cy="2315210"/>
          </a:xfrm>
          <a:prstGeom prst="rect">
            <a:avLst/>
          </a:prstGeom>
        </p:spPr>
      </p:pic>
      <p:pic>
        <p:nvPicPr>
          <p:cNvPr id="8" name="Picture 7"/>
          <p:cNvPicPr>
            <a:picLocks noChangeAspect="1"/>
          </p:cNvPicPr>
          <p:nvPr/>
        </p:nvPicPr>
        <p:blipFill>
          <a:blip r:embed="rId3"/>
          <a:stretch>
            <a:fillRect/>
          </a:stretch>
        </p:blipFill>
        <p:spPr>
          <a:xfrm>
            <a:off x="2555240" y="4431030"/>
            <a:ext cx="4276725" cy="40322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ctr"/>
            <a:r>
              <a:rPr lang="en-US" altLang="en-US" sz="1600" b="1">
                <a:latin typeface="Times New Roman" panose="02020603050405020304" charset="0"/>
                <a:cs typeface="Times New Roman" panose="02020603050405020304" charset="0"/>
              </a:rPr>
              <a:t>Детекција делова аудио-сигнала који садрже говор</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Voice Activity Detection (VAD)</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516120"/>
            <a:ext cx="6713855" cy="306705"/>
          </a:xfrm>
          <a:prstGeom prst="rect">
            <a:avLst/>
          </a:prstGeom>
          <a:noFill/>
        </p:spPr>
        <p:txBody>
          <a:bodyPr wrap="square" rtlCol="0">
            <a:spAutoFit/>
          </a:bodyPr>
          <a:p>
            <a:pPr algn="ctr"/>
            <a:r>
              <a:rPr lang="en-US" altLang="en-US" b="1">
                <a:latin typeface="Times New Roman" panose="02020603050405020304" charset="0"/>
                <a:cs typeface="Times New Roman" panose="02020603050405020304" charset="0"/>
              </a:rPr>
              <a:t>VAD OFF vs VAD ON · Base INT8 · CPU · 3 мерења времена по режиму</a:t>
            </a:r>
            <a:endParaRPr lang="en-US" altLang="en-US" b="1">
              <a:latin typeface="Times New Roman" panose="02020603050405020304" charset="0"/>
              <a:cs typeface="Times New Roman" panose="02020603050405020304" charset="0"/>
            </a:endParaRPr>
          </a:p>
        </p:txBody>
      </p:sp>
      <p:sp>
        <p:nvSpPr>
          <p:cNvPr id="5" name="Rounded Rectangle 4"/>
          <p:cNvSpPr/>
          <p:nvPr/>
        </p:nvSpPr>
        <p:spPr>
          <a:xfrm>
            <a:off x="2924175" y="3323590"/>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en-US" b="1">
                <a:solidFill>
                  <a:schemeClr val="tx1"/>
                </a:solidFill>
                <a:latin typeface="Times New Roman" panose="02020603050405020304" charset="0"/>
                <a:cs typeface="Times New Roman" panose="02020603050405020304" charset="0"/>
                <a:sym typeface="+mn-ea"/>
              </a:rPr>
              <a:t>Синтетички EN</a:t>
            </a:r>
            <a:endParaRPr lang="en-US" altLang="en-US" b="1">
              <a:solidFill>
                <a:schemeClr val="tx1"/>
              </a:solidFill>
              <a:latin typeface="Times New Roman" panose="02020603050405020304" charset="0"/>
              <a:cs typeface="Times New Roman" panose="02020603050405020304" charset="0"/>
              <a:sym typeface="+mn-ea"/>
            </a:endParaRPr>
          </a:p>
          <a:p>
            <a:pPr algn="ctr">
              <a:buSzTx/>
            </a:pPr>
            <a:r>
              <a:rPr lang="en-US" altLang="en-US">
                <a:solidFill>
                  <a:schemeClr val="tx1"/>
                </a:solidFill>
                <a:latin typeface="Times New Roman" panose="02020603050405020304" charset="0"/>
                <a:cs typeface="Times New Roman" panose="02020603050405020304" charset="0"/>
                <a:sym typeface="+mn-ea"/>
              </a:rPr>
              <a:t>5 снимака</a:t>
            </a:r>
            <a:endParaRPr lang="en-US"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4787900" y="3364230"/>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sym typeface="+mn-ea"/>
              </a:rPr>
              <a:t>Природни SR</a:t>
            </a:r>
            <a:endParaRPr lang="en-US" altLang="en-US" b="1">
              <a:solidFill>
                <a:schemeClr val="tx1"/>
              </a:solidFill>
              <a:latin typeface="Times New Roman" panose="02020603050405020304" charset="0"/>
              <a:cs typeface="Times New Roman" panose="02020603050405020304" charset="0"/>
              <a:sym typeface="+mn-ea"/>
            </a:endParaRPr>
          </a:p>
          <a:p>
            <a:pPr algn="ctr"/>
            <a:r>
              <a:rPr lang="en-US" altLang="en-US">
                <a:solidFill>
                  <a:schemeClr val="tx1"/>
                </a:solidFill>
                <a:latin typeface="Times New Roman" panose="02020603050405020304" charset="0"/>
                <a:cs typeface="Times New Roman" panose="02020603050405020304" charset="0"/>
                <a:sym typeface="+mn-ea"/>
              </a:rPr>
              <a:t>5 снимака са додатим паузама</a:t>
            </a:r>
            <a:endParaRPr lang="en-US" altLang="en-US">
              <a:solidFill>
                <a:schemeClr val="tx1"/>
              </a:solidFill>
              <a:latin typeface="Times New Roman" panose="02020603050405020304" charset="0"/>
              <a:cs typeface="Times New Roman" panose="02020603050405020304" charset="0"/>
              <a:sym typeface="+mn-ea"/>
            </a:endParaRPr>
          </a:p>
        </p:txBody>
      </p:sp>
      <p:pic>
        <p:nvPicPr>
          <p:cNvPr id="9" name="Picture 8"/>
          <p:cNvPicPr>
            <a:picLocks noChangeAspect="1"/>
          </p:cNvPicPr>
          <p:nvPr/>
        </p:nvPicPr>
        <p:blipFill>
          <a:blip r:embed="rId1"/>
          <a:stretch>
            <a:fillRect/>
          </a:stretch>
        </p:blipFill>
        <p:spPr>
          <a:xfrm>
            <a:off x="1511935" y="1708150"/>
            <a:ext cx="6365240" cy="542290"/>
          </a:xfrm>
          <a:prstGeom prst="rect">
            <a:avLst/>
          </a:prstGeom>
        </p:spPr>
      </p:pic>
      <p:sp>
        <p:nvSpPr>
          <p:cNvPr id="10" name="Text Box 9"/>
          <p:cNvSpPr txBox="1"/>
          <p:nvPr/>
        </p:nvSpPr>
        <p:spPr>
          <a:xfrm>
            <a:off x="1511935" y="1348105"/>
            <a:ext cx="3048000" cy="306705"/>
          </a:xfrm>
          <a:prstGeom prst="rect">
            <a:avLst/>
          </a:prstGeom>
          <a:noFill/>
        </p:spPr>
        <p:txBody>
          <a:bodyPr wrap="square" rtlCol="0">
            <a:spAutoFit/>
          </a:bodyPr>
          <a:p>
            <a:r>
              <a:rPr lang="sr-Cyrl-BA" altLang="en-US" b="1">
                <a:latin typeface="Times New Roman" panose="02020603050405020304" charset="0"/>
                <a:cs typeface="Times New Roman" panose="02020603050405020304" charset="0"/>
              </a:rPr>
              <a:t>Улазни аудио:</a:t>
            </a:r>
            <a:endParaRPr lang="sr-Cyrl-BA" altLang="en-US" b="1">
              <a:latin typeface="Times New Roman" panose="02020603050405020304" charset="0"/>
              <a:cs typeface="Times New Roman" panose="02020603050405020304" charset="0"/>
            </a:endParaRPr>
          </a:p>
        </p:txBody>
      </p:sp>
      <p:sp>
        <p:nvSpPr>
          <p:cNvPr id="11" name="Text Box 10"/>
          <p:cNvSpPr txBox="1"/>
          <p:nvPr/>
        </p:nvSpPr>
        <p:spPr>
          <a:xfrm>
            <a:off x="1475105" y="2253615"/>
            <a:ext cx="3048000" cy="306705"/>
          </a:xfrm>
          <a:prstGeom prst="rect">
            <a:avLst/>
          </a:prstGeom>
          <a:noFill/>
        </p:spPr>
        <p:txBody>
          <a:bodyPr wrap="square" rtlCol="0">
            <a:spAutoFit/>
          </a:bodyPr>
          <a:p>
            <a:r>
              <a:rPr lang="sr-Cyrl-BA" altLang="en-US" b="1">
                <a:latin typeface="Times New Roman" panose="02020603050405020304" charset="0"/>
                <a:cs typeface="Times New Roman" panose="02020603050405020304" charset="0"/>
              </a:rPr>
              <a:t>После </a:t>
            </a:r>
            <a:r>
              <a:rPr lang="en-US" altLang="en-US" b="1">
                <a:latin typeface="Times New Roman" panose="02020603050405020304" charset="0"/>
                <a:cs typeface="Times New Roman" panose="02020603050405020304" charset="0"/>
              </a:rPr>
              <a:t>VAD</a:t>
            </a:r>
            <a:r>
              <a:rPr lang="sr-Cyrl-BA" altLang="en-US" b="1">
                <a:latin typeface="Times New Roman" panose="02020603050405020304" charset="0"/>
                <a:cs typeface="Times New Roman" panose="02020603050405020304" charset="0"/>
              </a:rPr>
              <a:t> обраде:</a:t>
            </a:r>
            <a:endParaRPr lang="sr-Cyrl-BA" altLang="en-US" b="1">
              <a:latin typeface="Times New Roman" panose="02020603050405020304" charset="0"/>
              <a:cs typeface="Times New Roman" panose="02020603050405020304" charset="0"/>
            </a:endParaRPr>
          </a:p>
        </p:txBody>
      </p:sp>
      <p:pic>
        <p:nvPicPr>
          <p:cNvPr id="12" name="Picture 11"/>
          <p:cNvPicPr>
            <a:picLocks noChangeAspect="1"/>
          </p:cNvPicPr>
          <p:nvPr/>
        </p:nvPicPr>
        <p:blipFill>
          <a:blip r:embed="rId2"/>
          <a:stretch>
            <a:fillRect/>
          </a:stretch>
        </p:blipFill>
        <p:spPr>
          <a:xfrm>
            <a:off x="1475105" y="2580005"/>
            <a:ext cx="6344920" cy="7239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Faster-Whisper Base INT8 · просечне вредности по групи</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VAD: утицај на време и тачност</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471670"/>
            <a:ext cx="6713855"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VAD је смањио време у обе групе, без приметног погоршања WER-а.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391150" y="1924050"/>
          <a:ext cx="2801620" cy="1859915"/>
        </p:xfrm>
        <a:graphic>
          <a:graphicData uri="http://schemas.openxmlformats.org/drawingml/2006/table">
            <a:tbl>
              <a:tblPr firstRow="1" bandRow="1">
                <a:tableStyleId>{5C22544A-7EE6-4342-B048-85BDC9FD1C3A}</a:tableStyleId>
              </a:tblPr>
              <a:tblGrid>
                <a:gridCol w="460375"/>
                <a:gridCol w="786130"/>
                <a:gridCol w="1555115"/>
              </a:tblGrid>
              <a:tr h="796925">
                <a:tc>
                  <a:txBody>
                    <a:bodyPr/>
                    <a:p>
                      <a:pPr algn="ctr"/>
                      <a:r>
                        <a:rPr lang="en-US" altLang="zh-CN" sz="1400" b="1">
                          <a:solidFill>
                            <a:schemeClr val="tx1"/>
                          </a:solidFill>
                          <a:latin typeface="Times New Roman" panose="02020603050405020304" charset="0"/>
                          <a:cs typeface="Times New Roman" panose="02020603050405020304" charset="0"/>
                        </a:rPr>
                        <a:t>Скуп</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Смањење времена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WER OFF → ON</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EN</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20,85%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7,58 → 6,37%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SR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2,96%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66,28 → 65,80%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5" name="Picture 4"/>
          <p:cNvPicPr>
            <a:picLocks noChangeAspect="1"/>
          </p:cNvPicPr>
          <p:nvPr/>
        </p:nvPicPr>
        <p:blipFill>
          <a:blip r:embed="rId2"/>
          <a:stretch>
            <a:fillRect/>
          </a:stretch>
        </p:blipFill>
        <p:spPr>
          <a:xfrm>
            <a:off x="1331595" y="1564005"/>
            <a:ext cx="4057650" cy="266573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ctr"/>
            <a:r>
              <a:rPr lang="en-US" altLang="en-US" sz="1600" b="1">
                <a:latin typeface="Times New Roman" panose="02020603050405020304" charset="0"/>
                <a:cs typeface="Times New Roman" panose="02020603050405020304" charset="0"/>
              </a:rPr>
              <a:t>Симулација постепеног пристизања аудија, не директан улаз са микрофона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Streaming transkripcija: postavka eksperimenta</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115060" y="4228465"/>
            <a:ext cx="6713855" cy="953135"/>
          </a:xfrm>
          <a:prstGeom prst="rect">
            <a:avLst/>
          </a:prstGeom>
          <a:noFill/>
        </p:spPr>
        <p:txBody>
          <a:bodyPr wrap="square" rtlCol="0">
            <a:spAutoFit/>
          </a:bodyPr>
          <a:p>
            <a:pPr algn="ctr"/>
            <a:r>
              <a:rPr lang="en-US" altLang="en-US" b="1">
                <a:latin typeface="Times New Roman" panose="02020603050405020304" charset="0"/>
                <a:cs typeface="Times New Roman" panose="02020603050405020304" charset="0"/>
              </a:rPr>
              <a:t>Експеримент: 5 најдужих природних српских снимака · Faster-Whisper Base INT8 · CPU · beam = 1 · VAD OFF</a:t>
            </a:r>
            <a:endParaRPr lang="en-US" altLang="en-US" b="1">
              <a:latin typeface="Times New Roman" panose="02020603050405020304" charset="0"/>
              <a:cs typeface="Times New Roman" panose="02020603050405020304" charset="0"/>
            </a:endParaRPr>
          </a:p>
          <a:p>
            <a:pPr algn="ctr"/>
            <a:endParaRPr lang="en-US" altLang="en-US" b="1">
              <a:latin typeface="Times New Roman" panose="02020603050405020304" charset="0"/>
              <a:cs typeface="Times New Roman" panose="02020603050405020304" charset="0"/>
            </a:endParaRPr>
          </a:p>
          <a:p>
            <a:pPr algn="ctr"/>
            <a:r>
              <a:rPr lang="en-US" altLang="en-US">
                <a:latin typeface="Times New Roman" panose="02020603050405020304" charset="0"/>
                <a:cs typeface="Times New Roman" panose="02020603050405020304" charset="0"/>
              </a:rPr>
              <a:t>WER, RTF, Chunk латенција, TTFR</a:t>
            </a:r>
            <a:endParaRPr lang="en-US" altLang="en-US">
              <a:latin typeface="Times New Roman" panose="02020603050405020304" charset="0"/>
              <a:cs typeface="Times New Roman" panose="02020603050405020304" charset="0"/>
            </a:endParaRPr>
          </a:p>
        </p:txBody>
      </p:sp>
      <p:sp>
        <p:nvSpPr>
          <p:cNvPr id="5" name="Rounded Rectangle 4"/>
          <p:cNvSpPr/>
          <p:nvPr/>
        </p:nvSpPr>
        <p:spPr>
          <a:xfrm>
            <a:off x="1547495" y="2891155"/>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en-US" sz="2000" b="1">
                <a:solidFill>
                  <a:schemeClr val="tx1"/>
                </a:solidFill>
                <a:latin typeface="Times New Roman" panose="02020603050405020304" charset="0"/>
                <a:cs typeface="Times New Roman" panose="02020603050405020304" charset="0"/>
                <a:sym typeface="+mn-ea"/>
              </a:rPr>
              <a:t>2</a:t>
            </a:r>
            <a:r>
              <a:rPr lang="sr-Cyrl-BA" altLang="en-US" sz="2000" b="1">
                <a:solidFill>
                  <a:schemeClr val="tx1"/>
                </a:solidFill>
                <a:latin typeface="Times New Roman" panose="02020603050405020304" charset="0"/>
                <a:cs typeface="Times New Roman" panose="02020603050405020304" charset="0"/>
                <a:sym typeface="+mn-ea"/>
              </a:rPr>
              <a:t> </a:t>
            </a:r>
            <a:r>
              <a:rPr lang="en-US" altLang="en-US" sz="2000" b="1">
                <a:solidFill>
                  <a:schemeClr val="tx1"/>
                </a:solidFill>
                <a:latin typeface="Times New Roman" panose="02020603050405020304" charset="0"/>
                <a:cs typeface="Times New Roman" panose="02020603050405020304" charset="0"/>
                <a:sym typeface="+mn-ea"/>
              </a:rPr>
              <a:t>S</a:t>
            </a:r>
            <a:endParaRPr lang="en-US" altLang="en-US" sz="2000" b="1">
              <a:solidFill>
                <a:schemeClr val="tx1"/>
              </a:solidFill>
              <a:latin typeface="Times New Roman" panose="02020603050405020304" charset="0"/>
              <a:cs typeface="Times New Roman" panose="02020603050405020304" charset="0"/>
              <a:sym typeface="+mn-ea"/>
            </a:endParaRPr>
          </a:p>
          <a:p>
            <a:pPr algn="ctr">
              <a:buSzTx/>
            </a:pPr>
            <a:r>
              <a:rPr lang="en-US" altLang="en-US">
                <a:solidFill>
                  <a:schemeClr val="tx1"/>
                </a:solidFill>
                <a:latin typeface="Times New Roman" panose="02020603050405020304" charset="0"/>
                <a:cs typeface="Times New Roman" panose="02020603050405020304" charset="0"/>
                <a:sym typeface="+mn-ea"/>
              </a:rPr>
              <a:t>chunk</a:t>
            </a:r>
            <a:endParaRPr lang="en-US"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491865" y="293179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2000" b="1">
                <a:solidFill>
                  <a:schemeClr val="tx1"/>
                </a:solidFill>
                <a:latin typeface="Times New Roman" panose="02020603050405020304" charset="0"/>
                <a:cs typeface="Times New Roman" panose="02020603050405020304" charset="0"/>
                <a:sym typeface="+mn-ea"/>
              </a:rPr>
              <a:t>5</a:t>
            </a:r>
            <a:r>
              <a:rPr lang="sr-Cyrl-BA" altLang="en-US" sz="2000" b="1">
                <a:solidFill>
                  <a:schemeClr val="tx1"/>
                </a:solidFill>
                <a:latin typeface="Times New Roman" panose="02020603050405020304" charset="0"/>
                <a:cs typeface="Times New Roman" panose="02020603050405020304" charset="0"/>
                <a:sym typeface="+mn-ea"/>
              </a:rPr>
              <a:t> </a:t>
            </a:r>
            <a:r>
              <a:rPr lang="en-US" altLang="en-US" sz="2000" b="1">
                <a:solidFill>
                  <a:schemeClr val="tx1"/>
                </a:solidFill>
                <a:latin typeface="Times New Roman" panose="02020603050405020304" charset="0"/>
                <a:cs typeface="Times New Roman" panose="02020603050405020304" charset="0"/>
                <a:sym typeface="+mn-ea"/>
              </a:rPr>
              <a:t>S</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en-US" altLang="en-US">
                <a:solidFill>
                  <a:schemeClr val="tx1"/>
                </a:solidFill>
                <a:latin typeface="Times New Roman" panose="02020603050405020304" charset="0"/>
                <a:cs typeface="Times New Roman" panose="02020603050405020304" charset="0"/>
                <a:sym typeface="+mn-ea"/>
              </a:rPr>
              <a:t>chunk</a:t>
            </a:r>
            <a:endParaRPr lang="en-US" altLang="en-US">
              <a:solidFill>
                <a:schemeClr val="tx1"/>
              </a:solidFill>
              <a:latin typeface="Times New Roman" panose="02020603050405020304" charset="0"/>
              <a:cs typeface="Times New Roman" panose="02020603050405020304" charset="0"/>
              <a:sym typeface="+mn-ea"/>
            </a:endParaRPr>
          </a:p>
        </p:txBody>
      </p:sp>
      <p:sp>
        <p:nvSpPr>
          <p:cNvPr id="10" name="Text Box 9"/>
          <p:cNvSpPr txBox="1"/>
          <p:nvPr/>
        </p:nvSpPr>
        <p:spPr>
          <a:xfrm>
            <a:off x="1511935" y="1348105"/>
            <a:ext cx="3048000" cy="306705"/>
          </a:xfrm>
          <a:prstGeom prst="rect">
            <a:avLst/>
          </a:prstGeom>
          <a:noFill/>
        </p:spPr>
        <p:txBody>
          <a:bodyPr wrap="square" rtlCol="0">
            <a:spAutoFit/>
          </a:bodyPr>
          <a:p>
            <a:r>
              <a:rPr lang="en-US" altLang="sr-Cyrl-BA" b="1">
                <a:latin typeface="Times New Roman" panose="02020603050405020304" charset="0"/>
                <a:cs typeface="Times New Roman" panose="02020603050405020304" charset="0"/>
              </a:rPr>
              <a:t>Full-file</a:t>
            </a:r>
            <a:r>
              <a:rPr lang="sr-Cyrl-BA" altLang="en-US" b="1">
                <a:latin typeface="Times New Roman" panose="02020603050405020304" charset="0"/>
                <a:cs typeface="Times New Roman" panose="02020603050405020304" charset="0"/>
              </a:rPr>
              <a:t>:</a:t>
            </a:r>
            <a:endParaRPr lang="sr-Cyrl-BA" altLang="en-US" b="1">
              <a:latin typeface="Times New Roman" panose="02020603050405020304" charset="0"/>
              <a:cs typeface="Times New Roman" panose="02020603050405020304" charset="0"/>
            </a:endParaRPr>
          </a:p>
        </p:txBody>
      </p:sp>
      <p:sp>
        <p:nvSpPr>
          <p:cNvPr id="11" name="Text Box 10"/>
          <p:cNvSpPr txBox="1"/>
          <p:nvPr/>
        </p:nvSpPr>
        <p:spPr>
          <a:xfrm>
            <a:off x="5219700" y="1348105"/>
            <a:ext cx="3048000" cy="306705"/>
          </a:xfrm>
          <a:prstGeom prst="rect">
            <a:avLst/>
          </a:prstGeom>
          <a:noFill/>
        </p:spPr>
        <p:txBody>
          <a:bodyPr wrap="square" rtlCol="0">
            <a:spAutoFit/>
          </a:bodyPr>
          <a:p>
            <a:r>
              <a:rPr lang="en-US" altLang="sr-Cyrl-BA" b="1">
                <a:latin typeface="Times New Roman" panose="02020603050405020304" charset="0"/>
                <a:cs typeface="Times New Roman" panose="02020603050405020304" charset="0"/>
              </a:rPr>
              <a:t>Streaming simulacija</a:t>
            </a:r>
            <a:r>
              <a:rPr lang="sr-Cyrl-BA" altLang="en-US" b="1">
                <a:latin typeface="Times New Roman" panose="02020603050405020304" charset="0"/>
                <a:cs typeface="Times New Roman" panose="02020603050405020304" charset="0"/>
              </a:rPr>
              <a:t>:</a:t>
            </a:r>
            <a:endParaRPr lang="sr-Cyrl-BA" altLang="en-US" b="1">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rcRect t="7179"/>
          <a:stretch>
            <a:fillRect/>
          </a:stretch>
        </p:blipFill>
        <p:spPr>
          <a:xfrm>
            <a:off x="971550" y="1708150"/>
            <a:ext cx="7032625" cy="689610"/>
          </a:xfrm>
          <a:prstGeom prst="rect">
            <a:avLst/>
          </a:prstGeom>
        </p:spPr>
      </p:pic>
      <p:sp>
        <p:nvSpPr>
          <p:cNvPr id="8" name="Rounded Rectangle 7"/>
          <p:cNvSpPr/>
          <p:nvPr/>
        </p:nvSpPr>
        <p:spPr>
          <a:xfrm>
            <a:off x="5617210" y="293179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2000" b="1">
                <a:solidFill>
                  <a:schemeClr val="tx1"/>
                </a:solidFill>
                <a:latin typeface="Times New Roman" panose="02020603050405020304" charset="0"/>
                <a:cs typeface="Times New Roman" panose="02020603050405020304" charset="0"/>
                <a:sym typeface="+mn-ea"/>
              </a:rPr>
              <a:t>10</a:t>
            </a:r>
            <a:r>
              <a:rPr lang="sr-Cyrl-BA" altLang="en-US" sz="2000" b="1">
                <a:solidFill>
                  <a:schemeClr val="tx1"/>
                </a:solidFill>
                <a:latin typeface="Times New Roman" panose="02020603050405020304" charset="0"/>
                <a:cs typeface="Times New Roman" panose="02020603050405020304" charset="0"/>
                <a:sym typeface="+mn-ea"/>
              </a:rPr>
              <a:t> </a:t>
            </a:r>
            <a:r>
              <a:rPr lang="en-US" altLang="en-US" sz="2000" b="1">
                <a:solidFill>
                  <a:schemeClr val="tx1"/>
                </a:solidFill>
                <a:latin typeface="Times New Roman" panose="02020603050405020304" charset="0"/>
                <a:cs typeface="Times New Roman" panose="02020603050405020304" charset="0"/>
                <a:sym typeface="+mn-ea"/>
              </a:rPr>
              <a:t>S</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en-US" altLang="en-US">
                <a:solidFill>
                  <a:schemeClr val="tx1"/>
                </a:solidFill>
                <a:latin typeface="Times New Roman" panose="02020603050405020304" charset="0"/>
                <a:cs typeface="Times New Roman" panose="02020603050405020304" charset="0"/>
                <a:sym typeface="+mn-ea"/>
              </a:rPr>
              <a:t>chunk</a:t>
            </a:r>
            <a:endParaRPr lang="en-US" altLang="en-US">
              <a:solidFill>
                <a:schemeClr val="tx1"/>
              </a:solidFill>
              <a:latin typeface="Times New Roman" panose="02020603050405020304" charset="0"/>
              <a:cs typeface="Times New Roman" panose="02020603050405020304" charset="0"/>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Поређење независних сегмената са full-file транскрипцијом</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Streaming: тачност и кашњење</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471670"/>
            <a:ext cx="6713855"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Краћи сегмент → ранији резултат, али мање контекста и већи WER.</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868035" y="1924050"/>
          <a:ext cx="2801620" cy="1859915"/>
        </p:xfrm>
        <a:graphic>
          <a:graphicData uri="http://schemas.openxmlformats.org/drawingml/2006/table">
            <a:tbl>
              <a:tblPr firstRow="1" bandRow="1">
                <a:tableStyleId>{5C22544A-7EE6-4342-B048-85BDC9FD1C3A}</a:tableStyleId>
              </a:tblPr>
              <a:tblGrid>
                <a:gridCol w="895985"/>
                <a:gridCol w="720090"/>
              </a:tblGrid>
              <a:tr h="796925">
                <a:tc>
                  <a:txBody>
                    <a:bodyPr/>
                    <a:p>
                      <a:pPr algn="ctr"/>
                      <a:r>
                        <a:rPr lang="en-US" altLang="zh-CN" sz="1400" b="1">
                          <a:solidFill>
                            <a:schemeClr val="tx1"/>
                          </a:solidFill>
                          <a:latin typeface="Times New Roman" panose="02020603050405020304" charset="0"/>
                          <a:cs typeface="Times New Roman" panose="02020603050405020304" charset="0"/>
                        </a:rPr>
                        <a:t>Chunk 2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2,773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Chunk 5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5,904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Chunk 10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11,299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1259205" y="1613535"/>
            <a:ext cx="3913505" cy="2369820"/>
          </a:xfrm>
          <a:prstGeom prst="rect">
            <a:avLst/>
          </a:prstGeom>
        </p:spPr>
      </p:pic>
      <p:sp>
        <p:nvSpPr>
          <p:cNvPr id="7" name="Text Box 6"/>
          <p:cNvSpPr txBox="1"/>
          <p:nvPr/>
        </p:nvSpPr>
        <p:spPr>
          <a:xfrm>
            <a:off x="5391150" y="1306830"/>
            <a:ext cx="3048000"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Време до првог резултата (TTFR)</a:t>
            </a:r>
            <a:endParaRPr lang="en-US" altLang="en-US" b="1">
              <a:latin typeface="Times New Roman" panose="02020603050405020304" charset="0"/>
              <a:cs typeface="Times New Roman" panose="02020603050405020304"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Перформансе обраде сегмената · Faster-Whisper Base INT8</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Streaming: RTF и практични компромис</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471670"/>
            <a:ext cx="6713855" cy="521970"/>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У испитаним условима сегмент од 10 s: WER 52,04% · RTF 0,132 · без забележеног реда чекања.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391150" y="1924050"/>
          <a:ext cx="2801620" cy="2391410"/>
        </p:xfrm>
        <a:graphic>
          <a:graphicData uri="http://schemas.openxmlformats.org/drawingml/2006/table">
            <a:tbl>
              <a:tblPr firstRow="1" bandRow="1">
                <a:tableStyleId>{5C22544A-7EE6-4342-B048-85BDC9FD1C3A}</a:tableStyleId>
              </a:tblPr>
              <a:tblGrid>
                <a:gridCol w="789940"/>
                <a:gridCol w="1140460"/>
                <a:gridCol w="871220"/>
              </a:tblGrid>
              <a:tr h="796925">
                <a:tc>
                  <a:txBody>
                    <a:bodyPr/>
                    <a:p>
                      <a:pPr algn="ctr"/>
                      <a:r>
                        <a:rPr lang="en-US" altLang="zh-CN" sz="1400" b="1">
                          <a:solidFill>
                            <a:schemeClr val="tx1"/>
                          </a:solidFill>
                          <a:latin typeface="Times New Roman" panose="02020603050405020304" charset="0"/>
                          <a:cs typeface="Times New Roman" panose="02020603050405020304" charset="0"/>
                        </a:rPr>
                        <a:t>Сегмент</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Латенција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P95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2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0,820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1,182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5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0,933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1,173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10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1,245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1,445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8" name="Picture 7"/>
          <p:cNvPicPr>
            <a:picLocks noChangeAspect="1"/>
          </p:cNvPicPr>
          <p:nvPr/>
        </p:nvPicPr>
        <p:blipFill>
          <a:blip r:embed="rId2"/>
          <a:stretch>
            <a:fillRect/>
          </a:stretch>
        </p:blipFill>
        <p:spPr>
          <a:xfrm>
            <a:off x="899160" y="1553845"/>
            <a:ext cx="4350385" cy="276161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Синтеза експерименталних резултата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300220"/>
            <a:ext cx="6713855" cy="645160"/>
          </a:xfrm>
          <a:prstGeom prst="rect">
            <a:avLst/>
          </a:prstGeom>
          <a:noFill/>
        </p:spPr>
        <p:txBody>
          <a:bodyPr wrap="square" rtlCol="0">
            <a:spAutoFit/>
          </a:bodyPr>
          <a:p>
            <a:pPr algn="ctr"/>
            <a:r>
              <a:rPr lang="en-US" altLang="en-US" sz="1800" b="1">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rPr>
              <a:t>Заједнички закључак</a:t>
            </a:r>
            <a:r>
              <a:rPr lang="sr-Cyrl-BA" altLang="en-US" sz="1800" b="1">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rPr>
              <a:t>:</a:t>
            </a:r>
            <a:endParaRPr lang="en-US" altLang="en-US" sz="1800" b="1">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endParaRPr>
          </a:p>
          <a:p>
            <a:pPr algn="ctr"/>
            <a:r>
              <a:rPr lang="en-US" altLang="en-US" sz="1800" b="1">
                <a:latin typeface="Times New Roman" panose="02020603050405020304" charset="0"/>
                <a:cs typeface="Times New Roman" panose="02020603050405020304" charset="0"/>
              </a:rPr>
              <a:t>Тачност, брзина и меморија морају се посматрати заједно.</a:t>
            </a:r>
            <a:endParaRPr lang="en-US" altLang="en-US" sz="1800"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950595" y="946150"/>
          <a:ext cx="7245985" cy="3230245"/>
        </p:xfrm>
        <a:graphic>
          <a:graphicData uri="http://schemas.openxmlformats.org/drawingml/2006/table">
            <a:tbl>
              <a:tblPr firstRow="1" bandRow="1">
                <a:tableStyleId>{5C22544A-7EE6-4342-B048-85BDC9FD1C3A}</a:tableStyleId>
              </a:tblPr>
              <a:tblGrid>
                <a:gridCol w="1493520"/>
                <a:gridCol w="5752465"/>
              </a:tblGrid>
              <a:tr h="461645">
                <a:tc>
                  <a:txBody>
                    <a:bodyPr/>
                    <a:p>
                      <a:pPr algn="ctr"/>
                      <a:r>
                        <a:rPr lang="en-US" altLang="zh-CN" sz="1400" b="1">
                          <a:solidFill>
                            <a:schemeClr val="tx1"/>
                          </a:solidFill>
                          <a:latin typeface="Times New Roman" panose="02020603050405020304" charset="0"/>
                          <a:cs typeface="Times New Roman" panose="02020603050405020304" charset="0"/>
                        </a:rPr>
                        <a:t>Фактор</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Уочени ефекат</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61010">
                <a:tc>
                  <a:txBody>
                    <a:bodyPr/>
                    <a:p>
                      <a:pPr algn="ctr"/>
                      <a:r>
                        <a:rPr lang="en-US" altLang="zh-CN" sz="1400" b="1">
                          <a:solidFill>
                            <a:schemeClr val="tx1"/>
                          </a:solidFill>
                          <a:latin typeface="Times New Roman" panose="02020603050405020304" charset="0"/>
                          <a:cs typeface="Times New Roman" panose="02020603050405020304" charset="0"/>
                        </a:rPr>
                        <a:t>Величина модела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Већи модел → нижи WER, али већи RTF</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61645">
                <a:tc>
                  <a:txBody>
                    <a:bodyPr/>
                    <a:p>
                      <a:pPr algn="ctr"/>
                      <a:r>
                        <a:rPr lang="en-US" altLang="zh-CN" sz="1400" b="1">
                          <a:solidFill>
                            <a:schemeClr val="tx1"/>
                          </a:solidFill>
                          <a:latin typeface="Times New Roman" panose="02020603050405020304" charset="0"/>
                          <a:cs typeface="Times New Roman" panose="02020603050405020304" charset="0"/>
                        </a:rPr>
                        <a:t>INT8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Убрзање 1,21–1,64× у односу на FLOAT32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26720">
                <a:tc>
                  <a:txBody>
                    <a:bodyPr/>
                    <a:p>
                      <a:pPr algn="ctr"/>
                      <a:r>
                        <a:rPr lang="en-US" altLang="zh-CN" sz="1400" b="1">
                          <a:solidFill>
                            <a:schemeClr val="tx1"/>
                          </a:solidFill>
                          <a:latin typeface="Times New Roman" panose="02020603050405020304" charset="0"/>
                          <a:cs typeface="Times New Roman" panose="02020603050405020304" charset="0"/>
                        </a:rPr>
                        <a:t>Beam Search</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Више кандидата → веће време; добитак у WER-у није неограничен</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65785">
                <a:tc>
                  <a:txBody>
                    <a:bodyPr/>
                    <a:p>
                      <a:pPr algn="ctr"/>
                      <a:r>
                        <a:rPr lang="en-US" altLang="zh-CN" sz="1400" b="1">
                          <a:solidFill>
                            <a:schemeClr val="tx1"/>
                          </a:solidFill>
                          <a:latin typeface="Times New Roman" panose="02020603050405020304" charset="0"/>
                          <a:cs typeface="Times New Roman" panose="02020603050405020304" charset="0"/>
                        </a:rPr>
                        <a:t>VAD</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Мање време без приметног погоршања WER-а у испитаним групама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26720">
                <a:tc>
                  <a:txBody>
                    <a:bodyPr/>
                    <a:p>
                      <a:pPr algn="ctr"/>
                      <a:r>
                        <a:rPr lang="en-US" altLang="zh-CN" sz="1400" b="1">
                          <a:solidFill>
                            <a:schemeClr val="tx1"/>
                          </a:solidFill>
                          <a:latin typeface="Times New Roman" panose="02020603050405020304" charset="0"/>
                          <a:cs typeface="Times New Roman" panose="02020603050405020304" charset="0"/>
                        </a:rPr>
                        <a:t>Шум</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Мањи SNR → изражено погоршање тачности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26720">
                <a:tc>
                  <a:txBody>
                    <a:bodyPr/>
                    <a:p>
                      <a:pPr algn="ctr"/>
                      <a:r>
                        <a:rPr lang="en-US" altLang="zh-CN" sz="1400" b="1">
                          <a:solidFill>
                            <a:schemeClr val="tx1"/>
                          </a:solidFill>
                          <a:latin typeface="Times New Roman" panose="02020603050405020304" charset="0"/>
                          <a:cs typeface="Times New Roman" panose="02020603050405020304" charset="0"/>
                        </a:rPr>
                        <a:t>Streaming</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Краћи сегмент → ранији резултат, али мање контекста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ctr"/>
            <a:r>
              <a:rPr lang="en-US" altLang="en-US" sz="1600" b="1">
                <a:latin typeface="Times New Roman" panose="02020603050405020304" charset="0"/>
                <a:cs typeface="Times New Roman" panose="02020603050405020304" charset="0"/>
              </a:rPr>
              <a:t>Интеграциона анализа · 40 снимака × 8 конфигурација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Зашто вишекритеријумски избор?</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115060" y="3435985"/>
            <a:ext cx="6713855" cy="337185"/>
          </a:xfrm>
          <a:prstGeom prst="rect">
            <a:avLst/>
          </a:prstGeom>
          <a:noFill/>
        </p:spPr>
        <p:txBody>
          <a:bodyPr wrap="square" rtlCol="0">
            <a:spAutoFit/>
          </a:bodyPr>
          <a:p>
            <a:pPr algn="ctr"/>
            <a:r>
              <a:rPr lang="en-US" altLang="en-US" sz="1600" b="1">
                <a:latin typeface="Times New Roman" panose="02020603050405020304" charset="0"/>
                <a:cs typeface="Times New Roman" panose="02020603050405020304" charset="0"/>
              </a:rPr>
              <a:t>Поступак избора</a:t>
            </a:r>
            <a:r>
              <a:rPr lang="sr-Cyrl-BA" altLang="en-US" sz="1600" b="1">
                <a:latin typeface="Times New Roman" panose="02020603050405020304" charset="0"/>
                <a:cs typeface="Times New Roman" panose="02020603050405020304" charset="0"/>
              </a:rPr>
              <a:t>:</a:t>
            </a:r>
            <a:endParaRPr lang="sr-Cyrl-BA" altLang="en-US" sz="1600" b="1">
              <a:latin typeface="Times New Roman" panose="02020603050405020304" charset="0"/>
              <a:cs typeface="Times New Roman" panose="02020603050405020304" charset="0"/>
            </a:endParaRPr>
          </a:p>
        </p:txBody>
      </p:sp>
      <p:sp>
        <p:nvSpPr>
          <p:cNvPr id="5" name="Rounded Rectangle 4"/>
          <p:cNvSpPr/>
          <p:nvPr/>
        </p:nvSpPr>
        <p:spPr>
          <a:xfrm>
            <a:off x="1705610" y="1307465"/>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altLang="en-US" sz="2000" b="1">
                <a:solidFill>
                  <a:schemeClr val="tx1"/>
                </a:solidFill>
                <a:latin typeface="Times New Roman" panose="02020603050405020304" charset="0"/>
                <a:cs typeface="Times New Roman" panose="02020603050405020304" charset="0"/>
                <a:sym typeface="+mn-ea"/>
              </a:rPr>
              <a:t> </a:t>
            </a:r>
            <a:r>
              <a:rPr lang="en-US" altLang="sr-Cyrl-BA" sz="2000" b="1">
                <a:solidFill>
                  <a:schemeClr val="tx1"/>
                </a:solidFill>
                <a:latin typeface="Times New Roman" panose="02020603050405020304" charset="0"/>
                <a:cs typeface="Times New Roman" panose="02020603050405020304" charset="0"/>
                <a:sym typeface="+mn-ea"/>
              </a:rPr>
              <a:t>WER</a:t>
            </a:r>
            <a:endParaRPr lang="en-US" altLang="en-US" sz="2000" b="1">
              <a:solidFill>
                <a:schemeClr val="tx1"/>
              </a:solidFill>
              <a:latin typeface="Times New Roman" panose="02020603050405020304" charset="0"/>
              <a:cs typeface="Times New Roman" panose="02020603050405020304" charset="0"/>
              <a:sym typeface="+mn-ea"/>
            </a:endParaRPr>
          </a:p>
          <a:p>
            <a:pPr algn="ctr">
              <a:buSzTx/>
            </a:pPr>
            <a:r>
              <a:rPr lang="sr-Cyrl-BA" altLang="en-US">
                <a:solidFill>
                  <a:schemeClr val="tx1"/>
                </a:solidFill>
                <a:latin typeface="Times New Roman" panose="02020603050405020304" charset="0"/>
                <a:cs typeface="Times New Roman" panose="02020603050405020304" charset="0"/>
                <a:sym typeface="+mn-ea"/>
              </a:rPr>
              <a:t>Тачност</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649980" y="134810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2000" b="1">
                <a:solidFill>
                  <a:schemeClr val="tx1"/>
                </a:solidFill>
                <a:latin typeface="Times New Roman" panose="02020603050405020304" charset="0"/>
                <a:cs typeface="Times New Roman" panose="02020603050405020304" charset="0"/>
                <a:sym typeface="+mn-ea"/>
              </a:rPr>
              <a:t>RTF</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Време</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8" name="Rounded Rectangle 7"/>
          <p:cNvSpPr/>
          <p:nvPr/>
        </p:nvSpPr>
        <p:spPr>
          <a:xfrm>
            <a:off x="5775325" y="134810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2000" b="1">
                <a:solidFill>
                  <a:schemeClr val="tx1"/>
                </a:solidFill>
                <a:latin typeface="Times New Roman" panose="02020603050405020304" charset="0"/>
                <a:cs typeface="Times New Roman" panose="02020603050405020304" charset="0"/>
                <a:sym typeface="+mn-ea"/>
              </a:rPr>
              <a:t>RAM</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Меморија</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9" name="Text Box 8"/>
          <p:cNvSpPr txBox="1"/>
          <p:nvPr/>
        </p:nvSpPr>
        <p:spPr>
          <a:xfrm>
            <a:off x="1629410" y="2355850"/>
            <a:ext cx="5901055" cy="1076325"/>
          </a:xfrm>
          <a:prstGeom prst="rect">
            <a:avLst/>
          </a:prstGeom>
        </p:spPr>
        <p:txBody>
          <a:bodyPr wrap="square">
            <a:spAutoFit/>
          </a:bodyPr>
          <a:p>
            <a:pPr marL="457200" indent="-317500" algn="ctr">
              <a:spcAft>
                <a:spcPts val="0"/>
              </a:spcAft>
              <a:buSzPts val="1400"/>
              <a:buChar char="●"/>
            </a:pPr>
            <a:r>
              <a:rPr lang="en-US" altLang="en-US" sz="1600" b="1">
                <a:solidFill>
                  <a:schemeClr val="dk2"/>
                </a:solidFill>
                <a:latin typeface="Times New Roman" panose="02020603050405020304" charset="0"/>
                <a:ea typeface="Barlow Semi Condensed" panose="00000506000000000000"/>
                <a:cs typeface="Times New Roman" panose="02020603050405020304" charset="0"/>
              </a:rPr>
              <a:t>Јединствена основа за поређење</a:t>
            </a:r>
            <a:endParaRPr lang="en-US" altLang="en-US" sz="1600" b="1">
              <a:solidFill>
                <a:schemeClr val="dk2"/>
              </a:solidFill>
              <a:latin typeface="Times New Roman" panose="02020603050405020304" charset="0"/>
              <a:ea typeface="Barlow Semi Condensed" panose="00000506000000000000"/>
              <a:cs typeface="Times New Roman" panose="02020603050405020304" charset="0"/>
            </a:endParaRPr>
          </a:p>
          <a:p>
            <a:pPr algn="ctr"/>
            <a:r>
              <a:rPr lang="en-US" altLang="zh-CN" sz="1600">
                <a:latin typeface="Times New Roman" panose="02020603050405020304" charset="0"/>
                <a:cs typeface="Times New Roman" panose="02020603050405020304" charset="0"/>
              </a:rPr>
              <a:t>Tiny · Base · Small · Medium × INT8 / FLOAT32</a:t>
            </a:r>
            <a:endParaRPr lang="en-US" altLang="zh-CN" sz="1600">
              <a:latin typeface="Times New Roman" panose="02020603050405020304" charset="0"/>
              <a:cs typeface="Times New Roman" panose="02020603050405020304" charset="0"/>
            </a:endParaRPr>
          </a:p>
          <a:p>
            <a:pPr algn="ctr"/>
            <a:r>
              <a:rPr lang="en-US" altLang="zh-CN" sz="1600">
                <a:latin typeface="Times New Roman" panose="02020603050405020304" charset="0"/>
                <a:cs typeface="Times New Roman" panose="02020603050405020304" charset="0"/>
              </a:rPr>
              <a:t>Сачувани транскрипти → накнадни прорачун WER-а</a:t>
            </a:r>
            <a:endParaRPr lang="en-US" altLang="zh-CN" sz="1600">
              <a:latin typeface="Times New Roman" panose="02020603050405020304" charset="0"/>
              <a:cs typeface="Times New Roman" panose="02020603050405020304" charset="0"/>
            </a:endParaRPr>
          </a:p>
          <a:p>
            <a:pPr algn="ctr"/>
            <a:r>
              <a:rPr lang="en-US" altLang="zh-CN" sz="1600">
                <a:latin typeface="Times New Roman" panose="02020603050405020304" charset="0"/>
                <a:cs typeface="Times New Roman" panose="02020603050405020304" charset="0"/>
              </a:rPr>
              <a:t>Постојећа мерења → RTF и RAM</a:t>
            </a:r>
            <a:endParaRPr lang="en-US" altLang="zh-CN" sz="1600">
              <a:latin typeface="Times New Roman" panose="02020603050405020304" charset="0"/>
              <a:cs typeface="Times New Roman" panose="02020603050405020304" charset="0"/>
            </a:endParaRPr>
          </a:p>
        </p:txBody>
      </p:sp>
      <p:sp>
        <p:nvSpPr>
          <p:cNvPr id="50" name="Rounded Rectangle 49"/>
          <p:cNvSpPr/>
          <p:nvPr/>
        </p:nvSpPr>
        <p:spPr>
          <a:xfrm>
            <a:off x="1655445" y="3933825"/>
            <a:ext cx="1582420"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Нормализација</a:t>
            </a:r>
            <a:endParaRPr lang="en-US" altLang="en-US" b="1">
              <a:solidFill>
                <a:schemeClr val="tx1"/>
              </a:solidFill>
              <a:latin typeface="Times New Roman" panose="02020603050405020304" charset="0"/>
              <a:cs typeface="Times New Roman" panose="02020603050405020304" charset="0"/>
            </a:endParaRPr>
          </a:p>
          <a:p>
            <a:pPr algn="ctr"/>
            <a:endParaRPr lang="en-US" altLang="en-US" b="1">
              <a:solidFill>
                <a:schemeClr val="tx1"/>
              </a:solidFill>
              <a:latin typeface="Times New Roman" panose="02020603050405020304" charset="0"/>
              <a:cs typeface="Times New Roman" panose="02020603050405020304" charset="0"/>
            </a:endParaRPr>
          </a:p>
        </p:txBody>
      </p:sp>
      <p:sp>
        <p:nvSpPr>
          <p:cNvPr id="51" name="TextBox 10"/>
          <p:cNvSpPr txBox="1"/>
          <p:nvPr/>
        </p:nvSpPr>
        <p:spPr>
          <a:xfrm>
            <a:off x="3283966" y="408432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12" name="Rounded Rectangle 11"/>
          <p:cNvSpPr/>
          <p:nvPr/>
        </p:nvSpPr>
        <p:spPr>
          <a:xfrm>
            <a:off x="3909060" y="3940175"/>
            <a:ext cx="13671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Пондерисање</a:t>
            </a:r>
            <a:endParaRPr lang="en-US" altLang="en-US" b="1">
              <a:solidFill>
                <a:schemeClr val="tx1"/>
              </a:solidFill>
              <a:latin typeface="Times New Roman" panose="02020603050405020304" charset="0"/>
              <a:cs typeface="Times New Roman" panose="02020603050405020304" charset="0"/>
            </a:endParaRPr>
          </a:p>
          <a:p>
            <a:pPr algn="ctr"/>
            <a:endParaRPr lang="en-US" altLang="en-US" b="1">
              <a:solidFill>
                <a:schemeClr val="tx1"/>
              </a:solidFill>
              <a:latin typeface="Times New Roman" panose="02020603050405020304" charset="0"/>
              <a:cs typeface="Times New Roman" panose="02020603050405020304" charset="0"/>
            </a:endParaRPr>
          </a:p>
        </p:txBody>
      </p:sp>
      <p:sp>
        <p:nvSpPr>
          <p:cNvPr id="13" name="TextBox 10"/>
          <p:cNvSpPr txBox="1"/>
          <p:nvPr/>
        </p:nvSpPr>
        <p:spPr>
          <a:xfrm>
            <a:off x="5291836" y="408432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14" name="Rounded Rectangle 13"/>
          <p:cNvSpPr/>
          <p:nvPr/>
        </p:nvSpPr>
        <p:spPr>
          <a:xfrm>
            <a:off x="5947410" y="3907155"/>
            <a:ext cx="1471295" cy="71755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sym typeface="+mn-ea"/>
              </a:rPr>
              <a:t>Pareto анализа</a:t>
            </a:r>
            <a:endParaRPr lang="en-US" altLang="en-US" b="1">
              <a:solidFill>
                <a:schemeClr val="tx1"/>
              </a:solidFill>
              <a:latin typeface="Times New Roman" panose="02020603050405020304" charset="0"/>
              <a:cs typeface="Times New Roman" panose="02020603050405020304" charset="0"/>
            </a:endParaRPr>
          </a:p>
          <a:p>
            <a:pPr algn="ctr"/>
            <a:endParaRPr lang="en-US" altLang="en-US" b="1">
              <a:solidFill>
                <a:schemeClr val="tx1"/>
              </a:solidFill>
              <a:latin typeface="Times New Roman" panose="02020603050405020304" charset="0"/>
              <a:cs typeface="Times New Roman" panose="02020603050405020304" charset="0"/>
            </a:endParaRPr>
          </a:p>
        </p:txBody>
      </p:sp>
      <p:sp>
        <p:nvSpPr>
          <p:cNvPr id="15" name="Text Box 14"/>
          <p:cNvSpPr txBox="1"/>
          <p:nvPr/>
        </p:nvSpPr>
        <p:spPr>
          <a:xfrm>
            <a:off x="1327150" y="4716145"/>
            <a:ext cx="6623050"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Мање вредности WER-а, RTF-а и RAM-а представљају повољнији резултат.</a:t>
            </a:r>
            <a:endParaRPr lang="en-US" altLang="en-US" b="1">
              <a:latin typeface="Times New Roman" panose="02020603050405020304" charset="0"/>
              <a:cs typeface="Times New Roman" panose="02020603050405020304"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ctr"/>
            <a:r>
              <a:rPr lang="en-US" altLang="en-US" sz="1600" b="1">
                <a:latin typeface="Times New Roman" panose="02020603050405020304" charset="0"/>
                <a:cs typeface="Times New Roman" panose="02020603050405020304" charset="0"/>
              </a:rPr>
              <a:t>Три критеријума са различитим јединицама мере</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Нормализација и пондерисани скор</a:t>
            </a:r>
            <a:endParaRPr lang="en-US" altLang="en-US">
              <a:latin typeface="Times New Roman" panose="02020603050405020304" charset="0"/>
              <a:cs typeface="Times New Roman" panose="02020603050405020304" charset="0"/>
            </a:endParaRPr>
          </a:p>
        </p:txBody>
      </p:sp>
      <p:sp>
        <p:nvSpPr>
          <p:cNvPr id="5" name="Rounded Rectangle 4"/>
          <p:cNvSpPr/>
          <p:nvPr/>
        </p:nvSpPr>
        <p:spPr>
          <a:xfrm>
            <a:off x="1705610" y="1307465"/>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altLang="en-US" sz="2000" b="1">
                <a:solidFill>
                  <a:schemeClr val="tx1"/>
                </a:solidFill>
                <a:latin typeface="Times New Roman" panose="02020603050405020304" charset="0"/>
                <a:cs typeface="Times New Roman" panose="02020603050405020304" charset="0"/>
                <a:sym typeface="+mn-ea"/>
              </a:rPr>
              <a:t>50% </a:t>
            </a:r>
            <a:endParaRPr lang="sr-Cyrl-BA" altLang="en-US" sz="2000" b="1">
              <a:solidFill>
                <a:schemeClr val="tx1"/>
              </a:solidFill>
              <a:latin typeface="Times New Roman" panose="02020603050405020304" charset="0"/>
              <a:cs typeface="Times New Roman" panose="02020603050405020304" charset="0"/>
              <a:sym typeface="+mn-ea"/>
            </a:endParaRPr>
          </a:p>
          <a:p>
            <a:pPr algn="ctr">
              <a:buSzTx/>
            </a:pPr>
            <a:r>
              <a:rPr lang="en-US" altLang="sr-Cyrl-BA" sz="2000" b="1">
                <a:gradFill>
                  <a:gsLst>
                    <a:gs pos="50000">
                      <a:schemeClr val="accent5"/>
                    </a:gs>
                    <a:gs pos="0">
                      <a:schemeClr val="accent5">
                        <a:lumMod val="25000"/>
                        <a:lumOff val="75000"/>
                      </a:schemeClr>
                    </a:gs>
                    <a:gs pos="100000">
                      <a:schemeClr val="accent5">
                        <a:lumMod val="85000"/>
                      </a:schemeClr>
                    </a:gs>
                  </a:gsLst>
                  <a:lin ang="5400000" scaled="1"/>
                </a:gradFill>
                <a:latin typeface="Times New Roman" panose="02020603050405020304" charset="0"/>
                <a:cs typeface="Times New Roman" panose="02020603050405020304" charset="0"/>
                <a:sym typeface="+mn-ea"/>
              </a:rPr>
              <a:t>WER</a:t>
            </a:r>
            <a:endParaRPr lang="en-US" altLang="en-US" sz="2000" b="1">
              <a:gradFill>
                <a:gsLst>
                  <a:gs pos="50000">
                    <a:schemeClr val="accent5"/>
                  </a:gs>
                  <a:gs pos="0">
                    <a:schemeClr val="accent5">
                      <a:lumMod val="25000"/>
                      <a:lumOff val="75000"/>
                    </a:schemeClr>
                  </a:gs>
                  <a:gs pos="100000">
                    <a:schemeClr val="accent5">
                      <a:lumMod val="85000"/>
                    </a:schemeClr>
                  </a:gs>
                </a:gsLst>
                <a:lin ang="5400000" scaled="1"/>
              </a:gradFill>
              <a:latin typeface="Times New Roman" panose="02020603050405020304" charset="0"/>
              <a:cs typeface="Times New Roman" panose="02020603050405020304" charset="0"/>
              <a:sym typeface="+mn-ea"/>
            </a:endParaRPr>
          </a:p>
          <a:p>
            <a:pPr algn="ctr">
              <a:buSzTx/>
            </a:pPr>
            <a:r>
              <a:rPr lang="sr-Cyrl-BA" altLang="en-US">
                <a:solidFill>
                  <a:schemeClr val="tx1"/>
                </a:solidFill>
                <a:latin typeface="Times New Roman" panose="02020603050405020304" charset="0"/>
                <a:cs typeface="Times New Roman" panose="02020603050405020304" charset="0"/>
                <a:sym typeface="+mn-ea"/>
              </a:rPr>
              <a:t>Тачност</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649980" y="134810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000" b="1">
                <a:solidFill>
                  <a:schemeClr val="tx1"/>
                </a:solidFill>
                <a:latin typeface="Times New Roman" panose="02020603050405020304" charset="0"/>
                <a:cs typeface="Times New Roman" panose="02020603050405020304" charset="0"/>
                <a:sym typeface="+mn-ea"/>
              </a:rPr>
              <a:t>30%</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en-US" altLang="sr-Cyrl-BA" sz="2000" b="1">
                <a:gradFill>
                  <a:gsLst>
                    <a:gs pos="50000">
                      <a:schemeClr val="accent5"/>
                    </a:gs>
                    <a:gs pos="0">
                      <a:schemeClr val="accent5">
                        <a:lumMod val="25000"/>
                        <a:lumOff val="75000"/>
                      </a:schemeClr>
                    </a:gs>
                    <a:gs pos="100000">
                      <a:schemeClr val="accent5">
                        <a:lumMod val="85000"/>
                      </a:schemeClr>
                    </a:gs>
                  </a:gsLst>
                  <a:lin ang="5400000" scaled="1"/>
                </a:gradFill>
                <a:latin typeface="Times New Roman" panose="02020603050405020304" charset="0"/>
                <a:cs typeface="Times New Roman" panose="02020603050405020304" charset="0"/>
                <a:sym typeface="+mn-ea"/>
              </a:rPr>
              <a:t>RTF</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Време</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8" name="Rounded Rectangle 7"/>
          <p:cNvSpPr/>
          <p:nvPr/>
        </p:nvSpPr>
        <p:spPr>
          <a:xfrm>
            <a:off x="5775325" y="134810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000" b="1">
                <a:solidFill>
                  <a:schemeClr val="tx1"/>
                </a:solidFill>
                <a:latin typeface="Times New Roman" panose="02020603050405020304" charset="0"/>
                <a:cs typeface="Times New Roman" panose="02020603050405020304" charset="0"/>
                <a:sym typeface="+mn-ea"/>
              </a:rPr>
              <a:t>20%</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en-US" altLang="sr-Cyrl-BA" sz="2000" b="1">
                <a:gradFill>
                  <a:gsLst>
                    <a:gs pos="50000">
                      <a:schemeClr val="accent5"/>
                    </a:gs>
                    <a:gs pos="0">
                      <a:schemeClr val="accent5">
                        <a:lumMod val="25000"/>
                        <a:lumOff val="75000"/>
                      </a:schemeClr>
                    </a:gs>
                    <a:gs pos="100000">
                      <a:schemeClr val="accent5">
                        <a:lumMod val="85000"/>
                      </a:schemeClr>
                    </a:gs>
                  </a:gsLst>
                  <a:lin ang="5400000" scaled="1"/>
                </a:gradFill>
                <a:latin typeface="Times New Roman" panose="02020603050405020304" charset="0"/>
                <a:cs typeface="Times New Roman" panose="02020603050405020304" charset="0"/>
                <a:sym typeface="+mn-ea"/>
              </a:rPr>
              <a:t>RAM</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Меморија</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9" name="Text Box 8"/>
          <p:cNvSpPr txBox="1"/>
          <p:nvPr/>
        </p:nvSpPr>
        <p:spPr>
          <a:xfrm>
            <a:off x="1629410" y="2355850"/>
            <a:ext cx="5901055" cy="337185"/>
          </a:xfrm>
          <a:prstGeom prst="rect">
            <a:avLst/>
          </a:prstGeom>
        </p:spPr>
        <p:txBody>
          <a:bodyPr wrap="square">
            <a:spAutoFit/>
          </a:bodyPr>
          <a:p>
            <a:pPr marL="139700" indent="0" algn="ctr">
              <a:spcAft>
                <a:spcPts val="0"/>
              </a:spcAft>
              <a:buSzPts val="1400"/>
              <a:buNone/>
            </a:pPr>
            <a:r>
              <a:rPr lang="en-US" altLang="en-US" sz="1600" b="1">
                <a:latin typeface="Times New Roman" panose="02020603050405020304" charset="0"/>
                <a:cs typeface="Times New Roman" panose="02020603050405020304" charset="0"/>
              </a:rPr>
              <a:t>Min-max нормализација</a:t>
            </a:r>
            <a:endParaRPr lang="en-US" altLang="en-US" sz="1600" b="1">
              <a:latin typeface="Times New Roman" panose="02020603050405020304" charset="0"/>
              <a:cs typeface="Times New Roman" panose="02020603050405020304" charset="0"/>
            </a:endParaRPr>
          </a:p>
        </p:txBody>
      </p:sp>
      <p:sp>
        <p:nvSpPr>
          <p:cNvPr id="15" name="Text Box 14"/>
          <p:cNvSpPr txBox="1"/>
          <p:nvPr/>
        </p:nvSpPr>
        <p:spPr>
          <a:xfrm>
            <a:off x="899160" y="4588510"/>
            <a:ext cx="7287260" cy="521970"/>
          </a:xfrm>
          <a:prstGeom prst="rect">
            <a:avLst/>
          </a:prstGeom>
          <a:noFill/>
        </p:spPr>
        <p:txBody>
          <a:bodyPr wrap="square" rtlCol="0">
            <a:spAutoFit/>
          </a:bodyPr>
          <a:p>
            <a:pPr algn="ctr">
              <a:buSzTx/>
            </a:pPr>
            <a:r>
              <a:rPr lang="en-US" altLang="en-US" b="1">
                <a:latin typeface="Times New Roman" panose="02020603050405020304" charset="0"/>
                <a:cs typeface="Times New Roman" panose="02020603050405020304" charset="0"/>
              </a:rPr>
              <a:t>Тежине представљају дефинисани сценарио овог рада, а не универзалне приоритете сваког ASR система.</a:t>
            </a:r>
            <a:endParaRPr lang="en-US" altLang="en-US" b="1">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rcRect t="23368"/>
          <a:stretch>
            <a:fillRect/>
          </a:stretch>
        </p:blipFill>
        <p:spPr>
          <a:xfrm>
            <a:off x="3434080" y="2682875"/>
            <a:ext cx="2409825" cy="708025"/>
          </a:xfrm>
          <a:prstGeom prst="rect">
            <a:avLst/>
          </a:prstGeom>
        </p:spPr>
      </p:pic>
      <p:sp>
        <p:nvSpPr>
          <p:cNvPr id="10" name="Text Box 9"/>
          <p:cNvSpPr txBox="1"/>
          <p:nvPr/>
        </p:nvSpPr>
        <p:spPr>
          <a:xfrm>
            <a:off x="2633345" y="3435985"/>
            <a:ext cx="4413885"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Најповољнија вредност → 1 · Најнеповољнија → 0</a:t>
            </a:r>
            <a:endParaRPr lang="en-US" altLang="en-US" b="1">
              <a:latin typeface="Times New Roman" panose="02020603050405020304" charset="0"/>
              <a:cs typeface="Times New Roman" panose="02020603050405020304" charset="0"/>
            </a:endParaRPr>
          </a:p>
        </p:txBody>
      </p:sp>
      <p:sp>
        <p:nvSpPr>
          <p:cNvPr id="11" name="Text Box 10"/>
          <p:cNvSpPr txBox="1"/>
          <p:nvPr/>
        </p:nvSpPr>
        <p:spPr>
          <a:xfrm>
            <a:off x="2987675" y="3853180"/>
            <a:ext cx="3048000" cy="337185"/>
          </a:xfrm>
          <a:prstGeom prst="rect">
            <a:avLst/>
          </a:prstGeom>
          <a:noFill/>
        </p:spPr>
        <p:txBody>
          <a:bodyPr wrap="square" rtlCol="0">
            <a:spAutoFit/>
          </a:bodyPr>
          <a:p>
            <a:pPr marL="139700" algn="ctr">
              <a:buSzPts val="1400"/>
            </a:pPr>
            <a:r>
              <a:rPr lang="en-US" altLang="en-US" sz="1600" b="1">
                <a:latin typeface="Times New Roman" panose="02020603050405020304" charset="0"/>
                <a:cs typeface="Times New Roman" panose="02020603050405020304" charset="0"/>
              </a:rPr>
              <a:t>Укупан скор</a:t>
            </a:r>
            <a:endParaRPr lang="en-US" altLang="en-US" sz="1600" b="1">
              <a:latin typeface="Times New Roman" panose="02020603050405020304" charset="0"/>
              <a:cs typeface="Times New Roman" panose="02020603050405020304" charset="0"/>
            </a:endParaRPr>
          </a:p>
        </p:txBody>
      </p:sp>
      <p:pic>
        <p:nvPicPr>
          <p:cNvPr id="16" name="Picture 15"/>
          <p:cNvPicPr>
            <a:picLocks noChangeAspect="1"/>
          </p:cNvPicPr>
          <p:nvPr/>
        </p:nvPicPr>
        <p:blipFill>
          <a:blip r:embed="rId2"/>
          <a:stretch>
            <a:fillRect/>
          </a:stretch>
        </p:blipFill>
        <p:spPr>
          <a:xfrm>
            <a:off x="2505075" y="4134485"/>
            <a:ext cx="4133850" cy="52387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ctr"/>
            <a:r>
              <a:rPr lang="en-US" altLang="en-US" sz="1600" b="1">
                <a:latin typeface="Times New Roman" panose="02020603050405020304" charset="0"/>
                <a:cs typeface="Times New Roman" panose="02020603050405020304" charset="0"/>
              </a:rPr>
              <a:t>Однос тачности и брзине · 8 Faster-Whisper конфигурација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Pareto анализа конфигурација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183005" y="3651885"/>
            <a:ext cx="7110095" cy="138366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Pareto доминација</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Конфигурација је доминирана ако постоји друга која није лошија ни по једном критеријуму, а боља је бар по једном.</a:t>
            </a:r>
            <a:endParaRPr lang="en-US" altLang="en-US">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rPr>
              <a:t>7 конфигурација у Pareto скупу</a:t>
            </a:r>
            <a:endParaRPr lang="en-US" altLang="en-US">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rPr>
              <a:t>Base FLOAT32 — доминирана</a:t>
            </a:r>
            <a:endParaRPr lang="en-US" altLang="en-US">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Pareto анализа обухвата WER, RTF и RAM; графикон приказује само две димензије.</a:t>
            </a:r>
            <a:endParaRPr lang="en-US" altLang="en-US" b="1">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tretch>
            <a:fillRect/>
          </a:stretch>
        </p:blipFill>
        <p:spPr>
          <a:xfrm>
            <a:off x="1205865" y="1241425"/>
            <a:ext cx="6912610" cy="244792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Скор Small INT8 конфигурације</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Streaming: RTF и практични компромис</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471670"/>
            <a:ext cx="6713855" cy="521970"/>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Small INT8 задржава прво место међу испитаним конфигурацијама у сва три сценарија.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4932045" y="1924050"/>
          <a:ext cx="3359785" cy="2391410"/>
        </p:xfrm>
        <a:graphic>
          <a:graphicData uri="http://schemas.openxmlformats.org/drawingml/2006/table">
            <a:tbl>
              <a:tblPr firstRow="1" bandRow="1">
                <a:tableStyleId>{5C22544A-7EE6-4342-B048-85BDC9FD1C3A}</a:tableStyleId>
              </a:tblPr>
              <a:tblGrid>
                <a:gridCol w="969010"/>
                <a:gridCol w="842645"/>
                <a:gridCol w="746760"/>
                <a:gridCol w="801370"/>
              </a:tblGrid>
              <a:tr h="796925">
                <a:tc>
                  <a:txBody>
                    <a:bodyPr/>
                    <a:p>
                      <a:pPr algn="ctr"/>
                      <a:r>
                        <a:rPr lang="en-US" altLang="zh-CN" sz="1400" b="1">
                          <a:solidFill>
                            <a:schemeClr val="tx1"/>
                          </a:solidFill>
                          <a:latin typeface="Times New Roman" panose="02020603050405020304" charset="0"/>
                          <a:cs typeface="Times New Roman" panose="02020603050405020304" charset="0"/>
                        </a:rPr>
                        <a:t>Критеријум</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Balanced</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Accuracy</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Resource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WER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70%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RTF</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RAM</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7" name="Picture 6"/>
          <p:cNvPicPr>
            <a:picLocks noChangeAspect="1"/>
          </p:cNvPicPr>
          <p:nvPr/>
        </p:nvPicPr>
        <p:blipFill>
          <a:blip r:embed="rId2"/>
          <a:stretch>
            <a:fillRect/>
          </a:stretch>
        </p:blipFill>
        <p:spPr>
          <a:xfrm>
            <a:off x="827405" y="1574800"/>
            <a:ext cx="3993515" cy="281178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marL="139700" indent="0" algn="ctr">
              <a:buNone/>
            </a:pPr>
            <a:r>
              <a:rPr lang="en-US" altLang="en-US" sz="2400" b="1">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rPr>
              <a:t>Faster-Whisper Small INT8</a:t>
            </a:r>
            <a:endParaRPr lang="en-US" altLang="en-US" sz="2400" b="1">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endParaRPr>
          </a:p>
          <a:p>
            <a:pPr marL="139700" indent="0" algn="ctr">
              <a:buNone/>
            </a:pPr>
            <a:r>
              <a:rPr lang="en-US" altLang="en-US" sz="1400" b="1">
                <a:solidFill>
                  <a:schemeClr val="tx1"/>
                </a:solidFill>
                <a:latin typeface="Times New Roman" panose="02020603050405020304" charset="0"/>
                <a:cs typeface="Times New Roman" panose="02020603050405020304" charset="0"/>
              </a:rPr>
              <a:t>Избор на основу WER-а, RTF-а и RAM-а</a:t>
            </a:r>
            <a:endParaRPr lang="en-US" altLang="en-US" sz="1400" b="1">
              <a:solidFill>
                <a:schemeClr val="tx1"/>
              </a:solidFill>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Аутоматски препоручена конфигурација</a:t>
            </a:r>
            <a:endParaRPr lang="en-US" altLang="en-US">
              <a:latin typeface="Times New Roman" panose="02020603050405020304" charset="0"/>
              <a:cs typeface="Times New Roman" panose="02020603050405020304" charset="0"/>
            </a:endParaRPr>
          </a:p>
        </p:txBody>
      </p:sp>
      <p:sp>
        <p:nvSpPr>
          <p:cNvPr id="5" name="Rounded Rectangle 4"/>
          <p:cNvSpPr/>
          <p:nvPr/>
        </p:nvSpPr>
        <p:spPr>
          <a:xfrm>
            <a:off x="1705610" y="1491615"/>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sz="2000" b="1">
                <a:solidFill>
                  <a:schemeClr val="tx1"/>
                </a:solidFill>
                <a:latin typeface="Times New Roman" panose="02020603050405020304" charset="0"/>
                <a:cs typeface="Times New Roman" panose="02020603050405020304" charset="0"/>
                <a:sym typeface="+mn-ea"/>
              </a:rPr>
              <a:t>22,43%</a:t>
            </a:r>
            <a:endParaRPr lang="sr-Cyrl-BA" sz="2000" b="1">
              <a:solidFill>
                <a:schemeClr val="tx1"/>
              </a:solidFill>
              <a:latin typeface="Times New Roman" panose="02020603050405020304" charset="0"/>
              <a:cs typeface="Times New Roman" panose="02020603050405020304" charset="0"/>
              <a:sym typeface="+mn-ea"/>
            </a:endParaRPr>
          </a:p>
          <a:p>
            <a:pPr algn="ctr">
              <a:buSzTx/>
            </a:pPr>
            <a:r>
              <a:rPr lang="sr-Cyrl-BA" altLang="en-US">
                <a:solidFill>
                  <a:schemeClr val="tx1"/>
                </a:solidFill>
                <a:latin typeface="Times New Roman" panose="02020603050405020304" charset="0"/>
                <a:cs typeface="Times New Roman" panose="02020603050405020304" charset="0"/>
                <a:sym typeface="+mn-ea"/>
              </a:rPr>
              <a:t>Просечан </a:t>
            </a:r>
            <a:r>
              <a:rPr lang="en-US" altLang="en-US">
                <a:solidFill>
                  <a:schemeClr val="tx1"/>
                </a:solidFill>
                <a:latin typeface="Times New Roman" panose="02020603050405020304" charset="0"/>
                <a:cs typeface="Times New Roman" panose="02020603050405020304" charset="0"/>
                <a:sym typeface="+mn-ea"/>
              </a:rPr>
              <a:t>WER</a:t>
            </a:r>
            <a:endParaRPr lang="en-US"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649980" y="153225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sz="2000" b="1">
                <a:solidFill>
                  <a:schemeClr val="tx1"/>
                </a:solidFill>
                <a:latin typeface="Times New Roman" panose="02020603050405020304" charset="0"/>
                <a:cs typeface="Times New Roman" panose="02020603050405020304" charset="0"/>
                <a:sym typeface="+mn-ea"/>
              </a:rPr>
              <a:t>0.327</a:t>
            </a:r>
            <a:endParaRPr lang="sr-Cyrl-BA"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Просечан </a:t>
            </a:r>
            <a:r>
              <a:rPr lang="en-US" altLang="sr-Cyrl-BA">
                <a:solidFill>
                  <a:schemeClr val="tx1"/>
                </a:solidFill>
                <a:latin typeface="Times New Roman" panose="02020603050405020304" charset="0"/>
                <a:cs typeface="Times New Roman" panose="02020603050405020304" charset="0"/>
                <a:sym typeface="+mn-ea"/>
              </a:rPr>
              <a:t>RTF</a:t>
            </a:r>
            <a:endParaRPr lang="en-US" altLang="sr-Cyrl-BA">
              <a:solidFill>
                <a:schemeClr val="tx1"/>
              </a:solidFill>
              <a:latin typeface="Times New Roman" panose="02020603050405020304" charset="0"/>
              <a:cs typeface="Times New Roman" panose="02020603050405020304" charset="0"/>
              <a:sym typeface="+mn-ea"/>
            </a:endParaRPr>
          </a:p>
        </p:txBody>
      </p:sp>
      <p:sp>
        <p:nvSpPr>
          <p:cNvPr id="8" name="Rounded Rectangle 7"/>
          <p:cNvSpPr/>
          <p:nvPr/>
        </p:nvSpPr>
        <p:spPr>
          <a:xfrm>
            <a:off x="5775325" y="153225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000" b="1">
                <a:solidFill>
                  <a:schemeClr val="tx1"/>
                </a:solidFill>
                <a:latin typeface="Times New Roman" panose="02020603050405020304" charset="0"/>
                <a:cs typeface="Times New Roman" panose="02020603050405020304" charset="0"/>
                <a:sym typeface="+mn-ea"/>
              </a:rPr>
              <a:t>0</a:t>
            </a:r>
            <a:r>
              <a:rPr lang="en-US" altLang="en-US" sz="2000" b="1">
                <a:solidFill>
                  <a:schemeClr val="tx1"/>
                </a:solidFill>
                <a:latin typeface="Times New Roman" panose="02020603050405020304" charset="0"/>
                <a:cs typeface="Times New Roman" panose="02020603050405020304" charset="0"/>
                <a:sym typeface="+mn-ea"/>
              </a:rPr>
              <a:t>,8289</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Укупан скор</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9" name="Text Box 8"/>
          <p:cNvSpPr txBox="1"/>
          <p:nvPr/>
        </p:nvSpPr>
        <p:spPr>
          <a:xfrm>
            <a:off x="323850" y="2428240"/>
            <a:ext cx="5901055" cy="337185"/>
          </a:xfrm>
          <a:prstGeom prst="rect">
            <a:avLst/>
          </a:prstGeom>
        </p:spPr>
        <p:txBody>
          <a:bodyPr wrap="square">
            <a:spAutoFit/>
          </a:bodyPr>
          <a:p>
            <a:pPr marL="139700" indent="0" algn="ctr">
              <a:spcAft>
                <a:spcPts val="0"/>
              </a:spcAft>
              <a:buSzPts val="1400"/>
              <a:buNone/>
            </a:pPr>
            <a:r>
              <a:rPr lang="en-US" altLang="en-US" sz="1600" b="1">
                <a:latin typeface="Times New Roman" panose="02020603050405020304" charset="0"/>
                <a:cs typeface="Times New Roman" panose="02020603050405020304" charset="0"/>
              </a:rPr>
              <a:t>Интегрисани препоручени профил</a:t>
            </a:r>
            <a:endParaRPr lang="en-US" altLang="en-US" sz="1600"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1705610" y="2860040"/>
          <a:ext cx="3098165" cy="2171065"/>
        </p:xfrm>
        <a:graphic>
          <a:graphicData uri="http://schemas.openxmlformats.org/drawingml/2006/table">
            <a:tbl>
              <a:tblPr firstRow="1" bandRow="1">
                <a:tableStyleId>{5C22544A-7EE6-4342-B048-85BDC9FD1C3A}</a:tableStyleId>
              </a:tblPr>
              <a:tblGrid>
                <a:gridCol w="1942465"/>
                <a:gridCol w="1155700"/>
              </a:tblGrid>
              <a:tr h="574675">
                <a:tc>
                  <a:txBody>
                    <a:bodyPr/>
                    <a:p>
                      <a:pPr algn="ctr"/>
                      <a:r>
                        <a:rPr lang="en-US" altLang="zh-CN" sz="1400" b="1">
                          <a:solidFill>
                            <a:schemeClr val="tx1"/>
                          </a:solidFill>
                          <a:latin typeface="Times New Roman" panose="02020603050405020304" charset="0"/>
                          <a:cs typeface="Times New Roman" panose="02020603050405020304" charset="0"/>
                        </a:rPr>
                        <a:t>Модел / квантизација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Small / INT8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9890">
                <a:tc>
                  <a:txBody>
                    <a:bodyPr/>
                    <a:p>
                      <a:pPr algn="ctr"/>
                      <a:r>
                        <a:rPr lang="en-US" altLang="zh-CN" sz="1400" b="1">
                          <a:solidFill>
                            <a:schemeClr val="tx1"/>
                          </a:solidFill>
                          <a:latin typeface="Times New Roman" panose="02020603050405020304" charset="0"/>
                          <a:cs typeface="Times New Roman" panose="02020603050405020304" charset="0"/>
                        </a:rPr>
                        <a:t>Уређај / језик</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CPU / sr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9890">
                <a:tc>
                  <a:txBody>
                    <a:bodyPr/>
                    <a:p>
                      <a:pPr algn="ctr"/>
                      <a:r>
                        <a:rPr lang="en-US" altLang="zh-CN" sz="1400" b="1">
                          <a:solidFill>
                            <a:schemeClr val="tx1"/>
                          </a:solidFill>
                          <a:latin typeface="Times New Roman" panose="02020603050405020304" charset="0"/>
                          <a:cs typeface="Times New Roman" panose="02020603050405020304" charset="0"/>
                        </a:rPr>
                        <a:t>Beam size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9890">
                <a:tc>
                  <a:txBody>
                    <a:bodyPr/>
                    <a:p>
                      <a:pPr algn="ctr"/>
                      <a:r>
                        <a:rPr lang="en-US" altLang="zh-CN" sz="1400" b="1">
                          <a:solidFill>
                            <a:schemeClr val="tx1"/>
                          </a:solidFill>
                          <a:latin typeface="Times New Roman" panose="02020603050405020304" charset="0"/>
                          <a:cs typeface="Times New Roman" panose="02020603050405020304" charset="0"/>
                        </a:rPr>
                        <a:t>VAD</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ON</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26720">
                <a:tc>
                  <a:txBody>
                    <a:bodyPr/>
                    <a:p>
                      <a:pPr algn="ctr"/>
                      <a:r>
                        <a:rPr lang="en-US" altLang="zh-CN" sz="1400" b="1">
                          <a:solidFill>
                            <a:schemeClr val="tx1"/>
                          </a:solidFill>
                          <a:latin typeface="Times New Roman" panose="02020603050405020304" charset="0"/>
                          <a:cs typeface="Times New Roman" panose="02020603050405020304" charset="0"/>
                        </a:rPr>
                        <a:t>Streaming chunk</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
        <p:nvSpPr>
          <p:cNvPr id="14" name="Text Box 13"/>
          <p:cNvSpPr txBox="1"/>
          <p:nvPr/>
        </p:nvSpPr>
        <p:spPr>
          <a:xfrm>
            <a:off x="5075555" y="3435985"/>
            <a:ext cx="2827020" cy="1075690"/>
          </a:xfrm>
          <a:prstGeom prst="rect">
            <a:avLst/>
          </a:prstGeom>
          <a:noFill/>
        </p:spPr>
        <p:txBody>
          <a:bodyPr wrap="square" rtlCol="0">
            <a:noAutofit/>
          </a:bodyPr>
          <a:p>
            <a:r>
              <a:rPr lang="en-US" altLang="en-US" b="1">
                <a:latin typeface="Times New Roman" panose="02020603050405020304" charset="0"/>
                <a:cs typeface="Times New Roman" panose="02020603050405020304" charset="0"/>
              </a:rPr>
              <a:t>Целокупан профил је састављен из засебних експеримената; није поново заједнички евалуиран на свих 40 снимака.</a:t>
            </a:r>
            <a:endParaRPr lang="en-US" altLang="en-US" b="1">
              <a:latin typeface="Times New Roman" panose="02020603050405020304" charset="0"/>
              <a:cs typeface="Times New Roman" panose="02020603050405020304"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l"/>
            <a:r>
              <a:rPr lang="en-US" altLang="en-US" sz="1400" b="1">
                <a:solidFill>
                  <a:schemeClr val="tx1"/>
                </a:solidFill>
                <a:latin typeface="Times New Roman" panose="02020603050405020304" charset="0"/>
                <a:cs typeface="Times New Roman" panose="02020603050405020304" charset="0"/>
              </a:rPr>
              <a:t>П</a:t>
            </a:r>
            <a:r>
              <a:rPr lang="en-US" altLang="en-US" sz="1600" b="1">
                <a:latin typeface="Times New Roman" panose="02020603050405020304" charset="0"/>
                <a:cs typeface="Times New Roman" panose="02020603050405020304" charset="0"/>
              </a:rPr>
              <a:t>рилагођавање Whisper модела српском говору из специфичне области</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Доменска адаптација: пољопривреда</a:t>
            </a:r>
            <a:endParaRPr lang="en-US" altLang="en-US">
              <a:latin typeface="Times New Roman" panose="02020603050405020304" charset="0"/>
              <a:cs typeface="Times New Roman" panose="02020603050405020304" charset="0"/>
            </a:endParaRPr>
          </a:p>
        </p:txBody>
      </p:sp>
      <p:sp>
        <p:nvSpPr>
          <p:cNvPr id="5" name="Rounded Rectangle 4"/>
          <p:cNvSpPr/>
          <p:nvPr/>
        </p:nvSpPr>
        <p:spPr>
          <a:xfrm>
            <a:off x="1683385" y="2819400"/>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sz="2000" b="1">
                <a:solidFill>
                  <a:schemeClr val="tx1"/>
                </a:solidFill>
                <a:latin typeface="Times New Roman" panose="02020603050405020304" charset="0"/>
                <a:cs typeface="Times New Roman" panose="02020603050405020304" charset="0"/>
                <a:sym typeface="+mn-ea"/>
              </a:rPr>
              <a:t>675</a:t>
            </a:r>
            <a:endParaRPr lang="sr-Cyrl-BA" sz="2000" b="1">
              <a:solidFill>
                <a:schemeClr val="tx1"/>
              </a:solidFill>
              <a:latin typeface="Times New Roman" panose="02020603050405020304" charset="0"/>
              <a:cs typeface="Times New Roman" panose="02020603050405020304" charset="0"/>
              <a:sym typeface="+mn-ea"/>
            </a:endParaRPr>
          </a:p>
          <a:p>
            <a:pPr algn="ctr">
              <a:buSzTx/>
            </a:pPr>
            <a:r>
              <a:rPr lang="sr-Cyrl-BA" altLang="en-US">
                <a:solidFill>
                  <a:schemeClr val="tx1"/>
                </a:solidFill>
                <a:latin typeface="Times New Roman" panose="02020603050405020304" charset="0"/>
                <a:cs typeface="Times New Roman" panose="02020603050405020304" charset="0"/>
                <a:sym typeface="+mn-ea"/>
              </a:rPr>
              <a:t>Тренинг</a:t>
            </a:r>
            <a:endParaRPr lang="en-US"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627755" y="2860040"/>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sz="2000" b="1">
                <a:solidFill>
                  <a:schemeClr val="tx1"/>
                </a:solidFill>
                <a:latin typeface="Times New Roman" panose="02020603050405020304" charset="0"/>
                <a:cs typeface="Times New Roman" panose="02020603050405020304" charset="0"/>
                <a:sym typeface="+mn-ea"/>
              </a:rPr>
              <a:t>75</a:t>
            </a:r>
            <a:endParaRPr lang="sr-Cyrl-BA"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Валидација</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8" name="Rounded Rectangle 7"/>
          <p:cNvSpPr/>
          <p:nvPr/>
        </p:nvSpPr>
        <p:spPr>
          <a:xfrm>
            <a:off x="5753100" y="2860040"/>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sz="2000" b="1">
                <a:solidFill>
                  <a:schemeClr val="tx1"/>
                </a:solidFill>
                <a:latin typeface="Times New Roman" panose="02020603050405020304" charset="0"/>
                <a:cs typeface="Times New Roman" panose="02020603050405020304" charset="0"/>
                <a:sym typeface="+mn-ea"/>
              </a:rPr>
              <a:t>50</a:t>
            </a:r>
            <a:endParaRPr lang="sr-Cyrl-BA"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Тест</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9" name="Text Box 8"/>
          <p:cNvSpPr txBox="1"/>
          <p:nvPr/>
        </p:nvSpPr>
        <p:spPr>
          <a:xfrm>
            <a:off x="1619250" y="2474595"/>
            <a:ext cx="5901055" cy="337185"/>
          </a:xfrm>
          <a:prstGeom prst="rect">
            <a:avLst/>
          </a:prstGeom>
        </p:spPr>
        <p:txBody>
          <a:bodyPr wrap="square">
            <a:spAutoFit/>
          </a:bodyPr>
          <a:p>
            <a:pPr marL="139700" indent="0" algn="ctr">
              <a:spcAft>
                <a:spcPts val="0"/>
              </a:spcAft>
              <a:buSzPts val="1400"/>
              <a:buNone/>
            </a:pPr>
            <a:r>
              <a:rPr lang="en-US" altLang="en-US" sz="1600" b="1">
                <a:latin typeface="Times New Roman" panose="02020603050405020304" charset="0"/>
                <a:cs typeface="Times New Roman" panose="02020603050405020304" charset="0"/>
              </a:rPr>
              <a:t>Формирани говорни скуп</a:t>
            </a:r>
            <a:endParaRPr lang="en-US" altLang="en-US" sz="1600" b="1">
              <a:latin typeface="Times New Roman" panose="02020603050405020304" charset="0"/>
              <a:cs typeface="Times New Roman" panose="02020603050405020304" charset="0"/>
            </a:endParaRPr>
          </a:p>
        </p:txBody>
      </p:sp>
      <p:sp>
        <p:nvSpPr>
          <p:cNvPr id="2" name="Text Box 1"/>
          <p:cNvSpPr txBox="1"/>
          <p:nvPr/>
        </p:nvSpPr>
        <p:spPr>
          <a:xfrm>
            <a:off x="1198245" y="1275715"/>
            <a:ext cx="6887845" cy="1198880"/>
          </a:xfrm>
          <a:prstGeom prst="rect">
            <a:avLst/>
          </a:prstGeom>
          <a:noFill/>
        </p:spPr>
        <p:txBody>
          <a:bodyPr wrap="square" rtlCol="0">
            <a:spAutoFit/>
          </a:bodyPr>
          <a:p>
            <a:pPr algn="just">
              <a:buSzTx/>
            </a:pPr>
            <a:r>
              <a:rPr lang="sr-Cyrl-BA" altLang="en-US" sz="2400">
                <a:solidFill>
                  <a:schemeClr val="accent1"/>
                </a:solidFill>
                <a:highlight>
                  <a:srgbClr val="000000"/>
                </a:highlight>
                <a:latin typeface="Times New Roman" panose="02020603050405020304" charset="0"/>
                <a:cs typeface="Times New Roman" panose="02020603050405020304" charset="0"/>
              </a:rPr>
              <a:t>Циљ: Испитати да ли fine-tuning може да смањи грешке при препознавању пољопривредне терминологије.</a:t>
            </a:r>
            <a:endParaRPr lang="en-US" altLang="en-US"/>
          </a:p>
        </p:txBody>
      </p:sp>
      <p:sp>
        <p:nvSpPr>
          <p:cNvPr id="3" name="Text Box 2"/>
          <p:cNvSpPr txBox="1"/>
          <p:nvPr/>
        </p:nvSpPr>
        <p:spPr>
          <a:xfrm>
            <a:off x="1268730" y="4011930"/>
            <a:ext cx="6746240" cy="829945"/>
          </a:xfrm>
          <a:prstGeom prst="rect">
            <a:avLst/>
          </a:prstGeom>
          <a:noFill/>
        </p:spPr>
        <p:txBody>
          <a:bodyPr wrap="square" rtlCol="0">
            <a:spAutoFit/>
          </a:bodyPr>
          <a:p>
            <a:pPr marL="139700" algn="ctr">
              <a:buSzPts val="1400"/>
            </a:pPr>
            <a:r>
              <a:rPr lang="en-US" altLang="en-US" sz="1600" b="1">
                <a:latin typeface="Times New Roman" panose="02020603050405020304" charset="0"/>
                <a:cs typeface="Times New Roman" panose="02020603050405020304" charset="0"/>
              </a:rPr>
              <a:t>800 аудио-записа</a:t>
            </a:r>
            <a:endParaRPr lang="en-US" altLang="en-US" sz="1600" b="1">
              <a:latin typeface="Times New Roman" panose="02020603050405020304" charset="0"/>
              <a:cs typeface="Times New Roman" panose="02020603050405020304" charset="0"/>
            </a:endParaRPr>
          </a:p>
          <a:p>
            <a:pPr marL="139700" algn="ctr">
              <a:buSzPts val="1400"/>
            </a:pPr>
            <a:r>
              <a:rPr lang="en-US" altLang="en-US" sz="1600">
                <a:latin typeface="Times New Roman" panose="02020603050405020304" charset="0"/>
                <a:cs typeface="Times New Roman" panose="02020603050405020304" charset="0"/>
              </a:rPr>
              <a:t>Тест: четврти говорник који није коришћен за тренинг</a:t>
            </a:r>
            <a:endParaRPr lang="en-US" altLang="en-US" sz="1600">
              <a:latin typeface="Times New Roman" panose="02020603050405020304" charset="0"/>
              <a:cs typeface="Times New Roman" panose="02020603050405020304" charset="0"/>
            </a:endParaRPr>
          </a:p>
          <a:p>
            <a:pPr marL="139700" algn="ctr">
              <a:buSzPts val="1400"/>
            </a:pPr>
            <a:r>
              <a:rPr lang="en-US" altLang="en-US" sz="1600" b="1">
                <a:latin typeface="Times New Roman" panose="02020603050405020304" charset="0"/>
                <a:cs typeface="Times New Roman" panose="02020603050405020304" charset="0"/>
              </a:rPr>
              <a:t>Поређење: основни Whisper ↔ доменски адаптирани Whisper</a:t>
            </a:r>
            <a:endParaRPr lang="en-US" altLang="en-US" sz="1600" b="1">
              <a:latin typeface="Times New Roman" panose="02020603050405020304" charset="0"/>
              <a:cs typeface="Times New Roman" panose="02020603050405020304"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l"/>
            <a:r>
              <a:rPr lang="en-US" altLang="en-US" sz="1600" b="1">
                <a:latin typeface="Times New Roman" panose="02020603050405020304" charset="0"/>
                <a:cs typeface="Times New Roman" panose="02020603050405020304" charset="0"/>
              </a:rPr>
              <a:t>Прилагођавање Whisper модела пољопривредном говору на српском језику</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Доменска адаптација — методологија</a:t>
            </a:r>
            <a:endParaRPr lang="en-US" altLang="en-US">
              <a:latin typeface="Times New Roman" panose="02020603050405020304" charset="0"/>
              <a:cs typeface="Times New Roman" panose="02020603050405020304" charset="0"/>
            </a:endParaRPr>
          </a:p>
        </p:txBody>
      </p:sp>
      <p:sp>
        <p:nvSpPr>
          <p:cNvPr id="5" name="Rounded Rectangle 4"/>
          <p:cNvSpPr/>
          <p:nvPr/>
        </p:nvSpPr>
        <p:spPr>
          <a:xfrm>
            <a:off x="1683385" y="1870710"/>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sz="2000" b="1">
                <a:solidFill>
                  <a:schemeClr val="tx1"/>
                </a:solidFill>
                <a:latin typeface="Times New Roman" panose="02020603050405020304" charset="0"/>
                <a:cs typeface="Times New Roman" panose="02020603050405020304" charset="0"/>
                <a:sym typeface="+mn-ea"/>
              </a:rPr>
              <a:t>675</a:t>
            </a:r>
            <a:endParaRPr lang="sr-Cyrl-BA" sz="2000" b="1">
              <a:solidFill>
                <a:schemeClr val="tx1"/>
              </a:solidFill>
              <a:latin typeface="Times New Roman" panose="02020603050405020304" charset="0"/>
              <a:cs typeface="Times New Roman" panose="02020603050405020304" charset="0"/>
              <a:sym typeface="+mn-ea"/>
            </a:endParaRPr>
          </a:p>
          <a:p>
            <a:pPr algn="ctr">
              <a:buSzTx/>
            </a:pPr>
            <a:r>
              <a:rPr lang="sr-Cyrl-BA" altLang="en-US">
                <a:solidFill>
                  <a:schemeClr val="tx1"/>
                </a:solidFill>
                <a:latin typeface="Times New Roman" panose="02020603050405020304" charset="0"/>
                <a:cs typeface="Times New Roman" panose="02020603050405020304" charset="0"/>
                <a:sym typeface="+mn-ea"/>
              </a:rPr>
              <a:t>Тренинг</a:t>
            </a:r>
            <a:endParaRPr lang="en-US"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627755" y="1911350"/>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sz="2000" b="1">
                <a:solidFill>
                  <a:schemeClr val="tx1"/>
                </a:solidFill>
                <a:latin typeface="Times New Roman" panose="02020603050405020304" charset="0"/>
                <a:cs typeface="Times New Roman" panose="02020603050405020304" charset="0"/>
                <a:sym typeface="+mn-ea"/>
              </a:rPr>
              <a:t>75</a:t>
            </a:r>
            <a:endParaRPr lang="sr-Cyrl-BA"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Валидација</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8" name="Rounded Rectangle 7"/>
          <p:cNvSpPr/>
          <p:nvPr/>
        </p:nvSpPr>
        <p:spPr>
          <a:xfrm>
            <a:off x="5753100" y="1911350"/>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sz="2000" b="1">
                <a:solidFill>
                  <a:schemeClr val="tx1"/>
                </a:solidFill>
                <a:latin typeface="Times New Roman" panose="02020603050405020304" charset="0"/>
                <a:cs typeface="Times New Roman" panose="02020603050405020304" charset="0"/>
                <a:sym typeface="+mn-ea"/>
              </a:rPr>
              <a:t>50</a:t>
            </a:r>
            <a:endParaRPr lang="sr-Cyrl-BA"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Тест</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9" name="Text Box 8"/>
          <p:cNvSpPr txBox="1"/>
          <p:nvPr/>
        </p:nvSpPr>
        <p:spPr>
          <a:xfrm>
            <a:off x="1619250" y="1348105"/>
            <a:ext cx="5901055" cy="337185"/>
          </a:xfrm>
          <a:prstGeom prst="rect">
            <a:avLst/>
          </a:prstGeom>
        </p:spPr>
        <p:txBody>
          <a:bodyPr wrap="square">
            <a:spAutoFit/>
          </a:bodyPr>
          <a:p>
            <a:pPr marL="139700" indent="0" algn="ctr">
              <a:spcAft>
                <a:spcPts val="0"/>
              </a:spcAft>
              <a:buSzPts val="1400"/>
              <a:buNone/>
            </a:pPr>
            <a:r>
              <a:rPr lang="en-US" altLang="en-US" sz="1600" b="1">
                <a:latin typeface="Times New Roman" panose="02020603050405020304" charset="0"/>
                <a:cs typeface="Times New Roman" panose="02020603050405020304" charset="0"/>
              </a:rPr>
              <a:t>800 аудио-записа + референтни транскрипти</a:t>
            </a:r>
            <a:endParaRPr lang="en-US" altLang="en-US" sz="1600" b="1">
              <a:latin typeface="Times New Roman" panose="02020603050405020304" charset="0"/>
              <a:cs typeface="Times New Roman" panose="02020603050405020304" charset="0"/>
            </a:endParaRPr>
          </a:p>
        </p:txBody>
      </p:sp>
      <p:sp>
        <p:nvSpPr>
          <p:cNvPr id="3" name="Text Box 2"/>
          <p:cNvSpPr txBox="1"/>
          <p:nvPr/>
        </p:nvSpPr>
        <p:spPr>
          <a:xfrm>
            <a:off x="1198880" y="4084320"/>
            <a:ext cx="6746240" cy="337185"/>
          </a:xfrm>
          <a:prstGeom prst="rect">
            <a:avLst/>
          </a:prstGeom>
          <a:noFill/>
        </p:spPr>
        <p:txBody>
          <a:bodyPr wrap="square" rtlCol="0">
            <a:spAutoFit/>
          </a:bodyPr>
          <a:p>
            <a:pPr marL="139700" algn="ctr">
              <a:buSzPts val="1400"/>
            </a:pPr>
            <a:r>
              <a:rPr lang="en-US" altLang="en-US" sz="1600" b="1">
                <a:latin typeface="Times New Roman" panose="02020603050405020304" charset="0"/>
                <a:cs typeface="Times New Roman" panose="02020603050405020304" charset="0"/>
              </a:rPr>
              <a:t>Евалуација на невиђеном говорнику</a:t>
            </a:r>
            <a:endParaRPr lang="en-US" altLang="en-US" sz="1600" b="1">
              <a:latin typeface="Times New Roman" panose="02020603050405020304" charset="0"/>
              <a:cs typeface="Times New Roman" panose="02020603050405020304" charset="0"/>
            </a:endParaRPr>
          </a:p>
        </p:txBody>
      </p:sp>
      <p:sp>
        <p:nvSpPr>
          <p:cNvPr id="10" name="Text Box 9"/>
          <p:cNvSpPr txBox="1"/>
          <p:nvPr/>
        </p:nvSpPr>
        <p:spPr>
          <a:xfrm>
            <a:off x="2195195" y="3133725"/>
            <a:ext cx="4649470" cy="583565"/>
          </a:xfrm>
          <a:prstGeom prst="rect">
            <a:avLst/>
          </a:prstGeom>
          <a:noFill/>
        </p:spPr>
        <p:txBody>
          <a:bodyPr wrap="square" rtlCol="0">
            <a:spAutoFit/>
          </a:bodyPr>
          <a:p>
            <a:pPr marL="139700" algn="ctr">
              <a:buSzPts val="1400"/>
            </a:pPr>
            <a:r>
              <a:rPr lang="en-US" altLang="en-US" sz="1600" b="1">
                <a:latin typeface="Times New Roman" panose="02020603050405020304" charset="0"/>
                <a:cs typeface="Times New Roman" panose="02020603050405020304" charset="0"/>
              </a:rPr>
              <a:t>Fine-tuning Whisper модела</a:t>
            </a:r>
            <a:endParaRPr lang="en-US" altLang="en-US" sz="1600" b="1">
              <a:latin typeface="Times New Roman" panose="02020603050405020304" charset="0"/>
              <a:cs typeface="Times New Roman" panose="02020603050405020304" charset="0"/>
            </a:endParaRPr>
          </a:p>
          <a:p>
            <a:pPr marL="139700" algn="ctr">
              <a:buSzPts val="1400"/>
            </a:pPr>
            <a:r>
              <a:rPr lang="en-US" altLang="en-US" sz="1600" b="1">
                <a:latin typeface="Times New Roman" panose="02020603050405020304" charset="0"/>
                <a:cs typeface="Times New Roman" panose="02020603050405020304" charset="0"/>
              </a:rPr>
              <a:t>[</a:t>
            </a:r>
            <a:r>
              <a:rPr lang="sr-Cyrl-BA" altLang="en-US" sz="1600" b="1">
                <a:latin typeface="Times New Roman" panose="02020603050405020304" charset="0"/>
                <a:cs typeface="Times New Roman" panose="02020603050405020304" charset="0"/>
              </a:rPr>
              <a:t>*</a:t>
            </a:r>
            <a:r>
              <a:rPr lang="en-US" altLang="en-US" sz="1600" b="1">
                <a:latin typeface="Times New Roman" panose="02020603050405020304" charset="0"/>
                <a:cs typeface="Times New Roman" panose="02020603050405020304" charset="0"/>
              </a:rPr>
              <a:t>]</a:t>
            </a:r>
            <a:endParaRPr lang="en-US" altLang="en-US" sz="1600" b="1">
              <a:latin typeface="Times New Roman" panose="02020603050405020304" charset="0"/>
              <a:cs typeface="Times New Roman" panose="02020603050405020304" charset="0"/>
            </a:endParaRPr>
          </a:p>
        </p:txBody>
      </p:sp>
      <p:pic>
        <p:nvPicPr>
          <p:cNvPr id="11" name="Picture 10"/>
          <p:cNvPicPr>
            <a:picLocks noChangeAspect="1"/>
          </p:cNvPicPr>
          <p:nvPr/>
        </p:nvPicPr>
        <p:blipFill>
          <a:blip r:embed="rId1"/>
          <a:stretch>
            <a:fillRect/>
          </a:stretch>
        </p:blipFill>
        <p:spPr>
          <a:xfrm>
            <a:off x="4355465" y="1685290"/>
            <a:ext cx="266700" cy="209550"/>
          </a:xfrm>
          <a:prstGeom prst="rect">
            <a:avLst/>
          </a:prstGeom>
        </p:spPr>
      </p:pic>
      <p:pic>
        <p:nvPicPr>
          <p:cNvPr id="12" name="Picture 11"/>
          <p:cNvPicPr>
            <a:picLocks noChangeAspect="1"/>
          </p:cNvPicPr>
          <p:nvPr/>
        </p:nvPicPr>
        <p:blipFill>
          <a:blip r:embed="rId1"/>
          <a:stretch>
            <a:fillRect/>
          </a:stretch>
        </p:blipFill>
        <p:spPr>
          <a:xfrm>
            <a:off x="4427855" y="2931795"/>
            <a:ext cx="266700" cy="209550"/>
          </a:xfrm>
          <a:prstGeom prst="rect">
            <a:avLst/>
          </a:prstGeom>
        </p:spPr>
      </p:pic>
      <p:pic>
        <p:nvPicPr>
          <p:cNvPr id="13" name="Picture 12"/>
          <p:cNvPicPr>
            <a:picLocks noChangeAspect="1"/>
          </p:cNvPicPr>
          <p:nvPr/>
        </p:nvPicPr>
        <p:blipFill>
          <a:blip r:embed="rId1"/>
          <a:stretch>
            <a:fillRect/>
          </a:stretch>
        </p:blipFill>
        <p:spPr>
          <a:xfrm>
            <a:off x="4427855" y="3796030"/>
            <a:ext cx="266700" cy="20955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marL="139700" indent="0" algn="ctr">
              <a:buNone/>
            </a:pPr>
            <a:r>
              <a:rPr lang="en-US" altLang="en-US" sz="1400" b="1">
                <a:solidFill>
                  <a:schemeClr val="tx1"/>
                </a:solidFill>
                <a:latin typeface="Times New Roman" panose="02020603050405020304" charset="0"/>
                <a:cs typeface="Times New Roman" panose="02020603050405020304" charset="0"/>
              </a:rPr>
              <a:t>Основни и адаптирани модел · 50 тест снимака · невиђени говорник</a:t>
            </a:r>
            <a:endParaRPr lang="en-US" altLang="en-US" sz="1400" b="1">
              <a:solidFill>
                <a:schemeClr val="tx1"/>
              </a:solidFill>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Резултати доменске адаптације</a:t>
            </a:r>
            <a:endParaRPr lang="en-US" altLang="en-US">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1746250" y="1564005"/>
          <a:ext cx="5652135" cy="1950085"/>
        </p:xfrm>
        <a:graphic>
          <a:graphicData uri="http://schemas.openxmlformats.org/drawingml/2006/table">
            <a:tbl>
              <a:tblPr firstRow="1" bandRow="1">
                <a:tableStyleId>{5C22544A-7EE6-4342-B048-85BDC9FD1C3A}</a:tableStyleId>
              </a:tblPr>
              <a:tblGrid>
                <a:gridCol w="2094865"/>
                <a:gridCol w="1778000"/>
                <a:gridCol w="1779270"/>
              </a:tblGrid>
              <a:tr h="522605">
                <a:tc>
                  <a:txBody>
                    <a:bodyPr/>
                    <a:p>
                      <a:r>
                        <a:rPr lang="en-US" altLang="zh-CN" sz="1400" b="1">
                          <a:solidFill>
                            <a:schemeClr val="tx1"/>
                          </a:solidFill>
                          <a:latin typeface="Times New Roman" panose="02020603050405020304" charset="0"/>
                          <a:cs typeface="Times New Roman" panose="02020603050405020304" charset="0"/>
                        </a:rPr>
                        <a:t>Метрика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Основни модел</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Адаптирани модел</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01625">
                <a:tc>
                  <a:txBody>
                    <a:bodyPr/>
                    <a:p>
                      <a:r>
                        <a:rPr lang="en-US" altLang="zh-CN" sz="1400" b="1">
                          <a:solidFill>
                            <a:schemeClr val="tx1"/>
                          </a:solidFill>
                          <a:latin typeface="Times New Roman" panose="02020603050405020304" charset="0"/>
                          <a:cs typeface="Times New Roman" panose="02020603050405020304" charset="0"/>
                        </a:rPr>
                        <a:t>Просечан WER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01625">
                <a:tc>
                  <a:txBody>
                    <a:bodyPr/>
                    <a:p>
                      <a:r>
                        <a:rPr lang="en-US" altLang="zh-CN" sz="1400" b="1">
                          <a:solidFill>
                            <a:schemeClr val="tx1"/>
                          </a:solidFill>
                          <a:latin typeface="Times New Roman" panose="02020603050405020304" charset="0"/>
                          <a:cs typeface="Times New Roman" panose="02020603050405020304" charset="0"/>
                        </a:rPr>
                        <a:t>Corpus WER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01625">
                <a:tc>
                  <a:txBody>
                    <a:bodyPr/>
                    <a:p>
                      <a:r>
                        <a:rPr lang="en-US" altLang="zh-CN" sz="1400" b="1">
                          <a:solidFill>
                            <a:schemeClr val="tx1"/>
                          </a:solidFill>
                          <a:latin typeface="Times New Roman" panose="02020603050405020304" charset="0"/>
                          <a:cs typeface="Times New Roman" panose="02020603050405020304" charset="0"/>
                        </a:rPr>
                        <a:t>CER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22605">
                <a:tc>
                  <a:txBody>
                    <a:bodyPr/>
                    <a:p>
                      <a:r>
                        <a:rPr lang="en-US" altLang="zh-CN" sz="1400" b="1">
                          <a:solidFill>
                            <a:schemeClr val="tx1"/>
                          </a:solidFill>
                          <a:latin typeface="Times New Roman" panose="02020603050405020304" charset="0"/>
                          <a:cs typeface="Times New Roman" panose="02020603050405020304" charset="0"/>
                        </a:rPr>
                        <a:t>Грешке у терминологији*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
        <p:nvSpPr>
          <p:cNvPr id="14" name="Text Box 13"/>
          <p:cNvSpPr txBox="1"/>
          <p:nvPr/>
        </p:nvSpPr>
        <p:spPr>
          <a:xfrm>
            <a:off x="4643755" y="3435985"/>
            <a:ext cx="2827020" cy="1075690"/>
          </a:xfrm>
          <a:prstGeom prst="rect">
            <a:avLst/>
          </a:prstGeom>
          <a:noFill/>
        </p:spPr>
        <p:txBody>
          <a:bodyPr wrap="square" rtlCol="0">
            <a:noAutofit/>
          </a:bodyPr>
          <a:p>
            <a:endParaRPr lang="en-US" altLang="en-US" b="1">
              <a:latin typeface="Times New Roman" panose="02020603050405020304" charset="0"/>
              <a:cs typeface="Times New Roman" panose="02020603050405020304" charset="0"/>
            </a:endParaRPr>
          </a:p>
        </p:txBody>
      </p:sp>
      <p:sp>
        <p:nvSpPr>
          <p:cNvPr id="3" name="Text Box 2"/>
          <p:cNvSpPr txBox="1"/>
          <p:nvPr/>
        </p:nvSpPr>
        <p:spPr>
          <a:xfrm>
            <a:off x="1759585" y="3868420"/>
            <a:ext cx="5711825" cy="953135"/>
          </a:xfrm>
          <a:prstGeom prst="rect">
            <a:avLst/>
          </a:prstGeom>
          <a:noFill/>
        </p:spPr>
        <p:txBody>
          <a:bodyPr wrap="square" rtlCol="0">
            <a:spAutoFit/>
          </a:bodyPr>
          <a:p>
            <a:pPr marL="139700" algn="ctr">
              <a:buSzPts val="1400"/>
            </a:pPr>
            <a:r>
              <a:rPr lang="en-US" altLang="en-US" b="1">
                <a:solidFill>
                  <a:schemeClr val="tx1"/>
                </a:solidFill>
                <a:latin typeface="Times New Roman" panose="02020603050405020304" charset="0"/>
                <a:ea typeface="Barlow Semi Condensed" panose="00000506000000000000"/>
                <a:cs typeface="Times New Roman" panose="02020603050405020304" charset="0"/>
              </a:rPr>
              <a:t>Поређење транскрипата</a:t>
            </a:r>
            <a:endParaRPr lang="en-US" altLang="en-US" b="1">
              <a:solidFill>
                <a:schemeClr val="tx1"/>
              </a:solidFill>
              <a:latin typeface="Times New Roman" panose="02020603050405020304" charset="0"/>
              <a:ea typeface="Barlow Semi Condensed" panose="00000506000000000000"/>
              <a:cs typeface="Times New Roman" panose="02020603050405020304" charset="0"/>
            </a:endParaRPr>
          </a:p>
          <a:p>
            <a:pPr marL="139700" algn="ctr">
              <a:buSzPts val="1400"/>
            </a:pPr>
            <a:r>
              <a:rPr lang="en-US" altLang="en-US" b="1">
                <a:solidFill>
                  <a:schemeClr val="tx1"/>
                </a:solidFill>
                <a:latin typeface="Times New Roman" panose="02020603050405020304" charset="0"/>
                <a:ea typeface="Barlow Semi Condensed" panose="00000506000000000000"/>
                <a:cs typeface="Times New Roman" panose="02020603050405020304" charset="0"/>
              </a:rPr>
              <a:t>Референтни текст: [</a:t>
            </a:r>
            <a:r>
              <a:rPr lang="sr-Cyrl-BA" altLang="en-US" b="1">
                <a:solidFill>
                  <a:schemeClr val="tx1"/>
                </a:solidFill>
                <a:latin typeface="Times New Roman" panose="02020603050405020304" charset="0"/>
                <a:ea typeface="Barlow Semi Condensed" panose="00000506000000000000"/>
                <a:cs typeface="Times New Roman" panose="02020603050405020304" charset="0"/>
              </a:rPr>
              <a:t>*</a:t>
            </a:r>
            <a:r>
              <a:rPr lang="en-US" altLang="en-US" b="1">
                <a:solidFill>
                  <a:schemeClr val="tx1"/>
                </a:solidFill>
                <a:latin typeface="Times New Roman" panose="02020603050405020304" charset="0"/>
                <a:ea typeface="Barlow Semi Condensed" panose="00000506000000000000"/>
                <a:cs typeface="Times New Roman" panose="02020603050405020304" charset="0"/>
              </a:rPr>
              <a:t>]</a:t>
            </a:r>
            <a:endParaRPr lang="en-US" altLang="en-US" b="1">
              <a:solidFill>
                <a:schemeClr val="tx1"/>
              </a:solidFill>
              <a:latin typeface="Times New Roman" panose="02020603050405020304" charset="0"/>
              <a:ea typeface="Barlow Semi Condensed" panose="00000506000000000000"/>
              <a:cs typeface="Times New Roman" panose="02020603050405020304" charset="0"/>
            </a:endParaRPr>
          </a:p>
          <a:p>
            <a:pPr marL="139700" algn="ctr">
              <a:buSzPts val="1400"/>
            </a:pPr>
            <a:r>
              <a:rPr lang="en-US" altLang="en-US" b="1">
                <a:solidFill>
                  <a:schemeClr val="tx1"/>
                </a:solidFill>
                <a:latin typeface="Times New Roman" panose="02020603050405020304" charset="0"/>
                <a:ea typeface="Barlow Semi Condensed" panose="00000506000000000000"/>
                <a:cs typeface="Times New Roman" panose="02020603050405020304" charset="0"/>
              </a:rPr>
              <a:t>Основни модел: [</a:t>
            </a:r>
            <a:r>
              <a:rPr lang="sr-Cyrl-BA" altLang="en-US" b="1">
                <a:solidFill>
                  <a:schemeClr val="tx1"/>
                </a:solidFill>
                <a:latin typeface="Times New Roman" panose="02020603050405020304" charset="0"/>
                <a:ea typeface="Barlow Semi Condensed" panose="00000506000000000000"/>
                <a:cs typeface="Times New Roman" panose="02020603050405020304" charset="0"/>
              </a:rPr>
              <a:t>*</a:t>
            </a:r>
            <a:r>
              <a:rPr lang="en-US" altLang="en-US" b="1">
                <a:solidFill>
                  <a:schemeClr val="tx1"/>
                </a:solidFill>
                <a:latin typeface="Times New Roman" panose="02020603050405020304" charset="0"/>
                <a:ea typeface="Barlow Semi Condensed" panose="00000506000000000000"/>
                <a:cs typeface="Times New Roman" panose="02020603050405020304" charset="0"/>
              </a:rPr>
              <a:t>]</a:t>
            </a:r>
            <a:endParaRPr lang="en-US" altLang="en-US" b="1">
              <a:solidFill>
                <a:schemeClr val="tx1"/>
              </a:solidFill>
              <a:latin typeface="Times New Roman" panose="02020603050405020304" charset="0"/>
              <a:ea typeface="Barlow Semi Condensed" panose="00000506000000000000"/>
              <a:cs typeface="Times New Roman" panose="02020603050405020304" charset="0"/>
            </a:endParaRPr>
          </a:p>
          <a:p>
            <a:pPr marL="139700" algn="ctr">
              <a:buSzPts val="1400"/>
            </a:pPr>
            <a:r>
              <a:rPr lang="en-US" altLang="en-US" b="1">
                <a:solidFill>
                  <a:schemeClr val="tx1"/>
                </a:solidFill>
                <a:latin typeface="Times New Roman" panose="02020603050405020304" charset="0"/>
                <a:ea typeface="Barlow Semi Condensed" panose="00000506000000000000"/>
                <a:cs typeface="Times New Roman" panose="02020603050405020304" charset="0"/>
              </a:rPr>
              <a:t>Адаптирани модел: [</a:t>
            </a:r>
            <a:r>
              <a:rPr lang="sr-Cyrl-BA" altLang="en-US" b="1">
                <a:solidFill>
                  <a:schemeClr val="tx1"/>
                </a:solidFill>
                <a:latin typeface="Times New Roman" panose="02020603050405020304" charset="0"/>
                <a:ea typeface="Barlow Semi Condensed" panose="00000506000000000000"/>
                <a:cs typeface="Times New Roman" panose="02020603050405020304" charset="0"/>
              </a:rPr>
              <a:t>*</a:t>
            </a:r>
            <a:r>
              <a:rPr lang="en-US" altLang="en-US" b="1">
                <a:solidFill>
                  <a:schemeClr val="tx1"/>
                </a:solidFill>
                <a:latin typeface="Times New Roman" panose="02020603050405020304" charset="0"/>
                <a:ea typeface="Barlow Semi Condensed" panose="00000506000000000000"/>
                <a:cs typeface="Times New Roman" panose="02020603050405020304" charset="0"/>
              </a:rPr>
              <a:t>]</a:t>
            </a:r>
            <a:endParaRPr lang="en-US" altLang="en-US" b="1">
              <a:solidFill>
                <a:schemeClr val="tx1"/>
              </a:solidFill>
              <a:latin typeface="Times New Roman" panose="02020603050405020304" charset="0"/>
              <a:ea typeface="Barlow Semi Condensed" panose="00000506000000000000"/>
              <a:cs typeface="Times New Roman" panose="02020603050405020304" charset="0"/>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764030" y="1116330"/>
            <a:ext cx="2759075" cy="3577590"/>
          </a:xfrm>
          <a:gradFill>
            <a:gsLst>
              <a:gs pos="50000">
                <a:schemeClr val="accent3"/>
              </a:gs>
              <a:gs pos="0">
                <a:schemeClr val="accent3">
                  <a:lumMod val="25000"/>
                  <a:lumOff val="75000"/>
                </a:schemeClr>
              </a:gs>
              <a:gs pos="100000">
                <a:schemeClr val="accent3">
                  <a:lumMod val="85000"/>
                </a:schemeClr>
              </a:gs>
            </a:gsLst>
            <a:lin ang="5400000" scaled="1"/>
          </a:gradFill>
        </p:spPr>
        <p:txBody>
          <a:bodyPr/>
          <a:p>
            <a:pPr marL="139700" indent="0" algn="l">
              <a:buNone/>
            </a:pPr>
            <a:r>
              <a:rPr lang="en-US" altLang="en-US" sz="1600" b="1">
                <a:latin typeface="Times New Roman" panose="02020603050405020304" charset="0"/>
                <a:cs typeface="Times New Roman" panose="02020603050405020304" charset="0"/>
              </a:rPr>
              <a:t>Шта је испитано?</a:t>
            </a:r>
            <a:endParaRPr lang="en-US" altLang="en-US" sz="1600" b="1">
              <a:latin typeface="Times New Roman" panose="02020603050405020304" charset="0"/>
              <a:cs typeface="Times New Roman" panose="02020603050405020304" charset="0"/>
            </a:endParaRPr>
          </a:p>
          <a:p>
            <a:pPr marL="139700" indent="0" algn="l">
              <a:buNone/>
            </a:pPr>
            <a:endParaRPr lang="en-US" altLang="en-US" sz="1600" b="1">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Тачност, брзина и меморија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Величина модела и INT8</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Beam Search, VAD и шум</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Streaming симулација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Вишекритеријумски избор</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Доменска адаптација*</a:t>
            </a:r>
            <a:endParaRPr lang="en-US" altLang="en-US" sz="1600">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Дискусија и ограничења истраживања</a:t>
            </a:r>
            <a:endParaRPr lang="en-US" altLang="en-US">
              <a:latin typeface="Times New Roman" panose="02020603050405020304" charset="0"/>
              <a:cs typeface="Times New Roman" panose="02020603050405020304" charset="0"/>
            </a:endParaRPr>
          </a:p>
        </p:txBody>
      </p:sp>
      <p:sp>
        <p:nvSpPr>
          <p:cNvPr id="2" name="Text Placeholder 3"/>
          <p:cNvSpPr/>
          <p:nvPr/>
        </p:nvSpPr>
        <p:spPr>
          <a:xfrm>
            <a:off x="4860290" y="1116330"/>
            <a:ext cx="2759075" cy="3599180"/>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a:ln>
            <a:noFill/>
          </a:ln>
        </p:spPr>
        <p:txBody>
          <a:bodyPr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accent1"/>
              </a:buClr>
              <a:buSzPts val="1400"/>
              <a:buFont typeface="Arial" panose="020B0604020202020204"/>
              <a:buChar char="●"/>
              <a:defRPr sz="12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marR="0" lvl="1"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marR="0" lvl="2"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marR="0" lvl="3"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marR="0" lvl="4"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marR="0" lvl="5"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marR="0" lvl="6"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marR="0" lvl="7"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marR="0" lvl="8"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a:pPr marL="139700" indent="0" algn="l">
              <a:buNone/>
            </a:pPr>
            <a:r>
              <a:rPr lang="en-US" altLang="en-US" sz="1600" b="1">
                <a:latin typeface="Times New Roman" panose="02020603050405020304" charset="0"/>
                <a:cs typeface="Times New Roman" panose="02020603050405020304" charset="0"/>
              </a:rPr>
              <a:t>Главна ограничења</a:t>
            </a:r>
            <a:endParaRPr lang="en-US" altLang="en-US" sz="1600" b="1">
              <a:latin typeface="Times New Roman" panose="02020603050405020304" charset="0"/>
              <a:cs typeface="Times New Roman" panose="02020603050405020304" charset="0"/>
            </a:endParaRPr>
          </a:p>
          <a:p>
            <a:pPr marL="139700" indent="0" algn="l">
              <a:buNone/>
            </a:pPr>
            <a:endParaRPr lang="en-US" altLang="en-US" sz="1600" b="1">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Ограничена величина тест скупова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CPU експериментално окружење</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RSS мерење у Jupyter процесу</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Независни streaming сегменти</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Интегрисани профил није заједнички тестиран</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a:t>
            </a:r>
            <a:r>
              <a:rPr lang="sr-Cyrl-BA" altLang="en-US" sz="1600">
                <a:latin typeface="Times New Roman" panose="02020603050405020304" charset="0"/>
                <a:cs typeface="Times New Roman" panose="02020603050405020304" charset="0"/>
              </a:rPr>
              <a:t>*</a:t>
            </a:r>
            <a:r>
              <a:rPr lang="en-US" altLang="en-US" sz="1600">
                <a:latin typeface="Times New Roman" panose="02020603050405020304" charset="0"/>
                <a:cs typeface="Times New Roman" panose="02020603050405020304" charset="0"/>
              </a:rPr>
              <a:t> fine-tuning-а]</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764030" y="843915"/>
            <a:ext cx="5821680" cy="2567940"/>
          </a:xfrm>
          <a:gradFill>
            <a:gsLst>
              <a:gs pos="50000">
                <a:schemeClr val="accent3"/>
              </a:gs>
              <a:gs pos="0">
                <a:schemeClr val="accent3">
                  <a:lumMod val="25000"/>
                  <a:lumOff val="75000"/>
                </a:schemeClr>
              </a:gs>
              <a:gs pos="100000">
                <a:schemeClr val="accent3">
                  <a:lumMod val="85000"/>
                </a:schemeClr>
              </a:gs>
            </a:gsLst>
            <a:lin ang="5400000" scaled="1"/>
          </a:gradFill>
        </p:spPr>
        <p:txBody>
          <a:bodyPr/>
          <a:p>
            <a:pPr algn="l">
              <a:buNone/>
            </a:pPr>
            <a:r>
              <a:rPr lang="en-US" altLang="en-US" sz="1600" b="1">
                <a:latin typeface="Times New Roman" panose="02020603050405020304" charset="0"/>
                <a:cs typeface="Times New Roman" panose="02020603050405020304" charset="0"/>
              </a:rPr>
              <a:t>Главни закључци</a:t>
            </a:r>
            <a:endParaRPr lang="en-US" altLang="en-US" sz="1600" b="1">
              <a:latin typeface="Times New Roman" panose="02020603050405020304" charset="0"/>
              <a:cs typeface="Times New Roman" panose="02020603050405020304" charset="0"/>
            </a:endParaRPr>
          </a:p>
          <a:p>
            <a:pPr algn="l">
              <a:buNone/>
            </a:pPr>
            <a:endParaRPr lang="en-US" altLang="en-US" sz="1600" b="1">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Евалуиран Whisper и Faster-Whisper за српски говор.</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Испитан утицај величине модела, INT8, Beam Search-а, VAD-а и шума.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Анализиран компромис између тачности и streaming латенције.</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Развијен поступак вишекритеријумског избора конфигурације.</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a:t>
            </a:r>
            <a:r>
              <a:rPr lang="sr-Cyrl-BA" altLang="en-US" sz="1600">
                <a:latin typeface="Times New Roman" panose="02020603050405020304" charset="0"/>
                <a:cs typeface="Times New Roman" panose="02020603050405020304" charset="0"/>
              </a:rPr>
              <a:t>*</a:t>
            </a:r>
            <a:r>
              <a:rPr lang="en-US" altLang="en-US" sz="1600">
                <a:latin typeface="Times New Roman" panose="02020603050405020304" charset="0"/>
                <a:cs typeface="Times New Roman" panose="02020603050405020304" charset="0"/>
              </a:rPr>
              <a:t>]</a:t>
            </a:r>
            <a:endParaRPr lang="en-US" altLang="en-US" sz="1600">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Закључак и правци будућег рада</a:t>
            </a:r>
            <a:endParaRPr lang="en-US" altLang="en-US">
              <a:latin typeface="Times New Roman" panose="02020603050405020304" charset="0"/>
              <a:cs typeface="Times New Roman" panose="02020603050405020304" charset="0"/>
            </a:endParaRPr>
          </a:p>
        </p:txBody>
      </p:sp>
      <p:sp>
        <p:nvSpPr>
          <p:cNvPr id="3" name="Text Placeholder 3"/>
          <p:cNvSpPr/>
          <p:nvPr/>
        </p:nvSpPr>
        <p:spPr>
          <a:xfrm>
            <a:off x="1764030" y="3508375"/>
            <a:ext cx="5821680" cy="1593850"/>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a:ln>
            <a:noFill/>
          </a:ln>
        </p:spPr>
        <p:txBody>
          <a:bodyPr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accent1"/>
              </a:buClr>
              <a:buSzPts val="1400"/>
              <a:buFont typeface="Arial" panose="020B0604020202020204"/>
              <a:buChar char="●"/>
              <a:defRPr sz="12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marR="0" lvl="1"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marR="0" lvl="2"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marR="0" lvl="3"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marR="0" lvl="4"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marR="0" lvl="5"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marR="0" lvl="6"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marR="0" lvl="7"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marR="0" lvl="8"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a:pPr algn="l">
              <a:buNone/>
            </a:pPr>
            <a:r>
              <a:rPr lang="en-US" altLang="en-US" sz="1600" b="1">
                <a:latin typeface="Times New Roman" panose="02020603050405020304" charset="0"/>
                <a:cs typeface="Times New Roman" panose="02020603050405020304" charset="0"/>
              </a:rPr>
              <a:t>Будући рад</a:t>
            </a:r>
            <a:endParaRPr lang="en-US" altLang="en-US" sz="1600" b="1">
              <a:latin typeface="Times New Roman" panose="02020603050405020304" charset="0"/>
              <a:cs typeface="Times New Roman" panose="02020603050405020304" charset="0"/>
            </a:endParaRPr>
          </a:p>
          <a:p>
            <a:pPr algn="l"/>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Већи и разноврснији српски говорни скупови</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Тестирање интегрисаног профила и на другом хардверу</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Streaming са преклапањем сегмената и преносом контекста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Проширење и евалуација доменске адаптације</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15" name="Google Shape;3515;p62"/>
          <p:cNvSpPr txBox="1"/>
          <p:nvPr/>
        </p:nvSpPr>
        <p:spPr>
          <a:xfrm>
            <a:off x="2051705" y="347472"/>
            <a:ext cx="4947000" cy="585300"/>
          </a:xfrm>
          <a:prstGeom prst="rect">
            <a:avLst/>
          </a:prstGeom>
          <a:noFill/>
          <a:ln>
            <a:noFill/>
          </a:ln>
        </p:spPr>
        <p:txBody>
          <a:bodyPr wrap="square" lIns="91425" tIns="91425" rIns="91425" bIns="91425" anchor="ctr" anchorCtr="0">
            <a:noAutofit/>
            <a:scene3d>
              <a:camera prst="orthographicFront"/>
              <a:lightRig rig="threePt" dir="t"/>
            </a:scene3d>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9pPr>
          </a:lstStyle>
          <a:p>
            <a:pPr marL="0" lvl="0" indent="0" algn="ctr" rtl="0">
              <a:spcBef>
                <a:spcPts val="0"/>
              </a:spcBef>
              <a:spcAft>
                <a:spcPts val="0"/>
              </a:spcAft>
              <a:buNone/>
            </a:pPr>
            <a:r>
              <a:rPr lang="en-US" altLang="en-US" sz="32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rPr>
              <a:t>Хвала на пажњи!</a:t>
            </a:r>
            <a:endParaRPr lang="en-US" altLang="en-US" sz="32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endParaRPr>
          </a:p>
        </p:txBody>
      </p:sp>
      <p:sp>
        <p:nvSpPr>
          <p:cNvPr id="7" name="Google Shape;3515;p62"/>
          <p:cNvSpPr txBox="1"/>
          <p:nvPr/>
        </p:nvSpPr>
        <p:spPr>
          <a:xfrm>
            <a:off x="138430" y="4558030"/>
            <a:ext cx="8824595" cy="585470"/>
          </a:xfrm>
          <a:prstGeom prst="rect">
            <a:avLst/>
          </a:prstGeom>
          <a:noFill/>
          <a:ln>
            <a:noFill/>
          </a:ln>
        </p:spPr>
        <p:txBody>
          <a:bodyPr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9pPr>
          </a:lstStyle>
          <a:p>
            <a:pPr marL="0" lvl="0" algn="ctr" rtl="0">
              <a:spcBef>
                <a:spcPts val="0"/>
              </a:spcBef>
              <a:spcAft>
                <a:spcPts val="0"/>
              </a:spcAft>
              <a:buNone/>
            </a:pPr>
            <a:r>
              <a:rPr lang="en-US" alt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rPr>
              <a:t>Александар Јовановић</a:t>
            </a:r>
            <a:r>
              <a:rPr lang="sr-Cyrl-BA" alt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rPr>
              <a:t>, 2120</a:t>
            </a:r>
            <a:endParaRPr lang="en-US" alt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endParaRPr>
          </a:p>
          <a:p>
            <a:pPr marL="0" lvl="0" algn="ctr" rtl="0">
              <a:spcBef>
                <a:spcPts val="0"/>
              </a:spcBef>
              <a:spcAft>
                <a:spcPts val="0"/>
              </a:spcAft>
              <a:buNone/>
            </a:pPr>
            <a:r>
              <a:rPr lang="en-US" altLang="en-US" sz="2000" b="1">
                <a:solidFill>
                  <a:schemeClr val="tx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sym typeface="+mn-ea"/>
              </a:rPr>
              <a:t>Студијски програм: Вештачка интелигенција и машинско учење</a:t>
            </a:r>
            <a:endParaRPr lang="en-US" altLang="en-US" sz="2000" b="1">
              <a:solidFill>
                <a:schemeClr val="tx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endParaRPr>
          </a:p>
          <a:p>
            <a:pPr marL="0" lvl="0" algn="ctr" rtl="0">
              <a:spcBef>
                <a:spcPts val="0"/>
              </a:spcBef>
              <a:spcAft>
                <a:spcPts val="0"/>
              </a:spcAft>
              <a:buNone/>
            </a:pPr>
            <a:endParaRPr lang="en-US" alt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endParaRPr>
          </a:p>
        </p:txBody>
      </p:sp>
      <p:pic>
        <p:nvPicPr>
          <p:cNvPr id="8" name="Picture 7"/>
          <p:cNvPicPr>
            <a:picLocks noChangeAspect="1"/>
          </p:cNvPicPr>
          <p:nvPr/>
        </p:nvPicPr>
        <p:blipFill>
          <a:blip r:embed="rId1"/>
          <a:stretch>
            <a:fillRect/>
          </a:stretch>
        </p:blipFill>
        <p:spPr>
          <a:xfrm>
            <a:off x="681355" y="123825"/>
            <a:ext cx="1082040" cy="1045210"/>
          </a:xfrm>
          <a:prstGeom prst="rect">
            <a:avLst/>
          </a:prstGeom>
        </p:spPr>
      </p:pic>
      <p:pic>
        <p:nvPicPr>
          <p:cNvPr id="9" name="Picture 8"/>
          <p:cNvPicPr>
            <a:picLocks noChangeAspect="1"/>
          </p:cNvPicPr>
          <p:nvPr/>
        </p:nvPicPr>
        <p:blipFill>
          <a:blip r:embed="rId2"/>
          <a:stretch>
            <a:fillRect/>
          </a:stretch>
        </p:blipFill>
        <p:spPr>
          <a:xfrm>
            <a:off x="7452360" y="123825"/>
            <a:ext cx="1010285" cy="1031240"/>
          </a:xfrm>
          <a:prstGeom prst="rect">
            <a:avLst/>
          </a:prstGeom>
        </p:spPr>
      </p:pic>
      <p:pic>
        <p:nvPicPr>
          <p:cNvPr id="2" name="Picture 1"/>
          <p:cNvPicPr>
            <a:picLocks noChangeAspect="1"/>
          </p:cNvPicPr>
          <p:nvPr/>
        </p:nvPicPr>
        <p:blipFill>
          <a:blip r:embed="rId3"/>
          <a:stretch>
            <a:fillRect/>
          </a:stretch>
        </p:blipFill>
        <p:spPr>
          <a:xfrm>
            <a:off x="4427855" y="3508375"/>
            <a:ext cx="495300" cy="400050"/>
          </a:xfrm>
          <a:prstGeom prst="rect">
            <a:avLst/>
          </a:prstGeom>
        </p:spPr>
      </p:pic>
      <p:pic>
        <p:nvPicPr>
          <p:cNvPr id="4" name="Picture 3"/>
          <p:cNvPicPr>
            <a:picLocks noChangeAspect="1"/>
          </p:cNvPicPr>
          <p:nvPr/>
        </p:nvPicPr>
        <p:blipFill>
          <a:blip r:embed="rId4"/>
          <a:stretch>
            <a:fillRect/>
          </a:stretch>
        </p:blipFill>
        <p:spPr>
          <a:xfrm>
            <a:off x="149860" y="1176020"/>
            <a:ext cx="8907780" cy="3199765"/>
          </a:xfrm>
          <a:prstGeom prst="rect">
            <a:avLst/>
          </a:prstGeom>
        </p:spPr>
      </p:pic>
    </p:spTree>
  </p:cSld>
  <p:clrMapOvr>
    <a:masterClrMapping/>
  </p:clrMapOvr>
</p:sld>
</file>

<file path=ppt/tags/tag1.xml><?xml version="1.0" encoding="utf-8"?>
<p:tagLst xmlns:p="http://schemas.openxmlformats.org/presentationml/2006/main">
  <p:tag name="TABLE_ENDDRAG_ORIGIN_RECT" val="619*147"/>
  <p:tag name="TABLE_ENDDRAG_RECT" val="67*241*619*147"/>
</p:tagLst>
</file>

<file path=ppt/tags/tag2.xml><?xml version="1.0" encoding="utf-8"?>
<p:tagLst xmlns:p="http://schemas.openxmlformats.org/presentationml/2006/main">
  <p:tag name="TABLE_ENDDRAG_ORIGIN_RECT" val="540*204"/>
  <p:tag name="TABLE_ENDDRAG_RECT" val="50*168*540*204"/>
</p:tagLst>
</file>

<file path=ppt/tags/tag3.xml><?xml version="1.0" encoding="utf-8"?>
<p:tagLst xmlns:p="http://schemas.openxmlformats.org/presentationml/2006/main">
  <p:tag name="TABLE_ENDDRAG_ORIGIN_RECT" val="191*143"/>
  <p:tag name="TABLE_ENDDRAG_RECT" val="463*178*191*143"/>
</p:tagLst>
</file>

<file path=ppt/tags/tag4.xml><?xml version="1.0" encoding="utf-8"?>
<p:tagLst xmlns:p="http://schemas.openxmlformats.org/presentationml/2006/main">
  <p:tag name="TABLE_ENDDRAG_ORIGIN_RECT" val="191*143"/>
  <p:tag name="TABLE_ENDDRAG_RECT" val="463*178*191*143"/>
</p:tagLst>
</file>

<file path=ppt/tags/tag5.xml><?xml version="1.0" encoding="utf-8"?>
<p:tagLst xmlns:p="http://schemas.openxmlformats.org/presentationml/2006/main">
  <p:tag name="TABLE_ENDDRAG_ORIGIN_RECT" val="191*143"/>
  <p:tag name="TABLE_ENDDRAG_RECT" val="463*178*191*143"/>
</p:tagLst>
</file>

<file path=ppt/tags/tag6.xml><?xml version="1.0" encoding="utf-8"?>
<p:tagLst xmlns:p="http://schemas.openxmlformats.org/presentationml/2006/main">
  <p:tag name="TABLE_ENDDRAG_ORIGIN_RECT" val="202*160"/>
  <p:tag name="TABLE_ENDDRAG_RECT" val="446*145*202*160"/>
</p:tagLst>
</file>

<file path=ppt/tags/tag7.xml><?xml version="1.0" encoding="utf-8"?>
<p:tagLst xmlns:p="http://schemas.openxmlformats.org/presentationml/2006/main">
  <p:tag name="TABLE_ENDDRAG_ORIGIN_RECT" val="167*184"/>
  <p:tag name="TABLE_ENDDRAG_RECT" val="446*123*167*184"/>
</p:tagLst>
</file>

<file path=ppt/tags/tag8.xml><?xml version="1.0" encoding="utf-8"?>
<p:tagLst xmlns:p="http://schemas.openxmlformats.org/presentationml/2006/main">
  <p:tag name="TABLE_ENDDRAG_ORIGIN_RECT" val="167*184"/>
  <p:tag name="TABLE_ENDDRAG_RECT" val="446*123*167*184"/>
</p:tagLst>
</file>

<file path=ppt/tags/tag9.xml><?xml version="1.0" encoding="utf-8"?>
<p:tagLst xmlns:p="http://schemas.openxmlformats.org/presentationml/2006/main">
  <p:tag name="TABLE_ENDDRAG_ORIGIN_RECT" val="167*221"/>
  <p:tag name="TABLE_ENDDRAG_RECT" val="479*105*167*221"/>
</p:tagLst>
</file>

<file path=ppt/tags/tag10.xml><?xml version="1.0" encoding="utf-8"?>
<p:tagLst xmlns:p="http://schemas.openxmlformats.org/presentationml/2006/main">
  <p:tag name="TABLE_ENDDRAG_ORIGIN_RECT" val="192*117"/>
  <p:tag name="TABLE_ENDDRAG_RECT" val="446*123*192*117"/>
</p:tagLst>
</file>

<file path=ppt/tags/tag11.xml><?xml version="1.0" encoding="utf-8"?>
<p:tagLst xmlns:p="http://schemas.openxmlformats.org/presentationml/2006/main">
  <p:tag name="TABLE_ENDDRAG_ORIGIN_RECT" val="175*156"/>
  <p:tag name="TABLE_ENDDRAG_RECT" val="470*134*175*156"/>
</p:tagLst>
</file>

<file path=ppt/tags/tag12.xml><?xml version="1.0" encoding="utf-8"?>
<p:tagLst xmlns:p="http://schemas.openxmlformats.org/presentationml/2006/main">
  <p:tag name="TABLE_ENDDRAG_ORIGIN_RECT" val="201*135"/>
  <p:tag name="TABLE_ENDDRAG_RECT" val="445*134*201*135"/>
</p:tagLst>
</file>

<file path=ppt/tags/tag13.xml><?xml version="1.0" encoding="utf-8"?>
<p:tagLst xmlns:p="http://schemas.openxmlformats.org/presentationml/2006/main">
  <p:tag name="TABLE_ENDDRAG_ORIGIN_RECT" val="220*146"/>
  <p:tag name="TABLE_ENDDRAG_RECT" val="424*134*220*146"/>
</p:tagLst>
</file>

<file path=ppt/tags/tag14.xml><?xml version="1.0" encoding="utf-8"?>
<p:tagLst xmlns:p="http://schemas.openxmlformats.org/presentationml/2006/main">
  <p:tag name="TABLE_ENDDRAG_ORIGIN_RECT" val="220*146"/>
  <p:tag name="TABLE_ENDDRAG_RECT" val="424*134*220*146"/>
</p:tagLst>
</file>

<file path=ppt/tags/tag15.xml><?xml version="1.0" encoding="utf-8"?>
<p:tagLst xmlns:p="http://schemas.openxmlformats.org/presentationml/2006/main">
  <p:tag name="TABLE_ENDDRAG_ORIGIN_RECT" val="220*146"/>
  <p:tag name="TABLE_ENDDRAG_RECT" val="424*134*220*146"/>
</p:tagLst>
</file>

<file path=ppt/tags/tag16.xml><?xml version="1.0" encoding="utf-8"?>
<p:tagLst xmlns:p="http://schemas.openxmlformats.org/presentationml/2006/main">
  <p:tag name="TABLE_ENDDRAG_ORIGIN_RECT" val="570*254"/>
  <p:tag name="TABLE_ENDDRAG_RECT" val="74*74*570*254"/>
</p:tagLst>
</file>

<file path=ppt/tags/tag17.xml><?xml version="1.0" encoding="utf-8"?>
<p:tagLst xmlns:p="http://schemas.openxmlformats.org/presentationml/2006/main">
  <p:tag name="TABLE_ENDDRAG_ORIGIN_RECT" val="280*188"/>
  <p:tag name="TABLE_ENDDRAG_RECT" val="373*151*280*188"/>
</p:tagLst>
</file>

<file path=ppt/tags/tag18.xml><?xml version="1.0" encoding="utf-8"?>
<p:tagLst xmlns:p="http://schemas.openxmlformats.org/presentationml/2006/main">
  <p:tag name="TABLE_ENDDRAG_ORIGIN_RECT" val="243*171"/>
  <p:tag name="TABLE_ENDDRAG_RECT" val="108*228*243*171"/>
</p:tagLst>
</file>

<file path=ppt/tags/tag19.xml><?xml version="1.0" encoding="utf-8"?>
<p:tagLst xmlns:p="http://schemas.openxmlformats.org/presentationml/2006/main">
  <p:tag name="TABLE_ENDDRAG_ORIGIN_RECT" val="445*153"/>
  <p:tag name="TABLE_ENDDRAG_RECT" val="129*246*445*153"/>
</p:tagLst>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13464</Words>
  <Application>WPS Presentation</Application>
  <PresentationFormat/>
  <Paragraphs>1110</Paragraphs>
  <Slides>45</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45</vt:i4>
      </vt:variant>
    </vt:vector>
  </HeadingPairs>
  <TitlesOfParts>
    <vt:vector size="60" baseType="lpstr">
      <vt:lpstr>Arial</vt:lpstr>
      <vt:lpstr>SimSun</vt:lpstr>
      <vt:lpstr>Wingdings</vt:lpstr>
      <vt:lpstr>Arial</vt:lpstr>
      <vt:lpstr>Fjalla One</vt:lpstr>
      <vt:lpstr>Barlow Semi Condensed Medium</vt:lpstr>
      <vt:lpstr>Barlow Semi Condensed</vt:lpstr>
      <vt:lpstr>Roboto Condensed Light</vt:lpstr>
      <vt:lpstr>Segoe Print</vt:lpstr>
      <vt:lpstr>Times New Roman</vt:lpstr>
      <vt:lpstr>Aptos</vt:lpstr>
      <vt:lpstr>Segoe UI</vt:lpstr>
      <vt:lpstr>Microsoft YaHei</vt:lpstr>
      <vt:lpstr>Arial Unicode MS</vt:lpstr>
      <vt:lpstr>Technology Consulting by Slidesgo</vt:lpstr>
      <vt:lpstr>PowerPoint 演示文稿</vt:lpstr>
      <vt:lpstr>Мотивација и проблем истраживања</vt:lpstr>
      <vt:lpstr>Циљ и истраживачка питања</vt:lpstr>
      <vt:lpstr>Оригинални доприноси рада</vt:lpstr>
      <vt:lpstr>Организација истраживања</vt:lpstr>
      <vt:lpstr>Аутоматско препознавање говора (ASR)</vt:lpstr>
      <vt:lpstr>Обрада и представљање аудио-сигнала</vt:lpstr>
      <vt:lpstr>Transformer и Encoder–Decoder архитектура</vt:lpstr>
      <vt:lpstr>Whisper модел</vt:lpstr>
      <vt:lpstr>Faster-Whisper и CTranslate2</vt:lpstr>
      <vt:lpstr>Кључни механизми и метрике</vt:lpstr>
      <vt:lpstr>Хардверско и софтверско окружење</vt:lpstr>
      <vt:lpstr>Главни benchmark скуп — српски говор</vt:lpstr>
      <vt:lpstr>Додатни експериментални скупови</vt:lpstr>
      <vt:lpstr>Припрема и претпроцесирање аудио-записа</vt:lpstr>
      <vt:lpstr>Методологија евалуације и мерења</vt:lpstr>
      <vt:lpstr>Whisper vs Faster-Whisper: поставка</vt:lpstr>
      <vt:lpstr>Поређење тачности транскрипције</vt:lpstr>
      <vt:lpstr>Поређење брзине и RTF-а</vt:lpstr>
      <vt:lpstr>Поређење меморијске потрошње</vt:lpstr>
      <vt:lpstr>Утицај трајања и говорника</vt:lpstr>
      <vt:lpstr>Утицај величине модела на тачност</vt:lpstr>
      <vt:lpstr>Утицај величине модела на брзину</vt:lpstr>
      <vt:lpstr>Главни benchmark скуп — српски говор</vt:lpstr>
      <vt:lpstr>Утицај шума на тачност транскрипције</vt:lpstr>
      <vt:lpstr>Поређење српског и енглеског говора</vt:lpstr>
      <vt:lpstr>Утицај Beam Search параметра</vt:lpstr>
      <vt:lpstr>Утицај INT8 квантизације на брзину</vt:lpstr>
      <vt:lpstr>Voice Activity Detection (VAD)</vt:lpstr>
      <vt:lpstr>VAD: утицај на време и тачност</vt:lpstr>
      <vt:lpstr>Streaming transkripcija: postavka eksperimenta</vt:lpstr>
      <vt:lpstr>Streaming: тачност и кашњење</vt:lpstr>
      <vt:lpstr>Streaming: RTF и практични компромис</vt:lpstr>
      <vt:lpstr>Синтеза експерименталних резултата</vt:lpstr>
      <vt:lpstr>Зашто вишекритеријумски избор?</vt:lpstr>
      <vt:lpstr>Нормализација и пондерисани скор</vt:lpstr>
      <vt:lpstr>Pareto анализа конфигурација</vt:lpstr>
      <vt:lpstr>Streaming: RTF и практични компромис</vt:lpstr>
      <vt:lpstr>Аутоматски препоручена конфигурација</vt:lpstr>
      <vt:lpstr>Доменска адаптација: пољопривреда</vt:lpstr>
      <vt:lpstr>Доменска адаптација — методологија</vt:lpstr>
      <vt:lpstr>Резултати доменске адаптације</vt:lpstr>
      <vt:lpstr>Дискусија и ограничења истраживања</vt:lpstr>
      <vt:lpstr>Закључак и правци будућег рада</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Aleksandar Jovanovic</cp:lastModifiedBy>
  <cp:revision>36</cp:revision>
  <dcterms:created xsi:type="dcterms:W3CDTF">2025-10-25T10:51:00Z</dcterms:created>
  <dcterms:modified xsi:type="dcterms:W3CDTF">2026-09-27T21:34:47Z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DC4E04BEC82F432F8B4262B6028F3F1C_12</vt:lpwstr>
  </property>
  <property fmtid="{D5CDD505-2E9C-101B-9397-08002B2CF9AE}" pid="3" name="KSOProductBuildVer">
    <vt:lpwstr>1033-12.1.0.28485</vt:lpwstr>
  </property>
</Properties>
</file>