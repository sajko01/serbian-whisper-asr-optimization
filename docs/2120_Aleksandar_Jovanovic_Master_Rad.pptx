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3"/>
  </p:handoutMasterIdLst>
  <p:sldIdLst>
    <p:sldId id="304" r:id="rId3"/>
    <p:sldId id="305" r:id="rId5"/>
    <p:sldId id="309" r:id="rId6"/>
    <p:sldId id="307" r:id="rId7"/>
    <p:sldId id="311" r:id="rId8"/>
    <p:sldId id="310" r:id="rId9"/>
    <p:sldId id="313" r:id="rId10"/>
    <p:sldId id="312" r:id="rId11"/>
    <p:sldId id="316" r:id="rId12"/>
    <p:sldId id="317" r:id="rId13"/>
    <p:sldId id="322" r:id="rId14"/>
    <p:sldId id="323" r:id="rId15"/>
    <p:sldId id="327" r:id="rId16"/>
    <p:sldId id="328" r:id="rId17"/>
    <p:sldId id="326" r:id="rId18"/>
    <p:sldId id="329" r:id="rId19"/>
    <p:sldId id="308" r:id="rId20"/>
    <p:sldId id="319"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354" r:id="rId39"/>
    <p:sldId id="355" r:id="rId40"/>
    <p:sldId id="356" r:id="rId41"/>
    <p:sldId id="357" r:id="rId42"/>
    <p:sldId id="365" r:id="rId43"/>
    <p:sldId id="358" r:id="rId44"/>
    <p:sldId id="359" r:id="rId45"/>
    <p:sldId id="360" r:id="rId46"/>
    <p:sldId id="363" r:id="rId47"/>
    <p:sldId id="364" r:id="rId48"/>
    <p:sldId id="330" r:id="rId49"/>
    <p:sldId id="361" r:id="rId50"/>
    <p:sldId id="362" r:id="rId51"/>
    <p:sldId id="306" r:id="rId52"/>
  </p:sldIdLst>
  <p:sldSz cx="9144000" cy="5143500" type="screen16x9"/>
  <p:notesSz cx="6858000" cy="9144000"/>
  <p:embeddedFontLst>
    <p:embeddedFont>
      <p:font typeface="SimSun" panose="02010600030101010101" pitchFamily="2" charset="-122"/>
      <p:regular r:id="rId58"/>
    </p:embeddedFont>
    <p:embeddedFont>
      <p:font typeface="Fjalla One"/>
      <p:regular r:id="rId59"/>
    </p:embeddedFont>
    <p:embeddedFont>
      <p:font typeface="Barlow Semi Condensed Medium" panose="00000606000000000000"/>
      <p:regular r:id="rId60"/>
    </p:embeddedFont>
    <p:embeddedFont>
      <p:font typeface="Barlow Semi Condensed" panose="00000506000000000000"/>
      <p:regular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lena" initials="J"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20" autoAdjust="0"/>
  </p:normalViewPr>
  <p:slideViewPr>
    <p:cSldViewPr snapToGrid="0">
      <p:cViewPr varScale="1">
        <p:scale>
          <a:sx n="102" d="100"/>
          <a:sy n="102" d="100"/>
        </p:scale>
        <p:origin x="26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1" Type="http://schemas.openxmlformats.org/officeDocument/2006/relationships/font" Target="fonts/font4.fntdata"/><Relationship Id="rId60" Type="http://schemas.openxmlformats.org/officeDocument/2006/relationships/font" Target="fonts/font3.fntdata"/><Relationship Id="rId6" Type="http://schemas.openxmlformats.org/officeDocument/2006/relationships/slide" Target="slides/slide3.xml"/><Relationship Id="rId59" Type="http://schemas.openxmlformats.org/officeDocument/2006/relationships/font" Target="fonts/font2.fntdata"/><Relationship Id="rId58" Type="http://schemas.openxmlformats.org/officeDocument/2006/relationships/font" Target="fonts/font1.fntdata"/><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Добар дан. Данас ћу представити свој мастер рад под називом „Анализа, оптимизација и доменска адаптација Whisper модела за аутоматско препознавање говора на српском језику“. Рад се бави Whisper и Faster-Whisper системима, са посебним фокусом на српски говор и извршавање на CPU-у. Поред тачности, анализирао сам брзину, меморијску потрошњу и различите начине оптимизације система. На крају сам резултате објединио у поступак за избор повољне конфигурације.</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09"/>
        <p:cNvGrpSpPr/>
        <p:nvPr/>
      </p:nvGrpSpPr>
      <p:grpSpPr>
        <a:xfrm>
          <a:off x="0" y="0"/>
          <a:ext cx="0" cy="0"/>
          <a:chOff x="0" y="0"/>
          <a:chExt cx="0" cy="0"/>
        </a:xfrm>
      </p:grpSpPr>
      <p:sp>
        <p:nvSpPr>
          <p:cNvPr id="3510" name="Google Shape;3510;g8714a43093_3_1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1" name="Google Shape;3511;g8714a43093_3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a:t>Главна мотивација била је да испитам колико добро Whisper може практично да се користи за српски говор. Није довољно да систем буде само тачан, већ је важно и колико брзо ради и колико меморије захтева. На резултат додатно утичу величина модела, квантизација, начин декодирања, VAD и услови снимања. Зато је главно питање како постићи добар однос тачности, брзине и меморијске ефикасности.</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09"/>
        <p:cNvGrpSpPr/>
        <p:nvPr/>
      </p:nvGrpSpPr>
      <p:grpSpPr>
        <a:xfrm>
          <a:off x="0" y="0"/>
          <a:ext cx="0" cy="0"/>
          <a:chOff x="0" y="0"/>
          <a:chExt cx="0" cy="0"/>
        </a:xfrm>
      </p:grpSpPr>
      <p:sp>
        <p:nvSpPr>
          <p:cNvPr id="3510" name="Google Shape;3510;g8714a43093_3_1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1" name="Google Shape;3511;g8714a43093_3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a:t>Основни циљ рада је анализа и оптимизација Whisper система за српски говор. Прво сам испитао разлике између оригиналне Whisper и Faster-Whisper имплементације. Затим сам анализирао како различита подешавања и услови експеримента утичу на WER, RTF и меморијску потрошњу. На основу тих резултата развијен је и поступак за избор конфигурације према више критеријума.</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Рад обухвата неколико повезаних доприноса. Формиран је скуп од 40 снимака читаног српског говора и спроведена је систематска анализа Whisper и Faster-Whisper имплементација. Испитани су величина модела, квантизација, beam size, VAD, шум и сегментна обрада. Резултати су затим обједињени кроз вишекритеријумски избор и Парето анализу. Посебан део рада односи се на доменску адаптацију за област пољопривреде.</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Истраживање је организовано у неколико логички повезаних корака. Најпре су припремљени аудио-скупови, након чега је урађено почетно поређење Whisper и Faster-Whisper система. Затим следе експерименти оптимизације и анализа различитих параметара. На основу добијених резултата врши се избор конфигурације, а последњу целину представља доменска адаптација.</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Аутоматско препознавање говора, односно ASR, представља претварање говорног сигнала у текст. Иако овај процес делује једноставно, говор зависи од говорника, изговора, темпа, пауза и услова снимања. Позадински шум и квалитет микрофона такође могу значајно да утичу на транскрипцију. Због тога ASR систем посматрам не само кроз тачност, већ и кроз брзину и захтевност извршавања.</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Whisper не користи директно таласни облик аудио-сигнала као улаз у модел. Сигнал се обрађује на 16 килохерца и помоћу STFT-а се добија временско-фреквенцијска репрезентација. Након Mel филтерске банке и логаритамске трансформације добија се лог-Mel спектрограм. Управо та репрезентација представља улаз у Whisper енкодер.</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Whisper је заснован на трансформер архитектури типа енкодер-декодер. Енкодер анализира лог-Mel спектрограм и формира репрезентацију аудио-сигнала и његовог контекста. Декодер на основу те репрезентације постепено генерише текстуалне токене. Механизам пажње омогућава моделу да повезује релевантне делове аудио-секвенце и текста.</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Whisper је вишејезички модел који подржава и српски језик. Постоји у више величина, при чему већи модели имају већи капацитет, али захтевају и више рачунарских ресурса. У овом раду испитане су Tiny, Base, Small и Medium варијанте. Циљ је био да видим колико повећање модела утиче на WER, време обраде и RTF.</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Важно је нагласити да Faster-Whisper није потпуно нова неуронска архитектура. Он користи исту основну Whisper архитектуру, али је имплементација оптимизована помоћу библиотеке CTranslate2. То омогућава ефикасније операције, боље управљање меморијом и коришћење INT8 квантизације. Зато сам испитао колику практичну предност Faster-Whisper доноси у односу на оригиналну имплементацију.</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Овде је важно раздвојити оно што подешавамо од онога што меримо. Међу подешавањима су нумерички формат, параметар beam size и примена VAD-а. Тачност процењујем помоћу WER-а, док брзину посматрам кроз време и RTF. Меморијска потрошња прати се преко RSS-а, а код сегментне обраде посматра се и латенција.</a:t>
            </a: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dirty="0" err="1"/>
              <a:t>Сви</a:t>
            </a:r>
            <a:r>
              <a:rPr lang="en-US" altLang="en-US" dirty="0"/>
              <a:t> </a:t>
            </a:r>
            <a:r>
              <a:rPr lang="en-US" altLang="en-US" dirty="0" err="1"/>
              <a:t>главни</a:t>
            </a:r>
            <a:r>
              <a:rPr lang="en-US" altLang="en-US" dirty="0"/>
              <a:t> </a:t>
            </a:r>
            <a:r>
              <a:rPr lang="en-US" altLang="en-US" dirty="0" err="1"/>
              <a:t>експерименти</a:t>
            </a:r>
            <a:r>
              <a:rPr lang="en-US" altLang="en-US" dirty="0"/>
              <a:t> </a:t>
            </a:r>
            <a:r>
              <a:rPr lang="en-US" altLang="en-US" dirty="0" err="1"/>
              <a:t>изведени</a:t>
            </a:r>
            <a:r>
              <a:rPr lang="en-US" altLang="en-US" dirty="0"/>
              <a:t> </a:t>
            </a:r>
            <a:r>
              <a:rPr lang="en-US" altLang="en-US" dirty="0" err="1"/>
              <a:t>су</a:t>
            </a:r>
            <a:r>
              <a:rPr lang="en-US" altLang="en-US" dirty="0"/>
              <a:t> у </a:t>
            </a:r>
            <a:r>
              <a:rPr lang="en-US" altLang="en-US" dirty="0" err="1"/>
              <a:t>истом</a:t>
            </a:r>
            <a:r>
              <a:rPr lang="en-US" altLang="en-US" dirty="0"/>
              <a:t> </a:t>
            </a:r>
            <a:r>
              <a:rPr lang="en-US" altLang="en-US" dirty="0" err="1"/>
              <a:t>локалном</a:t>
            </a:r>
            <a:r>
              <a:rPr lang="en-US" altLang="en-US" dirty="0"/>
              <a:t> CPU </a:t>
            </a:r>
            <a:r>
              <a:rPr lang="en-US" altLang="en-US" dirty="0" err="1"/>
              <a:t>окружењу</a:t>
            </a:r>
            <a:r>
              <a:rPr lang="en-US" altLang="en-US" dirty="0"/>
              <a:t>. </a:t>
            </a:r>
            <a:r>
              <a:rPr lang="en-US" altLang="en-US" dirty="0" err="1"/>
              <a:t>Коришћен</a:t>
            </a:r>
            <a:r>
              <a:rPr lang="en-US" altLang="en-US" dirty="0"/>
              <a:t> </a:t>
            </a:r>
            <a:r>
              <a:rPr lang="en-US" altLang="en-US" dirty="0" err="1"/>
              <a:t>је</a:t>
            </a:r>
            <a:r>
              <a:rPr lang="en-US" altLang="en-US" dirty="0"/>
              <a:t> AMD Ryzen 5 5600H </a:t>
            </a:r>
            <a:r>
              <a:rPr lang="en-US" altLang="en-US" dirty="0" err="1"/>
              <a:t>са</a:t>
            </a:r>
            <a:r>
              <a:rPr lang="en-US" altLang="en-US" dirty="0"/>
              <a:t> 8 </a:t>
            </a:r>
            <a:r>
              <a:rPr lang="en-US" altLang="en-US" dirty="0" err="1"/>
              <a:t>гигабајта</a:t>
            </a:r>
            <a:r>
              <a:rPr lang="en-US" altLang="en-US" dirty="0"/>
              <a:t> RAM-а и Windows </a:t>
            </a:r>
            <a:r>
              <a:rPr lang="en-US" altLang="en-US" dirty="0" err="1"/>
              <a:t>оперативним</a:t>
            </a:r>
            <a:r>
              <a:rPr lang="en-US" altLang="en-US" dirty="0"/>
              <a:t> </a:t>
            </a:r>
            <a:r>
              <a:rPr lang="en-US" altLang="en-US" dirty="0" err="1"/>
              <a:t>системом</a:t>
            </a:r>
            <a:r>
              <a:rPr lang="en-US" altLang="en-US" dirty="0"/>
              <a:t>. </a:t>
            </a:r>
            <a:r>
              <a:rPr lang="en-US" altLang="en-US" dirty="0" err="1"/>
              <a:t>Оригинални</a:t>
            </a:r>
            <a:r>
              <a:rPr lang="en-US" altLang="en-US" dirty="0"/>
              <a:t> Whisper </a:t>
            </a:r>
            <a:r>
              <a:rPr lang="en-US" altLang="en-US" dirty="0" err="1"/>
              <a:t>извршаван</a:t>
            </a:r>
            <a:r>
              <a:rPr lang="en-US" altLang="en-US" dirty="0"/>
              <a:t> </a:t>
            </a:r>
            <a:r>
              <a:rPr lang="en-US" altLang="en-US" dirty="0" err="1"/>
              <a:t>је</a:t>
            </a:r>
            <a:r>
              <a:rPr lang="en-US" altLang="en-US" dirty="0"/>
              <a:t> </a:t>
            </a:r>
            <a:r>
              <a:rPr lang="en-US" altLang="en-US" dirty="0" err="1"/>
              <a:t>преко</a:t>
            </a:r>
            <a:r>
              <a:rPr lang="en-US" altLang="en-US" dirty="0"/>
              <a:t> </a:t>
            </a:r>
            <a:r>
              <a:rPr lang="en-US" altLang="en-US" dirty="0" err="1"/>
              <a:t>PyTorch</a:t>
            </a:r>
            <a:r>
              <a:rPr lang="en-US" altLang="en-US" dirty="0"/>
              <a:t>-а, а Faster-Whisper </a:t>
            </a:r>
            <a:r>
              <a:rPr lang="en-US" altLang="en-US" dirty="0" err="1"/>
              <a:t>преко</a:t>
            </a:r>
            <a:r>
              <a:rPr lang="en-US" altLang="en-US" dirty="0"/>
              <a:t> CTranslate2. </a:t>
            </a:r>
            <a:r>
              <a:rPr lang="en-US" altLang="en-US" dirty="0" err="1"/>
              <a:t>Исто</a:t>
            </a:r>
            <a:r>
              <a:rPr lang="en-US" altLang="en-US" dirty="0"/>
              <a:t> </a:t>
            </a:r>
            <a:r>
              <a:rPr lang="en-US" altLang="en-US" dirty="0" err="1"/>
              <a:t>окружење</a:t>
            </a:r>
            <a:r>
              <a:rPr lang="en-US" altLang="en-US" dirty="0"/>
              <a:t> </a:t>
            </a:r>
            <a:r>
              <a:rPr lang="en-US" altLang="en-US" dirty="0" err="1"/>
              <a:t>је</a:t>
            </a:r>
            <a:r>
              <a:rPr lang="en-US" altLang="en-US" dirty="0"/>
              <a:t> </a:t>
            </a:r>
            <a:r>
              <a:rPr lang="en-US" altLang="en-US" dirty="0" err="1"/>
              <a:t>важно</a:t>
            </a:r>
            <a:r>
              <a:rPr lang="en-US" altLang="en-US" dirty="0"/>
              <a:t> </a:t>
            </a:r>
            <a:r>
              <a:rPr lang="en-US" altLang="en-US" dirty="0" err="1"/>
              <a:t>јер</a:t>
            </a:r>
            <a:r>
              <a:rPr lang="en-US" altLang="en-US" dirty="0"/>
              <a:t> </a:t>
            </a:r>
            <a:r>
              <a:rPr lang="en-US" altLang="en-US" dirty="0" err="1"/>
              <a:t>омогућава</a:t>
            </a:r>
            <a:r>
              <a:rPr lang="en-US" altLang="en-US" dirty="0"/>
              <a:t> </a:t>
            </a:r>
            <a:r>
              <a:rPr lang="en-US" altLang="en-US" dirty="0" err="1"/>
              <a:t>да</a:t>
            </a:r>
            <a:r>
              <a:rPr lang="en-US" altLang="en-US" dirty="0"/>
              <a:t> </a:t>
            </a:r>
            <a:r>
              <a:rPr lang="en-US" altLang="en-US" dirty="0" err="1"/>
              <a:t>разлике</a:t>
            </a:r>
            <a:r>
              <a:rPr lang="en-US" altLang="en-US" dirty="0"/>
              <a:t> </a:t>
            </a:r>
            <a:r>
              <a:rPr lang="en-US" altLang="en-US" dirty="0" err="1"/>
              <a:t>између</a:t>
            </a:r>
            <a:r>
              <a:rPr lang="en-US" altLang="en-US" dirty="0"/>
              <a:t> </a:t>
            </a:r>
            <a:r>
              <a:rPr lang="en-US" altLang="en-US" dirty="0" err="1"/>
              <a:t>конфигурација</a:t>
            </a:r>
            <a:r>
              <a:rPr lang="en-US" altLang="en-US" dirty="0"/>
              <a:t> </a:t>
            </a:r>
            <a:r>
              <a:rPr lang="en-US" altLang="en-US" dirty="0" err="1"/>
              <a:t>поредимо</a:t>
            </a:r>
            <a:r>
              <a:rPr lang="en-US" altLang="en-US" dirty="0"/>
              <a:t> </a:t>
            </a:r>
            <a:r>
              <a:rPr lang="en-US" altLang="en-US" dirty="0" err="1"/>
              <a:t>под</a:t>
            </a:r>
            <a:r>
              <a:rPr lang="en-US" altLang="en-US" dirty="0"/>
              <a:t> </a:t>
            </a:r>
            <a:r>
              <a:rPr lang="en-US" altLang="en-US" dirty="0" err="1"/>
              <a:t>контролисаним</a:t>
            </a:r>
            <a:r>
              <a:rPr lang="en-US" altLang="en-US" dirty="0"/>
              <a:t> </a:t>
            </a:r>
            <a:r>
              <a:rPr lang="en-US" altLang="en-US" dirty="0" err="1"/>
              <a:t>условима</a:t>
            </a:r>
            <a:r>
              <a:rPr lang="en-US" altLang="en-US" dirty="0"/>
              <a:t>.</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За главне експерименте формирао сам скуп од 40 WAV снимака читаног српског говора. Снимке су направила три говорника, а подељени су у четири групе према трајању. За сваки снимак постоји одговарајући референтни транскрипт. То омогућава да различите конфигурације тестирам над истим улазима и директно поредим њихове резултате.</a:t>
            </a:r>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Поред главног скупа, формирани су мањи скупови за специфичне експерименте. Посебно су анализирани шум, српски и енглески говор, VAD и сегментна обрада у реалном времену. За доменску адаптацију припремљен је засебан скуп од 800 снимака. На тај начин сваки експеримент има податке прилагођене питању које се испитује.</a:t>
            </a: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Сваки аудио-запис повезан је са одговарајућим референтним текстом. У зависности од експеримента примењује се додатна обрада, као што су додавање шума, пауза или подела на сегменте. Након транскрипције, референтни и добијени текст се нормализују пре израчунавања WER-а. Основни принцип је да конфигурације које поредим добијају исти аудио и исти референтни текст.</a:t>
            </a: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Евалуација је организована као контролисано поређење. За тачност користим WER, а у појединим анализама просек, медијану и WER на нивоу корпуса. Перформансе процењујем кроз време, RTF, убрзање и латенцију. Време учитавања модела није укључено у време транскрипције, док се меморија мери као максимална вредност RSS-а у независном Python процесу.</a:t>
            </a:r>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09"/>
        <p:cNvGrpSpPr/>
        <p:nvPr/>
      </p:nvGrpSpPr>
      <p:grpSpPr>
        <a:xfrm>
          <a:off x="0" y="0"/>
          <a:ext cx="0" cy="0"/>
          <a:chOff x="0" y="0"/>
          <a:chExt cx="0" cy="0"/>
        </a:xfrm>
      </p:grpSpPr>
      <p:sp>
        <p:nvSpPr>
          <p:cNvPr id="3510" name="Google Shape;3510;g8714a43093_3_1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1" name="Google Shape;3511;g8714a43093_3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a:t>Први главни експеримент директно пореди оригинални Whisper и Faster-Whisper. Користим исти Base модел, истих 40 снимака и исто CPU окружење. Поређене су Whisper FP32, Faster-Whisper FP32 и Faster-Whisper INT8 конфигурације. Посматрам WER, време, RTF и меморијску потрошњу како бих видео шта Faster-Whisper практично доноси.</a:t>
            </a:r>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Када посматрамо тачност, Whisper FP32 и Faster-Whisper FP32 остварују потпуно исти просечан WER од 42,95%. Faster-Whisper INT8 има WER од 43,08%, што је само 0,13 процентних поена више. Дакле, у овом експерименту оптимизована FP32 имплементација није променила просечну тачност. Код INT8 квантизације одступање је веома мало.</a:t>
            </a: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Много већа разлика појављује се код времена обраде. Оригиналном Whisper-у је просечно потребно 21,72 секунде по снимку, Faster-Whisper FP32 варијанти 6,85, а INT8 варијанти 4,59 секунди. То значи да је Faster-Whisper FP32 око 3,17 пута, а INT8 око 4,73 пута бржи. Главна предност Faster-Whisper-а овде је, дакле, знатно ефикасније извршавање.</a:t>
            </a:r>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dirty="0" err="1"/>
              <a:t>Меморијска</a:t>
            </a:r>
            <a:r>
              <a:rPr lang="en-US" altLang="en-US" dirty="0"/>
              <a:t> </a:t>
            </a:r>
            <a:r>
              <a:rPr lang="en-US" altLang="en-US" dirty="0" err="1"/>
              <a:t>потрошња</a:t>
            </a:r>
            <a:r>
              <a:rPr lang="en-US" altLang="en-US" dirty="0"/>
              <a:t> </a:t>
            </a:r>
            <a:r>
              <a:rPr lang="en-US" altLang="en-US" dirty="0" err="1"/>
              <a:t>мерена</a:t>
            </a:r>
            <a:r>
              <a:rPr lang="en-US" altLang="en-US" dirty="0"/>
              <a:t> </a:t>
            </a:r>
            <a:r>
              <a:rPr lang="en-US" altLang="en-US" dirty="0" err="1"/>
              <a:t>је</a:t>
            </a:r>
            <a:r>
              <a:rPr lang="en-US" altLang="en-US" dirty="0"/>
              <a:t> </a:t>
            </a:r>
            <a:r>
              <a:rPr lang="en-US" altLang="en-US" dirty="0" err="1"/>
              <a:t>независно</a:t>
            </a:r>
            <a:r>
              <a:rPr lang="en-US" altLang="en-US" dirty="0"/>
              <a:t>, </a:t>
            </a:r>
            <a:r>
              <a:rPr lang="en-US" altLang="en-US" dirty="0" err="1"/>
              <a:t>тако</a:t>
            </a:r>
            <a:r>
              <a:rPr lang="en-US" altLang="en-US" dirty="0"/>
              <a:t> </a:t>
            </a:r>
            <a:r>
              <a:rPr lang="en-US" altLang="en-US" dirty="0" err="1"/>
              <a:t>што</a:t>
            </a:r>
            <a:r>
              <a:rPr lang="en-US" altLang="en-US" dirty="0"/>
              <a:t> </a:t>
            </a:r>
            <a:r>
              <a:rPr lang="en-US" altLang="en-US" dirty="0" err="1"/>
              <a:t>је</a:t>
            </a:r>
            <a:r>
              <a:rPr lang="en-US" altLang="en-US" dirty="0"/>
              <a:t> </a:t>
            </a:r>
            <a:r>
              <a:rPr lang="en-US" altLang="en-US" dirty="0" err="1"/>
              <a:t>свака</a:t>
            </a:r>
            <a:r>
              <a:rPr lang="en-US" altLang="en-US" dirty="0"/>
              <a:t> </a:t>
            </a:r>
            <a:r>
              <a:rPr lang="en-US" altLang="en-US" dirty="0" err="1"/>
              <a:t>конфигурација</a:t>
            </a:r>
            <a:r>
              <a:rPr lang="en-US" altLang="en-US" dirty="0"/>
              <a:t> </a:t>
            </a:r>
            <a:r>
              <a:rPr lang="en-US" altLang="en-US" dirty="0" err="1"/>
              <a:t>покретана</a:t>
            </a:r>
            <a:r>
              <a:rPr lang="en-US" altLang="en-US" dirty="0"/>
              <a:t> у </a:t>
            </a:r>
            <a:r>
              <a:rPr lang="en-US" altLang="en-US" dirty="0" err="1"/>
              <a:t>засебном</a:t>
            </a:r>
            <a:r>
              <a:rPr lang="en-US" altLang="en-US" dirty="0"/>
              <a:t> Python </a:t>
            </a:r>
            <a:r>
              <a:rPr lang="en-US" altLang="en-US" dirty="0" err="1"/>
              <a:t>процесу</a:t>
            </a:r>
            <a:r>
              <a:rPr lang="en-US" altLang="en-US" dirty="0"/>
              <a:t>. </a:t>
            </a:r>
            <a:r>
              <a:rPr lang="en-US" altLang="en-US" dirty="0" err="1"/>
              <a:t>Оригинални</a:t>
            </a:r>
            <a:r>
              <a:rPr lang="en-US" altLang="en-US" dirty="0"/>
              <a:t> Whisper </a:t>
            </a:r>
            <a:r>
              <a:rPr lang="en-US" altLang="en-US" dirty="0" err="1"/>
              <a:t>има</a:t>
            </a:r>
            <a:r>
              <a:rPr lang="en-US" altLang="en-US" dirty="0"/>
              <a:t> </a:t>
            </a:r>
            <a:r>
              <a:rPr lang="en-US" altLang="en-US" dirty="0" err="1"/>
              <a:t>максимални</a:t>
            </a:r>
            <a:r>
              <a:rPr lang="en-US" altLang="en-US" dirty="0"/>
              <a:t> RSS </a:t>
            </a:r>
            <a:r>
              <a:rPr lang="en-US" altLang="en-US" dirty="0" err="1"/>
              <a:t>од</a:t>
            </a:r>
            <a:r>
              <a:rPr lang="en-US" altLang="en-US" dirty="0"/>
              <a:t> </a:t>
            </a:r>
            <a:r>
              <a:rPr lang="en-US" altLang="en-US" dirty="0" err="1"/>
              <a:t>око</a:t>
            </a:r>
            <a:r>
              <a:rPr lang="en-US" altLang="en-US" dirty="0"/>
              <a:t> 1051 MB, Faster-Whisper FP32 </a:t>
            </a:r>
            <a:r>
              <a:rPr lang="en-US" altLang="en-US" dirty="0" err="1"/>
              <a:t>око</a:t>
            </a:r>
            <a:r>
              <a:rPr lang="en-US" altLang="en-US" dirty="0"/>
              <a:t> 693 MB, а INT8 </a:t>
            </a:r>
            <a:r>
              <a:rPr lang="en-US" altLang="en-US" dirty="0" err="1"/>
              <a:t>око</a:t>
            </a:r>
            <a:r>
              <a:rPr lang="en-US" altLang="en-US" dirty="0"/>
              <a:t> 494 MB. </a:t>
            </a:r>
            <a:r>
              <a:rPr lang="en-US" altLang="en-US" dirty="0" err="1"/>
              <a:t>То</a:t>
            </a:r>
            <a:r>
              <a:rPr lang="en-US" altLang="en-US" dirty="0"/>
              <a:t> </a:t>
            </a:r>
            <a:r>
              <a:rPr lang="en-US" altLang="en-US" dirty="0" err="1"/>
              <a:t>одговара</a:t>
            </a:r>
            <a:r>
              <a:rPr lang="en-US" altLang="en-US" dirty="0"/>
              <a:t> </a:t>
            </a:r>
            <a:r>
              <a:rPr lang="en-US" altLang="en-US" dirty="0" err="1"/>
              <a:t>смањењу</a:t>
            </a:r>
            <a:r>
              <a:rPr lang="en-US" altLang="en-US" dirty="0"/>
              <a:t> </a:t>
            </a:r>
            <a:r>
              <a:rPr lang="en-US" altLang="en-US" dirty="0" err="1"/>
              <a:t>од</a:t>
            </a:r>
            <a:r>
              <a:rPr lang="en-US" altLang="en-US" dirty="0"/>
              <a:t> </a:t>
            </a:r>
            <a:r>
              <a:rPr lang="en-US" altLang="en-US" dirty="0" err="1"/>
              <a:t>приближно</a:t>
            </a:r>
            <a:r>
              <a:rPr lang="en-US" altLang="en-US" dirty="0"/>
              <a:t> 34% </a:t>
            </a:r>
            <a:r>
              <a:rPr lang="en-US" altLang="en-US" dirty="0" err="1"/>
              <a:t>за</a:t>
            </a:r>
            <a:r>
              <a:rPr lang="en-US" altLang="en-US" dirty="0"/>
              <a:t> FP32 и 53% </a:t>
            </a:r>
            <a:r>
              <a:rPr lang="en-US" altLang="en-US" dirty="0" err="1"/>
              <a:t>за</a:t>
            </a:r>
            <a:r>
              <a:rPr lang="en-US" altLang="en-US" dirty="0"/>
              <a:t> INT8. </a:t>
            </a:r>
            <a:r>
              <a:rPr lang="en-US" altLang="en-US" dirty="0" err="1"/>
              <a:t>Важно</a:t>
            </a:r>
            <a:r>
              <a:rPr lang="en-US" altLang="en-US" dirty="0"/>
              <a:t> </a:t>
            </a:r>
            <a:r>
              <a:rPr lang="en-US" altLang="en-US" dirty="0" err="1"/>
              <a:t>је</a:t>
            </a:r>
            <a:r>
              <a:rPr lang="en-US" altLang="en-US" dirty="0"/>
              <a:t> </a:t>
            </a:r>
            <a:r>
              <a:rPr lang="en-US" altLang="en-US" dirty="0" err="1"/>
              <a:t>да</a:t>
            </a:r>
            <a:r>
              <a:rPr lang="en-US" altLang="en-US" dirty="0"/>
              <a:t> RSS </a:t>
            </a:r>
            <a:r>
              <a:rPr lang="en-US" altLang="en-US" dirty="0" err="1"/>
              <a:t>представља</a:t>
            </a:r>
            <a:r>
              <a:rPr lang="en-US" altLang="en-US" dirty="0"/>
              <a:t> </a:t>
            </a:r>
            <a:r>
              <a:rPr lang="en-US" altLang="en-US" dirty="0" err="1"/>
              <a:t>меморију</a:t>
            </a:r>
            <a:r>
              <a:rPr lang="en-US" altLang="en-US" dirty="0"/>
              <a:t> </a:t>
            </a:r>
            <a:r>
              <a:rPr lang="en-US" altLang="en-US" dirty="0" err="1"/>
              <a:t>целог</a:t>
            </a:r>
            <a:r>
              <a:rPr lang="en-US" altLang="en-US" dirty="0"/>
              <a:t> </a:t>
            </a:r>
            <a:r>
              <a:rPr lang="en-US" altLang="en-US" dirty="0" err="1"/>
              <a:t>процеса</a:t>
            </a:r>
            <a:r>
              <a:rPr lang="en-US" altLang="en-US" dirty="0"/>
              <a:t>, а </a:t>
            </a:r>
            <a:r>
              <a:rPr lang="en-US" altLang="en-US" dirty="0" err="1"/>
              <a:t>не</a:t>
            </a:r>
            <a:r>
              <a:rPr lang="en-US" altLang="en-US" dirty="0"/>
              <a:t> </a:t>
            </a:r>
            <a:r>
              <a:rPr lang="en-US" altLang="en-US" dirty="0" err="1"/>
              <a:t>само</a:t>
            </a:r>
            <a:r>
              <a:rPr lang="en-US" altLang="en-US" dirty="0"/>
              <a:t> </a:t>
            </a:r>
            <a:r>
              <a:rPr lang="en-US" altLang="en-US" dirty="0" err="1"/>
              <a:t>величину</a:t>
            </a:r>
            <a:r>
              <a:rPr lang="en-US" altLang="en-US" dirty="0"/>
              <a:t> </a:t>
            </a:r>
            <a:r>
              <a:rPr lang="en-US" altLang="en-US" dirty="0" err="1"/>
              <a:t>модела</a:t>
            </a:r>
            <a:r>
              <a:rPr lang="en-US" altLang="en-US" dirty="0"/>
              <a:t>.</a:t>
            </a:r>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dirty="0" err="1"/>
              <a:t>Збирни</a:t>
            </a:r>
            <a:r>
              <a:rPr lang="en-US" altLang="en-US" dirty="0"/>
              <a:t> </a:t>
            </a:r>
            <a:r>
              <a:rPr lang="en-US" altLang="en-US" dirty="0" err="1"/>
              <a:t>просек</a:t>
            </a:r>
            <a:r>
              <a:rPr lang="en-US" altLang="en-US" dirty="0"/>
              <a:t> </a:t>
            </a:r>
            <a:r>
              <a:rPr lang="en-US" altLang="en-US" dirty="0" err="1"/>
              <a:t>не</a:t>
            </a:r>
            <a:r>
              <a:rPr lang="en-US" altLang="en-US" dirty="0"/>
              <a:t> </a:t>
            </a:r>
            <a:r>
              <a:rPr lang="en-US" altLang="en-US" dirty="0" err="1"/>
              <a:t>показује</a:t>
            </a:r>
            <a:r>
              <a:rPr lang="en-US" altLang="en-US" dirty="0"/>
              <a:t> </a:t>
            </a:r>
            <a:r>
              <a:rPr lang="en-US" altLang="en-US" dirty="0" err="1"/>
              <a:t>целу</a:t>
            </a:r>
            <a:r>
              <a:rPr lang="en-US" altLang="en-US" dirty="0"/>
              <a:t> </a:t>
            </a:r>
            <a:r>
              <a:rPr lang="en-US" altLang="en-US" dirty="0" err="1"/>
              <a:t>слику</a:t>
            </a:r>
            <a:r>
              <a:rPr lang="en-US" altLang="en-US" dirty="0"/>
              <a:t>, </a:t>
            </a:r>
            <a:r>
              <a:rPr lang="en-US" altLang="en-US" dirty="0" err="1"/>
              <a:t>па</a:t>
            </a:r>
            <a:r>
              <a:rPr lang="en-US" altLang="en-US" dirty="0"/>
              <a:t> </a:t>
            </a:r>
            <a:r>
              <a:rPr lang="en-US" altLang="en-US" dirty="0" err="1"/>
              <a:t>сам</a:t>
            </a:r>
            <a:r>
              <a:rPr lang="en-US" altLang="en-US" dirty="0"/>
              <a:t> </a:t>
            </a:r>
            <a:r>
              <a:rPr lang="en-US" altLang="en-US" dirty="0" err="1"/>
              <a:t>резултате</a:t>
            </a:r>
            <a:r>
              <a:rPr lang="en-US" altLang="en-US" dirty="0"/>
              <a:t> </a:t>
            </a:r>
            <a:r>
              <a:rPr lang="en-US" altLang="en-US" dirty="0" err="1"/>
              <a:t>анализирао</a:t>
            </a:r>
            <a:r>
              <a:rPr lang="en-US" altLang="en-US" dirty="0"/>
              <a:t> и </a:t>
            </a:r>
            <a:r>
              <a:rPr lang="en-US" altLang="en-US" dirty="0" err="1"/>
              <a:t>према</a:t>
            </a:r>
            <a:r>
              <a:rPr lang="en-US" altLang="en-US" dirty="0"/>
              <a:t> </a:t>
            </a:r>
            <a:r>
              <a:rPr lang="en-US" altLang="en-US" dirty="0" err="1"/>
              <a:t>говорнику</a:t>
            </a:r>
            <a:r>
              <a:rPr lang="en-US" altLang="en-US" dirty="0"/>
              <a:t> и </a:t>
            </a:r>
            <a:r>
              <a:rPr lang="en-US" altLang="en-US" dirty="0" err="1"/>
              <a:t>трајању</a:t>
            </a:r>
            <a:r>
              <a:rPr lang="en-US" altLang="en-US" dirty="0"/>
              <a:t>. Faster-Whisper INT8 </a:t>
            </a:r>
            <a:r>
              <a:rPr lang="en-US" altLang="en-US" dirty="0" err="1"/>
              <a:t>има</a:t>
            </a:r>
            <a:r>
              <a:rPr lang="en-US" altLang="en-US" dirty="0"/>
              <a:t> </a:t>
            </a:r>
            <a:r>
              <a:rPr lang="en-US" altLang="en-US" dirty="0" err="1"/>
              <a:t>најнижи</a:t>
            </a:r>
            <a:r>
              <a:rPr lang="en-US" altLang="en-US" dirty="0"/>
              <a:t> RTF у </a:t>
            </a:r>
            <a:r>
              <a:rPr lang="en-US" altLang="en-US" dirty="0" err="1"/>
              <a:t>све</a:t>
            </a:r>
            <a:r>
              <a:rPr lang="en-US" altLang="en-US" dirty="0"/>
              <a:t> </a:t>
            </a:r>
            <a:r>
              <a:rPr lang="en-US" altLang="en-US" dirty="0" err="1"/>
              <a:t>четири</a:t>
            </a:r>
            <a:r>
              <a:rPr lang="en-US" altLang="en-US" dirty="0"/>
              <a:t> </a:t>
            </a:r>
            <a:r>
              <a:rPr lang="en-US" altLang="en-US" dirty="0" err="1"/>
              <a:t>групе</a:t>
            </a:r>
            <a:r>
              <a:rPr lang="en-US" altLang="en-US" dirty="0"/>
              <a:t> </a:t>
            </a:r>
            <a:r>
              <a:rPr lang="en-US" altLang="en-US" dirty="0" err="1"/>
              <a:t>трајања</a:t>
            </a:r>
            <a:r>
              <a:rPr lang="en-US" altLang="en-US" dirty="0"/>
              <a:t>. </a:t>
            </a:r>
            <a:r>
              <a:rPr lang="en-US" altLang="en-US" dirty="0" err="1"/>
              <a:t>Са</a:t>
            </a:r>
            <a:r>
              <a:rPr lang="en-US" altLang="en-US" dirty="0"/>
              <a:t> </a:t>
            </a:r>
            <a:r>
              <a:rPr lang="en-US" altLang="en-US" dirty="0" err="1"/>
              <a:t>друге</a:t>
            </a:r>
            <a:r>
              <a:rPr lang="en-US" altLang="en-US" dirty="0"/>
              <a:t> </a:t>
            </a:r>
            <a:r>
              <a:rPr lang="en-US" altLang="en-US" dirty="0" err="1"/>
              <a:t>стране</a:t>
            </a:r>
            <a:r>
              <a:rPr lang="en-US" altLang="en-US" dirty="0"/>
              <a:t>, </a:t>
            </a:r>
            <a:r>
              <a:rPr lang="en-US" altLang="en-US" dirty="0" err="1"/>
              <a:t>разлике</a:t>
            </a:r>
            <a:r>
              <a:rPr lang="en-US" altLang="en-US" dirty="0"/>
              <a:t> у WER-у </a:t>
            </a:r>
            <a:r>
              <a:rPr lang="en-US" altLang="en-US" dirty="0" err="1"/>
              <a:t>између</a:t>
            </a:r>
            <a:r>
              <a:rPr lang="en-US" altLang="en-US" dirty="0"/>
              <a:t> </a:t>
            </a:r>
            <a:r>
              <a:rPr lang="en-US" altLang="en-US" dirty="0" err="1"/>
              <a:t>говорника</a:t>
            </a:r>
            <a:r>
              <a:rPr lang="en-US" altLang="en-US" dirty="0"/>
              <a:t> </a:t>
            </a:r>
            <a:r>
              <a:rPr lang="en-US" altLang="en-US" dirty="0" err="1"/>
              <a:t>веће</a:t>
            </a:r>
            <a:r>
              <a:rPr lang="en-US" altLang="en-US" dirty="0"/>
              <a:t> </a:t>
            </a:r>
            <a:r>
              <a:rPr lang="en-US" altLang="en-US" dirty="0" err="1"/>
              <a:t>су</a:t>
            </a:r>
            <a:r>
              <a:rPr lang="en-US" altLang="en-US" dirty="0"/>
              <a:t> </a:t>
            </a:r>
            <a:r>
              <a:rPr lang="en-US" altLang="en-US" dirty="0" err="1"/>
              <a:t>од</a:t>
            </a:r>
            <a:r>
              <a:rPr lang="en-US" altLang="en-US" dirty="0"/>
              <a:t> </a:t>
            </a:r>
            <a:r>
              <a:rPr lang="en-US" altLang="en-US" dirty="0" err="1"/>
              <a:t>разлика</a:t>
            </a:r>
            <a:r>
              <a:rPr lang="en-US" altLang="en-US" dirty="0"/>
              <a:t> </a:t>
            </a:r>
            <a:r>
              <a:rPr lang="en-US" altLang="en-US" dirty="0" err="1"/>
              <a:t>које</a:t>
            </a:r>
            <a:r>
              <a:rPr lang="en-US" altLang="en-US" dirty="0"/>
              <a:t> </a:t>
            </a:r>
            <a:r>
              <a:rPr lang="en-US" altLang="en-US" dirty="0" err="1"/>
              <a:t>се</a:t>
            </a:r>
            <a:r>
              <a:rPr lang="en-US" altLang="en-US" dirty="0"/>
              <a:t> </a:t>
            </a:r>
            <a:r>
              <a:rPr lang="en-US" altLang="en-US" dirty="0" err="1"/>
              <a:t>могу</a:t>
            </a:r>
            <a:r>
              <a:rPr lang="en-US" altLang="en-US" dirty="0"/>
              <a:t> </a:t>
            </a:r>
            <a:r>
              <a:rPr lang="en-US" altLang="en-US" dirty="0" err="1"/>
              <a:t>објаснити</a:t>
            </a:r>
            <a:r>
              <a:rPr lang="en-US" altLang="en-US" dirty="0"/>
              <a:t> </a:t>
            </a:r>
            <a:r>
              <a:rPr lang="en-US" altLang="en-US" dirty="0" err="1"/>
              <a:t>самим</a:t>
            </a:r>
            <a:r>
              <a:rPr lang="en-US" altLang="en-US" dirty="0"/>
              <a:t> </a:t>
            </a:r>
            <a:r>
              <a:rPr lang="en-US" altLang="en-US" dirty="0" err="1"/>
              <a:t>трајањем</a:t>
            </a:r>
            <a:r>
              <a:rPr lang="en-US" altLang="en-US" dirty="0"/>
              <a:t>. </a:t>
            </a:r>
            <a:r>
              <a:rPr lang="en-US" altLang="en-US" dirty="0" err="1"/>
              <a:t>То</a:t>
            </a:r>
            <a:r>
              <a:rPr lang="en-US" altLang="en-US" dirty="0"/>
              <a:t> </a:t>
            </a:r>
            <a:r>
              <a:rPr lang="en-US" altLang="en-US" dirty="0" err="1"/>
              <a:t>показује</a:t>
            </a:r>
            <a:r>
              <a:rPr lang="en-US" altLang="en-US" dirty="0"/>
              <a:t> </a:t>
            </a:r>
            <a:r>
              <a:rPr lang="en-US" altLang="en-US" dirty="0" err="1"/>
              <a:t>да</a:t>
            </a:r>
            <a:r>
              <a:rPr lang="en-US" altLang="en-US" dirty="0"/>
              <a:t> </a:t>
            </a:r>
            <a:r>
              <a:rPr lang="en-US" altLang="en-US" dirty="0" err="1"/>
              <a:t>карактеристике</a:t>
            </a:r>
            <a:r>
              <a:rPr lang="en-US" altLang="en-US" dirty="0"/>
              <a:t> </a:t>
            </a:r>
            <a:r>
              <a:rPr lang="en-US" altLang="en-US" dirty="0" err="1"/>
              <a:t>говорника</a:t>
            </a:r>
            <a:r>
              <a:rPr lang="en-US" altLang="en-US" dirty="0"/>
              <a:t> </a:t>
            </a:r>
            <a:r>
              <a:rPr lang="en-US" altLang="en-US" dirty="0" err="1"/>
              <a:t>могу</a:t>
            </a:r>
            <a:r>
              <a:rPr lang="en-US" altLang="en-US" dirty="0"/>
              <a:t> </a:t>
            </a:r>
            <a:r>
              <a:rPr lang="en-US" altLang="en-US" dirty="0" err="1"/>
              <a:t>значајно</a:t>
            </a:r>
            <a:r>
              <a:rPr lang="en-US" altLang="en-US" dirty="0"/>
              <a:t> </a:t>
            </a:r>
            <a:r>
              <a:rPr lang="en-US" altLang="en-US" dirty="0" err="1"/>
              <a:t>да</a:t>
            </a:r>
            <a:r>
              <a:rPr lang="en-US" altLang="en-US" dirty="0"/>
              <a:t> </a:t>
            </a:r>
            <a:r>
              <a:rPr lang="en-US" altLang="en-US" dirty="0" err="1"/>
              <a:t>утичу</a:t>
            </a:r>
            <a:r>
              <a:rPr lang="en-US" altLang="en-US" dirty="0"/>
              <a:t> </a:t>
            </a:r>
            <a:r>
              <a:rPr lang="en-US" altLang="en-US" dirty="0" err="1"/>
              <a:t>на</a:t>
            </a:r>
            <a:r>
              <a:rPr lang="en-US" altLang="en-US" dirty="0"/>
              <a:t> </a:t>
            </a:r>
            <a:r>
              <a:rPr lang="en-US" altLang="en-US" dirty="0" err="1"/>
              <a:t>тачност</a:t>
            </a:r>
            <a:r>
              <a:rPr lang="en-US" altLang="en-US" dirty="0"/>
              <a:t> </a:t>
            </a:r>
            <a:r>
              <a:rPr lang="en-US" altLang="en-US" dirty="0" err="1"/>
              <a:t>препознавања</a:t>
            </a:r>
            <a:r>
              <a:rPr lang="en-US" altLang="en-US" dirty="0"/>
              <a:t>.</a:t>
            </a:r>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Следећи експеримент испитује како величина модела утиче на тачност. WER се смањује са 63,97% за Tiny на 13,14% за Medium модел. Посебно велики добитак види се при преласку са Base на Small, где се WER смањује за 20,87 процентних поена. Прелазак са Small на Medium доноси додатних 6,88 процентних поена, па видимо да већи модел јесте тачнији, али уз мањи додатни добитак.</a:t>
            </a:r>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Повећање величине модела има своју цену у времену обраде. Tiny, Base и Small имају просечни RTF испод један, док Medium достиже 1,0452. Medium захтева приближно 2,7 пута више времена од Small модела. Зато избор најтачнијег модела не мора аутоматски да буде и најбољи избор за практичну примену.</a:t>
            </a:r>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Следећи експеримент испитује робусност система на позадински шум. На десет чистих снимака програмски су додати бели и розе шум при седам различитих SNR вредности. Са чистим снимцима то даје укупно 150 транскрипција. Како SNR опада, шум постаје све израженији у односу на говор.</a:t>
            </a:r>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dirty="0" err="1"/>
              <a:t>На</a:t>
            </a:r>
            <a:r>
              <a:rPr lang="en-US" altLang="en-US" dirty="0"/>
              <a:t> </a:t>
            </a:r>
            <a:r>
              <a:rPr lang="en-US" altLang="en-US" dirty="0" err="1"/>
              <a:t>чистим</a:t>
            </a:r>
            <a:r>
              <a:rPr lang="en-US" altLang="en-US" dirty="0"/>
              <a:t> </a:t>
            </a:r>
            <a:r>
              <a:rPr lang="en-US" altLang="en-US" dirty="0" err="1"/>
              <a:t>снимцима</a:t>
            </a:r>
            <a:r>
              <a:rPr lang="en-US" altLang="en-US" dirty="0"/>
              <a:t> </a:t>
            </a:r>
            <a:r>
              <a:rPr lang="en-US" altLang="en-US" dirty="0" err="1"/>
              <a:t>просечни</a:t>
            </a:r>
            <a:r>
              <a:rPr lang="en-US" altLang="en-US" dirty="0"/>
              <a:t> WER </a:t>
            </a:r>
            <a:r>
              <a:rPr lang="en-US" altLang="en-US" dirty="0" err="1"/>
              <a:t>износи</a:t>
            </a:r>
            <a:r>
              <a:rPr lang="en-US" altLang="en-US" dirty="0"/>
              <a:t> 47,89%. </a:t>
            </a:r>
            <a:r>
              <a:rPr lang="en-US" altLang="en-US" dirty="0" err="1"/>
              <a:t>Већ</a:t>
            </a:r>
            <a:r>
              <a:rPr lang="en-US" altLang="en-US" dirty="0"/>
              <a:t> </a:t>
            </a:r>
            <a:r>
              <a:rPr lang="en-US" altLang="en-US" dirty="0" err="1"/>
              <a:t>при</a:t>
            </a:r>
            <a:r>
              <a:rPr lang="en-US" altLang="en-US" dirty="0"/>
              <a:t> 0 </a:t>
            </a:r>
            <a:r>
              <a:rPr lang="en-US" altLang="en-US" dirty="0" err="1"/>
              <a:t>децибела</a:t>
            </a:r>
            <a:r>
              <a:rPr lang="en-US" altLang="en-US" dirty="0"/>
              <a:t> </a:t>
            </a:r>
            <a:r>
              <a:rPr lang="en-US" altLang="en-US" dirty="0" err="1"/>
              <a:t>расте</a:t>
            </a:r>
            <a:r>
              <a:rPr lang="en-US" altLang="en-US" dirty="0"/>
              <a:t> </a:t>
            </a:r>
            <a:r>
              <a:rPr lang="en-US" altLang="en-US" dirty="0" err="1"/>
              <a:t>на</a:t>
            </a:r>
            <a:r>
              <a:rPr lang="en-US" altLang="en-US" dirty="0"/>
              <a:t> </a:t>
            </a:r>
            <a:r>
              <a:rPr lang="en-US" altLang="en-US" dirty="0" err="1"/>
              <a:t>приближно</a:t>
            </a:r>
            <a:r>
              <a:rPr lang="en-US" altLang="en-US" dirty="0"/>
              <a:t> 82,7%, а </a:t>
            </a:r>
            <a:r>
              <a:rPr lang="en-US" altLang="en-US" dirty="0" err="1"/>
              <a:t>код</a:t>
            </a:r>
            <a:r>
              <a:rPr lang="en-US" altLang="en-US" dirty="0"/>
              <a:t> </a:t>
            </a:r>
            <a:r>
              <a:rPr lang="en-US" altLang="en-US" dirty="0" err="1"/>
              <a:t>негативних</a:t>
            </a:r>
            <a:r>
              <a:rPr lang="en-US" altLang="en-US" dirty="0"/>
              <a:t> SNR </a:t>
            </a:r>
            <a:r>
              <a:rPr lang="en-US" altLang="en-US" dirty="0" err="1"/>
              <a:t>вредности</a:t>
            </a:r>
            <a:r>
              <a:rPr lang="en-US" altLang="en-US" dirty="0"/>
              <a:t> </a:t>
            </a:r>
            <a:r>
              <a:rPr lang="en-US" altLang="en-US" dirty="0" err="1"/>
              <a:t>достиже</a:t>
            </a:r>
            <a:r>
              <a:rPr lang="en-US" altLang="en-US" dirty="0"/>
              <a:t> и </a:t>
            </a:r>
            <a:r>
              <a:rPr lang="en-US" altLang="en-US" dirty="0" err="1"/>
              <a:t>преко</a:t>
            </a:r>
            <a:r>
              <a:rPr lang="en-US" altLang="en-US" dirty="0"/>
              <a:t> 100%. WER </a:t>
            </a:r>
            <a:r>
              <a:rPr lang="en-US" altLang="en-US" dirty="0" err="1"/>
              <a:t>може</a:t>
            </a:r>
            <a:r>
              <a:rPr lang="en-US" altLang="en-US" dirty="0"/>
              <a:t> </a:t>
            </a:r>
            <a:r>
              <a:rPr lang="en-US" altLang="en-US" dirty="0" err="1"/>
              <a:t>бити</a:t>
            </a:r>
            <a:r>
              <a:rPr lang="en-US" altLang="en-US" dirty="0"/>
              <a:t> </a:t>
            </a:r>
            <a:r>
              <a:rPr lang="en-US" altLang="en-US" dirty="0" err="1"/>
              <a:t>већи</a:t>
            </a:r>
            <a:r>
              <a:rPr lang="en-US" altLang="en-US" dirty="0"/>
              <a:t> </a:t>
            </a:r>
            <a:r>
              <a:rPr lang="en-US" altLang="en-US" dirty="0" err="1"/>
              <a:t>од</a:t>
            </a:r>
            <a:r>
              <a:rPr lang="en-US" altLang="en-US" dirty="0"/>
              <a:t> 100% </a:t>
            </a:r>
            <a:r>
              <a:rPr lang="en-US" altLang="en-US" dirty="0" err="1"/>
              <a:t>када</a:t>
            </a:r>
            <a:r>
              <a:rPr lang="en-US" altLang="en-US" dirty="0"/>
              <a:t> </a:t>
            </a:r>
            <a:r>
              <a:rPr lang="en-US" altLang="en-US" dirty="0" err="1"/>
              <a:t>модел</a:t>
            </a:r>
            <a:r>
              <a:rPr lang="en-US" altLang="en-US" dirty="0"/>
              <a:t> </a:t>
            </a:r>
            <a:r>
              <a:rPr lang="en-US" altLang="en-US" dirty="0" err="1"/>
              <a:t>генерише</a:t>
            </a:r>
            <a:r>
              <a:rPr lang="en-US" altLang="en-US" dirty="0"/>
              <a:t> </a:t>
            </a:r>
            <a:r>
              <a:rPr lang="en-US" altLang="en-US" dirty="0" err="1"/>
              <a:t>велики</a:t>
            </a:r>
            <a:r>
              <a:rPr lang="en-US" altLang="en-US" dirty="0"/>
              <a:t> </a:t>
            </a:r>
            <a:r>
              <a:rPr lang="en-US" altLang="en-US" dirty="0" err="1"/>
              <a:t>број</a:t>
            </a:r>
            <a:r>
              <a:rPr lang="en-US" altLang="en-US" dirty="0"/>
              <a:t> </a:t>
            </a:r>
            <a:r>
              <a:rPr lang="en-US" altLang="en-US" dirty="0" err="1"/>
              <a:t>додатних</a:t>
            </a:r>
            <a:r>
              <a:rPr lang="en-US" altLang="en-US" dirty="0"/>
              <a:t> </a:t>
            </a:r>
            <a:r>
              <a:rPr lang="en-US" altLang="en-US" dirty="0" err="1"/>
              <a:t>речи</a:t>
            </a:r>
            <a:r>
              <a:rPr lang="en-US" altLang="en-US" dirty="0"/>
              <a:t> </a:t>
            </a:r>
            <a:r>
              <a:rPr lang="en-US" altLang="en-US" dirty="0" err="1"/>
              <a:t>поред</a:t>
            </a:r>
            <a:r>
              <a:rPr lang="en-US" altLang="en-US" dirty="0"/>
              <a:t> </a:t>
            </a:r>
            <a:r>
              <a:rPr lang="en-US" altLang="en-US" dirty="0" err="1"/>
              <a:t>замена</a:t>
            </a:r>
            <a:r>
              <a:rPr lang="en-US" altLang="en-US" dirty="0"/>
              <a:t> и </a:t>
            </a:r>
            <a:r>
              <a:rPr lang="en-US" altLang="en-US" dirty="0" err="1"/>
              <a:t>изостављања</a:t>
            </a:r>
            <a:r>
              <a:rPr lang="en-US" altLang="en-US" dirty="0"/>
              <a:t>. </a:t>
            </a:r>
            <a:r>
              <a:rPr lang="en-US" altLang="en-US" dirty="0" err="1"/>
              <a:t>Нижи</a:t>
            </a:r>
            <a:r>
              <a:rPr lang="en-US" altLang="en-US" dirty="0"/>
              <a:t> WER </a:t>
            </a:r>
            <a:r>
              <a:rPr lang="en-US" altLang="en-US" dirty="0" err="1"/>
              <a:t>на</a:t>
            </a:r>
            <a:r>
              <a:rPr lang="en-US" altLang="en-US" dirty="0"/>
              <a:t> </a:t>
            </a:r>
            <a:r>
              <a:rPr lang="en-US" altLang="en-US" dirty="0" err="1"/>
              <a:t>минус</a:t>
            </a:r>
            <a:r>
              <a:rPr lang="en-US" altLang="en-US" dirty="0"/>
              <a:t> 15 у </a:t>
            </a:r>
            <a:r>
              <a:rPr lang="en-US" altLang="en-US" dirty="0" err="1"/>
              <a:t>односу</a:t>
            </a:r>
            <a:r>
              <a:rPr lang="en-US" altLang="en-US" dirty="0"/>
              <a:t> </a:t>
            </a:r>
            <a:r>
              <a:rPr lang="en-US" altLang="en-US" dirty="0" err="1"/>
              <a:t>на</a:t>
            </a:r>
            <a:r>
              <a:rPr lang="en-US" altLang="en-US" dirty="0"/>
              <a:t> </a:t>
            </a:r>
            <a:r>
              <a:rPr lang="en-US" altLang="en-US" dirty="0" err="1"/>
              <a:t>минус</a:t>
            </a:r>
            <a:r>
              <a:rPr lang="en-US" altLang="en-US" dirty="0"/>
              <a:t> 10 </a:t>
            </a:r>
            <a:r>
              <a:rPr lang="en-US" altLang="en-US" dirty="0" err="1"/>
              <a:t>децибела</a:t>
            </a:r>
            <a:r>
              <a:rPr lang="en-US" altLang="en-US" dirty="0"/>
              <a:t> </a:t>
            </a:r>
            <a:r>
              <a:rPr lang="en-US" altLang="en-US" dirty="0" err="1"/>
              <a:t>зато</a:t>
            </a:r>
            <a:r>
              <a:rPr lang="en-US" altLang="en-US" dirty="0"/>
              <a:t> </a:t>
            </a:r>
            <a:r>
              <a:rPr lang="en-US" altLang="en-US" dirty="0" err="1"/>
              <a:t>не</a:t>
            </a:r>
            <a:r>
              <a:rPr lang="en-US" altLang="en-US" dirty="0"/>
              <a:t> </a:t>
            </a:r>
            <a:r>
              <a:rPr lang="en-US" altLang="en-US" dirty="0" err="1"/>
              <a:t>треба</a:t>
            </a:r>
            <a:r>
              <a:rPr lang="en-US" altLang="en-US" dirty="0"/>
              <a:t> </a:t>
            </a:r>
            <a:r>
              <a:rPr lang="en-US" altLang="en-US" dirty="0" err="1"/>
              <a:t>тумачити</a:t>
            </a:r>
            <a:r>
              <a:rPr lang="en-US" altLang="en-US" dirty="0"/>
              <a:t> </a:t>
            </a:r>
            <a:r>
              <a:rPr lang="en-US" altLang="en-US" dirty="0" err="1"/>
              <a:t>као</a:t>
            </a:r>
            <a:r>
              <a:rPr lang="en-US" altLang="en-US" dirty="0"/>
              <a:t> </a:t>
            </a:r>
            <a:r>
              <a:rPr lang="en-US" altLang="en-US" dirty="0" err="1"/>
              <a:t>опоравак</a:t>
            </a:r>
            <a:r>
              <a:rPr lang="en-US" altLang="en-US" dirty="0"/>
              <a:t> </a:t>
            </a:r>
            <a:r>
              <a:rPr lang="en-US" altLang="en-US" dirty="0" err="1"/>
              <a:t>модела</a:t>
            </a:r>
            <a:r>
              <a:rPr lang="en-US" altLang="en-US" dirty="0"/>
              <a:t>.</a:t>
            </a:r>
            <a:endParaRPr lang="sr-Latn-RS" altLang="en-US" dirty="0"/>
          </a:p>
          <a:p>
            <a:pPr rtl="0"/>
            <a:r>
              <a:rPr lang="sr-Latn-RS" altLang="en-US" dirty="0"/>
              <a:t>Dodatak: </a:t>
            </a:r>
            <a:r>
              <a:rPr lang="sr-Latn-RS" b="1" dirty="0"/>
              <a:t>Beli šum</a:t>
            </a:r>
            <a:r>
              <a:rPr lang="sr-Latn-RS" dirty="0"/>
              <a:t> ima jednaku snagu na svakoj pojedinačnoj frekvenciji. Opseg od 100 do 200 Hz nosi istu energiju kao opseg od 10.000 do 10.100 Hz. Mi, međutim, zvuk ne čujemo linearno nego po oktavama (svaka oktava je udvostručenje frekvencije). Više oktave obuhvataju mnogo širi raspon herca, pa u belom šumu nose mnogo više energije. Zato beli šum zvuči oštro, visoko i "šuštavo", kao smetnje na starom televizoru ili radiju između stanica.</a:t>
            </a:r>
            <a:endParaRPr lang="sr-Latn-RS" dirty="0"/>
          </a:p>
          <a:p>
            <a:pPr rtl="0"/>
            <a:r>
              <a:rPr lang="sr-Latn-RS" b="1" dirty="0"/>
              <a:t>Roze šum</a:t>
            </a:r>
            <a:r>
              <a:rPr lang="sr-Latn-RS" dirty="0"/>
              <a:t> ima snagu koja opada sa porastom frekvencije, proporcionalno 1/f, odnosno za oko 3 dB po oktavi. Rezultat je da </a:t>
            </a:r>
            <a:r>
              <a:rPr lang="sr-Latn-RS" b="1" dirty="0"/>
              <a:t>svaka oktava ima jednaku energiju</a:t>
            </a:r>
            <a:r>
              <a:rPr lang="sr-Latn-RS" dirty="0"/>
              <a:t>. Pošto to odgovara načinu na koji uho percipira zvuk, roze šum zvuči ujednačenije, dublje i mekše, slično ravnomernoj kiši, vodopadu ili šumu lišća na vetru.</a:t>
            </a:r>
            <a:endParaRPr lang="sr-Latn-RS" dirty="0"/>
          </a:p>
          <a:p>
            <a:pPr rtl="0"/>
            <a:r>
              <a:rPr lang="sr-Latn-RS" dirty="0"/>
              <a:t>Primene se razlikuju:</a:t>
            </a:r>
            <a:endParaRPr lang="sr-Latn-RS" dirty="0"/>
          </a:p>
          <a:p>
            <a:pPr rtl="0"/>
            <a:r>
              <a:rPr lang="sr-Latn-RS" b="1" dirty="0"/>
              <a:t>Beli šum</a:t>
            </a:r>
            <a:r>
              <a:rPr lang="sr-Latn-RS" dirty="0"/>
              <a:t> se koristi u elektronici i obradi signala za testiranje, u sintetizatorima i za maskiranje zvukova (npr. aparati za spavanje, privatnost u kancelarijama).</a:t>
            </a:r>
            <a:endParaRPr lang="sr-Latn-RS" dirty="0"/>
          </a:p>
          <a:p>
            <a:pPr rtl="0"/>
            <a:r>
              <a:rPr lang="sr-Latn-RS" b="1" dirty="0"/>
              <a:t>Roze šum</a:t>
            </a:r>
            <a:r>
              <a:rPr lang="sr-Latn-RS" dirty="0"/>
              <a:t> je standard za kalibraciju audio opreme i akustiku prostorija, jer omogućava fer poređenje svih opsega. Mnogi ga i za spavanje ili koncentraciju doživljavaju kao prijatnijeg od belog. Pojavljuje se i u prirodi i biologiji, na primer u varijacijama otkucaja srca.</a:t>
            </a:r>
            <a:endParaRPr lang="sr-Latn-RS" dirty="0"/>
          </a:p>
          <a:p>
            <a:pPr marL="158750" indent="0">
              <a:buNone/>
            </a:pPr>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Овде сам исту Faster-Whisper Base INT8 конфигурацију тестирао на пет српских и пет енглеских синтетичких снимака. Просечни WER износи 3,50% за енглески и 44,17% за српски, што је разлика од 40,67 процентних поена. И RTF је нешто већи код српског говора. Ипак, због малог броја синтетичких снимака овај резултат важи само за услове овог експеримента и не треба га генерализовати на све говорнике и скупове.</a:t>
            </a:r>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Овде сам испитао вредности параметра beam size од 1, 3, 5 и 10. Са повећањем beam size-а време обраде расте, јер се разматра више кандидата током декодирања. Најнижи просечни WER добијен је за вредност 5. Зато је beam size=5 изабран као добар компромис између тачности и времена обраде.</a:t>
            </a:r>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Овим експериментом испитао сам колико INT8 убрзава четири различите величине Faster-Whisper модела. INT8 је био бржи од FP32 код Tiny, Base, Small и Medium модела. Убрзање се креће од 1,34 пута код Tiny до 1,52 пута код Medium модела. У коришћеном CPU окружењу корист INT8 квантизације је, дакле, присутна код свих испитаних величина.</a:t>
            </a:r>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dirty="0"/>
              <a:t>VAD </a:t>
            </a:r>
            <a:r>
              <a:rPr lang="en-US" altLang="en-US" dirty="0" err="1"/>
              <a:t>служи</a:t>
            </a:r>
            <a:r>
              <a:rPr lang="en-US" altLang="en-US" dirty="0"/>
              <a:t> </a:t>
            </a:r>
            <a:r>
              <a:rPr lang="en-US" altLang="en-US" dirty="0" err="1"/>
              <a:t>за</a:t>
            </a:r>
            <a:r>
              <a:rPr lang="en-US" altLang="en-US" dirty="0"/>
              <a:t> </a:t>
            </a:r>
            <a:r>
              <a:rPr lang="en-US" altLang="en-US" dirty="0" err="1"/>
              <a:t>препознавање</a:t>
            </a:r>
            <a:r>
              <a:rPr lang="en-US" altLang="en-US" dirty="0"/>
              <a:t> </a:t>
            </a:r>
            <a:r>
              <a:rPr lang="en-US" altLang="en-US" dirty="0" err="1"/>
              <a:t>делова</a:t>
            </a:r>
            <a:r>
              <a:rPr lang="en-US" altLang="en-US" dirty="0"/>
              <a:t> </a:t>
            </a:r>
            <a:r>
              <a:rPr lang="en-US" altLang="en-US" dirty="0" err="1"/>
              <a:t>аудио-сигнала</a:t>
            </a:r>
            <a:r>
              <a:rPr lang="en-US" altLang="en-US" dirty="0"/>
              <a:t> у </a:t>
            </a:r>
            <a:r>
              <a:rPr lang="en-US" altLang="en-US" dirty="0" err="1"/>
              <a:t>којима</a:t>
            </a:r>
            <a:r>
              <a:rPr lang="en-US" altLang="en-US" dirty="0"/>
              <a:t> </a:t>
            </a:r>
            <a:r>
              <a:rPr lang="en-US" altLang="en-US" dirty="0" err="1"/>
              <a:t>је</a:t>
            </a:r>
            <a:r>
              <a:rPr lang="en-US" altLang="en-US" dirty="0"/>
              <a:t> </a:t>
            </a:r>
            <a:r>
              <a:rPr lang="en-US" altLang="en-US" dirty="0" err="1"/>
              <a:t>присутан</a:t>
            </a:r>
            <a:r>
              <a:rPr lang="en-US" altLang="en-US" dirty="0"/>
              <a:t> </a:t>
            </a:r>
            <a:r>
              <a:rPr lang="en-US" altLang="en-US" dirty="0" err="1"/>
              <a:t>говор</a:t>
            </a:r>
            <a:r>
              <a:rPr lang="en-US" altLang="en-US" dirty="0"/>
              <a:t>. </a:t>
            </a:r>
            <a:r>
              <a:rPr lang="en-US" altLang="en-US" dirty="0" err="1"/>
              <a:t>Идеја</a:t>
            </a:r>
            <a:r>
              <a:rPr lang="en-US" altLang="en-US" dirty="0"/>
              <a:t> </a:t>
            </a:r>
            <a:r>
              <a:rPr lang="en-US" altLang="en-US" dirty="0" err="1"/>
              <a:t>је</a:t>
            </a:r>
            <a:r>
              <a:rPr lang="en-US" altLang="en-US" dirty="0"/>
              <a:t> </a:t>
            </a:r>
            <a:r>
              <a:rPr lang="en-US" altLang="en-US" dirty="0" err="1"/>
              <a:t>да</a:t>
            </a:r>
            <a:r>
              <a:rPr lang="en-US" altLang="en-US" dirty="0"/>
              <a:t> </a:t>
            </a:r>
            <a:r>
              <a:rPr lang="en-US" altLang="en-US" dirty="0" err="1"/>
              <a:t>систем</a:t>
            </a:r>
            <a:r>
              <a:rPr lang="en-US" altLang="en-US" dirty="0"/>
              <a:t> </a:t>
            </a:r>
            <a:r>
              <a:rPr lang="en-US" altLang="en-US" dirty="0" err="1"/>
              <a:t>не</a:t>
            </a:r>
            <a:r>
              <a:rPr lang="en-US" altLang="en-US" dirty="0"/>
              <a:t> </a:t>
            </a:r>
            <a:r>
              <a:rPr lang="en-US" altLang="en-US" dirty="0" err="1"/>
              <a:t>троши</a:t>
            </a:r>
            <a:r>
              <a:rPr lang="en-US" altLang="en-US" dirty="0"/>
              <a:t> </a:t>
            </a:r>
            <a:r>
              <a:rPr lang="en-US" altLang="en-US" dirty="0" err="1"/>
              <a:t>непотребно</a:t>
            </a:r>
            <a:r>
              <a:rPr lang="en-US" altLang="en-US" dirty="0"/>
              <a:t> </a:t>
            </a:r>
            <a:r>
              <a:rPr lang="en-US" altLang="en-US" dirty="0" err="1"/>
              <a:t>време</a:t>
            </a:r>
            <a:r>
              <a:rPr lang="en-US" altLang="en-US" dirty="0"/>
              <a:t> </a:t>
            </a:r>
            <a:r>
              <a:rPr lang="en-US" altLang="en-US" dirty="0" err="1"/>
              <a:t>на</a:t>
            </a:r>
            <a:r>
              <a:rPr lang="en-US" altLang="en-US" dirty="0"/>
              <a:t> </a:t>
            </a:r>
            <a:r>
              <a:rPr lang="en-US" altLang="en-US" dirty="0" err="1"/>
              <a:t>дуже</a:t>
            </a:r>
            <a:r>
              <a:rPr lang="en-US" altLang="en-US" dirty="0"/>
              <a:t> </a:t>
            </a:r>
            <a:r>
              <a:rPr lang="en-US" altLang="en-US" dirty="0" err="1"/>
              <a:t>периоде</a:t>
            </a:r>
            <a:r>
              <a:rPr lang="en-US" altLang="en-US" dirty="0"/>
              <a:t> </a:t>
            </a:r>
            <a:r>
              <a:rPr lang="en-US" altLang="en-US" dirty="0" err="1"/>
              <a:t>тишине</a:t>
            </a:r>
            <a:r>
              <a:rPr lang="en-US" altLang="en-US" dirty="0"/>
              <a:t>. </a:t>
            </a:r>
            <a:r>
              <a:rPr lang="en-US" altLang="en-US" dirty="0" err="1"/>
              <a:t>Поређивао</a:t>
            </a:r>
            <a:r>
              <a:rPr lang="en-US" altLang="en-US" dirty="0"/>
              <a:t> </a:t>
            </a:r>
            <a:r>
              <a:rPr lang="en-US" altLang="en-US" dirty="0" err="1"/>
              <a:t>сам</a:t>
            </a:r>
            <a:r>
              <a:rPr lang="en-US" altLang="en-US" dirty="0"/>
              <a:t> </a:t>
            </a:r>
            <a:r>
              <a:rPr lang="en-US" altLang="en-US" dirty="0" err="1"/>
              <a:t>исти</a:t>
            </a:r>
            <a:r>
              <a:rPr lang="en-US" altLang="en-US" dirty="0"/>
              <a:t> Base INT8 </a:t>
            </a:r>
            <a:r>
              <a:rPr lang="en-US" altLang="en-US" dirty="0" err="1"/>
              <a:t>модел</a:t>
            </a:r>
            <a:r>
              <a:rPr lang="en-US" altLang="en-US" dirty="0"/>
              <a:t> </a:t>
            </a:r>
            <a:r>
              <a:rPr lang="en-US" altLang="en-US" dirty="0" err="1"/>
              <a:t>са</a:t>
            </a:r>
            <a:r>
              <a:rPr lang="en-US" altLang="en-US" dirty="0"/>
              <a:t> </a:t>
            </a:r>
            <a:r>
              <a:rPr lang="en-US" altLang="en-US" dirty="0" err="1"/>
              <a:t>искљученим</a:t>
            </a:r>
            <a:r>
              <a:rPr lang="en-US" altLang="en-US" dirty="0"/>
              <a:t> и </a:t>
            </a:r>
            <a:r>
              <a:rPr lang="en-US" altLang="en-US" dirty="0" err="1"/>
              <a:t>укљученим</a:t>
            </a:r>
            <a:r>
              <a:rPr lang="en-US" altLang="en-US" dirty="0"/>
              <a:t> VAD-</a:t>
            </a:r>
            <a:r>
              <a:rPr lang="en-US" altLang="en-US" dirty="0" err="1"/>
              <a:t>ом</a:t>
            </a:r>
            <a:r>
              <a:rPr lang="en-US" altLang="en-US" dirty="0"/>
              <a:t> </a:t>
            </a:r>
            <a:r>
              <a:rPr lang="en-US" altLang="en-US" dirty="0" err="1"/>
              <a:t>на</a:t>
            </a:r>
            <a:r>
              <a:rPr lang="en-US" altLang="en-US" dirty="0"/>
              <a:t> </a:t>
            </a:r>
            <a:r>
              <a:rPr lang="en-US" altLang="en-US" dirty="0" err="1"/>
              <a:t>српским</a:t>
            </a:r>
            <a:r>
              <a:rPr lang="en-US" altLang="en-US" dirty="0"/>
              <a:t> и </a:t>
            </a:r>
            <a:r>
              <a:rPr lang="en-US" altLang="en-US" dirty="0" err="1"/>
              <a:t>енглеским</a:t>
            </a:r>
            <a:r>
              <a:rPr lang="en-US" altLang="en-US" dirty="0"/>
              <a:t> </a:t>
            </a:r>
            <a:r>
              <a:rPr lang="en-US" altLang="en-US" dirty="0" err="1"/>
              <a:t>снимцима</a:t>
            </a:r>
            <a:r>
              <a:rPr lang="en-US" altLang="en-US" dirty="0"/>
              <a:t> </a:t>
            </a:r>
            <a:r>
              <a:rPr lang="en-US" altLang="en-US" dirty="0" err="1"/>
              <a:t>са</a:t>
            </a:r>
            <a:r>
              <a:rPr lang="en-US" altLang="en-US" dirty="0"/>
              <a:t> </a:t>
            </a:r>
            <a:r>
              <a:rPr lang="en-US" altLang="en-US" dirty="0" err="1"/>
              <a:t>паузама</a:t>
            </a:r>
            <a:r>
              <a:rPr lang="en-US" altLang="en-US" dirty="0"/>
              <a:t>. </a:t>
            </a:r>
            <a:r>
              <a:rPr lang="en-US" altLang="en-US" dirty="0" err="1"/>
              <a:t>Циљ</a:t>
            </a:r>
            <a:r>
              <a:rPr lang="en-US" altLang="en-US" dirty="0"/>
              <a:t> </a:t>
            </a:r>
            <a:r>
              <a:rPr lang="en-US" altLang="en-US" dirty="0" err="1"/>
              <a:t>је</a:t>
            </a:r>
            <a:r>
              <a:rPr lang="en-US" altLang="en-US" dirty="0"/>
              <a:t> </a:t>
            </a:r>
            <a:r>
              <a:rPr lang="en-US" altLang="en-US" dirty="0" err="1"/>
              <a:t>био</a:t>
            </a:r>
            <a:r>
              <a:rPr lang="en-US" altLang="en-US" dirty="0"/>
              <a:t> </a:t>
            </a:r>
            <a:r>
              <a:rPr lang="en-US" altLang="en-US" dirty="0" err="1"/>
              <a:t>да</a:t>
            </a:r>
            <a:r>
              <a:rPr lang="en-US" altLang="en-US" dirty="0"/>
              <a:t> </a:t>
            </a:r>
            <a:r>
              <a:rPr lang="en-US" altLang="en-US" dirty="0" err="1"/>
              <a:t>видим</a:t>
            </a:r>
            <a:r>
              <a:rPr lang="en-US" altLang="en-US" dirty="0"/>
              <a:t> </a:t>
            </a:r>
            <a:r>
              <a:rPr lang="en-US" altLang="en-US" dirty="0" err="1"/>
              <a:t>колико</a:t>
            </a:r>
            <a:r>
              <a:rPr lang="en-US" altLang="en-US" dirty="0"/>
              <a:t> VAD </a:t>
            </a:r>
            <a:r>
              <a:rPr lang="en-US" altLang="en-US" dirty="0" err="1"/>
              <a:t>може</a:t>
            </a:r>
            <a:r>
              <a:rPr lang="en-US" altLang="en-US" dirty="0"/>
              <a:t> </a:t>
            </a:r>
            <a:r>
              <a:rPr lang="en-US" altLang="en-US" dirty="0" err="1"/>
              <a:t>да</a:t>
            </a:r>
            <a:r>
              <a:rPr lang="en-US" altLang="en-US" dirty="0"/>
              <a:t> </a:t>
            </a:r>
            <a:r>
              <a:rPr lang="en-US" altLang="en-US" dirty="0" err="1"/>
              <a:t>смањи</a:t>
            </a:r>
            <a:r>
              <a:rPr lang="en-US" altLang="en-US" dirty="0"/>
              <a:t> </a:t>
            </a:r>
            <a:r>
              <a:rPr lang="en-US" altLang="en-US" dirty="0" err="1"/>
              <a:t>време</a:t>
            </a:r>
            <a:r>
              <a:rPr lang="en-US" altLang="en-US" dirty="0"/>
              <a:t> </a:t>
            </a:r>
            <a:r>
              <a:rPr lang="en-US" altLang="en-US" dirty="0" err="1"/>
              <a:t>обраде</a:t>
            </a:r>
            <a:r>
              <a:rPr lang="en-US" altLang="en-US" dirty="0"/>
              <a:t> </a:t>
            </a:r>
            <a:r>
              <a:rPr lang="en-US" altLang="en-US" dirty="0" err="1"/>
              <a:t>без</a:t>
            </a:r>
            <a:r>
              <a:rPr lang="en-US" altLang="en-US" dirty="0"/>
              <a:t> </a:t>
            </a:r>
            <a:r>
              <a:rPr lang="en-US" altLang="en-US" dirty="0" err="1"/>
              <a:t>погоршања</a:t>
            </a:r>
            <a:r>
              <a:rPr lang="en-US" altLang="en-US" dirty="0"/>
              <a:t> </a:t>
            </a:r>
            <a:r>
              <a:rPr lang="en-US" altLang="en-US" dirty="0" err="1"/>
              <a:t>транскрипције</a:t>
            </a:r>
            <a:r>
              <a:rPr lang="en-US" altLang="en-US" dirty="0"/>
              <a:t>.</a:t>
            </a:r>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Ефекат VAD-а није исти за све типове снимака. Код енглеског синтетичког говора време је смањено за око 21%, док је код српског читаног говора смањење било око 3%. При томе није дошло до погоршања WER-а у испитаним групама. Главни закључак је да корист VAD-а зависи од структуре аудио-сигнала и количине периода без говора.</a:t>
            </a:r>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Овај експеримент није прави улаз са микрофона, већ симулација постепеног пристизања аудио-сигнала. Пет најдужих снимака делио сам на независне сегменте од 2, 5 и 10 секунди. За поређење је коришћена и транскрипција целог снимка. Посматрао сам WER, RTF, латенцију сегмента и време до првог резултата, односно TTFR.</a:t>
            </a:r>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Овде се јасно види основни компромис сегментне обраде. Краћи сегменти омогућавају да први резултат добијемо раније, али модел има мање контекста и WER значајно расте. Са повећањем сегмента на 10 секунди тачност се приближава транскрипцији целог снимка. Дакле, најмања латенција сама по себи није довољна ако се превише изгуби на тачности.</a:t>
            </a:r>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dirty="0" err="1"/>
              <a:t>Да</a:t>
            </a:r>
            <a:r>
              <a:rPr lang="en-US" altLang="en-US" dirty="0"/>
              <a:t> </a:t>
            </a:r>
            <a:r>
              <a:rPr lang="en-US" altLang="en-US" dirty="0" err="1"/>
              <a:t>бих</a:t>
            </a:r>
            <a:r>
              <a:rPr lang="en-US" altLang="en-US" dirty="0"/>
              <a:t> </a:t>
            </a:r>
            <a:r>
              <a:rPr lang="en-US" altLang="en-US" dirty="0" err="1"/>
              <a:t>изабрао</a:t>
            </a:r>
            <a:r>
              <a:rPr lang="en-US" altLang="en-US" dirty="0"/>
              <a:t> </a:t>
            </a:r>
            <a:r>
              <a:rPr lang="en-US" altLang="en-US" dirty="0" err="1"/>
              <a:t>величину</a:t>
            </a:r>
            <a:r>
              <a:rPr lang="en-US" altLang="en-US" dirty="0"/>
              <a:t> </a:t>
            </a:r>
            <a:r>
              <a:rPr lang="en-US" altLang="en-US" dirty="0" err="1"/>
              <a:t>сегмента</a:t>
            </a:r>
            <a:r>
              <a:rPr lang="en-US" altLang="en-US" dirty="0"/>
              <a:t>, </a:t>
            </a:r>
            <a:r>
              <a:rPr lang="en-US" altLang="en-US" dirty="0" err="1"/>
              <a:t>заједно</a:t>
            </a:r>
            <a:r>
              <a:rPr lang="en-US" altLang="en-US" dirty="0"/>
              <a:t> </a:t>
            </a:r>
            <a:r>
              <a:rPr lang="en-US" altLang="en-US" dirty="0" err="1"/>
              <a:t>сам</a:t>
            </a:r>
            <a:r>
              <a:rPr lang="en-US" altLang="en-US" dirty="0"/>
              <a:t> </a:t>
            </a:r>
            <a:r>
              <a:rPr lang="en-US" altLang="en-US" dirty="0" err="1"/>
              <a:t>посматрао</a:t>
            </a:r>
            <a:r>
              <a:rPr lang="en-US" altLang="en-US" dirty="0"/>
              <a:t> WER, RTF и </a:t>
            </a:r>
            <a:r>
              <a:rPr lang="en-US" altLang="en-US" dirty="0" err="1"/>
              <a:t>кашњење</a:t>
            </a:r>
            <a:r>
              <a:rPr lang="en-US" altLang="en-US" dirty="0"/>
              <a:t>. </a:t>
            </a:r>
            <a:r>
              <a:rPr lang="en-US" altLang="en-US" dirty="0" err="1"/>
              <a:t>Од</a:t>
            </a:r>
            <a:r>
              <a:rPr lang="en-US" altLang="en-US" dirty="0"/>
              <a:t> </a:t>
            </a:r>
            <a:r>
              <a:rPr lang="en-US" altLang="en-US" dirty="0" err="1"/>
              <a:t>испитаних</a:t>
            </a:r>
            <a:r>
              <a:rPr lang="en-US" altLang="en-US" dirty="0"/>
              <a:t> </a:t>
            </a:r>
            <a:r>
              <a:rPr lang="en-US" altLang="en-US" dirty="0" err="1"/>
              <a:t>вредности</a:t>
            </a:r>
            <a:r>
              <a:rPr lang="en-US" altLang="en-US" dirty="0"/>
              <a:t> 2, 5 и 10 </a:t>
            </a:r>
            <a:r>
              <a:rPr lang="en-US" altLang="en-US" dirty="0" err="1"/>
              <a:t>секунди</a:t>
            </a:r>
            <a:r>
              <a:rPr lang="en-US" altLang="en-US" dirty="0"/>
              <a:t>, </a:t>
            </a:r>
            <a:r>
              <a:rPr lang="en-US" altLang="en-US" dirty="0" err="1"/>
              <a:t>сегмент</a:t>
            </a:r>
            <a:r>
              <a:rPr lang="en-US" altLang="en-US" dirty="0"/>
              <a:t> </a:t>
            </a:r>
            <a:r>
              <a:rPr lang="en-US" altLang="en-US" dirty="0" err="1"/>
              <a:t>од</a:t>
            </a:r>
            <a:r>
              <a:rPr lang="en-US" altLang="en-US" dirty="0"/>
              <a:t> 10 </a:t>
            </a:r>
            <a:r>
              <a:rPr lang="en-US" altLang="en-US" dirty="0" err="1"/>
              <a:t>секунди</a:t>
            </a:r>
            <a:r>
              <a:rPr lang="en-US" altLang="en-US" dirty="0"/>
              <a:t> </a:t>
            </a:r>
            <a:r>
              <a:rPr lang="en-US" altLang="en-US" dirty="0" err="1"/>
              <a:t>дао</a:t>
            </a:r>
            <a:r>
              <a:rPr lang="en-US" altLang="en-US" dirty="0"/>
              <a:t> </a:t>
            </a:r>
            <a:r>
              <a:rPr lang="en-US" altLang="en-US" dirty="0" err="1"/>
              <a:t>је</a:t>
            </a:r>
            <a:r>
              <a:rPr lang="en-US" altLang="en-US" dirty="0"/>
              <a:t> </a:t>
            </a:r>
            <a:r>
              <a:rPr lang="en-US" altLang="en-US" dirty="0" err="1"/>
              <a:t>најповољнији</a:t>
            </a:r>
            <a:r>
              <a:rPr lang="en-US" altLang="en-US" dirty="0"/>
              <a:t> </a:t>
            </a:r>
            <a:r>
              <a:rPr lang="en-US" altLang="en-US" dirty="0" err="1"/>
              <a:t>укупни</a:t>
            </a:r>
            <a:r>
              <a:rPr lang="en-US" altLang="en-US" dirty="0"/>
              <a:t> </a:t>
            </a:r>
            <a:r>
              <a:rPr lang="en-US" altLang="en-US" dirty="0" err="1"/>
              <a:t>компромис</a:t>
            </a:r>
            <a:r>
              <a:rPr lang="en-US" altLang="en-US" dirty="0"/>
              <a:t>. О</a:t>
            </a:r>
            <a:r>
              <a:rPr lang="sr-Cyrl-RS" altLang="en-US" dirty="0"/>
              <a:t>во</a:t>
            </a:r>
            <a:r>
              <a:rPr lang="en-US" altLang="en-US" dirty="0"/>
              <a:t> </a:t>
            </a:r>
            <a:r>
              <a:rPr lang="en-US" altLang="en-US" dirty="0" err="1"/>
              <a:t>није</a:t>
            </a:r>
            <a:r>
              <a:rPr lang="en-US" altLang="en-US" dirty="0"/>
              <a:t> </a:t>
            </a:r>
            <a:r>
              <a:rPr lang="en-US" altLang="en-US" dirty="0" err="1"/>
              <a:t>универзално</a:t>
            </a:r>
            <a:r>
              <a:rPr lang="en-US" altLang="en-US" dirty="0"/>
              <a:t> </a:t>
            </a:r>
            <a:r>
              <a:rPr lang="en-US" altLang="en-US" dirty="0" err="1"/>
              <a:t>оптимална</a:t>
            </a:r>
            <a:r>
              <a:rPr lang="en-US" altLang="en-US" dirty="0"/>
              <a:t> </a:t>
            </a:r>
            <a:r>
              <a:rPr lang="en-US" altLang="en-US" dirty="0" err="1"/>
              <a:t>вредност</a:t>
            </a:r>
            <a:r>
              <a:rPr lang="en-US" altLang="en-US" dirty="0"/>
              <a:t>, </a:t>
            </a:r>
            <a:r>
              <a:rPr lang="en-US" altLang="en-US" dirty="0" err="1"/>
              <a:t>већ</a:t>
            </a:r>
            <a:r>
              <a:rPr lang="en-US" altLang="en-US" dirty="0"/>
              <a:t> </a:t>
            </a:r>
            <a:r>
              <a:rPr lang="en-US" altLang="en-US" dirty="0" err="1"/>
              <a:t>најбољи</a:t>
            </a:r>
            <a:r>
              <a:rPr lang="en-US" altLang="en-US" dirty="0"/>
              <a:t> </a:t>
            </a:r>
            <a:r>
              <a:rPr lang="en-US" altLang="en-US" dirty="0" err="1"/>
              <a:t>резултат</a:t>
            </a:r>
            <a:r>
              <a:rPr lang="en-US" altLang="en-US" dirty="0"/>
              <a:t> </a:t>
            </a:r>
            <a:r>
              <a:rPr lang="en-US" altLang="en-US" dirty="0" err="1"/>
              <a:t>међу</a:t>
            </a:r>
            <a:r>
              <a:rPr lang="en-US" altLang="en-US" dirty="0"/>
              <a:t> </a:t>
            </a:r>
            <a:r>
              <a:rPr lang="en-US" altLang="en-US" dirty="0" err="1"/>
              <a:t>величинама</a:t>
            </a:r>
            <a:r>
              <a:rPr lang="en-US" altLang="en-US" dirty="0"/>
              <a:t> </a:t>
            </a:r>
            <a:r>
              <a:rPr lang="en-US" altLang="en-US" dirty="0" err="1"/>
              <a:t>испитаним</a:t>
            </a:r>
            <a:r>
              <a:rPr lang="en-US" altLang="en-US" dirty="0"/>
              <a:t> у </a:t>
            </a:r>
            <a:r>
              <a:rPr lang="en-US" altLang="en-US" dirty="0" err="1"/>
              <a:t>овом</a:t>
            </a:r>
            <a:r>
              <a:rPr lang="en-US" altLang="en-US" dirty="0"/>
              <a:t> </a:t>
            </a:r>
            <a:r>
              <a:rPr lang="en-US" altLang="en-US" dirty="0" err="1"/>
              <a:t>експерименту</a:t>
            </a:r>
            <a:r>
              <a:rPr lang="en-US" altLang="en-US" dirty="0"/>
              <a:t>. </a:t>
            </a:r>
            <a:r>
              <a:rPr lang="en-US" altLang="en-US" dirty="0" err="1"/>
              <a:t>Ова</a:t>
            </a:r>
            <a:r>
              <a:rPr lang="en-US" altLang="en-US" dirty="0"/>
              <a:t> </a:t>
            </a:r>
            <a:r>
              <a:rPr lang="en-US" altLang="en-US" dirty="0" err="1"/>
              <a:t>вредност</a:t>
            </a:r>
            <a:r>
              <a:rPr lang="en-US" altLang="en-US" dirty="0"/>
              <a:t> </a:t>
            </a:r>
            <a:r>
              <a:rPr lang="en-US" altLang="en-US" dirty="0" err="1"/>
              <a:t>је</a:t>
            </a:r>
            <a:r>
              <a:rPr lang="en-US" altLang="en-US" dirty="0"/>
              <a:t> </a:t>
            </a:r>
            <a:r>
              <a:rPr lang="en-US" altLang="en-US" dirty="0" err="1"/>
              <a:t>зато</a:t>
            </a:r>
            <a:r>
              <a:rPr lang="en-US" altLang="en-US" dirty="0"/>
              <a:t> </a:t>
            </a:r>
            <a:r>
              <a:rPr lang="en-US" altLang="en-US" dirty="0" err="1"/>
              <a:t>касније</a:t>
            </a:r>
            <a:r>
              <a:rPr lang="en-US" altLang="en-US" dirty="0"/>
              <a:t> </a:t>
            </a:r>
            <a:r>
              <a:rPr lang="en-US" altLang="en-US" dirty="0" err="1"/>
              <a:t>укључена</a:t>
            </a:r>
            <a:r>
              <a:rPr lang="en-US" altLang="en-US" dirty="0"/>
              <a:t> у </a:t>
            </a:r>
            <a:r>
              <a:rPr lang="en-US" altLang="en-US" dirty="0" err="1"/>
              <a:t>завршни</a:t>
            </a:r>
            <a:r>
              <a:rPr lang="en-US" altLang="en-US" dirty="0"/>
              <a:t> </a:t>
            </a:r>
            <a:r>
              <a:rPr lang="en-US" altLang="en-US" dirty="0" err="1"/>
              <a:t>профил</a:t>
            </a:r>
            <a:r>
              <a:rPr lang="en-US" altLang="en-US" dirty="0"/>
              <a:t> </a:t>
            </a:r>
            <a:r>
              <a:rPr lang="en-US" altLang="en-US" dirty="0" err="1"/>
              <a:t>система</a:t>
            </a:r>
            <a:r>
              <a:rPr lang="en-US" altLang="en-US" dirty="0"/>
              <a:t>.</a:t>
            </a:r>
            <a:endParaRPr lang="en-US"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Када све експерименте посматрамо заједно, видимо да ниједна метрика није довољна сама за себе. Већи модели побољшавају тачност, али повећавају време и ресурсне захтеве, док INT8 побољшава ефикасност. Beam size, VAD, шум и величина сегмента такође мењају однос тачности и брзине. Зато коначну конфигурацију треба бирати истовременим посматрањем више критеријума.</a:t>
            </a:r>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dirty="0" err="1"/>
              <a:t>За</a:t>
            </a:r>
            <a:r>
              <a:rPr lang="en-US" altLang="en-US" dirty="0"/>
              <a:t> </a:t>
            </a:r>
            <a:r>
              <a:rPr lang="en-US" altLang="en-US" dirty="0" err="1"/>
              <a:t>избор</a:t>
            </a:r>
            <a:r>
              <a:rPr lang="en-US" altLang="en-US" dirty="0"/>
              <a:t> </a:t>
            </a:r>
            <a:r>
              <a:rPr lang="en-US" altLang="en-US" dirty="0" err="1"/>
              <a:t>конфигурације</a:t>
            </a:r>
            <a:r>
              <a:rPr lang="en-US" altLang="en-US" dirty="0"/>
              <a:t> </a:t>
            </a:r>
            <a:r>
              <a:rPr lang="en-US" altLang="en-US" dirty="0" err="1"/>
              <a:t>користио</a:t>
            </a:r>
            <a:r>
              <a:rPr lang="en-US" altLang="en-US" dirty="0"/>
              <a:t> </a:t>
            </a:r>
            <a:r>
              <a:rPr lang="en-US" altLang="en-US" dirty="0" err="1"/>
              <a:t>сам</a:t>
            </a:r>
            <a:r>
              <a:rPr lang="en-US" altLang="en-US" dirty="0"/>
              <a:t> </a:t>
            </a:r>
            <a:r>
              <a:rPr lang="en-US" altLang="en-US" dirty="0" err="1"/>
              <a:t>заједничке</a:t>
            </a:r>
            <a:r>
              <a:rPr lang="en-US" altLang="en-US" dirty="0"/>
              <a:t> </a:t>
            </a:r>
            <a:r>
              <a:rPr lang="en-US" altLang="en-US" dirty="0" err="1"/>
              <a:t>резултате</a:t>
            </a:r>
            <a:r>
              <a:rPr lang="en-US" altLang="en-US" dirty="0"/>
              <a:t> </a:t>
            </a:r>
            <a:r>
              <a:rPr lang="en-US" altLang="en-US" dirty="0" err="1"/>
              <a:t>осам</a:t>
            </a:r>
            <a:r>
              <a:rPr lang="en-US" altLang="en-US" dirty="0"/>
              <a:t> Faster-Whisper </a:t>
            </a:r>
            <a:r>
              <a:rPr lang="en-US" altLang="en-US" dirty="0" err="1"/>
              <a:t>конфигурација</a:t>
            </a:r>
            <a:r>
              <a:rPr lang="en-US" altLang="en-US" dirty="0"/>
              <a:t> </a:t>
            </a:r>
            <a:r>
              <a:rPr lang="en-US" altLang="en-US" dirty="0" err="1"/>
              <a:t>на</a:t>
            </a:r>
            <a:r>
              <a:rPr lang="en-US" altLang="en-US" dirty="0"/>
              <a:t> </a:t>
            </a:r>
            <a:r>
              <a:rPr lang="en-US" altLang="en-US" dirty="0" err="1"/>
              <a:t>истих</a:t>
            </a:r>
            <a:r>
              <a:rPr lang="en-US" altLang="en-US" dirty="0"/>
              <a:t> 40 </a:t>
            </a:r>
            <a:r>
              <a:rPr lang="en-US" altLang="en-US" dirty="0" err="1"/>
              <a:t>снимака</a:t>
            </a:r>
            <a:r>
              <a:rPr lang="en-US" altLang="en-US" dirty="0"/>
              <a:t>. </a:t>
            </a:r>
            <a:r>
              <a:rPr lang="en-US" altLang="en-US" dirty="0" err="1"/>
              <a:t>Посматрана</a:t>
            </a:r>
            <a:r>
              <a:rPr lang="en-US" altLang="en-US" dirty="0"/>
              <a:t> </a:t>
            </a:r>
            <a:r>
              <a:rPr lang="en-US" altLang="en-US" dirty="0" err="1"/>
              <a:t>су</a:t>
            </a:r>
            <a:r>
              <a:rPr lang="en-US" altLang="en-US" dirty="0"/>
              <a:t> </a:t>
            </a:r>
            <a:r>
              <a:rPr lang="en-US" altLang="en-US" dirty="0" err="1"/>
              <a:t>три</a:t>
            </a:r>
            <a:r>
              <a:rPr lang="en-US" altLang="en-US" dirty="0"/>
              <a:t> </a:t>
            </a:r>
            <a:r>
              <a:rPr lang="en-US" altLang="en-US" dirty="0" err="1"/>
              <a:t>критеријума</a:t>
            </a:r>
            <a:r>
              <a:rPr lang="en-US" altLang="en-US" dirty="0"/>
              <a:t>: WER </a:t>
            </a:r>
            <a:r>
              <a:rPr lang="en-US" altLang="en-US" dirty="0" err="1"/>
              <a:t>као</a:t>
            </a:r>
            <a:r>
              <a:rPr lang="en-US" altLang="en-US" dirty="0"/>
              <a:t> </a:t>
            </a:r>
            <a:r>
              <a:rPr lang="en-US" altLang="en-US" dirty="0" err="1"/>
              <a:t>мера</a:t>
            </a:r>
            <a:r>
              <a:rPr lang="en-US" altLang="en-US" dirty="0"/>
              <a:t> </a:t>
            </a:r>
            <a:r>
              <a:rPr lang="en-US" altLang="en-US" dirty="0" err="1"/>
              <a:t>тачности</a:t>
            </a:r>
            <a:r>
              <a:rPr lang="en-US" altLang="en-US" dirty="0"/>
              <a:t>, RTF </a:t>
            </a:r>
            <a:r>
              <a:rPr lang="en-US" altLang="en-US" dirty="0" err="1"/>
              <a:t>као</a:t>
            </a:r>
            <a:r>
              <a:rPr lang="en-US" altLang="en-US" dirty="0"/>
              <a:t> </a:t>
            </a:r>
            <a:r>
              <a:rPr lang="en-US" altLang="en-US" dirty="0" err="1"/>
              <a:t>мера</a:t>
            </a:r>
            <a:r>
              <a:rPr lang="en-US" altLang="en-US" dirty="0"/>
              <a:t> </a:t>
            </a:r>
            <a:r>
              <a:rPr lang="en-US" altLang="en-US" dirty="0" err="1"/>
              <a:t>брзине</a:t>
            </a:r>
            <a:r>
              <a:rPr lang="en-US" altLang="en-US" dirty="0"/>
              <a:t> и RAM </a:t>
            </a:r>
            <a:r>
              <a:rPr lang="en-US" altLang="en-US" dirty="0" err="1"/>
              <a:t>као</a:t>
            </a:r>
            <a:r>
              <a:rPr lang="en-US" altLang="en-US" dirty="0"/>
              <a:t> </a:t>
            </a:r>
            <a:r>
              <a:rPr lang="en-US" altLang="en-US" dirty="0" err="1"/>
              <a:t>критеријум</a:t>
            </a:r>
            <a:r>
              <a:rPr lang="en-US" altLang="en-US" dirty="0"/>
              <a:t> </a:t>
            </a:r>
            <a:r>
              <a:rPr lang="en-US" altLang="en-US" dirty="0" err="1"/>
              <a:t>меморијске</a:t>
            </a:r>
            <a:r>
              <a:rPr lang="en-US" altLang="en-US" dirty="0"/>
              <a:t> </a:t>
            </a:r>
            <a:r>
              <a:rPr lang="en-US" altLang="en-US" dirty="0" err="1"/>
              <a:t>захтевности</a:t>
            </a:r>
            <a:r>
              <a:rPr lang="en-US" altLang="en-US" dirty="0"/>
              <a:t>. </a:t>
            </a:r>
            <a:r>
              <a:rPr lang="en-US" altLang="en-US" dirty="0" err="1"/>
              <a:t>Пошто</a:t>
            </a:r>
            <a:r>
              <a:rPr lang="en-US" altLang="en-US" dirty="0"/>
              <a:t> </a:t>
            </a:r>
            <a:r>
              <a:rPr lang="en-US" altLang="en-US" dirty="0" err="1"/>
              <a:t>су</a:t>
            </a:r>
            <a:r>
              <a:rPr lang="en-US" altLang="en-US" dirty="0"/>
              <a:t> </a:t>
            </a:r>
            <a:r>
              <a:rPr lang="en-US" altLang="en-US" dirty="0" err="1"/>
              <a:t>ове</a:t>
            </a:r>
            <a:r>
              <a:rPr lang="en-US" altLang="en-US" dirty="0"/>
              <a:t> </a:t>
            </a:r>
            <a:r>
              <a:rPr lang="en-US" altLang="en-US" dirty="0" err="1"/>
              <a:t>величине</a:t>
            </a:r>
            <a:r>
              <a:rPr lang="en-US" altLang="en-US" dirty="0"/>
              <a:t> у </a:t>
            </a:r>
            <a:r>
              <a:rPr lang="en-US" altLang="en-US" dirty="0" err="1"/>
              <a:t>различитим</a:t>
            </a:r>
            <a:r>
              <a:rPr lang="en-US" altLang="en-US" dirty="0"/>
              <a:t> </a:t>
            </a:r>
            <a:r>
              <a:rPr lang="en-US" altLang="en-US" dirty="0" err="1"/>
              <a:t>јединицама</a:t>
            </a:r>
            <a:r>
              <a:rPr lang="en-US" altLang="en-US" dirty="0"/>
              <a:t>, </a:t>
            </a:r>
            <a:r>
              <a:rPr lang="en-US" altLang="en-US" dirty="0" err="1"/>
              <a:t>не</a:t>
            </a:r>
            <a:r>
              <a:rPr lang="en-US" altLang="en-US" dirty="0"/>
              <a:t> </a:t>
            </a:r>
            <a:r>
              <a:rPr lang="en-US" altLang="en-US" dirty="0" err="1"/>
              <a:t>могу</a:t>
            </a:r>
            <a:r>
              <a:rPr lang="en-US" altLang="en-US" dirty="0"/>
              <a:t> </a:t>
            </a:r>
            <a:r>
              <a:rPr lang="en-US" altLang="en-US" dirty="0" err="1"/>
              <a:t>се</a:t>
            </a:r>
            <a:r>
              <a:rPr lang="en-US" altLang="en-US" dirty="0"/>
              <a:t> </a:t>
            </a:r>
            <a:r>
              <a:rPr lang="en-US" altLang="en-US" dirty="0" err="1"/>
              <a:t>директно</a:t>
            </a:r>
            <a:r>
              <a:rPr lang="en-US" altLang="en-US" dirty="0"/>
              <a:t> </a:t>
            </a:r>
            <a:r>
              <a:rPr lang="en-US" altLang="en-US" dirty="0" err="1"/>
              <a:t>сабирати</a:t>
            </a:r>
            <a:r>
              <a:rPr lang="en-US" altLang="en-US" dirty="0"/>
              <a:t>. </a:t>
            </a:r>
            <a:r>
              <a:rPr lang="en-US" altLang="en-US" dirty="0" err="1"/>
              <a:t>Зато</a:t>
            </a:r>
            <a:r>
              <a:rPr lang="en-US" altLang="en-US" dirty="0"/>
              <a:t> </a:t>
            </a:r>
            <a:r>
              <a:rPr lang="en-US" altLang="en-US" dirty="0" err="1"/>
              <a:t>поступак</a:t>
            </a:r>
            <a:r>
              <a:rPr lang="en-US" altLang="en-US" dirty="0"/>
              <a:t> </a:t>
            </a:r>
            <a:r>
              <a:rPr lang="en-US" altLang="en-US" dirty="0" err="1"/>
              <a:t>обухвата</a:t>
            </a:r>
            <a:r>
              <a:rPr lang="en-US" altLang="en-US" dirty="0"/>
              <a:t> </a:t>
            </a:r>
            <a:r>
              <a:rPr lang="en-US" altLang="en-US" dirty="0" err="1"/>
              <a:t>нормализацију</a:t>
            </a:r>
            <a:r>
              <a:rPr lang="en-US" altLang="en-US" dirty="0"/>
              <a:t>, </a:t>
            </a:r>
            <a:r>
              <a:rPr lang="en-US" altLang="en-US" dirty="0" err="1"/>
              <a:t>пондерисање</a:t>
            </a:r>
            <a:r>
              <a:rPr lang="en-US" altLang="en-US" dirty="0"/>
              <a:t> и </a:t>
            </a:r>
            <a:r>
              <a:rPr lang="en-US" altLang="en-US" dirty="0" err="1"/>
              <a:t>Парето</a:t>
            </a:r>
            <a:r>
              <a:rPr lang="en-US" altLang="en-US" dirty="0"/>
              <a:t> </a:t>
            </a:r>
            <a:r>
              <a:rPr lang="en-US" altLang="en-US" dirty="0" err="1"/>
              <a:t>анализу</a:t>
            </a:r>
            <a:r>
              <a:rPr lang="en-US" altLang="en-US" dirty="0"/>
              <a:t>.</a:t>
            </a:r>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Све три метрике прво се нормализују тако да најповољнија вредност добије скор један, а најнеповољнија нула. У основном сценарију WER има тежину 50%, RTF 30%, а RAM 20%. На тај начин добија се један укупан скор за сваку конфигурацију. Ове тежине представљају приоритете дефинисане у овом раду и не треба их посматрати као универзалне за сваки ASR систем.</a:t>
            </a:r>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dirty="0" err="1"/>
              <a:t>Поред</a:t>
            </a:r>
            <a:r>
              <a:rPr lang="en-US" altLang="en-US" dirty="0"/>
              <a:t> </a:t>
            </a:r>
            <a:r>
              <a:rPr lang="en-US" altLang="en-US" dirty="0" err="1"/>
              <a:t>пондерисаног</a:t>
            </a:r>
            <a:r>
              <a:rPr lang="en-US" altLang="en-US" dirty="0"/>
              <a:t> </a:t>
            </a:r>
            <a:r>
              <a:rPr lang="en-US" altLang="en-US" dirty="0" err="1"/>
              <a:t>скора</a:t>
            </a:r>
            <a:r>
              <a:rPr lang="en-US" altLang="en-US" dirty="0"/>
              <a:t> </a:t>
            </a:r>
            <a:r>
              <a:rPr lang="en-US" altLang="en-US" dirty="0" err="1"/>
              <a:t>применио</a:t>
            </a:r>
            <a:r>
              <a:rPr lang="en-US" altLang="en-US" dirty="0"/>
              <a:t> </a:t>
            </a:r>
            <a:r>
              <a:rPr lang="en-US" altLang="en-US" dirty="0" err="1"/>
              <a:t>сам</a:t>
            </a:r>
            <a:r>
              <a:rPr lang="en-US" altLang="en-US" dirty="0"/>
              <a:t> и </a:t>
            </a:r>
            <a:r>
              <a:rPr lang="en-US" altLang="en-US" dirty="0" err="1"/>
              <a:t>Парето</a:t>
            </a:r>
            <a:r>
              <a:rPr lang="en-US" altLang="en-US" dirty="0"/>
              <a:t> </a:t>
            </a:r>
            <a:r>
              <a:rPr lang="en-US" altLang="en-US" dirty="0" err="1"/>
              <a:t>анализу</a:t>
            </a:r>
            <a:r>
              <a:rPr lang="en-US" altLang="en-US" dirty="0"/>
              <a:t>. Конфигурација </a:t>
            </a:r>
            <a:r>
              <a:rPr lang="en-US" altLang="en-US" dirty="0" err="1"/>
              <a:t>је</a:t>
            </a:r>
            <a:r>
              <a:rPr lang="en-US" altLang="en-US" dirty="0"/>
              <a:t> </a:t>
            </a:r>
            <a:r>
              <a:rPr lang="en-US" altLang="en-US" dirty="0" err="1"/>
              <a:t>доминирана</a:t>
            </a:r>
            <a:r>
              <a:rPr lang="en-US" altLang="en-US" dirty="0"/>
              <a:t> </a:t>
            </a:r>
            <a:r>
              <a:rPr lang="en-US" altLang="en-US" dirty="0" err="1"/>
              <a:t>ако</a:t>
            </a:r>
            <a:r>
              <a:rPr lang="en-US" altLang="en-US" dirty="0"/>
              <a:t> </a:t>
            </a:r>
            <a:r>
              <a:rPr lang="en-US" altLang="en-US" dirty="0" err="1"/>
              <a:t>постоји</a:t>
            </a:r>
            <a:r>
              <a:rPr lang="en-US" altLang="en-US" dirty="0"/>
              <a:t> </a:t>
            </a:r>
            <a:r>
              <a:rPr lang="en-US" altLang="en-US" dirty="0" err="1"/>
              <a:t>друга</a:t>
            </a:r>
            <a:r>
              <a:rPr lang="en-US" altLang="en-US" dirty="0"/>
              <a:t> </a:t>
            </a:r>
            <a:r>
              <a:rPr lang="en-US" altLang="en-US" dirty="0" err="1"/>
              <a:t>која</a:t>
            </a:r>
            <a:r>
              <a:rPr lang="en-US" altLang="en-US" dirty="0"/>
              <a:t> </a:t>
            </a:r>
            <a:r>
              <a:rPr lang="en-US" altLang="en-US" dirty="0" err="1"/>
              <a:t>није</a:t>
            </a:r>
            <a:r>
              <a:rPr lang="en-US" altLang="en-US" dirty="0"/>
              <a:t> </a:t>
            </a:r>
            <a:r>
              <a:rPr lang="en-US" altLang="en-US" dirty="0" err="1"/>
              <a:t>лошија</a:t>
            </a:r>
            <a:r>
              <a:rPr lang="en-US" altLang="en-US" dirty="0"/>
              <a:t> </a:t>
            </a:r>
            <a:r>
              <a:rPr lang="en-US" altLang="en-US" dirty="0" err="1"/>
              <a:t>ни</a:t>
            </a:r>
            <a:r>
              <a:rPr lang="en-US" altLang="en-US" dirty="0"/>
              <a:t> </a:t>
            </a:r>
            <a:r>
              <a:rPr lang="en-US" altLang="en-US" dirty="0" err="1"/>
              <a:t>по</a:t>
            </a:r>
            <a:r>
              <a:rPr lang="en-US" altLang="en-US" dirty="0"/>
              <a:t> </a:t>
            </a:r>
            <a:r>
              <a:rPr lang="en-US" altLang="en-US" dirty="0" err="1"/>
              <a:t>једном</a:t>
            </a:r>
            <a:r>
              <a:rPr lang="en-US" altLang="en-US" dirty="0"/>
              <a:t> </a:t>
            </a:r>
            <a:r>
              <a:rPr lang="en-US" altLang="en-US" dirty="0" err="1"/>
              <a:t>критеријуму</a:t>
            </a:r>
            <a:r>
              <a:rPr lang="en-US" altLang="en-US" dirty="0"/>
              <a:t>, а </a:t>
            </a:r>
            <a:r>
              <a:rPr lang="en-US" altLang="en-US" dirty="0" err="1"/>
              <a:t>бар</a:t>
            </a:r>
            <a:r>
              <a:rPr lang="en-US" altLang="en-US" dirty="0"/>
              <a:t> </a:t>
            </a:r>
            <a:r>
              <a:rPr lang="en-US" altLang="en-US" dirty="0" err="1"/>
              <a:t>по</a:t>
            </a:r>
            <a:r>
              <a:rPr lang="en-US" altLang="en-US" dirty="0"/>
              <a:t> </a:t>
            </a:r>
            <a:r>
              <a:rPr lang="en-US" altLang="en-US" dirty="0" err="1"/>
              <a:t>једном</a:t>
            </a:r>
            <a:r>
              <a:rPr lang="en-US" altLang="en-US" dirty="0"/>
              <a:t> </a:t>
            </a:r>
            <a:r>
              <a:rPr lang="en-US" altLang="en-US" dirty="0" err="1"/>
              <a:t>је</a:t>
            </a:r>
            <a:r>
              <a:rPr lang="en-US" altLang="en-US" dirty="0"/>
              <a:t> </a:t>
            </a:r>
            <a:r>
              <a:rPr lang="en-US" altLang="en-US" dirty="0" err="1"/>
              <a:t>боља</a:t>
            </a:r>
            <a:r>
              <a:rPr lang="en-US" altLang="en-US" dirty="0"/>
              <a:t>. </a:t>
            </a:r>
            <a:r>
              <a:rPr lang="en-US" altLang="en-US" dirty="0" err="1"/>
              <a:t>Од</a:t>
            </a:r>
            <a:r>
              <a:rPr lang="en-US" altLang="en-US" dirty="0"/>
              <a:t> </a:t>
            </a:r>
            <a:r>
              <a:rPr lang="en-US" altLang="en-US" dirty="0" err="1"/>
              <a:t>осам</a:t>
            </a:r>
            <a:r>
              <a:rPr lang="en-US" altLang="en-US" dirty="0"/>
              <a:t> </a:t>
            </a:r>
            <a:r>
              <a:rPr lang="en-US" altLang="en-US" dirty="0" err="1"/>
              <a:t>испитаних</a:t>
            </a:r>
            <a:r>
              <a:rPr lang="en-US" altLang="en-US" dirty="0"/>
              <a:t> </a:t>
            </a:r>
            <a:r>
              <a:rPr lang="en-US" altLang="en-US" dirty="0" err="1"/>
              <a:t>конфигурација</a:t>
            </a:r>
            <a:r>
              <a:rPr lang="en-US" altLang="en-US" dirty="0"/>
              <a:t>, </a:t>
            </a:r>
            <a:r>
              <a:rPr lang="en-US" altLang="en-US" dirty="0" err="1"/>
              <a:t>седам</a:t>
            </a:r>
            <a:r>
              <a:rPr lang="en-US" altLang="en-US" dirty="0"/>
              <a:t> </a:t>
            </a:r>
            <a:r>
              <a:rPr lang="en-US" altLang="en-US" dirty="0" err="1"/>
              <a:t>припада</a:t>
            </a:r>
            <a:r>
              <a:rPr lang="en-US" altLang="en-US" dirty="0"/>
              <a:t> </a:t>
            </a:r>
            <a:r>
              <a:rPr lang="en-US" altLang="en-US" dirty="0" err="1"/>
              <a:t>Парето</a:t>
            </a:r>
            <a:r>
              <a:rPr lang="en-US" altLang="en-US" dirty="0"/>
              <a:t> </a:t>
            </a:r>
            <a:r>
              <a:rPr lang="en-US" altLang="en-US" dirty="0" err="1"/>
              <a:t>скупу</a:t>
            </a:r>
            <a:r>
              <a:rPr lang="en-US" altLang="en-US" dirty="0"/>
              <a:t>, </a:t>
            </a:r>
            <a:r>
              <a:rPr lang="en-US" altLang="en-US" dirty="0" err="1"/>
              <a:t>док</a:t>
            </a:r>
            <a:r>
              <a:rPr lang="en-US" altLang="en-US" dirty="0"/>
              <a:t> </a:t>
            </a:r>
            <a:r>
              <a:rPr lang="en-US" altLang="en-US" dirty="0" err="1"/>
              <a:t>је</a:t>
            </a:r>
            <a:r>
              <a:rPr lang="en-US" altLang="en-US" dirty="0"/>
              <a:t> Base FP32 </a:t>
            </a:r>
            <a:r>
              <a:rPr lang="en-US" altLang="en-US" dirty="0" err="1"/>
              <a:t>доминиран</a:t>
            </a:r>
            <a:r>
              <a:rPr lang="en-US" altLang="en-US" dirty="0"/>
              <a:t>. </a:t>
            </a:r>
            <a:r>
              <a:rPr lang="en-US" altLang="en-US" dirty="0" err="1"/>
              <a:t>На</a:t>
            </a:r>
            <a:r>
              <a:rPr lang="en-US" altLang="en-US" dirty="0"/>
              <a:t> </a:t>
            </a:r>
            <a:r>
              <a:rPr lang="en-US" altLang="en-US" dirty="0" err="1"/>
              <a:t>графику</a:t>
            </a:r>
            <a:r>
              <a:rPr lang="en-US" altLang="en-US" dirty="0"/>
              <a:t> </a:t>
            </a:r>
            <a:r>
              <a:rPr lang="en-US" altLang="en-US" dirty="0" err="1"/>
              <a:t>су</a:t>
            </a:r>
            <a:r>
              <a:rPr lang="en-US" altLang="en-US" dirty="0"/>
              <a:t> </a:t>
            </a:r>
            <a:r>
              <a:rPr lang="en-US" altLang="en-US" dirty="0" err="1"/>
              <a:t>приказани</a:t>
            </a:r>
            <a:r>
              <a:rPr lang="en-US" altLang="en-US" dirty="0"/>
              <a:t> WER и RTF, </a:t>
            </a:r>
            <a:r>
              <a:rPr lang="en-US" altLang="en-US" dirty="0" err="1"/>
              <a:t>док</a:t>
            </a:r>
            <a:r>
              <a:rPr lang="en-US" altLang="en-US" dirty="0"/>
              <a:t> </a:t>
            </a:r>
            <a:r>
              <a:rPr lang="en-US" altLang="en-US" dirty="0" err="1"/>
              <a:t>величина</a:t>
            </a:r>
            <a:r>
              <a:rPr lang="en-US" altLang="en-US" dirty="0"/>
              <a:t> </a:t>
            </a:r>
            <a:r>
              <a:rPr lang="en-US" altLang="en-US" dirty="0" err="1"/>
              <a:t>тачке</a:t>
            </a:r>
            <a:r>
              <a:rPr lang="en-US" altLang="en-US" dirty="0"/>
              <a:t> </a:t>
            </a:r>
            <a:r>
              <a:rPr lang="en-US" altLang="en-US" dirty="0" err="1"/>
              <a:t>представља</a:t>
            </a:r>
            <a:r>
              <a:rPr lang="en-US" altLang="en-US" dirty="0"/>
              <a:t> </a:t>
            </a:r>
            <a:r>
              <a:rPr lang="en-US" altLang="en-US" dirty="0" err="1"/>
              <a:t>просечну</a:t>
            </a:r>
            <a:r>
              <a:rPr lang="en-US" altLang="en-US" dirty="0"/>
              <a:t> </a:t>
            </a:r>
            <a:r>
              <a:rPr lang="en-US" altLang="en-US" dirty="0" err="1"/>
              <a:t>максималну</a:t>
            </a:r>
            <a:r>
              <a:rPr lang="en-US" altLang="en-US" dirty="0"/>
              <a:t> </a:t>
            </a:r>
            <a:r>
              <a:rPr lang="en-US" altLang="en-US" dirty="0" err="1"/>
              <a:t>вредност</a:t>
            </a:r>
            <a:r>
              <a:rPr lang="en-US" altLang="en-US" dirty="0"/>
              <a:t> RSS-а.</a:t>
            </a:r>
            <a:endParaRPr lang="en-US"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dirty="0" err="1"/>
              <a:t>Пошто</a:t>
            </a:r>
            <a:r>
              <a:rPr lang="en-US" altLang="en-US" dirty="0"/>
              <a:t> </a:t>
            </a:r>
            <a:r>
              <a:rPr lang="en-US" altLang="en-US" dirty="0" err="1"/>
              <a:t>резултат</a:t>
            </a:r>
            <a:r>
              <a:rPr lang="en-US" altLang="en-US" dirty="0"/>
              <a:t> </a:t>
            </a:r>
            <a:r>
              <a:rPr lang="en-US" altLang="en-US" dirty="0" err="1"/>
              <a:t>пондерисаног</a:t>
            </a:r>
            <a:r>
              <a:rPr lang="en-US" altLang="en-US" dirty="0"/>
              <a:t> </a:t>
            </a:r>
            <a:r>
              <a:rPr lang="en-US" altLang="en-US" dirty="0" err="1"/>
              <a:t>избора</a:t>
            </a:r>
            <a:r>
              <a:rPr lang="en-US" altLang="en-US" dirty="0"/>
              <a:t> </a:t>
            </a:r>
            <a:r>
              <a:rPr lang="en-US" altLang="en-US" dirty="0" err="1"/>
              <a:t>зависи</a:t>
            </a:r>
            <a:r>
              <a:rPr lang="en-US" altLang="en-US" dirty="0"/>
              <a:t> </a:t>
            </a:r>
            <a:r>
              <a:rPr lang="en-US" altLang="en-US" dirty="0" err="1"/>
              <a:t>од</a:t>
            </a:r>
            <a:r>
              <a:rPr lang="en-US" altLang="en-US" dirty="0"/>
              <a:t> </a:t>
            </a:r>
            <a:r>
              <a:rPr lang="en-US" altLang="en-US" dirty="0" err="1"/>
              <a:t>тежина</a:t>
            </a:r>
            <a:r>
              <a:rPr lang="en-US" altLang="en-US" dirty="0"/>
              <a:t>, </a:t>
            </a:r>
            <a:r>
              <a:rPr lang="en-US" altLang="en-US" dirty="0" err="1"/>
              <a:t>проверио</a:t>
            </a:r>
            <a:r>
              <a:rPr lang="en-US" altLang="en-US" dirty="0"/>
              <a:t> </a:t>
            </a:r>
            <a:r>
              <a:rPr lang="en-US" altLang="en-US" dirty="0" err="1"/>
              <a:t>сам</a:t>
            </a:r>
            <a:r>
              <a:rPr lang="en-US" altLang="en-US" dirty="0"/>
              <a:t> </a:t>
            </a:r>
            <a:r>
              <a:rPr lang="en-US" altLang="en-US" dirty="0" err="1"/>
              <a:t>колико</a:t>
            </a:r>
            <a:r>
              <a:rPr lang="en-US" altLang="en-US" dirty="0"/>
              <a:t> </a:t>
            </a:r>
            <a:r>
              <a:rPr lang="en-US" altLang="en-US" dirty="0" err="1"/>
              <a:t>је</a:t>
            </a:r>
            <a:r>
              <a:rPr lang="en-US" altLang="en-US" dirty="0"/>
              <a:t> </a:t>
            </a:r>
            <a:r>
              <a:rPr lang="en-US" altLang="en-US" dirty="0" err="1"/>
              <a:t>избор</a:t>
            </a:r>
            <a:r>
              <a:rPr lang="en-US" altLang="en-US" dirty="0"/>
              <a:t> </a:t>
            </a:r>
            <a:r>
              <a:rPr lang="en-US" altLang="en-US" dirty="0" err="1"/>
              <a:t>стабилан</a:t>
            </a:r>
            <a:r>
              <a:rPr lang="en-US" altLang="en-US" dirty="0"/>
              <a:t> </a:t>
            </a:r>
            <a:r>
              <a:rPr lang="en-US" altLang="en-US" dirty="0" err="1"/>
              <a:t>када</a:t>
            </a:r>
            <a:r>
              <a:rPr lang="en-US" altLang="en-US" dirty="0"/>
              <a:t> </a:t>
            </a:r>
            <a:r>
              <a:rPr lang="en-US" altLang="en-US" dirty="0" err="1"/>
              <a:t>се</a:t>
            </a:r>
            <a:r>
              <a:rPr lang="en-US" altLang="en-US" dirty="0"/>
              <a:t> </a:t>
            </a:r>
            <a:r>
              <a:rPr lang="en-US" altLang="en-US" dirty="0" err="1"/>
              <a:t>приоритети</a:t>
            </a:r>
            <a:r>
              <a:rPr lang="en-US" altLang="en-US" dirty="0"/>
              <a:t> </a:t>
            </a:r>
            <a:r>
              <a:rPr lang="en-US" altLang="en-US" dirty="0" err="1"/>
              <a:t>промене</a:t>
            </a:r>
            <a:r>
              <a:rPr lang="en-US" altLang="en-US" dirty="0"/>
              <a:t>. </a:t>
            </a:r>
            <a:r>
              <a:rPr lang="en-US" altLang="en-US" dirty="0" err="1"/>
              <a:t>Коришћена</a:t>
            </a:r>
            <a:r>
              <a:rPr lang="en-US" altLang="en-US" dirty="0"/>
              <a:t> </a:t>
            </a:r>
            <a:r>
              <a:rPr lang="en-US" altLang="en-US" dirty="0" err="1"/>
              <a:t>су</a:t>
            </a:r>
            <a:r>
              <a:rPr lang="en-US" altLang="en-US" dirty="0"/>
              <a:t> </a:t>
            </a:r>
            <a:r>
              <a:rPr lang="en-US" altLang="en-US" dirty="0" err="1"/>
              <a:t>три</a:t>
            </a:r>
            <a:r>
              <a:rPr lang="en-US" altLang="en-US" dirty="0"/>
              <a:t> </a:t>
            </a:r>
            <a:r>
              <a:rPr lang="en-US" altLang="en-US" dirty="0" err="1"/>
              <a:t>сценарија</a:t>
            </a:r>
            <a:r>
              <a:rPr lang="en-US" altLang="en-US" dirty="0"/>
              <a:t>: Balanced, Accuracy и Resource. У </a:t>
            </a:r>
            <a:r>
              <a:rPr lang="en-US" altLang="en-US" dirty="0" err="1"/>
              <a:t>сва</a:t>
            </a:r>
            <a:r>
              <a:rPr lang="en-US" altLang="en-US" dirty="0"/>
              <a:t> </a:t>
            </a:r>
            <a:r>
              <a:rPr lang="en-US" altLang="en-US" dirty="0" err="1"/>
              <a:t>три</a:t>
            </a:r>
            <a:r>
              <a:rPr lang="en-US" altLang="en-US" dirty="0"/>
              <a:t> </a:t>
            </a:r>
            <a:r>
              <a:rPr lang="en-US" altLang="en-US" dirty="0" err="1"/>
              <a:t>сценарија</a:t>
            </a:r>
            <a:r>
              <a:rPr lang="en-US" altLang="en-US" dirty="0"/>
              <a:t> Small INT8 </a:t>
            </a:r>
            <a:r>
              <a:rPr lang="en-US" altLang="en-US" dirty="0" err="1"/>
              <a:t>задржава</a:t>
            </a:r>
            <a:r>
              <a:rPr lang="en-US" altLang="en-US" dirty="0"/>
              <a:t> </a:t>
            </a:r>
            <a:r>
              <a:rPr lang="en-US" altLang="en-US" dirty="0" err="1"/>
              <a:t>прво</a:t>
            </a:r>
            <a:r>
              <a:rPr lang="en-US" altLang="en-US" dirty="0"/>
              <a:t> </a:t>
            </a:r>
            <a:r>
              <a:rPr lang="en-US" altLang="en-US" dirty="0" err="1"/>
              <a:t>место</a:t>
            </a:r>
            <a:r>
              <a:rPr lang="en-US" altLang="en-US" dirty="0"/>
              <a:t> </a:t>
            </a:r>
            <a:r>
              <a:rPr lang="en-US" altLang="en-US" dirty="0" err="1"/>
              <a:t>међу</a:t>
            </a:r>
            <a:r>
              <a:rPr lang="en-US" altLang="en-US" dirty="0"/>
              <a:t> </a:t>
            </a:r>
            <a:r>
              <a:rPr lang="en-US" altLang="en-US" dirty="0" err="1"/>
              <a:t>свих</a:t>
            </a:r>
            <a:r>
              <a:rPr lang="en-US" altLang="en-US" dirty="0"/>
              <a:t> </a:t>
            </a:r>
            <a:r>
              <a:rPr lang="en-US" altLang="en-US" dirty="0" err="1"/>
              <a:t>осам</a:t>
            </a:r>
            <a:r>
              <a:rPr lang="en-US" altLang="en-US" dirty="0"/>
              <a:t> </a:t>
            </a:r>
            <a:r>
              <a:rPr lang="en-US" altLang="en-US" dirty="0" err="1"/>
              <a:t>конфигурација</a:t>
            </a:r>
            <a:r>
              <a:rPr lang="en-US" altLang="en-US" dirty="0"/>
              <a:t>. </a:t>
            </a:r>
            <a:r>
              <a:rPr lang="en-US" altLang="en-US" dirty="0" err="1"/>
              <a:t>То</a:t>
            </a:r>
            <a:r>
              <a:rPr lang="en-US" altLang="en-US" dirty="0"/>
              <a:t> </a:t>
            </a:r>
            <a:r>
              <a:rPr lang="en-US" altLang="en-US" dirty="0" err="1"/>
              <a:t>показује</a:t>
            </a:r>
            <a:r>
              <a:rPr lang="en-US" altLang="en-US" dirty="0"/>
              <a:t> </a:t>
            </a:r>
            <a:r>
              <a:rPr lang="en-US" altLang="en-US" dirty="0" err="1"/>
              <a:t>да</a:t>
            </a:r>
            <a:r>
              <a:rPr lang="en-US" altLang="en-US" dirty="0"/>
              <a:t> </a:t>
            </a:r>
            <a:r>
              <a:rPr lang="en-US" altLang="en-US" dirty="0" err="1"/>
              <a:t>његов</a:t>
            </a:r>
            <a:r>
              <a:rPr lang="en-US" altLang="en-US" dirty="0"/>
              <a:t> </a:t>
            </a:r>
            <a:r>
              <a:rPr lang="en-US" altLang="en-US" dirty="0" err="1"/>
              <a:t>избор</a:t>
            </a:r>
            <a:r>
              <a:rPr lang="en-US" altLang="en-US" dirty="0"/>
              <a:t> у </a:t>
            </a:r>
            <a:r>
              <a:rPr lang="en-US" altLang="en-US" dirty="0" err="1"/>
              <a:t>оквиру</a:t>
            </a:r>
            <a:r>
              <a:rPr lang="en-US" altLang="en-US" dirty="0"/>
              <a:t> </a:t>
            </a:r>
            <a:r>
              <a:rPr lang="en-US" altLang="en-US" dirty="0" err="1"/>
              <a:t>испитаних</a:t>
            </a:r>
            <a:r>
              <a:rPr lang="en-US" altLang="en-US" dirty="0"/>
              <a:t> </a:t>
            </a:r>
            <a:r>
              <a:rPr lang="en-US" altLang="en-US" dirty="0" err="1"/>
              <a:t>сценарија</a:t>
            </a:r>
            <a:r>
              <a:rPr lang="en-US" altLang="en-US" dirty="0"/>
              <a:t> </a:t>
            </a:r>
            <a:r>
              <a:rPr lang="en-US" altLang="en-US" dirty="0" err="1"/>
              <a:t>није</a:t>
            </a:r>
            <a:r>
              <a:rPr lang="en-US" altLang="en-US" dirty="0"/>
              <a:t> </a:t>
            </a:r>
            <a:r>
              <a:rPr lang="en-US" altLang="en-US" dirty="0" err="1"/>
              <a:t>последица</a:t>
            </a:r>
            <a:r>
              <a:rPr lang="en-US" altLang="en-US" dirty="0"/>
              <a:t> </a:t>
            </a:r>
            <a:r>
              <a:rPr lang="en-US" altLang="en-US" dirty="0" err="1"/>
              <a:t>само</a:t>
            </a:r>
            <a:r>
              <a:rPr lang="en-US" altLang="en-US" dirty="0"/>
              <a:t> </a:t>
            </a:r>
            <a:r>
              <a:rPr lang="en-US" altLang="en-US" dirty="0" err="1"/>
              <a:t>једне</a:t>
            </a:r>
            <a:r>
              <a:rPr lang="en-US" altLang="en-US" dirty="0"/>
              <a:t> </a:t>
            </a:r>
            <a:r>
              <a:rPr lang="en-US" altLang="en-US" dirty="0" err="1"/>
              <a:t>конкретне</a:t>
            </a:r>
            <a:r>
              <a:rPr lang="en-US" altLang="en-US" dirty="0"/>
              <a:t> </a:t>
            </a:r>
            <a:r>
              <a:rPr lang="en-US" altLang="en-US" dirty="0" err="1"/>
              <a:t>расподеле</a:t>
            </a:r>
            <a:r>
              <a:rPr lang="en-US" altLang="en-US" dirty="0"/>
              <a:t> </a:t>
            </a:r>
            <a:r>
              <a:rPr lang="en-US" altLang="en-US" dirty="0" err="1"/>
              <a:t>тежина</a:t>
            </a:r>
            <a:r>
              <a:rPr lang="en-US" altLang="en-US" dirty="0"/>
              <a:t>.</a:t>
            </a:r>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Вишекритеријумска анализа издвојила је Faster-Whisper Small INT8 као најповољнију конфигурацију у основном сценарију. Она је остварила просечни WER од 22,43%, просечни RTF од 0,351 и укупан скор 0,8554. Са резултатима осталих експеримената формиран је завршни профил: beam size=5, VAD укључен и сегмент од 10 секунди. На завршној провери од 20 снимака добијени су просечни WER од 23,44% и RTF од 0,4994, а свих 20 снимака обрађено је брже од њиховог реалног трајања.</a:t>
            </a:r>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pPr marL="158750" indent="0">
              <a:buNone/>
            </a:pPr>
            <a:r>
              <a:rPr lang="en-US" altLang="en-US"/>
              <a:t>Вишекритеријумска анализа издвојила је Faster-Whisper Small INT8 као најповољнију конфигурацију у основном сценарију. Она је остварила просечни WER од 22,43%, просечни RTF од 0,351 и укупан скор 0,8554. Са резултатима осталих експеримената формиран је завршни профил: beam size=5, VAD укључен и сегмент од 10 секунди. На завршној провери од 20 снимака добијени су просечни WER од 23,44% и RTF од 0,4994, а свих 20 снимака обрађено је брже од њиховог реалног трајања.</a:t>
            </a:r>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r>
              <a:rPr lang="en-US" altLang="en-US"/>
              <a:t>Последњи истраживачки правац односи се на доменску адаптацију Whisper модела. Идеја је да се модел додатно обучи на српском говору из области пољопривреде, где се јавља специфична терминологија. За овај део формиран је скуп од 800 снимака: 675 за обучавање, 75 за валидацију и 50 за тестирање. Посебно је важно што тест скуп припада четвртом говорнику, чији снимци нису коришћени током обучавања. Циљ је да се основни и адаптирани модел упореде на истом тест скупу.</a:t>
            </a:r>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pPr marL="158750" indent="0">
              <a:buNone/>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lvl="1"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lvl="2"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lvl="3"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lvl="4"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lvl="5"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lvl="6"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lvl="7"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lvl="8"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2"/>
              </a:buClr>
              <a:buSzPts val="1600"/>
              <a:buFont typeface="Barlow Semi Condensed" panose="00000506000000000000"/>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stStyle>
          <a:p/>
        </p:txBody>
      </p:sp>
      <p:sp>
        <p:nvSpPr>
          <p:cNvPr id="503" name="Google Shape;503;p10"/>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cxnSp>
        <p:nvCxnSpPr>
          <p:cNvPr id="504" name="Google Shape;504;p10"/>
          <p:cNvCxnSpPr/>
          <p:nvPr/>
        </p:nvCxnSpPr>
        <p:spPr>
          <a:xfrm>
            <a:off x="590450" y="4340600"/>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7975" y="4332600"/>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518" name="Google Shape;518;p10"/>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4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accent1"/>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spcBef>
                <a:spcPts val="0"/>
              </a:spcBef>
              <a:spcAft>
                <a:spcPts val="0"/>
              </a:spcAft>
              <a:buNone/>
              <a:defRPr>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1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rPr>
              <a:t>CREDITS:</a:t>
            </a:r>
            <a:r>
              <a:rPr lang="en-GB" sz="11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rPr>
              <a:t> This presentation template was created by </a:t>
            </a:r>
            <a:r>
              <a:rPr lang="en-GB" sz="1100">
                <a:solidFill>
                  <a:schemeClr val="accent1"/>
                </a:solidFill>
                <a:uFill>
                  <a:noFill/>
                </a:u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hlinkClick r:id="rId2"/>
              </a:rPr>
              <a:t>Slidesgo</a:t>
            </a:r>
            <a:r>
              <a:rPr lang="en-GB" sz="11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rPr>
              <a:t>, including icons by </a:t>
            </a:r>
            <a:r>
              <a:rPr lang="en-GB" sz="1100">
                <a:solidFill>
                  <a:schemeClr val="accent1"/>
                </a:solidFill>
                <a:uFill>
                  <a:noFill/>
                </a:u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hlinkClick r:id="rId3"/>
              </a:rPr>
              <a:t>Flaticon</a:t>
            </a:r>
            <a:r>
              <a:rPr lang="en-GB" sz="11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rPr>
              <a:t>, infographics &amp; images by </a:t>
            </a:r>
            <a:r>
              <a:rPr lang="en-GB" sz="1100">
                <a:solidFill>
                  <a:schemeClr val="accent1"/>
                </a:solidFill>
                <a:uFill>
                  <a:noFill/>
                </a:u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hlinkClick r:id="rId4"/>
              </a:rPr>
              <a:t>Freepik</a:t>
            </a:r>
            <a:r>
              <a:rPr lang="en-GB" sz="11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rPr>
              <a:t> and illustrations by </a:t>
            </a:r>
            <a:r>
              <a:rPr lang="en-GB" sz="1100">
                <a:solidFill>
                  <a:schemeClr val="accent1"/>
                </a:solidFill>
                <a:uFill>
                  <a:noFill/>
                </a:u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hlinkClick r:id="rId5"/>
              </a:rPr>
              <a:t>Stories</a:t>
            </a:r>
            <a:endParaRPr>
              <a:solidFill>
                <a:schemeClr val="dk2"/>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endParaRPr>
          </a:p>
          <a:p>
            <a:pPr marL="0" lvl="0" indent="0" algn="ctr" rtl="0">
              <a:spcBef>
                <a:spcPts val="0"/>
              </a:spcBef>
              <a:spcAft>
                <a:spcPts val="0"/>
              </a:spcAft>
              <a:buNone/>
            </a:pPr>
            <a:endPara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093" name="Google Shape;1093;p22"/>
          <p:cNvCxnSpPr/>
          <p:nvPr/>
        </p:nvCxnSpPr>
        <p:spPr>
          <a:xfrm rot="10800000" flipH="1">
            <a:off x="0" y="4332550"/>
            <a:ext cx="590700" cy="6639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06" name="Google Shape;1106;p22"/>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33" name="Google Shape;1133;p22"/>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1134" name="Google Shape;1134;p22"/>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1135" name="Google Shape;1135;p22"/>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ctr"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1136" name="Google Shape;1136;p22"/>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137" name="Google Shape;1137;p22"/>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138" name="Google Shape;1138;p22"/>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panose="00000606000000000000"/>
              <a:buAutoNum type="arabicPeriod"/>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896100" y="1984450"/>
            <a:ext cx="3457200" cy="12921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p:txBody>
      </p:sp>
      <p:cxnSp>
        <p:nvCxnSpPr>
          <p:cNvPr id="1228" name="Google Shape;1228;p25"/>
          <p:cNvCxnSpPr/>
          <p:nvPr/>
        </p:nvCxnSpPr>
        <p:spPr>
          <a:xfrm>
            <a:off x="1645925" y="5231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6520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43" name="Google Shape;1243;p25"/>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4" name="Google Shape;1244;p25"/>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5" name="Google Shape;1245;p25"/>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6" name="Google Shape;1246;p25"/>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7" name="Google Shape;1247;p25"/>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8" name="Google Shape;1248;p25"/>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261" name="Google Shape;1261;p25"/>
          <p:cNvCxnSpPr/>
          <p:nvPr/>
        </p:nvCxnSpPr>
        <p:spPr>
          <a:xfrm>
            <a:off x="791400" y="42124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42204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1290" name="Google Shape;1290;p26"/>
          <p:cNvCxnSpPr/>
          <p:nvPr/>
        </p:nvCxnSpPr>
        <p:spPr>
          <a:xfrm rot="10800000">
            <a:off x="8109000" y="501275"/>
            <a:ext cx="737700" cy="737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582475" y="282188"/>
            <a:ext cx="1212900" cy="422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274188"/>
            <a:ext cx="582600" cy="6543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09" name="Google Shape;1309;p26"/>
          <p:cNvCxnSpPr/>
          <p:nvPr/>
        </p:nvCxnSpPr>
        <p:spPr>
          <a:xfrm flipH="1">
            <a:off x="8151325" y="6875"/>
            <a:ext cx="1002600" cy="4944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lgn="ctr"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lvl="1"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lvl="2"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lvl="3"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lvl="4"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lvl="5"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lvl="6"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lvl="7"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lvl="8"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lvl="1"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lvl="2"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lvl="3"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lvl="4"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lvl="5"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lvl="6"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lvl="7"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lvl="8" indent="-317500" rtl="0">
              <a:spcBef>
                <a:spcPts val="0"/>
              </a:spcBef>
              <a:spcAft>
                <a:spcPts val="0"/>
              </a:spcAft>
              <a:buSzPts val="1400"/>
              <a:buChar char="■"/>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2" Type="http://schemas.openxmlformats.org/officeDocument/2006/relationships/theme" Target="../theme/theme1.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9.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1.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2.xml"/><Relationship Id="rId2" Type="http://schemas.openxmlformats.org/officeDocument/2006/relationships/image" Target="../media/image13.png"/><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1.xml"/><Relationship Id="rId2" Type="http://schemas.openxmlformats.org/officeDocument/2006/relationships/image" Target="../media/image14.png"/><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1.xml"/><Relationship Id="rId2" Type="http://schemas.openxmlformats.org/officeDocument/2006/relationships/image" Target="../media/image15.png"/><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1.xml"/><Relationship Id="rId2" Type="http://schemas.openxmlformats.org/officeDocument/2006/relationships/image" Target="../media/image16.png"/><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31.xml"/><Relationship Id="rId2" Type="http://schemas.openxmlformats.org/officeDocument/2006/relationships/image" Target="../media/image17.png"/><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1.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1.xml"/><Relationship Id="rId2" Type="http://schemas.openxmlformats.org/officeDocument/2006/relationships/image" Target="../media/image19.png"/><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1.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31.xml"/><Relationship Id="rId2" Type="http://schemas.openxmlformats.org/officeDocument/2006/relationships/image" Target="../media/image21.png"/><Relationship Id="rId1" Type="http://schemas.openxmlformats.org/officeDocument/2006/relationships/tags" Target="../tags/tag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1.xml"/><Relationship Id="rId1" Type="http://schemas.openxmlformats.org/officeDocument/2006/relationships/tags" Target="../tags/tag9.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31.xml"/><Relationship Id="rId2" Type="http://schemas.openxmlformats.org/officeDocument/2006/relationships/image" Target="../media/image22.png"/><Relationship Id="rId1" Type="http://schemas.openxmlformats.org/officeDocument/2006/relationships/tags" Target="../tags/tag10.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31.xml"/><Relationship Id="rId2" Type="http://schemas.openxmlformats.org/officeDocument/2006/relationships/image" Target="../media/image24.png"/><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31.xml"/><Relationship Id="rId2" Type="http://schemas.openxmlformats.org/officeDocument/2006/relationships/image" Target="../media/image25.png"/><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1.xml"/><Relationship Id="rId1" Type="http://schemas.openxmlformats.org/officeDocument/2006/relationships/image" Target="../media/image26.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31.xml"/><Relationship Id="rId2" Type="http://schemas.openxmlformats.org/officeDocument/2006/relationships/image" Target="../media/image27.png"/><Relationship Id="rId1" Type="http://schemas.openxmlformats.org/officeDocument/2006/relationships/tags" Target="../tags/tag1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31.xml"/><Relationship Id="rId2" Type="http://schemas.openxmlformats.org/officeDocument/2006/relationships/image" Target="../media/image28.png"/><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1.xml"/><Relationship Id="rId1" Type="http://schemas.openxmlformats.org/officeDocument/2006/relationships/tags" Target="../tags/tag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31.xml"/><Relationship Id="rId2" Type="http://schemas.openxmlformats.org/officeDocument/2006/relationships/image" Target="../media/image30.png"/><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1.xml"/><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1.xml"/><Relationship Id="rId2" Type="http://schemas.openxmlformats.org/officeDocument/2006/relationships/image" Target="../media/image32.png"/><Relationship Id="rId1" Type="http://schemas.openxmlformats.org/officeDocument/2006/relationships/tags" Target="../tags/tag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1.xml"/><Relationship Id="rId1" Type="http://schemas.openxmlformats.org/officeDocument/2006/relationships/tags" Target="../tags/tag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1.xml"/><Relationship Id="rId1"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1.xml"/><Relationship Id="rId1" Type="http://schemas.openxmlformats.org/officeDocument/2006/relationships/tags" Target="../tags/tag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84" name="Google Shape;1884;p35"/>
          <p:cNvSpPr txBox="1"/>
          <p:nvPr/>
        </p:nvSpPr>
        <p:spPr>
          <a:xfrm>
            <a:off x="680720" y="771525"/>
            <a:ext cx="7741285" cy="271145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1pPr>
            <a:lvl2pPr marR="0" lvl="1"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2pPr>
            <a:lvl3pPr marR="0" lvl="2"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3pPr>
            <a:lvl4pPr marR="0" lvl="3"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4pPr>
            <a:lvl5pPr marR="0" lvl="4"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5pPr>
            <a:lvl6pPr marR="0" lvl="5"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6pPr>
            <a:lvl7pPr marR="0" lvl="6"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7pPr>
            <a:lvl8pPr marR="0" lvl="7"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8pPr>
            <a:lvl9pPr marR="0" lvl="8" algn="r" rtl="0">
              <a:lnSpc>
                <a:spcPct val="100000"/>
              </a:lnSpc>
              <a:spcBef>
                <a:spcPts val="0"/>
              </a:spcBef>
              <a:spcAft>
                <a:spcPts val="0"/>
              </a:spcAft>
              <a:buClr>
                <a:schemeClr val="dk2"/>
              </a:buClr>
              <a:buSzPts val="5200"/>
              <a:buFont typeface="Fjalla One"/>
              <a:buNone/>
              <a:defRPr sz="5200" b="0" i="0" u="none" strike="noStrike" cap="none">
                <a:solidFill>
                  <a:schemeClr val="dk2"/>
                </a:solidFill>
                <a:latin typeface="Fjalla One"/>
                <a:ea typeface="Fjalla One"/>
                <a:cs typeface="Fjalla One"/>
                <a:sym typeface="Fjalla One"/>
              </a:defRPr>
            </a:lvl9pPr>
          </a:lstStyle>
          <a:p>
            <a:pPr marL="0" lvl="0" indent="0" algn="ctr" rtl="0">
              <a:spcBef>
                <a:spcPts val="0"/>
              </a:spcBef>
              <a:spcAft>
                <a:spcPts val="0"/>
              </a:spcAft>
              <a:buNone/>
            </a:pPr>
            <a:r>
              <a:rPr lang="en-US" altLang="en-US" sz="2400" b="1" dirty="0" err="1">
                <a:solidFill>
                  <a:schemeClr val="dk2"/>
                </a:solidFill>
                <a:latin typeface="Times New Roman" panose="02020603050405020304" charset="0"/>
                <a:cs typeface="Times New Roman" panose="02020603050405020304" charset="0"/>
              </a:rPr>
              <a:t>Анализа</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оптимизација</a:t>
            </a:r>
            <a:r>
              <a:rPr lang="en-US" altLang="en-US" sz="2400" b="1" dirty="0">
                <a:solidFill>
                  <a:schemeClr val="dk2"/>
                </a:solidFill>
                <a:latin typeface="Times New Roman" panose="02020603050405020304" charset="0"/>
                <a:cs typeface="Times New Roman" panose="02020603050405020304" charset="0"/>
              </a:rPr>
              <a:t> и </a:t>
            </a:r>
            <a:r>
              <a:rPr lang="en-US" altLang="en-US" sz="2400" b="1" dirty="0" err="1">
                <a:solidFill>
                  <a:schemeClr val="dk2"/>
                </a:solidFill>
                <a:latin typeface="Times New Roman" panose="02020603050405020304" charset="0"/>
                <a:cs typeface="Times New Roman" panose="02020603050405020304" charset="0"/>
              </a:rPr>
              <a:t>доменска</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адаптација</a:t>
            </a:r>
            <a:r>
              <a:rPr lang="en-US" altLang="en-US" sz="2400" b="1" dirty="0">
                <a:solidFill>
                  <a:schemeClr val="dk2"/>
                </a:solidFill>
                <a:latin typeface="Times New Roman" panose="02020603050405020304" charset="0"/>
                <a:cs typeface="Times New Roman" panose="02020603050405020304" charset="0"/>
              </a:rPr>
              <a:t> Whisper </a:t>
            </a:r>
            <a:r>
              <a:rPr lang="en-US" altLang="en-US" sz="2400" b="1" dirty="0" err="1">
                <a:solidFill>
                  <a:schemeClr val="dk2"/>
                </a:solidFill>
                <a:latin typeface="Times New Roman" panose="02020603050405020304" charset="0"/>
                <a:cs typeface="Times New Roman" panose="02020603050405020304" charset="0"/>
              </a:rPr>
              <a:t>модела</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за</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аутоматско</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препознавање</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говора</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на</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српском</a:t>
            </a:r>
            <a:r>
              <a:rPr lang="en-US" altLang="en-US" sz="2400" b="1" dirty="0">
                <a:solidFill>
                  <a:schemeClr val="dk2"/>
                </a:solidFill>
                <a:latin typeface="Times New Roman" panose="02020603050405020304" charset="0"/>
                <a:cs typeface="Times New Roman" panose="02020603050405020304" charset="0"/>
              </a:rPr>
              <a:t> </a:t>
            </a:r>
            <a:r>
              <a:rPr lang="en-US" altLang="en-US" sz="2400" b="1" dirty="0" err="1">
                <a:solidFill>
                  <a:schemeClr val="dk2"/>
                </a:solidFill>
                <a:latin typeface="Times New Roman" panose="02020603050405020304" charset="0"/>
                <a:cs typeface="Times New Roman" panose="02020603050405020304" charset="0"/>
              </a:rPr>
              <a:t>језику</a:t>
            </a:r>
            <a:endParaRPr lang="en-US" altLang="en-US" sz="2400" b="1" dirty="0">
              <a:solidFill>
                <a:schemeClr val="dk2"/>
              </a:solidFill>
              <a:latin typeface="Times New Roman" panose="02020603050405020304" charset="0"/>
              <a:cs typeface="Times New Roman" panose="02020603050405020304" charset="0"/>
            </a:endParaRPr>
          </a:p>
          <a:p>
            <a:pPr marL="0" lvl="0" indent="0" algn="ctr" rtl="0">
              <a:spcBef>
                <a:spcPts val="0"/>
              </a:spcBef>
              <a:spcAft>
                <a:spcPts val="0"/>
              </a:spcAft>
              <a:buNone/>
            </a:pPr>
            <a:endParaRPr lang="en-US" altLang="en-US" sz="2400" b="1" dirty="0">
              <a:solidFill>
                <a:schemeClr val="dk2"/>
              </a:solidFill>
              <a:latin typeface="Times New Roman" panose="02020603050405020304" charset="0"/>
              <a:cs typeface="Times New Roman" panose="02020603050405020304" charset="0"/>
            </a:endParaRPr>
          </a:p>
          <a:p>
            <a:pPr marL="0" lvl="0" indent="0" algn="ctr" rtl="0">
              <a:spcBef>
                <a:spcPts val="0"/>
              </a:spcBef>
              <a:spcAft>
                <a:spcPts val="0"/>
              </a:spcAft>
              <a:buNone/>
            </a:pPr>
            <a:r>
              <a:rPr lang="sr-Cyrl-BA" altLang="sr-Latn-RS" sz="1800" dirty="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МАСТЕР РАД - СТУДИЈСКО-ИСТРАЖИВАЧКИ РАД</a:t>
            </a:r>
            <a:endParaRPr lang="sr-Cyrl-BA" altLang="sr-Latn-RS" sz="1800" dirty="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a:p>
            <a:pPr marL="0" lvl="0" indent="0" algn="ctr" rtl="0">
              <a:spcBef>
                <a:spcPts val="0"/>
              </a:spcBef>
              <a:spcAft>
                <a:spcPts val="0"/>
              </a:spcAft>
              <a:buNone/>
            </a:pPr>
            <a:r>
              <a:rPr lang="sr-Cyrl-BA" altLang="sr-Latn-RS" sz="1800" dirty="0">
                <a:solidFill>
                  <a:schemeClr val="dk2"/>
                </a:solidFill>
                <a:latin typeface="Times New Roman" panose="02020603050405020304" charset="0"/>
                <a:cs typeface="Times New Roman" panose="02020603050405020304" charset="0"/>
              </a:rPr>
              <a:t>Студијски програм: Вештачка интелигенција и машинско учење</a:t>
            </a:r>
            <a:endParaRPr lang="sr-Cyrl-BA" altLang="sr-Latn-RS" sz="1800" dirty="0">
              <a:solidFill>
                <a:schemeClr val="dk2"/>
              </a:solidFill>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1"/>
          <a:stretch>
            <a:fillRect/>
          </a:stretch>
        </p:blipFill>
        <p:spPr>
          <a:xfrm>
            <a:off x="681355" y="123825"/>
            <a:ext cx="1082040" cy="1045210"/>
          </a:xfrm>
          <a:prstGeom prst="rect">
            <a:avLst/>
          </a:prstGeom>
        </p:spPr>
      </p:pic>
      <p:pic>
        <p:nvPicPr>
          <p:cNvPr id="6" name="Picture 5"/>
          <p:cNvPicPr>
            <a:picLocks noChangeAspect="1"/>
          </p:cNvPicPr>
          <p:nvPr/>
        </p:nvPicPr>
        <p:blipFill>
          <a:blip r:embed="rId2"/>
          <a:stretch>
            <a:fillRect/>
          </a:stretch>
        </p:blipFill>
        <p:spPr>
          <a:xfrm>
            <a:off x="7452360" y="123825"/>
            <a:ext cx="1010285" cy="1031240"/>
          </a:xfrm>
          <a:prstGeom prst="rect">
            <a:avLst/>
          </a:prstGeom>
        </p:spPr>
      </p:pic>
      <p:sp>
        <p:nvSpPr>
          <p:cNvPr id="4" name="Google Shape;1885;p35"/>
          <p:cNvSpPr txBox="1"/>
          <p:nvPr/>
        </p:nvSpPr>
        <p:spPr>
          <a:xfrm>
            <a:off x="2776220" y="195580"/>
            <a:ext cx="3660140" cy="895985"/>
          </a:xfrm>
          <a:prstGeom prst="rect">
            <a:avLst/>
          </a:prstGeom>
        </p:spPr>
        <p:txBody>
          <a:bodyPr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marR="0" lvl="1"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marR="0" lvl="2"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marR="0" lvl="3"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marR="0" lvl="4"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marR="0" lvl="5"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marR="0" lvl="6"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marR="0" lvl="7"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marR="0" lvl="8"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a:pPr marL="0" lvl="0" indent="0" algn="ctr" rtl="0">
              <a:spcBef>
                <a:spcPts val="0"/>
              </a:spcBef>
              <a:spcAft>
                <a:spcPts val="0"/>
              </a:spcAft>
              <a:buClr>
                <a:schemeClr val="dk1"/>
              </a:buClr>
              <a:buSzPts val="1100"/>
              <a:buFont typeface="Arial" panose="020B0604020202020204"/>
              <a:buNone/>
            </a:pPr>
            <a:r>
              <a:rPr lang="sr-Cyrl-BA" altLang="sr-Latn-RS" sz="2000">
                <a:solidFill>
                  <a:schemeClr val="accent1"/>
                </a:solidFill>
                <a:latin typeface="Times New Roman" panose="02020603050405020304" charset="0"/>
                <a:cs typeface="Times New Roman" panose="02020603050405020304" charset="0"/>
              </a:rPr>
              <a:t>УНИВЕРЗИТЕТ У НИШУ</a:t>
            </a:r>
            <a:endParaRPr lang="sr-Cyrl-BA" altLang="sr-Latn-RS" sz="2000">
              <a:solidFill>
                <a:schemeClr val="accent1"/>
              </a:solidFill>
              <a:latin typeface="Times New Roman" panose="02020603050405020304" charset="0"/>
              <a:cs typeface="Times New Roman" panose="02020603050405020304" charset="0"/>
            </a:endParaRPr>
          </a:p>
          <a:p>
            <a:pPr marL="0" lvl="0" indent="0" algn="ctr" rtl="0">
              <a:spcBef>
                <a:spcPts val="0"/>
              </a:spcBef>
              <a:spcAft>
                <a:spcPts val="0"/>
              </a:spcAft>
              <a:buClr>
                <a:schemeClr val="dk1"/>
              </a:buClr>
              <a:buSzPts val="1100"/>
              <a:buFont typeface="Arial" panose="020B0604020202020204"/>
              <a:buNone/>
            </a:pPr>
            <a:r>
              <a:rPr lang="sr-Cyrl-BA" altLang="sr-Latn-RS" sz="2000">
                <a:solidFill>
                  <a:schemeClr val="accent1"/>
                </a:solidFill>
                <a:latin typeface="Times New Roman" panose="02020603050405020304" charset="0"/>
                <a:cs typeface="Times New Roman" panose="02020603050405020304" charset="0"/>
              </a:rPr>
              <a:t>ЕЛЕКТРОНСКИ ФАКУЛТЕТ</a:t>
            </a:r>
            <a:endParaRPr lang="sr-Cyrl-BA" altLang="sr-Latn-RS" sz="2000">
              <a:solidFill>
                <a:schemeClr val="accent1"/>
              </a:solidFill>
              <a:latin typeface="Times New Roman" panose="02020603050405020304" charset="0"/>
              <a:cs typeface="Times New Roman" panose="02020603050405020304" charset="0"/>
            </a:endParaRPr>
          </a:p>
        </p:txBody>
      </p:sp>
      <p:sp>
        <p:nvSpPr>
          <p:cNvPr id="1885" name="Google Shape;1885;p35"/>
          <p:cNvSpPr txBox="1"/>
          <p:nvPr/>
        </p:nvSpPr>
        <p:spPr>
          <a:xfrm>
            <a:off x="43815" y="3724275"/>
            <a:ext cx="4527550" cy="895985"/>
          </a:xfrm>
          <a:prstGeom prst="rect">
            <a:avLst/>
          </a:prstGeom>
        </p:spPr>
        <p:txBody>
          <a:bodyPr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marR="0" lvl="1"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marR="0" lvl="2"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marR="0" lvl="3"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marR="0" lvl="4"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marR="0" lvl="5"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marR="0" lvl="6"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marR="0" lvl="7"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marR="0" lvl="8"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a:pPr marL="0" lvl="0" indent="0" algn="ctr" rtl="0">
              <a:spcBef>
                <a:spcPts val="0"/>
              </a:spcBef>
              <a:spcAft>
                <a:spcPts val="0"/>
              </a:spcAft>
              <a:buClr>
                <a:schemeClr val="dk1"/>
              </a:buClr>
              <a:buSzPts val="1100"/>
              <a:buFont typeface="Arial" panose="020B0604020202020204"/>
              <a:buNone/>
            </a:pPr>
            <a:r>
              <a:rPr lang="sr-Cyrl-BA" altLang="sr-Latn-RS" sz="1800">
                <a:solidFill>
                  <a:schemeClr val="accent1"/>
                </a:solidFill>
                <a:latin typeface="Times New Roman" panose="02020603050405020304" charset="0"/>
                <a:cs typeface="Times New Roman" panose="02020603050405020304" charset="0"/>
              </a:rPr>
              <a:t>Студент:</a:t>
            </a:r>
            <a:endParaRPr lang="sr-Latn-RS" sz="1800">
              <a:solidFill>
                <a:schemeClr val="accent1"/>
              </a:solidFill>
              <a:latin typeface="Times New Roman" panose="02020603050405020304" charset="0"/>
              <a:cs typeface="Times New Roman" panose="02020603050405020304" charset="0"/>
            </a:endParaRPr>
          </a:p>
          <a:p>
            <a:pPr marL="0" lvl="0" indent="0" algn="ctr" rtl="0">
              <a:spcBef>
                <a:spcPts val="0"/>
              </a:spcBef>
              <a:spcAft>
                <a:spcPts val="0"/>
              </a:spcAft>
              <a:buClr>
                <a:schemeClr val="dk1"/>
              </a:buClr>
              <a:buSzPts val="1100"/>
              <a:buFont typeface="Arial" panose="020B0604020202020204"/>
              <a:buNone/>
            </a:pPr>
            <a:r>
              <a:rPr lang="sr-Cyrl-BA" altLang="sr-Latn-RS" sz="1800">
                <a:solidFill>
                  <a:schemeClr val="accent1"/>
                </a:solidFill>
                <a:latin typeface="Times New Roman" panose="02020603050405020304" charset="0"/>
                <a:cs typeface="Times New Roman" panose="02020603050405020304" charset="0"/>
              </a:rPr>
              <a:t>Александар Јовановић</a:t>
            </a:r>
            <a:r>
              <a:rPr lang="sr-Latn-RS" sz="1800">
                <a:solidFill>
                  <a:schemeClr val="accent1"/>
                </a:solidFill>
                <a:latin typeface="Times New Roman" panose="02020603050405020304" charset="0"/>
                <a:cs typeface="Times New Roman" panose="02020603050405020304" charset="0"/>
              </a:rPr>
              <a:t> </a:t>
            </a:r>
            <a:endParaRPr lang="sr-Latn-RS" sz="1800">
              <a:solidFill>
                <a:schemeClr val="accent1"/>
              </a:solidFill>
              <a:latin typeface="Times New Roman" panose="02020603050405020304" charset="0"/>
              <a:cs typeface="Times New Roman" panose="02020603050405020304" charset="0"/>
            </a:endParaRPr>
          </a:p>
          <a:p>
            <a:pPr marL="0" lvl="0" indent="0" algn="ctr" rtl="0">
              <a:spcBef>
                <a:spcPts val="0"/>
              </a:spcBef>
              <a:spcAft>
                <a:spcPts val="0"/>
              </a:spcAft>
              <a:buClr>
                <a:schemeClr val="dk1"/>
              </a:buClr>
              <a:buSzPts val="1100"/>
              <a:buFont typeface="Arial" panose="020B0604020202020204"/>
              <a:buNone/>
            </a:pPr>
            <a:r>
              <a:rPr lang="sr-Cyrl-BA" altLang="sr-Latn-RS" sz="1800">
                <a:solidFill>
                  <a:schemeClr val="accent1"/>
                </a:solidFill>
                <a:latin typeface="Times New Roman" panose="02020603050405020304" charset="0"/>
                <a:cs typeface="Times New Roman" panose="02020603050405020304" charset="0"/>
              </a:rPr>
              <a:t>Бр</a:t>
            </a:r>
            <a:r>
              <a:rPr lang="sr-Latn-RS" sz="1800">
                <a:solidFill>
                  <a:schemeClr val="accent1"/>
                </a:solidFill>
                <a:latin typeface="Times New Roman" panose="02020603050405020304" charset="0"/>
                <a:cs typeface="Times New Roman" panose="02020603050405020304" charset="0"/>
              </a:rPr>
              <a:t>.</a:t>
            </a:r>
            <a:r>
              <a:rPr lang="sr-Cyrl-BA" altLang="sr-Latn-RS" sz="1800">
                <a:solidFill>
                  <a:schemeClr val="accent1"/>
                </a:solidFill>
                <a:latin typeface="Times New Roman" panose="02020603050405020304" charset="0"/>
                <a:cs typeface="Times New Roman" panose="02020603050405020304" charset="0"/>
              </a:rPr>
              <a:t> индекса</a:t>
            </a:r>
            <a:r>
              <a:rPr lang="sr-Latn-RS" sz="1800">
                <a:solidFill>
                  <a:schemeClr val="accent1"/>
                </a:solidFill>
                <a:latin typeface="Times New Roman" panose="02020603050405020304" charset="0"/>
                <a:cs typeface="Times New Roman" panose="02020603050405020304" charset="0"/>
              </a:rPr>
              <a:t> </a:t>
            </a:r>
            <a:r>
              <a:rPr lang="en-US" altLang="sr-Latn-RS" sz="1800">
                <a:solidFill>
                  <a:schemeClr val="accent1"/>
                </a:solidFill>
                <a:latin typeface="Times New Roman" panose="02020603050405020304" charset="0"/>
                <a:cs typeface="Times New Roman" panose="02020603050405020304" charset="0"/>
              </a:rPr>
              <a:t>2120</a:t>
            </a:r>
            <a:endParaRPr sz="1800">
              <a:solidFill>
                <a:schemeClr val="accent1"/>
              </a:solidFill>
              <a:latin typeface="Times New Roman" panose="02020603050405020304" charset="0"/>
              <a:cs typeface="Times New Roman" panose="02020603050405020304" charset="0"/>
            </a:endParaRPr>
          </a:p>
          <a:p>
            <a:pPr marL="0" lvl="0" indent="0" algn="ctr" rtl="0">
              <a:spcBef>
                <a:spcPts val="0"/>
              </a:spcBef>
              <a:spcAft>
                <a:spcPts val="0"/>
              </a:spcAft>
              <a:buClr>
                <a:schemeClr val="dk1"/>
              </a:buClr>
              <a:buSzPts val="1100"/>
              <a:buFont typeface="Arial" panose="020B0604020202020204"/>
              <a:buNone/>
            </a:pPr>
            <a:endParaRPr sz="1800">
              <a:solidFill>
                <a:schemeClr val="accent1"/>
              </a:solidFill>
              <a:latin typeface="Times New Roman" panose="02020603050405020304" charset="0"/>
              <a:cs typeface="Times New Roman" panose="02020603050405020304" charset="0"/>
            </a:endParaRPr>
          </a:p>
        </p:txBody>
      </p:sp>
      <p:sp>
        <p:nvSpPr>
          <p:cNvPr id="7" name="Google Shape;1885;p35"/>
          <p:cNvSpPr txBox="1"/>
          <p:nvPr/>
        </p:nvSpPr>
        <p:spPr>
          <a:xfrm>
            <a:off x="4589780" y="3724275"/>
            <a:ext cx="4572000" cy="895985"/>
          </a:xfrm>
          <a:prstGeom prst="rect">
            <a:avLst/>
          </a:prstGeom>
        </p:spPr>
        <p:txBody>
          <a:bodyPr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marR="0" lvl="1"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marR="0" lvl="2"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marR="0" lvl="3"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marR="0" lvl="4"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marR="0" lvl="5"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marR="0" lvl="6"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marR="0" lvl="7"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marR="0" lvl="8" algn="r" rtl="0">
              <a:lnSpc>
                <a:spcPct val="100000"/>
              </a:lnSpc>
              <a:spcBef>
                <a:spcPts val="0"/>
              </a:spcBef>
              <a:spcAft>
                <a:spcPts val="0"/>
              </a:spcAft>
              <a:buClr>
                <a:schemeClr val="accent1"/>
              </a:buClr>
              <a:buSzPts val="2800"/>
              <a:buFont typeface="Barlow Semi Condensed Medium" panose="00000606000000000000"/>
              <a:buNone/>
              <a:defRPr sz="2800" b="0" i="0" u="none" strike="noStrike" cap="none">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a:pPr marL="0" lvl="0" indent="0" algn="ctr" rtl="0">
              <a:spcBef>
                <a:spcPts val="0"/>
              </a:spcBef>
              <a:spcAft>
                <a:spcPts val="0"/>
              </a:spcAft>
              <a:buClr>
                <a:schemeClr val="dk1"/>
              </a:buClr>
              <a:buSzPts val="1100"/>
              <a:buFont typeface="Arial" panose="020B0604020202020204"/>
              <a:buNone/>
            </a:pPr>
            <a:r>
              <a:rPr lang="sr-Cyrl-BA" altLang="sr-Latn-RS" sz="1800">
                <a:solidFill>
                  <a:schemeClr val="accent1"/>
                </a:solidFill>
                <a:latin typeface="Times New Roman" panose="02020603050405020304" charset="0"/>
                <a:cs typeface="Times New Roman" panose="02020603050405020304" charset="0"/>
              </a:rPr>
              <a:t>Ментор:</a:t>
            </a:r>
            <a:endParaRPr lang="sr-Latn-RS" sz="1800">
              <a:solidFill>
                <a:schemeClr val="accent1"/>
              </a:solidFill>
              <a:latin typeface="Times New Roman" panose="02020603050405020304" charset="0"/>
              <a:cs typeface="Times New Roman" panose="02020603050405020304" charset="0"/>
            </a:endParaRPr>
          </a:p>
          <a:p>
            <a:pPr marL="0" lvl="0" indent="0" algn="ctr" rtl="0">
              <a:spcBef>
                <a:spcPts val="0"/>
              </a:spcBef>
              <a:spcAft>
                <a:spcPts val="0"/>
              </a:spcAft>
              <a:buClr>
                <a:schemeClr val="dk1"/>
              </a:buClr>
              <a:buSzPts val="1100"/>
              <a:buFont typeface="Arial" panose="020B0604020202020204"/>
              <a:buNone/>
            </a:pPr>
            <a:r>
              <a:rPr lang="sr-Cyrl-BA" altLang="sr-Latn-RS" sz="1800">
                <a:solidFill>
                  <a:schemeClr val="accent1"/>
                </a:solidFill>
                <a:latin typeface="Times New Roman" panose="02020603050405020304" charset="0"/>
                <a:cs typeface="Times New Roman" panose="02020603050405020304" charset="0"/>
              </a:rPr>
              <a:t>Проф. др</a:t>
            </a:r>
            <a:r>
              <a:rPr lang="sr-Latn-RS" sz="1800">
                <a:solidFill>
                  <a:schemeClr val="accent1"/>
                </a:solidFill>
                <a:latin typeface="Times New Roman" panose="02020603050405020304" charset="0"/>
                <a:cs typeface="Times New Roman" panose="02020603050405020304" charset="0"/>
              </a:rPr>
              <a:t> </a:t>
            </a:r>
            <a:r>
              <a:rPr lang="sr-Cyrl-BA" altLang="sr-Latn-RS" sz="1800">
                <a:solidFill>
                  <a:schemeClr val="accent1"/>
                </a:solidFill>
                <a:latin typeface="Times New Roman" panose="02020603050405020304" charset="0"/>
                <a:cs typeface="Times New Roman" panose="02020603050405020304" charset="0"/>
              </a:rPr>
              <a:t>Јелена Николић</a:t>
            </a:r>
            <a:endParaRPr lang="sr-Latn-RS" sz="1800">
              <a:solidFill>
                <a:schemeClr val="accent1"/>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3512"/>
        <p:cNvGrpSpPr/>
        <p:nvPr/>
      </p:nvGrpSpPr>
      <p:grpSpPr>
        <a:xfrm>
          <a:off x="0" y="0"/>
          <a:ext cx="0" cy="0"/>
          <a:chOff x="0" y="0"/>
          <a:chExt cx="0" cy="0"/>
        </a:xfrm>
      </p:grpSpPr>
      <p:sp>
        <p:nvSpPr>
          <p:cNvPr id="3515" name="Google Shape;3515;p62"/>
          <p:cNvSpPr txBox="1">
            <a:spLocks noGrp="1"/>
          </p:cNvSpPr>
          <p:nvPr>
            <p:ph type="title"/>
          </p:nvPr>
        </p:nvSpPr>
        <p:spPr>
          <a:xfrm>
            <a:off x="1572895" y="347345"/>
            <a:ext cx="5474970" cy="58547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US">
                <a:latin typeface="Times New Roman" panose="02020603050405020304" charset="0"/>
                <a:cs typeface="Times New Roman" panose="02020603050405020304" charset="0"/>
              </a:rPr>
              <a:t>Мотивација и проблем истраживања</a:t>
            </a:r>
            <a:endParaRPr lang="en-US" altLang="en-US">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731520" y="1059815"/>
            <a:ext cx="371475" cy="361950"/>
          </a:xfrm>
          <a:prstGeom prst="rect">
            <a:avLst/>
          </a:prstGeom>
        </p:spPr>
      </p:pic>
      <p:sp>
        <p:nvSpPr>
          <p:cNvPr id="7" name="Text Box 6"/>
          <p:cNvSpPr txBox="1"/>
          <p:nvPr/>
        </p:nvSpPr>
        <p:spPr>
          <a:xfrm>
            <a:off x="731520" y="1609090"/>
            <a:ext cx="3048000" cy="107632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Препознавање српског говора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Испитивање тачности транскрипције на </a:t>
            </a:r>
            <a:r>
              <a:rPr lang="sr-Cyrl-BA" altLang="en-US" sz="1600">
                <a:latin typeface="Times New Roman" panose="02020603050405020304" charset="0"/>
                <a:cs typeface="Times New Roman" panose="02020603050405020304" charset="0"/>
              </a:rPr>
              <a:t>снимцима читаног српског говора.</a:t>
            </a:r>
            <a:endParaRPr lang="sr-Cyrl-BA" altLang="en-US" sz="1600">
              <a:latin typeface="Times New Roman" panose="02020603050405020304" charset="0"/>
              <a:cs typeface="Times New Roman" panose="02020603050405020304" charset="0"/>
            </a:endParaRPr>
          </a:p>
        </p:txBody>
      </p:sp>
      <p:sp>
        <p:nvSpPr>
          <p:cNvPr id="8" name="Text Box 7"/>
          <p:cNvSpPr txBox="1"/>
          <p:nvPr/>
        </p:nvSpPr>
        <p:spPr>
          <a:xfrm>
            <a:off x="5470525" y="1635760"/>
            <a:ext cx="3048000" cy="107632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Ограничени ресурси</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Време обраде и потрошња меморије приликом CPU извршавања.</a:t>
            </a:r>
            <a:endParaRPr lang="en-US" sz="1600">
              <a:latin typeface="Times New Roman" panose="02020603050405020304" charset="0"/>
              <a:cs typeface="Times New Roman" panose="02020603050405020304" charset="0"/>
            </a:endParaRPr>
          </a:p>
        </p:txBody>
      </p:sp>
      <p:pic>
        <p:nvPicPr>
          <p:cNvPr id="9" name="Picture 8"/>
          <p:cNvPicPr>
            <a:picLocks noChangeAspect="1"/>
          </p:cNvPicPr>
          <p:nvPr/>
        </p:nvPicPr>
        <p:blipFill>
          <a:blip r:embed="rId2"/>
          <a:stretch>
            <a:fillRect/>
          </a:stretch>
        </p:blipFill>
        <p:spPr>
          <a:xfrm>
            <a:off x="5507990" y="1146175"/>
            <a:ext cx="285750" cy="276225"/>
          </a:xfrm>
          <a:prstGeom prst="rect">
            <a:avLst/>
          </a:prstGeom>
        </p:spPr>
      </p:pic>
      <p:pic>
        <p:nvPicPr>
          <p:cNvPr id="10" name="Picture 9"/>
          <p:cNvPicPr>
            <a:picLocks noChangeAspect="1"/>
          </p:cNvPicPr>
          <p:nvPr/>
        </p:nvPicPr>
        <p:blipFill>
          <a:blip r:embed="rId3"/>
          <a:stretch>
            <a:fillRect/>
          </a:stretch>
        </p:blipFill>
        <p:spPr>
          <a:xfrm>
            <a:off x="755650" y="2859405"/>
            <a:ext cx="285750" cy="276225"/>
          </a:xfrm>
          <a:prstGeom prst="rect">
            <a:avLst/>
          </a:prstGeom>
        </p:spPr>
      </p:pic>
      <p:sp>
        <p:nvSpPr>
          <p:cNvPr id="11" name="Text Box 10"/>
          <p:cNvSpPr txBox="1"/>
          <p:nvPr/>
        </p:nvSpPr>
        <p:spPr>
          <a:xfrm>
            <a:off x="731520" y="3361690"/>
            <a:ext cx="3048000" cy="82994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Различите конфигурације</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Величина модела, квантизација, декодирање и VAD.</a:t>
            </a:r>
            <a:endParaRPr lang="en-US" altLang="en-US" sz="1600">
              <a:latin typeface="Times New Roman" panose="02020603050405020304" charset="0"/>
              <a:cs typeface="Times New Roman" panose="02020603050405020304" charset="0"/>
            </a:endParaRPr>
          </a:p>
        </p:txBody>
      </p:sp>
      <p:pic>
        <p:nvPicPr>
          <p:cNvPr id="30" name="Picture 29"/>
          <p:cNvPicPr>
            <a:picLocks noChangeAspect="1"/>
          </p:cNvPicPr>
          <p:nvPr/>
        </p:nvPicPr>
        <p:blipFill>
          <a:blip r:embed="rId4"/>
          <a:stretch>
            <a:fillRect/>
          </a:stretch>
        </p:blipFill>
        <p:spPr>
          <a:xfrm>
            <a:off x="5527040" y="2840355"/>
            <a:ext cx="266700" cy="295275"/>
          </a:xfrm>
          <a:prstGeom prst="rect">
            <a:avLst/>
          </a:prstGeom>
        </p:spPr>
      </p:pic>
      <p:sp>
        <p:nvSpPr>
          <p:cNvPr id="31" name="Text Box 30"/>
          <p:cNvSpPr txBox="1"/>
          <p:nvPr/>
        </p:nvSpPr>
        <p:spPr>
          <a:xfrm>
            <a:off x="5436235" y="3364230"/>
            <a:ext cx="3048000" cy="82994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Специфична терминологија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Прилагођавање препознавања говора области пољопривреде.</a:t>
            </a:r>
            <a:endParaRPr lang="en-US" sz="1600">
              <a:latin typeface="Times New Roman" panose="02020603050405020304" charset="0"/>
              <a:cs typeface="Times New Roman" panose="02020603050405020304" charset="0"/>
            </a:endParaRPr>
          </a:p>
        </p:txBody>
      </p:sp>
      <p:sp>
        <p:nvSpPr>
          <p:cNvPr id="32" name="Text Box 31"/>
          <p:cNvSpPr txBox="1"/>
          <p:nvPr/>
        </p:nvSpPr>
        <p:spPr>
          <a:xfrm>
            <a:off x="2051685" y="4227830"/>
            <a:ext cx="6898005" cy="668020"/>
          </a:xfrm>
          <a:prstGeom prst="rect">
            <a:avLst/>
          </a:prstGeom>
          <a:noFill/>
        </p:spPr>
        <p:txBody>
          <a:bodyPr wrap="square" rtlCol="0">
            <a:noAutofit/>
          </a:bodyPr>
          <a:lstStyle/>
          <a:p>
            <a:pPr algn="l"/>
            <a:r>
              <a:rPr lang="en-US" altLang="en-US" sz="2400">
                <a:solidFill>
                  <a:schemeClr val="accent1"/>
                </a:solidFill>
                <a:highlight>
                  <a:srgbClr val="000000"/>
                </a:highlight>
                <a:latin typeface="Times New Roman" panose="02020603050405020304" charset="0"/>
                <a:cs typeface="Times New Roman" panose="02020603050405020304" charset="0"/>
              </a:rPr>
              <a:t>Како постићи добар однос тачности, брзине и меморијске ефикасности?</a:t>
            </a:r>
            <a:endParaRPr lang="en-US" altLang="en-US" sz="2400">
              <a:solidFill>
                <a:schemeClr val="accent1"/>
              </a:solidFill>
              <a:highlight>
                <a:srgbClr val="000000"/>
              </a:highlight>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12"/>
        <p:cNvGrpSpPr/>
        <p:nvPr/>
      </p:nvGrpSpPr>
      <p:grpSpPr>
        <a:xfrm>
          <a:off x="0" y="0"/>
          <a:ext cx="0" cy="0"/>
          <a:chOff x="0" y="0"/>
          <a:chExt cx="0" cy="0"/>
        </a:xfrm>
      </p:grpSpPr>
      <p:sp>
        <p:nvSpPr>
          <p:cNvPr id="3515" name="Google Shape;3515;p62"/>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US">
                <a:latin typeface="Times New Roman" panose="02020603050405020304" charset="0"/>
                <a:cs typeface="Times New Roman" panose="02020603050405020304" charset="0"/>
              </a:rPr>
              <a:t>Циљ и истраживачка питања</a:t>
            </a:r>
            <a:endParaRPr lang="en-US" altLang="en-US">
              <a:latin typeface="Times New Roman" panose="02020603050405020304" charset="0"/>
              <a:cs typeface="Times New Roman" panose="02020603050405020304" charset="0"/>
            </a:endParaRPr>
          </a:p>
        </p:txBody>
      </p:sp>
      <p:sp>
        <p:nvSpPr>
          <p:cNvPr id="2" name="Text Placeholder 1"/>
          <p:cNvSpPr>
            <a:spLocks noGrp="1"/>
          </p:cNvSpPr>
          <p:nvPr>
            <p:ph type="body" idx="1"/>
          </p:nvPr>
        </p:nvSpPr>
        <p:spPr>
          <a:xfrm>
            <a:off x="755650" y="1995805"/>
            <a:ext cx="5505450" cy="1012190"/>
          </a:xfrm>
        </p:spPr>
        <p:txBody>
          <a:bodyPr/>
          <a:lstStyle/>
          <a:p>
            <a:pPr marL="139700" indent="0" algn="l"/>
            <a:r>
              <a:rPr lang="en-US" altLang="en-US" dirty="0">
                <a:solidFill>
                  <a:schemeClr val="accent1"/>
                </a:solidFill>
                <a:latin typeface="Times New Roman" panose="02020603050405020304" charset="0"/>
                <a:cs typeface="Times New Roman" panose="02020603050405020304" charset="0"/>
              </a:rPr>
              <a:t>ОСНОВНИ ЦИЉ</a:t>
            </a:r>
            <a:endParaRPr lang="en-US" altLang="en-US" dirty="0">
              <a:solidFill>
                <a:schemeClr val="accent1"/>
              </a:solidFill>
              <a:latin typeface="Times New Roman" panose="02020603050405020304" charset="0"/>
              <a:cs typeface="Times New Roman" panose="02020603050405020304" charset="0"/>
            </a:endParaRPr>
          </a:p>
          <a:p>
            <a:pPr marL="139700" indent="0" algn="l"/>
            <a:r>
              <a:rPr lang="en-US" altLang="en-US" b="1" dirty="0" err="1">
                <a:latin typeface="Times New Roman" panose="02020603050405020304" charset="0"/>
                <a:cs typeface="Times New Roman" panose="02020603050405020304" charset="0"/>
              </a:rPr>
              <a:t>Анализа</a:t>
            </a:r>
            <a:r>
              <a:rPr lang="en-US" altLang="en-US" b="1" dirty="0">
                <a:latin typeface="Times New Roman" panose="02020603050405020304" charset="0"/>
                <a:cs typeface="Times New Roman" panose="02020603050405020304" charset="0"/>
              </a:rPr>
              <a:t> и </a:t>
            </a:r>
            <a:r>
              <a:rPr lang="en-US" altLang="en-US" b="1" dirty="0" err="1">
                <a:latin typeface="Times New Roman" panose="02020603050405020304" charset="0"/>
                <a:cs typeface="Times New Roman" panose="02020603050405020304" charset="0"/>
              </a:rPr>
              <a:t>оптимизација</a:t>
            </a:r>
            <a:r>
              <a:rPr lang="en-US" altLang="en-US" b="1" dirty="0">
                <a:latin typeface="Times New Roman" panose="02020603050405020304" charset="0"/>
                <a:cs typeface="Times New Roman" panose="02020603050405020304" charset="0"/>
              </a:rPr>
              <a:t> Whisper </a:t>
            </a:r>
            <a:r>
              <a:rPr lang="sr-Cyrl-BA" altLang="en-US" b="1" dirty="0">
                <a:latin typeface="Times New Roman" panose="02020603050405020304" charset="0"/>
                <a:cs typeface="Times New Roman" panose="02020603050405020304" charset="0"/>
              </a:rPr>
              <a:t>модела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за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српски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говор</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уз</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испитивање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ефеката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доменске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адаптације</a:t>
            </a:r>
            <a:r>
              <a:rPr lang="en-US" altLang="en-US" b="1" dirty="0">
                <a:latin typeface="Times New Roman" panose="02020603050405020304" charset="0"/>
                <a:cs typeface="Times New Roman" panose="02020603050405020304" charset="0"/>
              </a:rPr>
              <a:t>.</a:t>
            </a:r>
            <a:endParaRPr lang="en-US" altLang="en-US" b="1" dirty="0">
              <a:latin typeface="Times New Roman" panose="02020603050405020304" charset="0"/>
              <a:cs typeface="Times New Roman" panose="02020603050405020304" charset="0"/>
            </a:endParaRPr>
          </a:p>
          <a:p>
            <a:pPr marL="139700" indent="0" algn="l"/>
            <a:endParaRPr lang="en-US" altLang="en-US" dirty="0">
              <a:latin typeface="Times New Roman" panose="02020603050405020304" charset="0"/>
              <a:cs typeface="Times New Roman" panose="02020603050405020304" charset="0"/>
            </a:endParaRPr>
          </a:p>
          <a:p>
            <a:pPr marL="482600" indent="-342900" algn="l">
              <a:buAutoNum type="arabicPeriod"/>
            </a:pPr>
            <a:r>
              <a:rPr lang="en-US" altLang="en-US" dirty="0" err="1">
                <a:latin typeface="Times New Roman" panose="02020603050405020304" charset="0"/>
                <a:cs typeface="Times New Roman" panose="02020603050405020304" charset="0"/>
              </a:rPr>
              <a:t>Испитати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разлике</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између</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оригиналне</a:t>
            </a:r>
            <a:r>
              <a:rPr lang="en-US" altLang="en-US" dirty="0">
                <a:latin typeface="Times New Roman" panose="02020603050405020304" charset="0"/>
                <a:cs typeface="Times New Roman" panose="02020603050405020304" charset="0"/>
              </a:rPr>
              <a:t> Whisper и Faster-Whisper </a:t>
            </a:r>
            <a:r>
              <a:rPr lang="en-US" altLang="en-US" dirty="0" err="1">
                <a:latin typeface="Times New Roman" panose="02020603050405020304" charset="0"/>
                <a:cs typeface="Times New Roman" panose="02020603050405020304" charset="0"/>
              </a:rPr>
              <a:t>имплементације</a:t>
            </a:r>
            <a:r>
              <a:rPr lang="en-US" altLang="en-US" dirty="0">
                <a:latin typeface="Times New Roman" panose="02020603050405020304" charset="0"/>
                <a:cs typeface="Times New Roman" panose="02020603050405020304" charset="0"/>
              </a:rPr>
              <a:t>.</a:t>
            </a:r>
            <a:endParaRPr lang="en-US" altLang="en-US" dirty="0">
              <a:latin typeface="Times New Roman" panose="02020603050405020304" charset="0"/>
              <a:cs typeface="Times New Roman" panose="02020603050405020304" charset="0"/>
            </a:endParaRPr>
          </a:p>
          <a:p>
            <a:pPr marL="482600" indent="-342900" algn="l">
              <a:buAutoNum type="arabicPeriod"/>
            </a:pPr>
            <a:r>
              <a:rPr lang="sr-Cyrl-BA" altLang="en-US" dirty="0">
                <a:latin typeface="Times New Roman" panose="02020603050405020304" charset="0"/>
                <a:cs typeface="Times New Roman" panose="02020603050405020304" charset="0"/>
              </a:rPr>
              <a:t>Истражити к</a:t>
            </a:r>
            <a:r>
              <a:rPr lang="en-US" altLang="en-US" dirty="0" err="1">
                <a:latin typeface="Times New Roman" panose="02020603050405020304" charset="0"/>
                <a:cs typeface="Times New Roman" panose="02020603050405020304" charset="0"/>
              </a:rPr>
              <a:t>ако</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конфигурација</a:t>
            </a:r>
            <a:r>
              <a:rPr lang="en-US" altLang="en-US" dirty="0">
                <a:latin typeface="Times New Roman" panose="02020603050405020304" charset="0"/>
                <a:cs typeface="Times New Roman" panose="02020603050405020304" charset="0"/>
              </a:rPr>
              <a:t> и</a:t>
            </a:r>
            <a:r>
              <a:rPr lang="sr-Latn-R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услови</a:t>
            </a:r>
            <a:r>
              <a:rPr lang="en-US" altLang="en-US" dirty="0">
                <a:latin typeface="Times New Roman" panose="02020603050405020304" charset="0"/>
                <a:cs typeface="Times New Roman" panose="02020603050405020304" charset="0"/>
              </a:rPr>
              <a:t> </a:t>
            </a:r>
            <a:r>
              <a:rPr lang="sr-Cyrl-BA" altLang="en-US" dirty="0">
                <a:latin typeface="Times New Roman" panose="02020603050405020304" charset="0"/>
                <a:cs typeface="Times New Roman" panose="02020603050405020304" charset="0"/>
              </a:rPr>
              <a:t>експеримената </a:t>
            </a:r>
            <a:r>
              <a:rPr lang="en-US" altLang="en-US" dirty="0" err="1">
                <a:latin typeface="Times New Roman" panose="02020603050405020304" charset="0"/>
                <a:cs typeface="Times New Roman" panose="02020603050405020304" charset="0"/>
              </a:rPr>
              <a:t>утичу</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на</a:t>
            </a:r>
            <a:r>
              <a:rPr lang="en-US" altLang="en-US" dirty="0">
                <a:latin typeface="Times New Roman" panose="02020603050405020304" charset="0"/>
                <a:cs typeface="Times New Roman" panose="02020603050405020304" charset="0"/>
              </a:rPr>
              <a:t> </a:t>
            </a:r>
            <a:r>
              <a:rPr lang="sr-Cyrl-BA" altLang="en-US" dirty="0">
                <a:latin typeface="Times New Roman" panose="02020603050405020304" charset="0"/>
                <a:cs typeface="Times New Roman" panose="02020603050405020304" charset="0"/>
              </a:rPr>
              <a:t>вредности </a:t>
            </a:r>
            <a:r>
              <a:rPr lang="en-US" altLang="en-US" dirty="0">
                <a:latin typeface="Times New Roman" panose="02020603050405020304" charset="0"/>
                <a:cs typeface="Times New Roman" panose="02020603050405020304" charset="0"/>
              </a:rPr>
              <a:t>WER</a:t>
            </a:r>
            <a:r>
              <a:rPr lang="sr-Cyrl-BA" altLang="en-US" dirty="0">
                <a:latin typeface="Times New Roman" panose="02020603050405020304" charset="0"/>
                <a:cs typeface="Times New Roman" panose="02020603050405020304" charset="0"/>
              </a:rPr>
              <a:t>-а</a:t>
            </a:r>
            <a:r>
              <a:rPr lang="en-US" altLang="en-US" dirty="0">
                <a:latin typeface="Times New Roman" panose="02020603050405020304" charset="0"/>
                <a:cs typeface="Times New Roman" panose="02020603050405020304" charset="0"/>
              </a:rPr>
              <a:t>, RTF</a:t>
            </a:r>
            <a:r>
              <a:rPr lang="sr-Cyrl-BA" altLang="en-US" dirty="0">
                <a:latin typeface="Times New Roman" panose="02020603050405020304" charset="0"/>
                <a:cs typeface="Times New Roman" panose="02020603050405020304" charset="0"/>
              </a:rPr>
              <a:t>-а</a:t>
            </a:r>
            <a:r>
              <a:rPr lang="en-US" altLang="en-US" dirty="0">
                <a:latin typeface="Times New Roman" panose="02020603050405020304" charset="0"/>
                <a:cs typeface="Times New Roman" panose="02020603050405020304" charset="0"/>
              </a:rPr>
              <a:t> и</a:t>
            </a:r>
            <a:r>
              <a:rPr lang="sr-Cyrl-BA" altLang="en-US" dirty="0">
                <a:latin typeface="Times New Roman" panose="02020603050405020304" charset="0"/>
                <a:cs typeface="Times New Roman" panose="02020603050405020304" charset="0"/>
              </a:rPr>
              <a:t> меморијску потрошњу.</a:t>
            </a:r>
            <a:endParaRPr lang="en-US" altLang="en-US" dirty="0">
              <a:latin typeface="Times New Roman" panose="02020603050405020304" charset="0"/>
              <a:cs typeface="Times New Roman" panose="02020603050405020304" charset="0"/>
            </a:endParaRPr>
          </a:p>
          <a:p>
            <a:pPr marL="482600" indent="-342900" algn="l">
              <a:buAutoNum type="arabicPeriod"/>
            </a:pPr>
            <a:r>
              <a:rPr lang="sr-Cyrl-BA" altLang="en-US" dirty="0">
                <a:latin typeface="Times New Roman" panose="02020603050405020304" charset="0"/>
                <a:cs typeface="Times New Roman" panose="02020603050405020304" charset="0"/>
                <a:sym typeface="+mn-ea"/>
              </a:rPr>
              <a:t>Истражити к</a:t>
            </a:r>
            <a:r>
              <a:rPr lang="en-US" altLang="en-US" dirty="0" err="1">
                <a:latin typeface="Times New Roman" panose="02020603050405020304" charset="0"/>
                <a:cs typeface="Times New Roman" panose="02020603050405020304" charset="0"/>
              </a:rPr>
              <a:t>ако</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одабрати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конфигурацију</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на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основу</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више</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критеријума</a:t>
            </a:r>
            <a:r>
              <a:rPr lang="sr-Cyrl-BA" altLang="en-US" dirty="0">
                <a:latin typeface="Times New Roman" panose="02020603050405020304" charset="0"/>
                <a:cs typeface="Times New Roman" panose="02020603050405020304" charset="0"/>
              </a:rPr>
              <a:t>.</a:t>
            </a:r>
            <a:endParaRPr lang="en-US" altLang="en-US" dirty="0">
              <a:latin typeface="Times New Roman" panose="02020603050405020304" charset="0"/>
              <a:cs typeface="Times New Roman" panose="02020603050405020304" charset="0"/>
            </a:endParaRPr>
          </a:p>
          <a:p>
            <a:pPr marL="482600" indent="-342900" algn="l">
              <a:buAutoNum type="arabicPeriod"/>
            </a:pPr>
            <a:r>
              <a:rPr lang="sr-Cyrl-BA" altLang="en-US" dirty="0">
                <a:latin typeface="Times New Roman" panose="02020603050405020304" charset="0"/>
                <a:cs typeface="Times New Roman" panose="02020603050405020304" charset="0"/>
                <a:sym typeface="+mn-ea"/>
              </a:rPr>
              <a:t>Истражити к</a:t>
            </a:r>
            <a:r>
              <a:rPr lang="en-US" altLang="en-US" dirty="0" err="1">
                <a:latin typeface="Times New Roman" panose="02020603050405020304" charset="0"/>
                <a:cs typeface="Times New Roman" panose="02020603050405020304" charset="0"/>
              </a:rPr>
              <a:t>акав</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ефекат</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има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адаптација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на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пољопривредни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говор</a:t>
            </a:r>
            <a:r>
              <a:rPr lang="en-US" altLang="en-US" dirty="0">
                <a:latin typeface="Times New Roman" panose="02020603050405020304" charset="0"/>
                <a:cs typeface="Times New Roman" panose="02020603050405020304" charset="0"/>
              </a:rPr>
              <a:t> и </a:t>
            </a:r>
            <a:r>
              <a:rPr lang="en-US" altLang="en-US" dirty="0" err="1">
                <a:latin typeface="Times New Roman" panose="02020603050405020304" charset="0"/>
                <a:cs typeface="Times New Roman" panose="02020603050405020304" charset="0"/>
              </a:rPr>
              <a:t>новог</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говорника</a:t>
            </a:r>
            <a:r>
              <a:rPr lang="sr-Cyrl-BA" altLang="en-US" dirty="0">
                <a:latin typeface="Times New Roman" panose="02020603050405020304" charset="0"/>
                <a:cs typeface="Times New Roman" panose="02020603050405020304" charset="0"/>
              </a:rPr>
              <a:t>.</a:t>
            </a:r>
            <a:endParaRPr lang="sr-Cyrl-BA" altLang="en-US" dirty="0">
              <a:latin typeface="Times New Roman" panose="02020603050405020304" charset="0"/>
              <a:cs typeface="Times New Roman" panose="02020603050405020304" charset="0"/>
            </a:endParaRPr>
          </a:p>
        </p:txBody>
      </p:sp>
      <p:grpSp>
        <p:nvGrpSpPr>
          <p:cNvPr id="8" name="Google Shape;1690;p35"/>
          <p:cNvGrpSpPr/>
          <p:nvPr/>
        </p:nvGrpSpPr>
        <p:grpSpPr>
          <a:xfrm>
            <a:off x="6634480" y="3203575"/>
            <a:ext cx="1861820" cy="1282700"/>
            <a:chOff x="469775" y="238125"/>
            <a:chExt cx="6679425" cy="5229600"/>
          </a:xfrm>
        </p:grpSpPr>
        <p:sp>
          <p:nvSpPr>
            <p:cNvPr id="9"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200785" y="988060"/>
            <a:ext cx="6885940" cy="3524250"/>
          </a:xfrm>
        </p:spPr>
        <p:txBody>
          <a:bodyPr/>
          <a:lstStyle/>
          <a:p>
            <a:pPr marL="139700" indent="0">
              <a:buNone/>
            </a:pPr>
            <a:r>
              <a:rPr lang="sr-Cyrl-BA" altLang="en-US" sz="1600" b="1">
                <a:latin typeface="Times New Roman" panose="02020603050405020304" charset="0"/>
                <a:cs typeface="Times New Roman" panose="02020603050405020304" charset="0"/>
              </a:rPr>
              <a:t>Креиран г</a:t>
            </a:r>
            <a:r>
              <a:rPr lang="en-US" altLang="en-US" sz="1600" b="1">
                <a:latin typeface="Times New Roman" panose="02020603050405020304" charset="0"/>
                <a:cs typeface="Times New Roman" panose="02020603050405020304" charset="0"/>
              </a:rPr>
              <a:t>оворни скуп за евалуацију</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40 снимака </a:t>
            </a:r>
            <a:r>
              <a:rPr lang="sr-Cyrl-BA" altLang="en-US" sz="1600">
                <a:latin typeface="Times New Roman" panose="02020603050405020304" charset="0"/>
                <a:cs typeface="Times New Roman" panose="02020603050405020304" charset="0"/>
                <a:sym typeface="+mn-ea"/>
              </a:rPr>
              <a:t>читаног </a:t>
            </a:r>
            <a:r>
              <a:rPr lang="en-US" altLang="en-US" sz="1600">
                <a:latin typeface="Times New Roman" panose="02020603050405020304" charset="0"/>
                <a:cs typeface="Times New Roman" panose="02020603050405020304" charset="0"/>
              </a:rPr>
              <a:t>српског</a:t>
            </a:r>
            <a:r>
              <a:rPr lang="sr-Cyrl-BA" altLang="en-US"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говора · 3 говорника</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pPr marL="139700" indent="0">
              <a:buNone/>
            </a:pPr>
            <a:r>
              <a:rPr lang="en-US" altLang="en-US" sz="1600" b="1">
                <a:latin typeface="Times New Roman" panose="02020603050405020304" charset="0"/>
                <a:cs typeface="Times New Roman" panose="02020603050405020304" charset="0"/>
              </a:rPr>
              <a:t>Извршена систематска анализа оригиналне Whisper и Faster-Whisper имплементације</a:t>
            </a:r>
            <a:endParaRPr lang="en-US" altLang="en-US" sz="1600" b="1">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Величина модела, шум, квантизација, </a:t>
            </a:r>
            <a:r>
              <a:rPr lang="sr-Cyrl-BA" altLang="en-US" sz="1600">
                <a:latin typeface="Times New Roman" panose="02020603050405020304" charset="0"/>
                <a:cs typeface="Times New Roman" panose="02020603050405020304" charset="0"/>
              </a:rPr>
              <a:t>параметар </a:t>
            </a:r>
            <a:r>
              <a:rPr lang="en-US" altLang="sr-Cyrl-BA" sz="1600">
                <a:latin typeface="Times New Roman" panose="02020603050405020304" charset="0"/>
                <a:cs typeface="Times New Roman" panose="02020603050405020304" charset="0"/>
              </a:rPr>
              <a:t>beam size</a:t>
            </a:r>
            <a:r>
              <a:rPr lang="en-US" altLang="en-US" sz="1600">
                <a:latin typeface="Times New Roman" panose="02020603050405020304" charset="0"/>
                <a:cs typeface="Times New Roman" panose="02020603050405020304" charset="0"/>
              </a:rPr>
              <a:t> и </a:t>
            </a:r>
            <a:r>
              <a:rPr lang="sr-Cyrl-BA" altLang="en-US" sz="1600">
                <a:latin typeface="Times New Roman" panose="02020603050405020304" charset="0"/>
                <a:cs typeface="Times New Roman" panose="02020603050405020304" charset="0"/>
              </a:rPr>
              <a:t>примена</a:t>
            </a:r>
            <a:r>
              <a:rPr lang="en-US" altLang="en-US" sz="1600">
                <a:latin typeface="Times New Roman" panose="02020603050405020304" charset="0"/>
                <a:cs typeface="Times New Roman" panose="02020603050405020304" charset="0"/>
              </a:rPr>
              <a:t> VAD-</a:t>
            </a:r>
            <a:r>
              <a:rPr lang="sr-Cyrl-BA" altLang="en-US" sz="1600">
                <a:latin typeface="Times New Roman" panose="02020603050405020304" charset="0"/>
                <a:cs typeface="Times New Roman" panose="02020603050405020304" charset="0"/>
              </a:rPr>
              <a:t>а</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pPr marL="139700" indent="0" algn="l">
              <a:buNone/>
            </a:pPr>
            <a:r>
              <a:rPr lang="en-US" altLang="en-US" sz="1600" b="1">
                <a:latin typeface="Times New Roman" panose="02020603050405020304" charset="0"/>
                <a:cs typeface="Times New Roman" panose="02020603050405020304" charset="0"/>
              </a:rPr>
              <a:t>Симулирана транскрипција </a:t>
            </a:r>
            <a:r>
              <a:rPr lang="sr-Cyrl-BA" altLang="en-US" sz="1600" b="1">
                <a:latin typeface="Times New Roman" panose="02020603050405020304" charset="0"/>
                <a:cs typeface="Times New Roman" panose="02020603050405020304" charset="0"/>
              </a:rPr>
              <a:t>у реалном времену</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Утицај величине сегмента на латенцију, RTF и тачност</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pPr marL="139700" indent="0" algn="l">
              <a:buNone/>
            </a:pPr>
            <a:r>
              <a:rPr lang="sr-Cyrl-BA" altLang="en-US" sz="1600" b="1">
                <a:latin typeface="Times New Roman" panose="02020603050405020304" charset="0"/>
                <a:cs typeface="Times New Roman" panose="02020603050405020304" charset="0"/>
              </a:rPr>
              <a:t>И</a:t>
            </a:r>
            <a:r>
              <a:rPr lang="en-US" altLang="en-US" sz="1600" b="1">
                <a:latin typeface="Times New Roman" panose="02020603050405020304" charset="0"/>
                <a:cs typeface="Times New Roman" panose="02020603050405020304" charset="0"/>
              </a:rPr>
              <a:t>збор</a:t>
            </a:r>
            <a:r>
              <a:rPr lang="sr-Cyrl-BA" altLang="en-US" sz="1600" b="1">
                <a:latin typeface="Times New Roman" panose="02020603050405020304" charset="0"/>
                <a:cs typeface="Times New Roman" panose="02020603050405020304" charset="0"/>
              </a:rPr>
              <a:t> повољне </a:t>
            </a:r>
            <a:r>
              <a:rPr lang="en-US" altLang="en-US" sz="1600" b="1">
                <a:latin typeface="Times New Roman" panose="02020603050405020304" charset="0"/>
                <a:cs typeface="Times New Roman" panose="02020603050405020304" charset="0"/>
              </a:rPr>
              <a:t>конфигурације</a:t>
            </a:r>
            <a:r>
              <a:rPr lang="sr-Cyrl-BA" altLang="en-US" sz="1600" b="1">
                <a:latin typeface="Times New Roman" panose="02020603050405020304" charset="0"/>
                <a:cs typeface="Times New Roman" panose="02020603050405020304" charset="0"/>
              </a:rPr>
              <a:t> на основу више критеријума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Вишекритеријумска оптимизација · Pareto анализа · осетљивост</a:t>
            </a:r>
            <a:endParaRPr lang="en-US" altLang="en-US" sz="1600">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pPr marL="139700" indent="0" algn="l">
              <a:buNone/>
            </a:pPr>
            <a:r>
              <a:rPr lang="en-US" altLang="en-US" sz="1600" b="1">
                <a:latin typeface="Times New Roman" panose="02020603050405020304" charset="0"/>
                <a:cs typeface="Times New Roman" panose="02020603050405020304" charset="0"/>
              </a:rPr>
              <a:t>Доменска адаптација за пољопривреду</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800 снимака · fine-tuning · евалуација на новом говорнику</a:t>
            </a:r>
            <a:endParaRPr lang="en-US" altLang="en-US" sz="160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Оригинални доприноси рада</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20700" y="290830"/>
            <a:ext cx="7033260" cy="575945"/>
          </a:xfrm>
        </p:spPr>
        <p:txBody>
          <a:bodyPr/>
          <a:lstStyle/>
          <a:p>
            <a:r>
              <a:rPr lang="en-US" altLang="en-US">
                <a:latin typeface="Times New Roman" panose="02020603050405020304" charset="0"/>
                <a:cs typeface="Times New Roman" panose="02020603050405020304" charset="0"/>
              </a:rPr>
              <a:t>Организација истраживања</a:t>
            </a:r>
            <a:endParaRPr lang="en-US" altLang="en-US">
              <a:latin typeface="Times New Roman" panose="02020603050405020304" charset="0"/>
              <a:cs typeface="Times New Roman" panose="02020603050405020304" charset="0"/>
            </a:endParaRPr>
          </a:p>
        </p:txBody>
      </p:sp>
      <p:sp>
        <p:nvSpPr>
          <p:cNvPr id="3" name="Rounded Rectangle 2"/>
          <p:cNvSpPr/>
          <p:nvPr/>
        </p:nvSpPr>
        <p:spPr>
          <a:xfrm>
            <a:off x="971550" y="1059815"/>
            <a:ext cx="1110615"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21405B"/>
                </a:solidFill>
                <a:latin typeface="Times New Roman" panose="02020603050405020304" charset="0"/>
                <a:cs typeface="Times New Roman" panose="02020603050405020304" charset="0"/>
                <a:sym typeface="+mn-ea"/>
              </a:rPr>
              <a:t>Аудио скуп</a:t>
            </a:r>
            <a:endParaRPr>
              <a:latin typeface="Times New Roman" panose="02020603050405020304" charset="0"/>
              <a:cs typeface="Times New Roman" panose="02020603050405020304" charset="0"/>
            </a:endParaRPr>
          </a:p>
        </p:txBody>
      </p:sp>
      <p:sp>
        <p:nvSpPr>
          <p:cNvPr id="7" name="TextBox 10"/>
          <p:cNvSpPr txBox="1"/>
          <p:nvPr/>
        </p:nvSpPr>
        <p:spPr>
          <a:xfrm>
            <a:off x="1907921" y="199580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30" name="TextBox 14"/>
          <p:cNvSpPr txBox="1"/>
          <p:nvPr/>
        </p:nvSpPr>
        <p:spPr>
          <a:xfrm>
            <a:off x="3275838" y="268541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34" name="TextBox 18"/>
          <p:cNvSpPr txBox="1"/>
          <p:nvPr/>
        </p:nvSpPr>
        <p:spPr>
          <a:xfrm>
            <a:off x="4932045" y="347726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38" name="TextBox 22"/>
          <p:cNvSpPr txBox="1"/>
          <p:nvPr/>
        </p:nvSpPr>
        <p:spPr>
          <a:xfrm>
            <a:off x="6588887" y="430022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42" name="Rounded Rectangle 41"/>
          <p:cNvSpPr/>
          <p:nvPr/>
        </p:nvSpPr>
        <p:spPr>
          <a:xfrm>
            <a:off x="2227580" y="1779905"/>
            <a:ext cx="1170305"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b="1">
                <a:solidFill>
                  <a:srgbClr val="21405B"/>
                </a:solidFill>
                <a:latin typeface="Times New Roman" panose="02020603050405020304" charset="0"/>
                <a:cs typeface="Times New Roman" panose="02020603050405020304" charset="0"/>
                <a:sym typeface="+mn-ea"/>
              </a:rPr>
              <a:t> Почетно поређење</a:t>
            </a:r>
            <a:endParaRPr b="1" i="0">
              <a:solidFill>
                <a:srgbClr val="21405B"/>
              </a:solidFill>
              <a:latin typeface="Times New Roman" panose="02020603050405020304" charset="0"/>
              <a:cs typeface="Times New Roman" panose="02020603050405020304" charset="0"/>
            </a:endParaRPr>
          </a:p>
          <a:p>
            <a:pPr algn="ctr"/>
            <a:endParaRPr>
              <a:latin typeface="Times New Roman" panose="02020603050405020304" charset="0"/>
              <a:cs typeface="Times New Roman" panose="02020603050405020304" charset="0"/>
            </a:endParaRPr>
          </a:p>
        </p:txBody>
      </p:sp>
      <p:sp>
        <p:nvSpPr>
          <p:cNvPr id="43" name="Rounded Rectangle 42"/>
          <p:cNvSpPr/>
          <p:nvPr/>
        </p:nvSpPr>
        <p:spPr>
          <a:xfrm>
            <a:off x="3637280" y="2571750"/>
            <a:ext cx="1565910"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solidFill>
                <a:srgbClr val="21405B"/>
              </a:solidFill>
              <a:latin typeface="Times New Roman" panose="02020603050405020304" charset="0"/>
              <a:cs typeface="Times New Roman" panose="02020603050405020304" charset="0"/>
              <a:sym typeface="+mn-ea"/>
            </a:endParaRPr>
          </a:p>
          <a:p>
            <a:pPr algn="ctr"/>
            <a:r>
              <a:rPr b="1">
                <a:solidFill>
                  <a:srgbClr val="21405B"/>
                </a:solidFill>
                <a:latin typeface="Times New Roman" panose="02020603050405020304" charset="0"/>
                <a:cs typeface="Times New Roman" panose="02020603050405020304" charset="0"/>
                <a:sym typeface="+mn-ea"/>
              </a:rPr>
              <a:t>Оптимизациј</a:t>
            </a:r>
            <a:r>
              <a:rPr lang="sr-Cyrl-BA" b="1">
                <a:solidFill>
                  <a:srgbClr val="21405B"/>
                </a:solidFill>
                <a:latin typeface="Times New Roman" panose="02020603050405020304" charset="0"/>
                <a:cs typeface="Times New Roman" panose="02020603050405020304" charset="0"/>
                <a:sym typeface="+mn-ea"/>
              </a:rPr>
              <a:t>а</a:t>
            </a:r>
            <a:endParaRPr lang="sr-Cyrl-BA" b="1">
              <a:solidFill>
                <a:srgbClr val="21405B"/>
              </a:solidFill>
              <a:latin typeface="Times New Roman" panose="02020603050405020304" charset="0"/>
              <a:cs typeface="Times New Roman" panose="02020603050405020304" charset="0"/>
              <a:sym typeface="+mn-ea"/>
            </a:endParaRPr>
          </a:p>
          <a:p>
            <a:pPr algn="ctr"/>
            <a:r>
              <a:rPr lang="sr-Cyrl-BA" b="1">
                <a:solidFill>
                  <a:srgbClr val="21405B"/>
                </a:solidFill>
                <a:latin typeface="Times New Roman" panose="02020603050405020304" charset="0"/>
                <a:cs typeface="Times New Roman" panose="02020603050405020304" charset="0"/>
                <a:sym typeface="+mn-ea"/>
              </a:rPr>
              <a:t>система</a:t>
            </a:r>
            <a:endParaRPr b="1" i="0">
              <a:solidFill>
                <a:srgbClr val="21405B"/>
              </a:solidFill>
              <a:latin typeface="Times New Roman" panose="02020603050405020304" charset="0"/>
              <a:cs typeface="Times New Roman" panose="02020603050405020304" charset="0"/>
            </a:endParaRPr>
          </a:p>
          <a:p>
            <a:pPr algn="ctr"/>
            <a:endParaRPr>
              <a:latin typeface="Times New Roman" panose="02020603050405020304" charset="0"/>
              <a:cs typeface="Times New Roman" panose="02020603050405020304" charset="0"/>
            </a:endParaRPr>
          </a:p>
        </p:txBody>
      </p:sp>
      <p:sp>
        <p:nvSpPr>
          <p:cNvPr id="44" name="Rounded Rectangle 43"/>
          <p:cNvSpPr/>
          <p:nvPr/>
        </p:nvSpPr>
        <p:spPr>
          <a:xfrm>
            <a:off x="5247005" y="3435985"/>
            <a:ext cx="1503680"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solidFill>
                <a:srgbClr val="21405B"/>
              </a:solidFill>
              <a:latin typeface="Times New Roman" panose="02020603050405020304" charset="0"/>
              <a:cs typeface="Times New Roman" panose="02020603050405020304" charset="0"/>
              <a:sym typeface="+mn-ea"/>
            </a:endParaRPr>
          </a:p>
          <a:p>
            <a:pPr algn="ctr"/>
            <a:r>
              <a:rPr b="1">
                <a:solidFill>
                  <a:srgbClr val="21405B"/>
                </a:solidFill>
                <a:latin typeface="Times New Roman" panose="02020603050405020304" charset="0"/>
                <a:cs typeface="Times New Roman" panose="02020603050405020304" charset="0"/>
                <a:sym typeface="+mn-ea"/>
              </a:rPr>
              <a:t>Избор</a:t>
            </a:r>
            <a:endParaRPr b="1">
              <a:solidFill>
                <a:srgbClr val="21405B"/>
              </a:solidFill>
              <a:latin typeface="Times New Roman" panose="02020603050405020304" charset="0"/>
              <a:cs typeface="Times New Roman" panose="02020603050405020304" charset="0"/>
              <a:sym typeface="+mn-ea"/>
            </a:endParaRPr>
          </a:p>
          <a:p>
            <a:pPr algn="ctr"/>
            <a:r>
              <a:rPr lang="sr-Cyrl-BA" b="1">
                <a:solidFill>
                  <a:srgbClr val="21405B"/>
                </a:solidFill>
                <a:latin typeface="Times New Roman" panose="02020603050405020304" charset="0"/>
                <a:cs typeface="Times New Roman" panose="02020603050405020304" charset="0"/>
                <a:sym typeface="+mn-ea"/>
              </a:rPr>
              <a:t>конфигурације</a:t>
            </a:r>
            <a:endParaRPr b="1" i="0">
              <a:solidFill>
                <a:srgbClr val="21405B"/>
              </a:solidFill>
              <a:latin typeface="Times New Roman" panose="02020603050405020304" charset="0"/>
              <a:cs typeface="Times New Roman" panose="02020603050405020304" charset="0"/>
            </a:endParaRPr>
          </a:p>
          <a:p>
            <a:pPr algn="ctr"/>
            <a:endParaRPr>
              <a:latin typeface="Times New Roman" panose="02020603050405020304" charset="0"/>
              <a:cs typeface="Times New Roman" panose="02020603050405020304" charset="0"/>
            </a:endParaRPr>
          </a:p>
        </p:txBody>
      </p:sp>
      <p:sp>
        <p:nvSpPr>
          <p:cNvPr id="45" name="Rounded Rectangle 44"/>
          <p:cNvSpPr/>
          <p:nvPr/>
        </p:nvSpPr>
        <p:spPr>
          <a:xfrm>
            <a:off x="6915150" y="4011930"/>
            <a:ext cx="1236345"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r-Cyrl-BA" b="1">
              <a:solidFill>
                <a:srgbClr val="21405B"/>
              </a:solidFill>
              <a:latin typeface="Times New Roman" panose="02020603050405020304" charset="0"/>
              <a:cs typeface="Times New Roman" panose="02020603050405020304" charset="0"/>
              <a:sym typeface="+mn-ea"/>
            </a:endParaRPr>
          </a:p>
          <a:p>
            <a:pPr algn="ctr"/>
            <a:r>
              <a:rPr lang="sr-Cyrl-BA" b="1">
                <a:solidFill>
                  <a:srgbClr val="21405B"/>
                </a:solidFill>
                <a:latin typeface="Times New Roman" panose="02020603050405020304" charset="0"/>
                <a:cs typeface="Times New Roman" panose="02020603050405020304" charset="0"/>
                <a:sym typeface="+mn-ea"/>
              </a:rPr>
              <a:t>Доменска</a:t>
            </a:r>
            <a:endParaRPr lang="sr-Cyrl-BA" b="1">
              <a:solidFill>
                <a:srgbClr val="21405B"/>
              </a:solidFill>
              <a:latin typeface="Times New Roman" panose="02020603050405020304" charset="0"/>
              <a:cs typeface="Times New Roman" panose="02020603050405020304" charset="0"/>
              <a:sym typeface="+mn-ea"/>
            </a:endParaRPr>
          </a:p>
          <a:p>
            <a:pPr algn="ctr"/>
            <a:r>
              <a:rPr lang="sr-Cyrl-BA" b="1">
                <a:solidFill>
                  <a:srgbClr val="21405B"/>
                </a:solidFill>
                <a:latin typeface="Times New Roman" panose="02020603050405020304" charset="0"/>
                <a:cs typeface="Times New Roman" panose="02020603050405020304" charset="0"/>
                <a:sym typeface="+mn-ea"/>
              </a:rPr>
              <a:t>а</a:t>
            </a:r>
            <a:r>
              <a:rPr b="1">
                <a:solidFill>
                  <a:srgbClr val="21405B"/>
                </a:solidFill>
                <a:latin typeface="Times New Roman" panose="02020603050405020304" charset="0"/>
                <a:cs typeface="Times New Roman" panose="02020603050405020304" charset="0"/>
                <a:sym typeface="+mn-ea"/>
              </a:rPr>
              <a:t>даптација</a:t>
            </a:r>
            <a:endParaRPr b="1" i="0">
              <a:solidFill>
                <a:srgbClr val="21405B"/>
              </a:solidFill>
              <a:latin typeface="Times New Roman" panose="02020603050405020304" charset="0"/>
              <a:cs typeface="Times New Roman" panose="02020603050405020304" charset="0"/>
            </a:endParaRPr>
          </a:p>
          <a:p>
            <a:pPr algn="ctr"/>
            <a:endParaRPr>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881505" y="1247140"/>
            <a:ext cx="5554345" cy="3524250"/>
          </a:xfrm>
        </p:spPr>
        <p:txBody>
          <a:bodyPr/>
          <a:lstStyle/>
          <a:p>
            <a:pPr marL="139700" indent="0" algn="ctr">
              <a:buNone/>
            </a:pPr>
            <a:r>
              <a:rPr lang="en-US" altLang="en-US" sz="1600" b="1">
                <a:latin typeface="Times New Roman" panose="02020603050405020304" charset="0"/>
                <a:cs typeface="Times New Roman" panose="02020603050405020304" charset="0"/>
              </a:rPr>
              <a:t>Претварање говорног сигнала у текст.</a:t>
            </a:r>
            <a:endParaRPr lang="en-US" altLang="en-US" sz="1600" b="1">
              <a:latin typeface="Times New Roman" panose="02020603050405020304" charset="0"/>
              <a:cs typeface="Times New Roman" panose="02020603050405020304" charset="0"/>
            </a:endParaRPr>
          </a:p>
          <a:p>
            <a:pPr marL="139700" indent="0">
              <a:buNone/>
            </a:pPr>
            <a:endParaRPr lang="en-US" altLang="en-US" sz="1600" b="1">
              <a:latin typeface="Times New Roman" panose="02020603050405020304" charset="0"/>
              <a:cs typeface="Times New Roman" panose="02020603050405020304" charset="0"/>
            </a:endParaRPr>
          </a:p>
          <a:p>
            <a:pPr marL="139700" indent="0">
              <a:buNone/>
            </a:pPr>
            <a:endParaRPr lang="en-US" altLang="en-US" sz="1600" b="1">
              <a:latin typeface="Times New Roman" panose="02020603050405020304" charset="0"/>
              <a:cs typeface="Times New Roman" panose="02020603050405020304" charset="0"/>
            </a:endParaRPr>
          </a:p>
          <a:p>
            <a:pPr marL="139700" indent="0" algn="ctr">
              <a:buNone/>
            </a:pPr>
            <a:r>
              <a:rPr lang="en-US" altLang="en-US" sz="1600" b="1">
                <a:solidFill>
                  <a:schemeClr val="accent1"/>
                </a:solidFill>
                <a:latin typeface="Times New Roman" panose="02020603050405020304" charset="0"/>
                <a:cs typeface="Times New Roman" panose="02020603050405020304" charset="0"/>
              </a:rPr>
              <a:t>Говор → аудио-сигнал → ASR модел → текст</a:t>
            </a:r>
            <a:endParaRPr lang="en-US" altLang="en-US" sz="1600" b="1">
              <a:solidFill>
                <a:schemeClr val="accent1"/>
              </a:solidFill>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Аутоматско препознавање говора (ASR)</a:t>
            </a:r>
            <a:endParaRPr lang="en-US" altLang="en-US">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1"/>
          <a:stretch>
            <a:fillRect/>
          </a:stretch>
        </p:blipFill>
        <p:spPr>
          <a:xfrm>
            <a:off x="3708400" y="1635760"/>
            <a:ext cx="2324100" cy="390525"/>
          </a:xfrm>
          <a:prstGeom prst="rect">
            <a:avLst/>
          </a:prstGeom>
        </p:spPr>
      </p:pic>
      <p:sp>
        <p:nvSpPr>
          <p:cNvPr id="3" name="Text Box 2"/>
          <p:cNvSpPr txBox="1"/>
          <p:nvPr/>
        </p:nvSpPr>
        <p:spPr>
          <a:xfrm>
            <a:off x="3564255" y="2571750"/>
            <a:ext cx="3048000" cy="398780"/>
          </a:xfrm>
          <a:prstGeom prst="rect">
            <a:avLst/>
          </a:prstGeom>
          <a:noFill/>
        </p:spPr>
        <p:txBody>
          <a:bodyPr wrap="square" rtlCol="0">
            <a:spAutoFit/>
          </a:bodyPr>
          <a:lstStyle/>
          <a:p>
            <a:r>
              <a:rPr lang="en-US" altLang="en-US" sz="2000">
                <a:latin typeface="Times New Roman" panose="02020603050405020304" charset="0"/>
                <a:cs typeface="Times New Roman" panose="02020603050405020304" charset="0"/>
              </a:rPr>
              <a:t>Главни изазови</a:t>
            </a:r>
            <a:r>
              <a:rPr lang="sr-Cyrl-BA" altLang="en-US" sz="2000">
                <a:latin typeface="Times New Roman" panose="02020603050405020304" charset="0"/>
                <a:cs typeface="Times New Roman" panose="02020603050405020304" charset="0"/>
              </a:rPr>
              <a:t>:</a:t>
            </a:r>
            <a:endParaRPr lang="sr-Cyrl-BA" altLang="en-US" sz="2000">
              <a:latin typeface="Times New Roman" panose="02020603050405020304" charset="0"/>
              <a:cs typeface="Times New Roman" panose="02020603050405020304" charset="0"/>
            </a:endParaRPr>
          </a:p>
        </p:txBody>
      </p:sp>
      <p:sp>
        <p:nvSpPr>
          <p:cNvPr id="5" name="Text Box 4"/>
          <p:cNvSpPr txBox="1"/>
          <p:nvPr/>
        </p:nvSpPr>
        <p:spPr>
          <a:xfrm>
            <a:off x="1053465" y="3148330"/>
            <a:ext cx="3048000"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Говорник и изговор</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Акценат, темпо, паузе</a:t>
            </a:r>
            <a:endParaRPr lang="en-US" altLang="en-US" sz="1600">
              <a:latin typeface="Times New Roman" panose="02020603050405020304" charset="0"/>
              <a:cs typeface="Times New Roman" panose="02020603050405020304" charset="0"/>
            </a:endParaRPr>
          </a:p>
        </p:txBody>
      </p:sp>
      <p:sp>
        <p:nvSpPr>
          <p:cNvPr id="8" name="Text Box 7"/>
          <p:cNvSpPr txBox="1"/>
          <p:nvPr/>
        </p:nvSpPr>
        <p:spPr>
          <a:xfrm>
            <a:off x="5038725" y="3148330"/>
            <a:ext cx="3048000"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Услови снимања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Шум, микрофон, просторија</a:t>
            </a:r>
            <a:endParaRPr lang="en-US" altLang="en-US" sz="1600">
              <a:latin typeface="Times New Roman" panose="02020603050405020304" charset="0"/>
              <a:cs typeface="Times New Roman" panose="02020603050405020304" charset="0"/>
            </a:endParaRPr>
          </a:p>
        </p:txBody>
      </p:sp>
      <p:sp>
        <p:nvSpPr>
          <p:cNvPr id="9" name="Text Box 8"/>
          <p:cNvSpPr txBox="1"/>
          <p:nvPr/>
        </p:nvSpPr>
        <p:spPr>
          <a:xfrm>
            <a:off x="1053465" y="4084320"/>
            <a:ext cx="3048000"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Тачност препознавања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Грешке у транскрипцији</a:t>
            </a:r>
            <a:endParaRPr lang="en-US" altLang="en-US" sz="1600">
              <a:latin typeface="Times New Roman" panose="02020603050405020304" charset="0"/>
              <a:cs typeface="Times New Roman" panose="02020603050405020304" charset="0"/>
            </a:endParaRPr>
          </a:p>
        </p:txBody>
      </p:sp>
      <p:sp>
        <p:nvSpPr>
          <p:cNvPr id="12" name="Text Box 11"/>
          <p:cNvSpPr txBox="1"/>
          <p:nvPr/>
        </p:nvSpPr>
        <p:spPr>
          <a:xfrm>
            <a:off x="5038725" y="4084320"/>
            <a:ext cx="3048000"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Ефикасност извршавања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Време обраде и меморија</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619885" y="988060"/>
            <a:ext cx="5554345" cy="3524250"/>
          </a:xfrm>
        </p:spPr>
        <p:txBody>
          <a:bodyPr/>
          <a:lstStyle/>
          <a:p>
            <a:pPr marL="139700" indent="0">
              <a:buNone/>
            </a:pPr>
            <a:r>
              <a:rPr lang="en-US" altLang="en-US" sz="1600" b="1">
                <a:latin typeface="Times New Roman" panose="02020603050405020304" charset="0"/>
                <a:cs typeface="Times New Roman" panose="02020603050405020304" charset="0"/>
              </a:rPr>
              <a:t>Whisper користи лог-Mel спектрограм као улазну репрезентацију.</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Обрада и представљање аудио-сигнала</a:t>
            </a:r>
            <a:endParaRPr lang="en-US" altLang="en-US">
              <a:latin typeface="Times New Roman" panose="02020603050405020304" charset="0"/>
              <a:cs typeface="Times New Roman" panose="02020603050405020304" charset="0"/>
            </a:endParaRPr>
          </a:p>
        </p:txBody>
      </p:sp>
      <p:sp>
        <p:nvSpPr>
          <p:cNvPr id="50" name="Rounded Rectangle 49"/>
          <p:cNvSpPr/>
          <p:nvPr/>
        </p:nvSpPr>
        <p:spPr>
          <a:xfrm>
            <a:off x="1187450" y="1779905"/>
            <a:ext cx="1365885" cy="905510"/>
          </a:xfrm>
          <a:prstGeom prst="roundRect">
            <a:avLst/>
          </a:prstGeom>
          <a:solidFill>
            <a:srgbClr val="F3F4F1"/>
          </a:soli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accent1"/>
                </a:solidFill>
                <a:latin typeface="Times New Roman" panose="02020603050405020304" charset="0"/>
                <a:cs typeface="Times New Roman" panose="02020603050405020304" charset="0"/>
              </a:rPr>
              <a:t>Дигитални аудио-сигнал (16 kHz)</a:t>
            </a:r>
            <a:endParaRPr lang="en-US" altLang="en-US">
              <a:solidFill>
                <a:schemeClr val="accent1"/>
              </a:solidFill>
              <a:latin typeface="Times New Roman" panose="02020603050405020304" charset="0"/>
              <a:cs typeface="Times New Roman" panose="02020603050405020304" charset="0"/>
            </a:endParaRPr>
          </a:p>
        </p:txBody>
      </p:sp>
      <p:sp>
        <p:nvSpPr>
          <p:cNvPr id="51" name="TextBox 10"/>
          <p:cNvSpPr txBox="1"/>
          <p:nvPr/>
        </p:nvSpPr>
        <p:spPr>
          <a:xfrm>
            <a:off x="2483231" y="249999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2" name="TextBox 14"/>
          <p:cNvSpPr txBox="1"/>
          <p:nvPr/>
        </p:nvSpPr>
        <p:spPr>
          <a:xfrm>
            <a:off x="4035933" y="329184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3" name="TextBox 18"/>
          <p:cNvSpPr txBox="1"/>
          <p:nvPr/>
        </p:nvSpPr>
        <p:spPr>
          <a:xfrm>
            <a:off x="5796280" y="393954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4" name="Rounded Rectangle 53"/>
          <p:cNvSpPr/>
          <p:nvPr/>
        </p:nvSpPr>
        <p:spPr>
          <a:xfrm>
            <a:off x="2701925" y="2643505"/>
            <a:ext cx="1405890" cy="905510"/>
          </a:xfrm>
          <a:prstGeom prst="roundRect">
            <a:avLst/>
          </a:prstGeom>
          <a:solidFill>
            <a:srgbClr val="F3F4F1"/>
          </a:soli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accent1"/>
                </a:solidFill>
                <a:latin typeface="Times New Roman" panose="02020603050405020304" charset="0"/>
                <a:cs typeface="Times New Roman" panose="02020603050405020304" charset="0"/>
              </a:rPr>
              <a:t>STFT</a:t>
            </a:r>
            <a:r>
              <a:rPr lang="sr-Cyrl-BA" altLang="en-US">
                <a:solidFill>
                  <a:schemeClr val="accent1"/>
                </a:solidFill>
                <a:latin typeface="Times New Roman" panose="02020603050405020304" charset="0"/>
                <a:cs typeface="Times New Roman" panose="02020603050405020304" charset="0"/>
              </a:rPr>
              <a:t> - </a:t>
            </a:r>
            <a:r>
              <a:rPr lang="en-US" altLang="en-US">
                <a:solidFill>
                  <a:schemeClr val="accent1"/>
                </a:solidFill>
                <a:latin typeface="Times New Roman" panose="02020603050405020304" charset="0"/>
                <a:cs typeface="Times New Roman" panose="02020603050405020304" charset="0"/>
              </a:rPr>
              <a:t>временско-фреквенцијска анализа</a:t>
            </a:r>
            <a:endParaRPr lang="en-US" altLang="en-US">
              <a:solidFill>
                <a:schemeClr val="accent1"/>
              </a:solidFill>
              <a:latin typeface="Times New Roman" panose="02020603050405020304" charset="0"/>
              <a:cs typeface="Times New Roman" panose="02020603050405020304" charset="0"/>
            </a:endParaRPr>
          </a:p>
        </p:txBody>
      </p:sp>
      <p:sp>
        <p:nvSpPr>
          <p:cNvPr id="55" name="Rounded Rectangle 54"/>
          <p:cNvSpPr/>
          <p:nvPr/>
        </p:nvSpPr>
        <p:spPr>
          <a:xfrm>
            <a:off x="4356100" y="3291840"/>
            <a:ext cx="1490980" cy="905510"/>
          </a:xfrm>
          <a:prstGeom prst="roundRect">
            <a:avLst/>
          </a:prstGeom>
          <a:solidFill>
            <a:srgbClr val="F3F4F1"/>
          </a:soli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accent1"/>
                </a:solidFill>
                <a:latin typeface="Times New Roman" panose="02020603050405020304" charset="0"/>
                <a:cs typeface="Times New Roman" panose="02020603050405020304" charset="0"/>
              </a:rPr>
              <a:t>Mel филтерска банка</a:t>
            </a:r>
            <a:endParaRPr lang="en-US" altLang="en-US">
              <a:solidFill>
                <a:schemeClr val="accent1"/>
              </a:solidFill>
              <a:latin typeface="Times New Roman" panose="02020603050405020304" charset="0"/>
              <a:cs typeface="Times New Roman" panose="02020603050405020304" charset="0"/>
            </a:endParaRPr>
          </a:p>
        </p:txBody>
      </p:sp>
      <p:sp>
        <p:nvSpPr>
          <p:cNvPr id="56" name="Rounded Rectangle 55"/>
          <p:cNvSpPr/>
          <p:nvPr/>
        </p:nvSpPr>
        <p:spPr>
          <a:xfrm>
            <a:off x="6156325" y="4011930"/>
            <a:ext cx="1655445" cy="905510"/>
          </a:xfrm>
          <a:prstGeom prst="roundRect">
            <a:avLst/>
          </a:prstGeom>
          <a:solidFill>
            <a:srgbClr val="F3F4F1"/>
          </a:soli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accent1"/>
                </a:solidFill>
                <a:latin typeface="Times New Roman" panose="02020603050405020304" charset="0"/>
                <a:cs typeface="Times New Roman" panose="02020603050405020304" charset="0"/>
              </a:rPr>
              <a:t>Лог-Mel спектрограм </a:t>
            </a:r>
            <a:endParaRPr lang="en-US" altLang="en-US">
              <a:solidFill>
                <a:schemeClr val="accent1"/>
              </a:solidFill>
              <a:latin typeface="Times New Roman" panose="02020603050405020304" charset="0"/>
              <a:cs typeface="Times New Roman" panose="02020603050405020304" charset="0"/>
            </a:endParaRPr>
          </a:p>
          <a:p>
            <a:pPr algn="ctr"/>
            <a:r>
              <a:rPr lang="en-US" altLang="en-US">
                <a:solidFill>
                  <a:schemeClr val="accent1"/>
                </a:solidFill>
                <a:latin typeface="Times New Roman" panose="02020603050405020304" charset="0"/>
                <a:cs typeface="Times New Roman" panose="02020603050405020304" charset="0"/>
              </a:rPr>
              <a:t>→ </a:t>
            </a:r>
            <a:endParaRPr lang="en-US" altLang="en-US">
              <a:solidFill>
                <a:schemeClr val="accent1"/>
              </a:solidFill>
              <a:latin typeface="Times New Roman" panose="02020603050405020304" charset="0"/>
              <a:cs typeface="Times New Roman" panose="02020603050405020304" charset="0"/>
            </a:endParaRPr>
          </a:p>
          <a:p>
            <a:pPr algn="ctr"/>
            <a:r>
              <a:rPr lang="en-US" altLang="en-US">
                <a:solidFill>
                  <a:schemeClr val="accent1"/>
                </a:solidFill>
                <a:latin typeface="Times New Roman" panose="02020603050405020304" charset="0"/>
                <a:cs typeface="Times New Roman" panose="02020603050405020304" charset="0"/>
              </a:rPr>
              <a:t>Whisper </a:t>
            </a:r>
            <a:r>
              <a:rPr lang="sr-Cyrl-BA" altLang="en-US">
                <a:solidFill>
                  <a:schemeClr val="accent1"/>
                </a:solidFill>
                <a:latin typeface="Times New Roman" panose="02020603050405020304" charset="0"/>
                <a:cs typeface="Times New Roman" panose="02020603050405020304" charset="0"/>
              </a:rPr>
              <a:t>енкодер</a:t>
            </a:r>
            <a:endParaRPr lang="sr-Cyrl-BA" altLang="en-US">
              <a:solidFill>
                <a:schemeClr val="accent1"/>
              </a:solidFill>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98855" y="338455"/>
            <a:ext cx="7087870" cy="575945"/>
          </a:xfrm>
        </p:spPr>
        <p:txBody>
          <a:bodyPr/>
          <a:lstStyle/>
          <a:p>
            <a:r>
              <a:rPr lang="sr-Cyrl-BA" altLang="en-US">
                <a:latin typeface="Times New Roman" panose="02020603050405020304" charset="0"/>
                <a:cs typeface="Times New Roman" panose="02020603050405020304" charset="0"/>
              </a:rPr>
              <a:t>Трансформер</a:t>
            </a:r>
            <a:r>
              <a:rPr lang="en-US" altLang="en-US">
                <a:latin typeface="Times New Roman" panose="02020603050405020304" charset="0"/>
                <a:cs typeface="Times New Roman" panose="02020603050405020304" charset="0"/>
              </a:rPr>
              <a:t> архитектура</a:t>
            </a:r>
            <a:r>
              <a:rPr lang="sr-Cyrl-BA" altLang="en-US">
                <a:latin typeface="Times New Roman" panose="02020603050405020304" charset="0"/>
                <a:cs typeface="Times New Roman" panose="02020603050405020304" charset="0"/>
              </a:rPr>
              <a:t> (енкодер-декодер)</a:t>
            </a:r>
            <a:endParaRPr lang="sr-Cyrl-BA" altLang="en-US">
              <a:latin typeface="Times New Roman" panose="02020603050405020304" charset="0"/>
              <a:cs typeface="Times New Roman" panose="02020603050405020304" charset="0"/>
            </a:endParaRPr>
          </a:p>
        </p:txBody>
      </p:sp>
      <p:sp>
        <p:nvSpPr>
          <p:cNvPr id="50" name="Rounded Rectangle 49"/>
          <p:cNvSpPr/>
          <p:nvPr/>
        </p:nvSpPr>
        <p:spPr>
          <a:xfrm>
            <a:off x="1013462" y="1779904"/>
            <a:ext cx="1538604" cy="113474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dirty="0" err="1">
                <a:solidFill>
                  <a:schemeClr val="tx1"/>
                </a:solidFill>
                <a:latin typeface="Times New Roman" panose="02020603050405020304" charset="0"/>
                <a:cs typeface="Times New Roman" panose="02020603050405020304" charset="0"/>
              </a:rPr>
              <a:t>Улаз</a:t>
            </a:r>
            <a:r>
              <a:rPr lang="en-US" altLang="en-US" b="1" dirty="0">
                <a:solidFill>
                  <a:schemeClr val="tx1"/>
                </a:solidFill>
                <a:latin typeface="Times New Roman" panose="02020603050405020304" charset="0"/>
                <a:cs typeface="Times New Roman" panose="02020603050405020304" charset="0"/>
              </a:rPr>
              <a:t>:</a:t>
            </a:r>
            <a:endParaRPr lang="en-US" altLang="en-US" b="1" dirty="0">
              <a:solidFill>
                <a:schemeClr val="tx1"/>
              </a:solidFill>
              <a:latin typeface="Times New Roman" panose="02020603050405020304" charset="0"/>
              <a:cs typeface="Times New Roman" panose="02020603050405020304" charset="0"/>
            </a:endParaRPr>
          </a:p>
          <a:p>
            <a:pPr algn="ct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лог</a:t>
            </a:r>
            <a:r>
              <a:rPr lang="en-US" altLang="en-US" dirty="0">
                <a:solidFill>
                  <a:schemeClr val="tx1"/>
                </a:solidFill>
                <a:latin typeface="Times New Roman" panose="02020603050405020304" charset="0"/>
                <a:cs typeface="Times New Roman" panose="02020603050405020304" charset="0"/>
              </a:rPr>
              <a:t>-Mel </a:t>
            </a:r>
            <a:r>
              <a:rPr lang="en-US" altLang="en-US" dirty="0" err="1">
                <a:solidFill>
                  <a:schemeClr val="tx1"/>
                </a:solidFill>
                <a:latin typeface="Times New Roman" panose="02020603050405020304" charset="0"/>
                <a:cs typeface="Times New Roman" panose="02020603050405020304" charset="0"/>
              </a:rPr>
              <a:t>спектрограм</a:t>
            </a:r>
            <a:endParaRPr lang="en-US" altLang="en-US" dirty="0">
              <a:solidFill>
                <a:schemeClr val="tx1"/>
              </a:solidFill>
              <a:latin typeface="Times New Roman" panose="02020603050405020304" charset="0"/>
              <a:cs typeface="Times New Roman" panose="02020603050405020304" charset="0"/>
            </a:endParaRPr>
          </a:p>
        </p:txBody>
      </p:sp>
      <p:sp>
        <p:nvSpPr>
          <p:cNvPr id="51" name="TextBox 10"/>
          <p:cNvSpPr txBox="1"/>
          <p:nvPr/>
        </p:nvSpPr>
        <p:spPr>
          <a:xfrm>
            <a:off x="2483231" y="249999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2" name="TextBox 14"/>
          <p:cNvSpPr txBox="1"/>
          <p:nvPr/>
        </p:nvSpPr>
        <p:spPr>
          <a:xfrm>
            <a:off x="4352798" y="321945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3" name="TextBox 18"/>
          <p:cNvSpPr txBox="1"/>
          <p:nvPr/>
        </p:nvSpPr>
        <p:spPr>
          <a:xfrm>
            <a:off x="6155690" y="386778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4" name="Rounded Rectangle 53"/>
          <p:cNvSpPr/>
          <p:nvPr/>
        </p:nvSpPr>
        <p:spPr>
          <a:xfrm>
            <a:off x="2771775" y="2571750"/>
            <a:ext cx="1538605" cy="122618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b="1">
                <a:solidFill>
                  <a:schemeClr val="tx1"/>
                </a:solidFill>
                <a:latin typeface="Times New Roman" panose="02020603050405020304" charset="0"/>
                <a:cs typeface="Times New Roman" panose="02020603050405020304" charset="0"/>
              </a:rPr>
              <a:t>Енкодер</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Анализа аудио-карактеристика и контекста</a:t>
            </a:r>
            <a:endParaRPr lang="en-US" altLang="en-US">
              <a:solidFill>
                <a:schemeClr val="tx1"/>
              </a:solidFill>
              <a:latin typeface="Times New Roman" panose="02020603050405020304" charset="0"/>
              <a:cs typeface="Times New Roman" panose="02020603050405020304" charset="0"/>
            </a:endParaRPr>
          </a:p>
        </p:txBody>
      </p:sp>
      <p:sp>
        <p:nvSpPr>
          <p:cNvPr id="55" name="Rounded Rectangle 54"/>
          <p:cNvSpPr/>
          <p:nvPr/>
        </p:nvSpPr>
        <p:spPr>
          <a:xfrm>
            <a:off x="4715510" y="3291840"/>
            <a:ext cx="1490980" cy="114935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b="1">
                <a:solidFill>
                  <a:schemeClr val="tx1"/>
                </a:solidFill>
                <a:latin typeface="Times New Roman" panose="02020603050405020304" charset="0"/>
                <a:cs typeface="Times New Roman" panose="02020603050405020304" charset="0"/>
              </a:rPr>
              <a:t>Декодер</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Генерисање текстуалних токена</a:t>
            </a:r>
            <a:endParaRPr lang="en-US" altLang="en-US">
              <a:solidFill>
                <a:schemeClr val="tx1"/>
              </a:solidFill>
              <a:latin typeface="Times New Roman" panose="02020603050405020304" charset="0"/>
              <a:cs typeface="Times New Roman" panose="02020603050405020304" charset="0"/>
            </a:endParaRPr>
          </a:p>
        </p:txBody>
      </p:sp>
      <p:sp>
        <p:nvSpPr>
          <p:cNvPr id="56" name="Rounded Rectangle 55"/>
          <p:cNvSpPr/>
          <p:nvPr/>
        </p:nvSpPr>
        <p:spPr>
          <a:xfrm>
            <a:off x="6426200" y="4011930"/>
            <a:ext cx="1482090"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Излаз: </a:t>
            </a:r>
            <a:r>
              <a:rPr lang="en-US" altLang="en-US">
                <a:solidFill>
                  <a:schemeClr val="tx1"/>
                </a:solidFill>
                <a:latin typeface="Times New Roman" panose="02020603050405020304" charset="0"/>
                <a:cs typeface="Times New Roman" panose="02020603050405020304" charset="0"/>
              </a:rPr>
              <a:t>транскрипција говора</a:t>
            </a:r>
            <a:endParaRPr lang="en-US" altLang="en-US">
              <a:solidFill>
                <a:schemeClr val="tx1"/>
              </a:solidFill>
              <a:latin typeface="Times New Roman" panose="02020603050405020304" charset="0"/>
              <a:cs typeface="Times New Roman" panose="02020603050405020304" charset="0"/>
            </a:endParaRPr>
          </a:p>
        </p:txBody>
      </p:sp>
      <p:sp>
        <p:nvSpPr>
          <p:cNvPr id="2" name="Text Box 1"/>
          <p:cNvSpPr txBox="1"/>
          <p:nvPr/>
        </p:nvSpPr>
        <p:spPr>
          <a:xfrm>
            <a:off x="1331595" y="1131570"/>
            <a:ext cx="6668135" cy="583565"/>
          </a:xfrm>
          <a:prstGeom prst="rect">
            <a:avLst/>
          </a:prstGeom>
          <a:noFill/>
        </p:spPr>
        <p:txBody>
          <a:bodyPr wrap="square" rtlCol="0">
            <a:spAutoFit/>
          </a:bodyPr>
          <a:lstStyle/>
          <a:p>
            <a:r>
              <a:rPr lang="sr-Cyrl-BA" altLang="en-US" sz="1600" b="1">
                <a:latin typeface="Times New Roman" panose="02020603050405020304" charset="0"/>
                <a:cs typeface="Times New Roman" panose="02020603050405020304" charset="0"/>
              </a:rPr>
              <a:t>Механизам пажње</a:t>
            </a:r>
            <a:r>
              <a:rPr lang="en-US" altLang="en-US" sz="1600" b="1">
                <a:latin typeface="Times New Roman" panose="02020603050405020304" charset="0"/>
                <a:cs typeface="Times New Roman" panose="02020603050405020304" charset="0"/>
              </a:rPr>
              <a:t>:</a:t>
            </a:r>
            <a:r>
              <a:rPr lang="en-US" altLang="en-US" sz="1600">
                <a:latin typeface="Times New Roman" panose="02020603050405020304" charset="0"/>
                <a:cs typeface="Times New Roman" panose="02020603050405020304" charset="0"/>
              </a:rPr>
              <a:t> омогућава моделу да повеже релевантне делове аудио-секвенце и текста.</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593056" y="988060"/>
            <a:ext cx="6157913" cy="3524250"/>
          </a:xfrm>
        </p:spPr>
        <p:txBody>
          <a:bodyPr/>
          <a:lstStyle/>
          <a:p>
            <a:pPr marL="139700" indent="0">
              <a:buNone/>
            </a:pPr>
            <a:r>
              <a:rPr lang="en-US" altLang="en-US" sz="1600" b="1" dirty="0" err="1">
                <a:latin typeface="Times New Roman" panose="02020603050405020304" charset="0"/>
                <a:cs typeface="Times New Roman" panose="02020603050405020304" charset="0"/>
              </a:rPr>
              <a:t>Вишејезички</a:t>
            </a:r>
            <a:r>
              <a:rPr lang="sr-Cyrl-BA" altLang="en-US" sz="1600" b="1" dirty="0">
                <a:latin typeface="Times New Roman" panose="02020603050405020304" charset="0"/>
                <a:cs typeface="Times New Roman" panose="02020603050405020304" charset="0"/>
              </a:rPr>
              <a:t> модел који користи</a:t>
            </a:r>
            <a:r>
              <a:rPr lang="en-US" altLang="en-US" sz="1600" b="1" dirty="0">
                <a:latin typeface="Times New Roman" panose="02020603050405020304" charset="0"/>
                <a:cs typeface="Times New Roman" panose="02020603050405020304" charset="0"/>
              </a:rPr>
              <a:t> </a:t>
            </a:r>
            <a:r>
              <a:rPr lang="sr-Cyrl-BA" altLang="en-US" sz="1600" b="1" dirty="0">
                <a:latin typeface="Times New Roman" panose="02020603050405020304" charset="0"/>
                <a:cs typeface="Times New Roman" panose="02020603050405020304" charset="0"/>
              </a:rPr>
              <a:t>трансформер архитектуру са енкодер-декодер структуром</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за</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обраду</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говора</a:t>
            </a:r>
            <a:r>
              <a:rPr lang="en-US" altLang="en-US" sz="1600" b="1" dirty="0">
                <a:latin typeface="Times New Roman" panose="02020603050405020304" charset="0"/>
                <a:cs typeface="Times New Roman" panose="02020603050405020304" charset="0"/>
              </a:rPr>
              <a:t>.</a:t>
            </a:r>
            <a:endParaRPr lang="en-US" altLang="en-US" sz="1600" b="1" dirty="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Whisper модел</a:t>
            </a:r>
            <a:endParaRPr lang="en-US" altLang="en-US">
              <a:latin typeface="Times New Roman" panose="02020603050405020304" charset="0"/>
              <a:cs typeface="Times New Roman" panose="02020603050405020304" charset="0"/>
            </a:endParaRPr>
          </a:p>
        </p:txBody>
      </p:sp>
      <p:sp>
        <p:nvSpPr>
          <p:cNvPr id="7" name="Text Box 6"/>
          <p:cNvSpPr txBox="1"/>
          <p:nvPr/>
        </p:nvSpPr>
        <p:spPr>
          <a:xfrm>
            <a:off x="1043305" y="1995805"/>
            <a:ext cx="3048000" cy="829945"/>
          </a:xfrm>
          <a:prstGeom prst="rect">
            <a:avLst/>
          </a:prstGeom>
          <a:noFill/>
        </p:spPr>
        <p:txBody>
          <a:bodyPr wrap="square" rtlCol="0">
            <a:spAutoFit/>
          </a:bodyPr>
          <a:lstStyle/>
          <a:p>
            <a:r>
              <a:rPr lang="en-US" altLang="en-US" sz="1600" b="1">
                <a:solidFill>
                  <a:schemeClr val="tx1"/>
                </a:solidFill>
                <a:latin typeface="Times New Roman" panose="02020603050405020304" charset="0"/>
                <a:cs typeface="Times New Roman" panose="02020603050405020304" charset="0"/>
              </a:rPr>
              <a:t>Вишејезичност</a:t>
            </a:r>
            <a:endParaRPr lang="en-US" altLang="en-US" sz="1600" b="1">
              <a:solidFill>
                <a:schemeClr val="tx1"/>
              </a:solidFill>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Подршка за српски и друге језике.</a:t>
            </a:r>
            <a:endParaRPr lang="en-US" altLang="en-US" sz="1600">
              <a:latin typeface="Times New Roman" panose="02020603050405020304" charset="0"/>
              <a:cs typeface="Times New Roman" panose="02020603050405020304" charset="0"/>
            </a:endParaRPr>
          </a:p>
        </p:txBody>
      </p:sp>
      <p:sp>
        <p:nvSpPr>
          <p:cNvPr id="8" name="Text Box 7"/>
          <p:cNvSpPr txBox="1"/>
          <p:nvPr/>
        </p:nvSpPr>
        <p:spPr>
          <a:xfrm>
            <a:off x="5566410" y="2060575"/>
            <a:ext cx="3048000" cy="82994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Улаз и излаз</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Лог-Mel спектрограм → текстуални токени.</a:t>
            </a:r>
            <a:endParaRPr lang="en-US" altLang="en-US" sz="1600">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1"/>
          <a:stretch>
            <a:fillRect/>
          </a:stretch>
        </p:blipFill>
        <p:spPr>
          <a:xfrm>
            <a:off x="1115060" y="1633855"/>
            <a:ext cx="342900" cy="361950"/>
          </a:xfrm>
          <a:prstGeom prst="rect">
            <a:avLst/>
          </a:prstGeom>
        </p:spPr>
      </p:pic>
      <p:pic>
        <p:nvPicPr>
          <p:cNvPr id="3" name="Picture 2"/>
          <p:cNvPicPr>
            <a:picLocks noChangeAspect="1"/>
          </p:cNvPicPr>
          <p:nvPr/>
        </p:nvPicPr>
        <p:blipFill>
          <a:blip r:embed="rId2"/>
          <a:stretch>
            <a:fillRect/>
          </a:stretch>
        </p:blipFill>
        <p:spPr>
          <a:xfrm>
            <a:off x="5566410" y="1664335"/>
            <a:ext cx="400050" cy="333375"/>
          </a:xfrm>
          <a:prstGeom prst="rect">
            <a:avLst/>
          </a:prstGeom>
        </p:spPr>
      </p:pic>
      <p:sp>
        <p:nvSpPr>
          <p:cNvPr id="5" name="Text Box 4"/>
          <p:cNvSpPr txBox="1"/>
          <p:nvPr/>
        </p:nvSpPr>
        <p:spPr>
          <a:xfrm>
            <a:off x="1053465" y="2953385"/>
            <a:ext cx="4537710" cy="368300"/>
          </a:xfrm>
          <a:prstGeom prst="rect">
            <a:avLst/>
          </a:prstGeom>
          <a:noFill/>
        </p:spPr>
        <p:txBody>
          <a:bodyPr wrap="square" rtlCol="0">
            <a:spAutoFit/>
          </a:bodyPr>
          <a:lstStyle/>
          <a:p>
            <a:r>
              <a:rPr lang="en-US" altLang="en-US" sz="1800" b="1">
                <a:latin typeface="Times New Roman" panose="02020603050405020304" charset="0"/>
                <a:cs typeface="Times New Roman" panose="02020603050405020304" charset="0"/>
              </a:rPr>
              <a:t>Варијанте испитиване у раду</a:t>
            </a:r>
            <a:endParaRPr lang="en-US" altLang="en-US" sz="1800" b="1">
              <a:latin typeface="Times New Roman" panose="02020603050405020304" charset="0"/>
              <a:cs typeface="Times New Roman" panose="02020603050405020304" charset="0"/>
            </a:endParaRPr>
          </a:p>
        </p:txBody>
      </p:sp>
      <p:sp>
        <p:nvSpPr>
          <p:cNvPr id="50" name="Rounded Rectangle 49"/>
          <p:cNvSpPr/>
          <p:nvPr/>
        </p:nvSpPr>
        <p:spPr>
          <a:xfrm>
            <a:off x="1176655" y="3536950"/>
            <a:ext cx="1125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Tiny</a:t>
            </a:r>
            <a:endParaRPr lang="en-US" altLang="en-US" b="1">
              <a:solidFill>
                <a:schemeClr val="tx1"/>
              </a:solidFill>
              <a:latin typeface="Times New Roman" panose="02020603050405020304" charset="0"/>
              <a:cs typeface="Times New Roman" panose="02020603050405020304" charset="0"/>
            </a:endParaRPr>
          </a:p>
        </p:txBody>
      </p:sp>
      <p:sp>
        <p:nvSpPr>
          <p:cNvPr id="51" name="TextBox 10"/>
          <p:cNvSpPr txBox="1"/>
          <p:nvPr/>
        </p:nvSpPr>
        <p:spPr>
          <a:xfrm>
            <a:off x="2411476" y="369697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10" name="Rounded Rectangle 9"/>
          <p:cNvSpPr/>
          <p:nvPr/>
        </p:nvSpPr>
        <p:spPr>
          <a:xfrm>
            <a:off x="2783840" y="3515360"/>
            <a:ext cx="1125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Base</a:t>
            </a:r>
            <a:endParaRPr lang="en-US" altLang="en-US" b="1">
              <a:solidFill>
                <a:schemeClr val="tx1"/>
              </a:solidFill>
              <a:latin typeface="Times New Roman" panose="02020603050405020304" charset="0"/>
              <a:cs typeface="Times New Roman" panose="02020603050405020304" charset="0"/>
            </a:endParaRPr>
          </a:p>
        </p:txBody>
      </p:sp>
      <p:sp>
        <p:nvSpPr>
          <p:cNvPr id="11" name="TextBox 10"/>
          <p:cNvSpPr txBox="1"/>
          <p:nvPr/>
        </p:nvSpPr>
        <p:spPr>
          <a:xfrm>
            <a:off x="4007866" y="370268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12" name="Rounded Rectangle 11"/>
          <p:cNvSpPr/>
          <p:nvPr/>
        </p:nvSpPr>
        <p:spPr>
          <a:xfrm>
            <a:off x="4572000" y="3536950"/>
            <a:ext cx="1125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Small</a:t>
            </a:r>
            <a:endParaRPr lang="en-US" altLang="en-US" b="1">
              <a:solidFill>
                <a:schemeClr val="tx1"/>
              </a:solidFill>
              <a:latin typeface="Times New Roman" panose="02020603050405020304" charset="0"/>
              <a:cs typeface="Times New Roman" panose="02020603050405020304" charset="0"/>
            </a:endParaRPr>
          </a:p>
        </p:txBody>
      </p:sp>
      <p:sp>
        <p:nvSpPr>
          <p:cNvPr id="13" name="TextBox 10"/>
          <p:cNvSpPr txBox="1"/>
          <p:nvPr/>
        </p:nvSpPr>
        <p:spPr>
          <a:xfrm>
            <a:off x="5796026" y="372427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14" name="Rounded Rectangle 13"/>
          <p:cNvSpPr/>
          <p:nvPr/>
        </p:nvSpPr>
        <p:spPr>
          <a:xfrm>
            <a:off x="6372225" y="3536950"/>
            <a:ext cx="1125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Medium</a:t>
            </a:r>
            <a:endParaRPr lang="en-US" altLang="en-US" b="1">
              <a:solidFill>
                <a:schemeClr val="tx1"/>
              </a:solidFill>
              <a:latin typeface="Times New Roman" panose="02020603050405020304" charset="0"/>
              <a:cs typeface="Times New Roman" panose="02020603050405020304" charset="0"/>
            </a:endParaRPr>
          </a:p>
        </p:txBody>
      </p:sp>
      <p:sp>
        <p:nvSpPr>
          <p:cNvPr id="16" name="Text Box 15"/>
          <p:cNvSpPr txBox="1"/>
          <p:nvPr/>
        </p:nvSpPr>
        <p:spPr>
          <a:xfrm>
            <a:off x="678655" y="4300220"/>
            <a:ext cx="7660799" cy="829945"/>
          </a:xfrm>
          <a:prstGeom prst="rect">
            <a:avLst/>
          </a:prstGeom>
          <a:noFill/>
        </p:spPr>
        <p:txBody>
          <a:bodyPr wrap="square" rtlCol="0">
            <a:spAutoFit/>
          </a:bodyPr>
          <a:lstStyle/>
          <a:p>
            <a:pPr algn="l">
              <a:buSzTx/>
            </a:pPr>
            <a:r>
              <a:rPr lang="sr-Cyrl-BA" altLang="en-US" sz="2400" dirty="0">
                <a:solidFill>
                  <a:schemeClr val="accent1"/>
                </a:solidFill>
                <a:highlight>
                  <a:srgbClr val="000000"/>
                </a:highlight>
                <a:latin typeface="Times New Roman" panose="02020603050405020304" charset="0"/>
                <a:cs typeface="Times New Roman" panose="02020603050405020304" charset="0"/>
              </a:rPr>
              <a:t>И</a:t>
            </a:r>
            <a:r>
              <a:rPr lang="en-US" altLang="en-US" sz="2400" dirty="0" err="1">
                <a:solidFill>
                  <a:schemeClr val="accent1"/>
                </a:solidFill>
                <a:highlight>
                  <a:srgbClr val="000000"/>
                </a:highlight>
                <a:latin typeface="Times New Roman" panose="02020603050405020304" charset="0"/>
                <a:cs typeface="Times New Roman" panose="02020603050405020304" charset="0"/>
              </a:rPr>
              <a:t>страживачко</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питање</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како</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величина</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модела</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утиче</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на</a:t>
            </a:r>
            <a:r>
              <a:rPr lang="en-US" altLang="en-US" sz="2400" dirty="0">
                <a:solidFill>
                  <a:schemeClr val="accent1"/>
                </a:solidFill>
                <a:highlight>
                  <a:srgbClr val="000000"/>
                </a:highlight>
                <a:latin typeface="Times New Roman" panose="02020603050405020304" charset="0"/>
                <a:cs typeface="Times New Roman" panose="02020603050405020304" charset="0"/>
              </a:rPr>
              <a:t> WER, </a:t>
            </a:r>
            <a:r>
              <a:rPr lang="en-US" altLang="en-US" sz="2400" dirty="0" err="1">
                <a:solidFill>
                  <a:schemeClr val="accent1"/>
                </a:solidFill>
                <a:highlight>
                  <a:srgbClr val="000000"/>
                </a:highlight>
                <a:latin typeface="Times New Roman" panose="02020603050405020304" charset="0"/>
                <a:cs typeface="Times New Roman" panose="02020603050405020304" charset="0"/>
              </a:rPr>
              <a:t>време</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обраде</a:t>
            </a:r>
            <a:r>
              <a:rPr lang="en-US" altLang="en-US" sz="2400" dirty="0">
                <a:solidFill>
                  <a:schemeClr val="accent1"/>
                </a:solidFill>
                <a:highlight>
                  <a:srgbClr val="000000"/>
                </a:highlight>
                <a:latin typeface="Times New Roman" panose="02020603050405020304" charset="0"/>
                <a:cs typeface="Times New Roman" panose="02020603050405020304" charset="0"/>
              </a:rPr>
              <a:t> и RTF?</a:t>
            </a:r>
            <a:endParaRPr lang="en-US" altLang="en-US" sz="2400" dirty="0">
              <a:solidFill>
                <a:schemeClr val="accent1"/>
              </a:solidFill>
              <a:highlight>
                <a:srgbClr val="000000"/>
              </a:highlight>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881505" y="1059815"/>
            <a:ext cx="5554345" cy="3524250"/>
          </a:xfrm>
        </p:spPr>
        <p:txBody>
          <a:bodyPr/>
          <a:lstStyle/>
          <a:p>
            <a:pPr marL="139700" indent="0" algn="ctr">
              <a:buNone/>
            </a:pPr>
            <a:r>
              <a:rPr lang="en-US" altLang="en-US" sz="1600" b="1">
                <a:latin typeface="Times New Roman" panose="02020603050405020304" charset="0"/>
                <a:cs typeface="Times New Roman" panose="02020603050405020304" charset="0"/>
              </a:rPr>
              <a:t>Иста основна Whisper архитектура</a:t>
            </a:r>
            <a:endParaRPr lang="en-US" altLang="en-US" sz="1600" b="1">
              <a:latin typeface="Times New Roman" panose="02020603050405020304" charset="0"/>
              <a:cs typeface="Times New Roman" panose="02020603050405020304" charset="0"/>
            </a:endParaRPr>
          </a:p>
          <a:p>
            <a:pPr marL="139700" indent="0" algn="ctr">
              <a:buNone/>
            </a:pPr>
            <a:r>
              <a:rPr lang="en-US" altLang="en-US" sz="1600">
                <a:latin typeface="Times New Roman" panose="02020603050405020304" charset="0"/>
                <a:cs typeface="Times New Roman" panose="02020603050405020304" charset="0"/>
              </a:rPr>
              <a:t>Различит</a:t>
            </a:r>
            <a:r>
              <a:rPr lang="sr-Cyrl-BA" altLang="en-US" sz="1600">
                <a:latin typeface="Times New Roman" panose="02020603050405020304" charset="0"/>
                <a:cs typeface="Times New Roman" panose="02020603050405020304" charset="0"/>
              </a:rPr>
              <a:t>а имплементација</a:t>
            </a:r>
            <a:endParaRPr lang="sr-Cyrl-BA" altLang="en-US" sz="160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Faster-Whisper и CTranslate2</a:t>
            </a:r>
            <a:endParaRPr lang="en-US" altLang="en-US">
              <a:latin typeface="Times New Roman" panose="02020603050405020304" charset="0"/>
              <a:cs typeface="Times New Roman" panose="02020603050405020304" charset="0"/>
            </a:endParaRPr>
          </a:p>
        </p:txBody>
      </p:sp>
      <p:sp>
        <p:nvSpPr>
          <p:cNvPr id="50" name="Rounded Rectangle 49"/>
          <p:cNvSpPr/>
          <p:nvPr/>
        </p:nvSpPr>
        <p:spPr>
          <a:xfrm>
            <a:off x="1439545" y="1873250"/>
            <a:ext cx="295338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Whisper</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Оригинална имплементација</a:t>
            </a:r>
            <a:endParaRPr lang="en-US" altLang="en-US">
              <a:solidFill>
                <a:schemeClr val="tx1"/>
              </a:solidFill>
              <a:latin typeface="Times New Roman" panose="02020603050405020304" charset="0"/>
              <a:cs typeface="Times New Roman" panose="02020603050405020304" charset="0"/>
            </a:endParaRPr>
          </a:p>
          <a:p>
            <a:pPr algn="ctr"/>
            <a:r>
              <a:rPr lang="en-US" altLang="en-US" b="1">
                <a:solidFill>
                  <a:schemeClr val="tx1"/>
                </a:solidFill>
                <a:latin typeface="Times New Roman" panose="02020603050405020304" charset="0"/>
                <a:cs typeface="Times New Roman" panose="02020603050405020304" charset="0"/>
              </a:rPr>
              <a:t>PyTorch</a:t>
            </a:r>
            <a:endParaRPr lang="en-US" altLang="en-US" b="1">
              <a:solidFill>
                <a:schemeClr val="tx1"/>
              </a:solidFill>
              <a:latin typeface="Times New Roman" panose="02020603050405020304" charset="0"/>
              <a:cs typeface="Times New Roman" panose="02020603050405020304" charset="0"/>
            </a:endParaRPr>
          </a:p>
        </p:txBody>
      </p:sp>
      <p:sp>
        <p:nvSpPr>
          <p:cNvPr id="10" name="Rounded Rectangle 9"/>
          <p:cNvSpPr/>
          <p:nvPr/>
        </p:nvSpPr>
        <p:spPr>
          <a:xfrm>
            <a:off x="4874260" y="1851660"/>
            <a:ext cx="286321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buNone/>
            </a:pPr>
            <a:r>
              <a:rPr lang="en-US" altLang="en-US" b="1">
                <a:solidFill>
                  <a:schemeClr val="tx1"/>
                </a:solidFill>
                <a:latin typeface="Times New Roman" panose="02020603050405020304" charset="0"/>
                <a:cs typeface="Times New Roman" panose="02020603050405020304" charset="0"/>
              </a:rPr>
              <a:t>Faster-Whisper</a:t>
            </a:r>
            <a:endParaRPr lang="en-US" altLang="en-US" b="1">
              <a:solidFill>
                <a:schemeClr val="tx1"/>
              </a:solidFill>
              <a:latin typeface="Times New Roman" panose="02020603050405020304" charset="0"/>
              <a:cs typeface="Times New Roman" panose="02020603050405020304" charset="0"/>
            </a:endParaRPr>
          </a:p>
          <a:p>
            <a:pPr algn="ctr">
              <a:buSzTx/>
              <a:buNone/>
            </a:pPr>
            <a:r>
              <a:rPr lang="en-US" altLang="en-US">
                <a:solidFill>
                  <a:schemeClr val="tx1"/>
                </a:solidFill>
                <a:latin typeface="Times New Roman" panose="02020603050405020304" charset="0"/>
                <a:cs typeface="Times New Roman" panose="02020603050405020304" charset="0"/>
              </a:rPr>
              <a:t>Оптимизована имплементација</a:t>
            </a:r>
            <a:endParaRPr lang="en-US" altLang="en-US">
              <a:solidFill>
                <a:schemeClr val="tx1"/>
              </a:solidFill>
              <a:latin typeface="Times New Roman" panose="02020603050405020304" charset="0"/>
              <a:cs typeface="Times New Roman" panose="02020603050405020304" charset="0"/>
            </a:endParaRPr>
          </a:p>
          <a:p>
            <a:pPr algn="ctr">
              <a:buSzTx/>
              <a:buNone/>
            </a:pPr>
            <a:r>
              <a:rPr lang="en-US" altLang="en-US" b="1">
                <a:solidFill>
                  <a:schemeClr val="tx1"/>
                </a:solidFill>
                <a:latin typeface="Times New Roman" panose="02020603050405020304" charset="0"/>
                <a:cs typeface="Times New Roman" panose="02020603050405020304" charset="0"/>
              </a:rPr>
              <a:t>CTranslate2</a:t>
            </a:r>
            <a:endParaRPr lang="en-US" altLang="en-US" b="1">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3131820" y="2680335"/>
            <a:ext cx="3048000" cy="33718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Могућности оптимизације</a:t>
            </a:r>
            <a:endParaRPr lang="en-US" altLang="en-US" sz="1600" b="1">
              <a:latin typeface="Times New Roman" panose="02020603050405020304" charset="0"/>
              <a:cs typeface="Times New Roman" panose="02020603050405020304" charset="0"/>
            </a:endParaRPr>
          </a:p>
        </p:txBody>
      </p:sp>
      <p:sp>
        <p:nvSpPr>
          <p:cNvPr id="7" name="Rounded Rectangle 6"/>
          <p:cNvSpPr/>
          <p:nvPr/>
        </p:nvSpPr>
        <p:spPr>
          <a:xfrm>
            <a:off x="1249045" y="3364230"/>
            <a:ext cx="1125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b="1">
                <a:solidFill>
                  <a:schemeClr val="tx1"/>
                </a:solidFill>
                <a:latin typeface="Times New Roman" panose="02020603050405020304" charset="0"/>
                <a:cs typeface="Times New Roman" panose="02020603050405020304" charset="0"/>
                <a:sym typeface="+mn-ea"/>
              </a:rPr>
              <a:t>INT8 / FP32</a:t>
            </a:r>
            <a:endParaRPr lang="en-US" altLang="zh-CN" b="1">
              <a:solidFill>
                <a:schemeClr val="tx1"/>
              </a:solidFill>
              <a:latin typeface="Times New Roman" panose="02020603050405020304" charset="0"/>
              <a:cs typeface="Times New Roman" panose="02020603050405020304" charset="0"/>
              <a:sym typeface="+mn-ea"/>
            </a:endParaRPr>
          </a:p>
        </p:txBody>
      </p:sp>
      <p:sp>
        <p:nvSpPr>
          <p:cNvPr id="9" name="Rounded Rectangle 8"/>
          <p:cNvSpPr/>
          <p:nvPr/>
        </p:nvSpPr>
        <p:spPr>
          <a:xfrm>
            <a:off x="2856230" y="3342640"/>
            <a:ext cx="1125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en-US" altLang="zh-CN" b="1">
                <a:solidFill>
                  <a:schemeClr val="tx1"/>
                </a:solidFill>
                <a:latin typeface="Times New Roman" panose="02020603050405020304" charset="0"/>
                <a:cs typeface="Times New Roman" panose="02020603050405020304" charset="0"/>
                <a:sym typeface="+mn-ea"/>
              </a:rPr>
              <a:t>CPU / GPU</a:t>
            </a:r>
            <a:endParaRPr lang="en-US" altLang="zh-CN" b="1">
              <a:solidFill>
                <a:schemeClr val="tx1"/>
              </a:solidFill>
              <a:latin typeface="Times New Roman" panose="02020603050405020304" charset="0"/>
              <a:cs typeface="Times New Roman" panose="02020603050405020304" charset="0"/>
            </a:endParaRPr>
          </a:p>
        </p:txBody>
      </p:sp>
      <p:sp>
        <p:nvSpPr>
          <p:cNvPr id="12" name="Rounded Rectangle 11"/>
          <p:cNvSpPr/>
          <p:nvPr/>
        </p:nvSpPr>
        <p:spPr>
          <a:xfrm>
            <a:off x="4541520" y="3148965"/>
            <a:ext cx="1327150" cy="117157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en-US" altLang="zh-CN" b="1">
                <a:solidFill>
                  <a:schemeClr val="tx1"/>
                </a:solidFill>
                <a:latin typeface="Times New Roman" panose="02020603050405020304" charset="0"/>
                <a:cs typeface="Times New Roman" panose="02020603050405020304" charset="0"/>
                <a:sym typeface="+mn-ea"/>
              </a:rPr>
              <a:t>Ефикасније управљање меморијом</a:t>
            </a:r>
            <a:endParaRPr lang="en-US" altLang="zh-CN" b="1">
              <a:solidFill>
                <a:schemeClr val="tx1"/>
              </a:solidFill>
              <a:latin typeface="Times New Roman" panose="02020603050405020304" charset="0"/>
              <a:cs typeface="Times New Roman" panose="02020603050405020304" charset="0"/>
            </a:endParaRPr>
          </a:p>
        </p:txBody>
      </p:sp>
      <p:sp>
        <p:nvSpPr>
          <p:cNvPr id="14" name="Rounded Rectangle 13"/>
          <p:cNvSpPr/>
          <p:nvPr/>
        </p:nvSpPr>
        <p:spPr>
          <a:xfrm>
            <a:off x="6444615" y="3364230"/>
            <a:ext cx="1480820"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en-US" altLang="zh-CN" b="1">
                <a:solidFill>
                  <a:schemeClr val="tx1"/>
                </a:solidFill>
                <a:latin typeface="Times New Roman" panose="02020603050405020304" charset="0"/>
                <a:cs typeface="Times New Roman" panose="02020603050405020304" charset="0"/>
                <a:sym typeface="+mn-ea"/>
              </a:rPr>
              <a:t>Оптимизоване операције</a:t>
            </a:r>
            <a:endParaRPr lang="en-US" altLang="zh-CN" b="1">
              <a:solidFill>
                <a:schemeClr val="tx1"/>
              </a:solidFill>
              <a:latin typeface="Times New Roman" panose="02020603050405020304" charset="0"/>
              <a:cs typeface="Times New Roman" panose="02020603050405020304" charset="0"/>
            </a:endParaRPr>
          </a:p>
        </p:txBody>
      </p:sp>
      <p:sp>
        <p:nvSpPr>
          <p:cNvPr id="15" name="Text Box 14"/>
          <p:cNvSpPr txBox="1"/>
          <p:nvPr/>
        </p:nvSpPr>
        <p:spPr>
          <a:xfrm>
            <a:off x="885825" y="4314190"/>
            <a:ext cx="7245985" cy="764540"/>
          </a:xfrm>
          <a:prstGeom prst="rect">
            <a:avLst/>
          </a:prstGeom>
          <a:noFill/>
        </p:spPr>
        <p:txBody>
          <a:bodyPr wrap="square" rtlCol="0">
            <a:noAutofit/>
          </a:bodyPr>
          <a:lstStyle/>
          <a:p>
            <a:pPr algn="l">
              <a:buSzTx/>
            </a:pPr>
            <a:r>
              <a:rPr lang="en-US" altLang="en-US" sz="2400" dirty="0" err="1">
                <a:solidFill>
                  <a:schemeClr val="accent1"/>
                </a:solidFill>
                <a:highlight>
                  <a:srgbClr val="000000"/>
                </a:highlight>
                <a:latin typeface="Times New Roman" panose="02020603050405020304" charset="0"/>
                <a:cs typeface="Times New Roman" panose="02020603050405020304" charset="0"/>
              </a:rPr>
              <a:t>Циљ</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поређења</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измерити</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разлике</a:t>
            </a:r>
            <a:r>
              <a:rPr lang="en-US" altLang="en-US" sz="2400" dirty="0">
                <a:solidFill>
                  <a:schemeClr val="accent1"/>
                </a:solidFill>
                <a:highlight>
                  <a:srgbClr val="000000"/>
                </a:highlight>
                <a:latin typeface="Times New Roman" panose="02020603050405020304" charset="0"/>
                <a:cs typeface="Times New Roman" panose="02020603050405020304" charset="0"/>
              </a:rPr>
              <a:t> у</a:t>
            </a:r>
            <a:r>
              <a:rPr lang="sr-Cyrl-BA" altLang="en-US" sz="2400" dirty="0">
                <a:solidFill>
                  <a:schemeClr val="accent1"/>
                </a:solidFill>
                <a:highlight>
                  <a:srgbClr val="000000"/>
                </a:highlight>
                <a:latin typeface="Times New Roman" panose="02020603050405020304" charset="0"/>
                <a:cs typeface="Times New Roman" panose="02020603050405020304" charset="0"/>
              </a:rPr>
              <a:t> вредностима код</a:t>
            </a:r>
            <a:r>
              <a:rPr lang="en-US" altLang="en-US" sz="2400" dirty="0">
                <a:solidFill>
                  <a:schemeClr val="accent1"/>
                </a:solidFill>
                <a:highlight>
                  <a:srgbClr val="000000"/>
                </a:highlight>
                <a:latin typeface="Times New Roman" panose="02020603050405020304" charset="0"/>
                <a:cs typeface="Times New Roman" panose="02020603050405020304" charset="0"/>
              </a:rPr>
              <a:t> WER-</a:t>
            </a:r>
            <a:r>
              <a:rPr lang="sr-Cyrl-BA" altLang="en-US" sz="2400" dirty="0">
                <a:solidFill>
                  <a:schemeClr val="accent1"/>
                </a:solidFill>
                <a:highlight>
                  <a:srgbClr val="000000"/>
                </a:highlight>
                <a:latin typeface="Times New Roman" panose="02020603050405020304" charset="0"/>
                <a:cs typeface="Times New Roman" panose="02020603050405020304" charset="0"/>
              </a:rPr>
              <a:t>а</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времен</a:t>
            </a:r>
            <a:r>
              <a:rPr lang="sr-Cyrl-BA" altLang="en-US" sz="2400" dirty="0">
                <a:solidFill>
                  <a:schemeClr val="accent1"/>
                </a:solidFill>
                <a:highlight>
                  <a:srgbClr val="000000"/>
                </a:highlight>
                <a:latin typeface="Times New Roman" panose="02020603050405020304" charset="0"/>
                <a:cs typeface="Times New Roman" panose="02020603050405020304" charset="0"/>
              </a:rPr>
              <a:t>а</a:t>
            </a:r>
            <a:r>
              <a:rPr lang="en-US" altLang="en-US" sz="2400" dirty="0">
                <a:solidFill>
                  <a:schemeClr val="accent1"/>
                </a:solidFill>
                <a:highlight>
                  <a:srgbClr val="000000"/>
                </a:highlight>
                <a:latin typeface="Times New Roman" panose="02020603050405020304" charset="0"/>
                <a:cs typeface="Times New Roman" panose="02020603050405020304" charset="0"/>
              </a:rPr>
              <a:t>, RTF-</a:t>
            </a:r>
            <a:r>
              <a:rPr lang="sr-Cyrl-BA" altLang="en-US" sz="2400" dirty="0">
                <a:solidFill>
                  <a:schemeClr val="accent1"/>
                </a:solidFill>
                <a:highlight>
                  <a:srgbClr val="000000"/>
                </a:highlight>
                <a:latin typeface="Times New Roman" panose="02020603050405020304" charset="0"/>
                <a:cs typeface="Times New Roman" panose="02020603050405020304" charset="0"/>
              </a:rPr>
              <a:t>а</a:t>
            </a:r>
            <a:r>
              <a:rPr lang="en-US" altLang="en-US" sz="2400" dirty="0">
                <a:solidFill>
                  <a:schemeClr val="accent1"/>
                </a:solidFill>
                <a:highlight>
                  <a:srgbClr val="000000"/>
                </a:highlight>
                <a:latin typeface="Times New Roman" panose="02020603050405020304" charset="0"/>
                <a:cs typeface="Times New Roman" panose="02020603050405020304" charset="0"/>
              </a:rPr>
              <a:t> и </a:t>
            </a:r>
            <a:r>
              <a:rPr lang="en-US" altLang="en-US" sz="2400" dirty="0" err="1">
                <a:solidFill>
                  <a:schemeClr val="accent1"/>
                </a:solidFill>
                <a:highlight>
                  <a:srgbClr val="000000"/>
                </a:highlight>
                <a:latin typeface="Times New Roman" panose="02020603050405020304" charset="0"/>
                <a:cs typeface="Times New Roman" panose="02020603050405020304" charset="0"/>
              </a:rPr>
              <a:t>меморијс</a:t>
            </a:r>
            <a:r>
              <a:rPr lang="sr-Cyrl-BA" altLang="en-US" sz="2400" dirty="0">
                <a:solidFill>
                  <a:schemeClr val="accent1"/>
                </a:solidFill>
                <a:highlight>
                  <a:srgbClr val="000000"/>
                </a:highlight>
                <a:latin typeface="Times New Roman" panose="02020603050405020304" charset="0"/>
                <a:cs typeface="Times New Roman" panose="02020603050405020304" charset="0"/>
              </a:rPr>
              <a:t>ке</a:t>
            </a:r>
            <a:r>
              <a:rPr lang="en-US" altLang="en-US" sz="2400" dirty="0">
                <a:solidFill>
                  <a:schemeClr val="accent1"/>
                </a:solidFill>
                <a:highlight>
                  <a:srgbClr val="000000"/>
                </a:highlight>
                <a:latin typeface="Times New Roman" panose="02020603050405020304" charset="0"/>
                <a:cs typeface="Times New Roman" panose="02020603050405020304" charset="0"/>
              </a:rPr>
              <a:t> </a:t>
            </a:r>
            <a:r>
              <a:rPr lang="en-US" altLang="en-US" sz="2400" dirty="0" err="1">
                <a:solidFill>
                  <a:schemeClr val="accent1"/>
                </a:solidFill>
                <a:highlight>
                  <a:srgbClr val="000000"/>
                </a:highlight>
                <a:latin typeface="Times New Roman" panose="02020603050405020304" charset="0"/>
                <a:cs typeface="Times New Roman" panose="02020603050405020304" charset="0"/>
              </a:rPr>
              <a:t>потрошњ</a:t>
            </a:r>
            <a:r>
              <a:rPr lang="sr-Cyrl-BA" altLang="en-US" sz="2400" dirty="0">
                <a:solidFill>
                  <a:schemeClr val="accent1"/>
                </a:solidFill>
                <a:highlight>
                  <a:srgbClr val="000000"/>
                </a:highlight>
                <a:latin typeface="Times New Roman" panose="02020603050405020304" charset="0"/>
                <a:cs typeface="Times New Roman" panose="02020603050405020304" charset="0"/>
              </a:rPr>
              <a:t>е</a:t>
            </a:r>
            <a:r>
              <a:rPr lang="en-US" altLang="en-US" sz="2400" dirty="0">
                <a:solidFill>
                  <a:schemeClr val="accent1"/>
                </a:solidFill>
                <a:highlight>
                  <a:srgbClr val="000000"/>
                </a:highlight>
                <a:latin typeface="Times New Roman" panose="02020603050405020304" charset="0"/>
                <a:cs typeface="Times New Roman" panose="02020603050405020304" charset="0"/>
              </a:rPr>
              <a:t>.</a:t>
            </a:r>
            <a:endParaRPr lang="en-US" altLang="en-US" sz="2400" dirty="0">
              <a:solidFill>
                <a:schemeClr val="accent1"/>
              </a:solidFill>
              <a:highlight>
                <a:srgbClr val="000000"/>
              </a:highlight>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40205" y="339090"/>
            <a:ext cx="5151120" cy="575945"/>
          </a:xfrm>
        </p:spPr>
        <p:txBody>
          <a:bodyPr/>
          <a:lstStyle/>
          <a:p>
            <a:pPr algn="ctr"/>
            <a:r>
              <a:rPr lang="en-US" altLang="en-US">
                <a:latin typeface="Times New Roman" panose="02020603050405020304" charset="0"/>
                <a:cs typeface="Times New Roman" panose="02020603050405020304" charset="0"/>
              </a:rPr>
              <a:t>Кључни механизми и метрике</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1115695" y="987425"/>
            <a:ext cx="3048000" cy="33718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Шта подешавамо?</a:t>
            </a:r>
            <a:endParaRPr lang="en-US" altLang="en-US" sz="1600" b="1">
              <a:latin typeface="Times New Roman" panose="02020603050405020304" charset="0"/>
              <a:cs typeface="Times New Roman" panose="02020603050405020304" charset="0"/>
            </a:endParaRPr>
          </a:p>
        </p:txBody>
      </p:sp>
      <p:sp>
        <p:nvSpPr>
          <p:cNvPr id="8" name="Text Box 7"/>
          <p:cNvSpPr txBox="1"/>
          <p:nvPr/>
        </p:nvSpPr>
        <p:spPr>
          <a:xfrm>
            <a:off x="1115695" y="1397000"/>
            <a:ext cx="2619375"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sr-Cyrl-BA" altLang="en-US" sz="1600" b="1">
                <a:latin typeface="Times New Roman" panose="02020603050405020304" charset="0"/>
                <a:cs typeface="Times New Roman" panose="02020603050405020304" charset="0"/>
              </a:rPr>
              <a:t>Формат</a:t>
            </a:r>
            <a:endParaRPr lang="sr-Cyrl-BA"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INT8 / FP32</a:t>
            </a:r>
            <a:endParaRPr lang="en-US" altLang="en-US" sz="1600">
              <a:latin typeface="Times New Roman" panose="02020603050405020304" charset="0"/>
              <a:cs typeface="Times New Roman" panose="02020603050405020304" charset="0"/>
            </a:endParaRPr>
          </a:p>
        </p:txBody>
      </p:sp>
      <p:sp>
        <p:nvSpPr>
          <p:cNvPr id="9" name="Text Box 8"/>
          <p:cNvSpPr txBox="1"/>
          <p:nvPr/>
        </p:nvSpPr>
        <p:spPr>
          <a:xfrm>
            <a:off x="1115695" y="2139950"/>
            <a:ext cx="2618740" cy="82994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Beam size</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Број кандидата при декодирању</a:t>
            </a:r>
            <a:endParaRPr lang="en-US" altLang="en-US" sz="1600">
              <a:latin typeface="Times New Roman" panose="02020603050405020304" charset="0"/>
              <a:cs typeface="Times New Roman" panose="02020603050405020304" charset="0"/>
            </a:endParaRPr>
          </a:p>
        </p:txBody>
      </p:sp>
      <p:sp>
        <p:nvSpPr>
          <p:cNvPr id="11" name="Text Box 10"/>
          <p:cNvSpPr txBox="1"/>
          <p:nvPr/>
        </p:nvSpPr>
        <p:spPr>
          <a:xfrm>
            <a:off x="1115695" y="2987040"/>
            <a:ext cx="2618740" cy="82994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VAD</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Детекција говорне активности</a:t>
            </a:r>
            <a:endParaRPr lang="en-US" altLang="en-US" sz="1600">
              <a:latin typeface="Times New Roman" panose="02020603050405020304" charset="0"/>
              <a:cs typeface="Times New Roman" panose="02020603050405020304" charset="0"/>
            </a:endParaRPr>
          </a:p>
        </p:txBody>
      </p:sp>
      <p:sp>
        <p:nvSpPr>
          <p:cNvPr id="12" name="Text Box 11"/>
          <p:cNvSpPr txBox="1"/>
          <p:nvPr/>
        </p:nvSpPr>
        <p:spPr>
          <a:xfrm>
            <a:off x="4427220" y="1397000"/>
            <a:ext cx="2619375"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WER / CER</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Грешке у препознавању</a:t>
            </a:r>
            <a:endParaRPr lang="en-US" altLang="en-US" sz="1600">
              <a:latin typeface="Times New Roman" panose="02020603050405020304" charset="0"/>
              <a:cs typeface="Times New Roman" panose="02020603050405020304" charset="0"/>
            </a:endParaRPr>
          </a:p>
        </p:txBody>
      </p:sp>
      <p:sp>
        <p:nvSpPr>
          <p:cNvPr id="13" name="Text Box 12"/>
          <p:cNvSpPr txBox="1"/>
          <p:nvPr/>
        </p:nvSpPr>
        <p:spPr>
          <a:xfrm>
            <a:off x="4427220" y="2139950"/>
            <a:ext cx="2618740"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Време / RTF</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Брзина транскрипције</a:t>
            </a:r>
            <a:endParaRPr lang="en-US" altLang="en-US" sz="1600">
              <a:latin typeface="Times New Roman" panose="02020603050405020304" charset="0"/>
              <a:cs typeface="Times New Roman" panose="02020603050405020304" charset="0"/>
            </a:endParaRPr>
          </a:p>
        </p:txBody>
      </p:sp>
      <p:sp>
        <p:nvSpPr>
          <p:cNvPr id="14" name="Text Box 13"/>
          <p:cNvSpPr txBox="1"/>
          <p:nvPr/>
        </p:nvSpPr>
        <p:spPr>
          <a:xfrm>
            <a:off x="4427855" y="2860040"/>
            <a:ext cx="2618740" cy="58356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p:spPr>
        <p:txBody>
          <a:bodyPr wrap="square" rtlCol="0">
            <a:spAutoFit/>
          </a:bodyPr>
          <a:lstStyle/>
          <a:p>
            <a:r>
              <a:rPr lang="en-US" altLang="en-US" sz="1600" b="1">
                <a:latin typeface="Times New Roman" panose="02020603050405020304" charset="0"/>
                <a:cs typeface="Times New Roman" panose="02020603050405020304" charset="0"/>
              </a:rPr>
              <a:t>RSS / латенција</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Ресурси и кашњење</a:t>
            </a:r>
            <a:endParaRPr lang="en-US" altLang="en-US" sz="1600">
              <a:latin typeface="Times New Roman" panose="02020603050405020304" charset="0"/>
              <a:cs typeface="Times New Roman" panose="02020603050405020304" charset="0"/>
            </a:endParaRPr>
          </a:p>
        </p:txBody>
      </p:sp>
      <p:sp>
        <p:nvSpPr>
          <p:cNvPr id="15" name="Text Box 14"/>
          <p:cNvSpPr txBox="1"/>
          <p:nvPr/>
        </p:nvSpPr>
        <p:spPr>
          <a:xfrm>
            <a:off x="4427855" y="987425"/>
            <a:ext cx="3048000" cy="33718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Шта </a:t>
            </a:r>
            <a:r>
              <a:rPr lang="sr-Cyrl-BA" altLang="en-US" sz="1600" b="1">
                <a:latin typeface="Times New Roman" panose="02020603050405020304" charset="0"/>
                <a:cs typeface="Times New Roman" panose="02020603050405020304" charset="0"/>
              </a:rPr>
              <a:t>меримо</a:t>
            </a:r>
            <a:r>
              <a:rPr lang="en-US" altLang="en-US" sz="1600" b="1">
                <a:latin typeface="Times New Roman" panose="02020603050405020304" charset="0"/>
                <a:cs typeface="Times New Roman" panose="02020603050405020304" charset="0"/>
              </a:rPr>
              <a:t>?</a:t>
            </a:r>
            <a:endParaRPr lang="en-US" altLang="en-US" sz="1600" b="1">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539115" y="1733550"/>
            <a:ext cx="342900" cy="1676400"/>
          </a:xfrm>
          <a:prstGeom prst="rect">
            <a:avLst/>
          </a:prstGeom>
        </p:spPr>
      </p:pic>
      <p:pic>
        <p:nvPicPr>
          <p:cNvPr id="17" name="Picture 16"/>
          <p:cNvPicPr>
            <a:picLocks noChangeAspect="1"/>
          </p:cNvPicPr>
          <p:nvPr/>
        </p:nvPicPr>
        <p:blipFill>
          <a:blip r:embed="rId2"/>
          <a:stretch>
            <a:fillRect/>
          </a:stretch>
        </p:blipFill>
        <p:spPr>
          <a:xfrm>
            <a:off x="3943350" y="1737995"/>
            <a:ext cx="419100" cy="1666875"/>
          </a:xfrm>
          <a:prstGeom prst="rect">
            <a:avLst/>
          </a:prstGeom>
        </p:spPr>
      </p:pic>
      <p:sp>
        <p:nvSpPr>
          <p:cNvPr id="18" name="Text Box 17"/>
          <p:cNvSpPr txBox="1"/>
          <p:nvPr/>
        </p:nvSpPr>
        <p:spPr>
          <a:xfrm>
            <a:off x="3935095" y="3538855"/>
            <a:ext cx="4808220" cy="1239520"/>
          </a:xfrm>
          <a:prstGeom prst="rect">
            <a:avLst/>
          </a:prstGeom>
          <a:noFill/>
        </p:spPr>
        <p:txBody>
          <a:bodyPr wrap="square" rtlCol="0">
            <a:noAutofit/>
          </a:bodyPr>
          <a:lstStyle/>
          <a:p>
            <a:r>
              <a:rPr lang="en-US" altLang="en-US" sz="1600" b="1">
                <a:latin typeface="Times New Roman" panose="02020603050405020304" charset="0"/>
                <a:cs typeface="Times New Roman" panose="02020603050405020304" charset="0"/>
              </a:rPr>
              <a:t>Основне метрике</a:t>
            </a:r>
            <a:r>
              <a:rPr lang="sr-Cyrl-BA" altLang="en-US" sz="1600" b="1">
                <a:latin typeface="Times New Roman" panose="02020603050405020304" charset="0"/>
                <a:cs typeface="Times New Roman" panose="02020603050405020304" charset="0"/>
              </a:rPr>
              <a:t>:</a:t>
            </a:r>
            <a:endParaRPr lang="en-US" altLang="en-US" sz="1600" b="1">
              <a:latin typeface="Times New Roman" panose="02020603050405020304" charset="0"/>
              <a:cs typeface="Times New Roman" panose="02020603050405020304" charset="0"/>
            </a:endParaRPr>
          </a:p>
          <a:p>
            <a:endParaRPr lang="en-US" altLang="en-US" sz="1600" b="1">
              <a:latin typeface="Times New Roman" panose="02020603050405020304" charset="0"/>
              <a:cs typeface="Times New Roman" panose="02020603050405020304" charset="0"/>
            </a:endParaRPr>
          </a:p>
          <a:p>
            <a:endParaRPr lang="en-US" altLang="en-US" sz="1600" b="1">
              <a:latin typeface="Times New Roman" panose="02020603050405020304" charset="0"/>
              <a:cs typeface="Times New Roman" panose="02020603050405020304" charset="0"/>
            </a:endParaRPr>
          </a:p>
          <a:p>
            <a:endParaRPr lang="en-US" altLang="en-US" sz="1600" b="1">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Мање вредности WER-а, RTF-а и максималног RSS-а представљају повољнији резултат.</a:t>
            </a:r>
            <a:endParaRPr lang="en-US" altLang="en-US" sz="1600" b="1">
              <a:latin typeface="Times New Roman" panose="02020603050405020304" charset="0"/>
              <a:cs typeface="Times New Roman" panose="02020603050405020304" charset="0"/>
            </a:endParaRPr>
          </a:p>
        </p:txBody>
      </p:sp>
      <p:pic>
        <p:nvPicPr>
          <p:cNvPr id="3" name="Picture 2"/>
          <p:cNvPicPr>
            <a:picLocks noChangeAspect="1"/>
          </p:cNvPicPr>
          <p:nvPr/>
        </p:nvPicPr>
        <p:blipFill>
          <a:blip r:embed="rId3"/>
          <a:stretch>
            <a:fillRect/>
          </a:stretch>
        </p:blipFill>
        <p:spPr>
          <a:xfrm>
            <a:off x="4906645" y="3816985"/>
            <a:ext cx="2240915" cy="7397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33450" y="339090"/>
            <a:ext cx="5857875" cy="575945"/>
          </a:xfrm>
        </p:spPr>
        <p:txBody>
          <a:bodyPr/>
          <a:lstStyle/>
          <a:p>
            <a:pPr algn="ctr"/>
            <a:r>
              <a:rPr lang="en-US" altLang="en-US">
                <a:latin typeface="Times New Roman" panose="02020603050405020304" charset="0"/>
                <a:cs typeface="Times New Roman" panose="02020603050405020304" charset="0"/>
              </a:rPr>
              <a:t>Хардверско и софтверско окружење</a:t>
            </a:r>
            <a:endParaRPr lang="en-US" altLang="en-US">
              <a:latin typeface="Times New Roman" panose="02020603050405020304" charset="0"/>
              <a:cs typeface="Times New Roman" panose="02020603050405020304" charset="0"/>
            </a:endParaRPr>
          </a:p>
        </p:txBody>
      </p:sp>
      <p:sp>
        <p:nvSpPr>
          <p:cNvPr id="5" name="Text Placeholder 4"/>
          <p:cNvSpPr>
            <a:spLocks noGrp="1"/>
          </p:cNvSpPr>
          <p:nvPr>
            <p:ph type="body" idx="1"/>
          </p:nvPr>
        </p:nvSpPr>
        <p:spPr>
          <a:xfrm>
            <a:off x="1115060" y="951230"/>
            <a:ext cx="6111240" cy="424180"/>
          </a:xfrm>
        </p:spPr>
        <p:txBody>
          <a:bodyPr/>
          <a:lstStyle/>
          <a:p>
            <a:pPr marL="0" algn="l">
              <a:buSzTx/>
              <a:buFont typeface="Arial" panose="020B0604020202020204"/>
              <a:buNone/>
            </a:pPr>
            <a:r>
              <a:rPr lang="en-US" altLang="en-US" sz="1600" b="1">
                <a:solidFill>
                  <a:srgbClr val="000000"/>
                </a:solidFill>
                <a:latin typeface="Times New Roman" panose="02020603050405020304" charset="0"/>
                <a:ea typeface="Arial" panose="020B0604020202020204"/>
                <a:cs typeface="Times New Roman" panose="02020603050405020304" charset="0"/>
              </a:rPr>
              <a:t>Хардвер</a:t>
            </a:r>
            <a:endParaRPr lang="en-US" altLang="en-US" sz="1600" b="1">
              <a:solidFill>
                <a:srgbClr val="000000"/>
              </a:solidFill>
              <a:latin typeface="Times New Roman" panose="02020603050405020304" charset="0"/>
              <a:ea typeface="Arial" panose="020B0604020202020204"/>
              <a:cs typeface="Times New Roman" panose="02020603050405020304" charset="0"/>
            </a:endParaRPr>
          </a:p>
        </p:txBody>
      </p:sp>
      <p:graphicFrame>
        <p:nvGraphicFramePr>
          <p:cNvPr id="2" name="Table 1"/>
          <p:cNvGraphicFramePr/>
          <p:nvPr/>
        </p:nvGraphicFramePr>
        <p:xfrm>
          <a:off x="1115060" y="1411605"/>
          <a:ext cx="4650740" cy="1722120"/>
        </p:xfrm>
        <a:graphic>
          <a:graphicData uri="http://schemas.openxmlformats.org/drawingml/2006/table">
            <a:tbl>
              <a:tblPr firstRow="1" bandRow="1">
                <a:tableStyleId>{5C22544A-7EE6-4342-B048-85BDC9FD1C3A}</a:tableStyleId>
              </a:tblPr>
              <a:tblGrid>
                <a:gridCol w="1908175"/>
                <a:gridCol w="2742565"/>
              </a:tblGrid>
              <a:tr h="381000">
                <a:tc>
                  <a:txBody>
                    <a:bodyPr/>
                    <a:lstStyle/>
                    <a:p>
                      <a:pPr algn="ctr">
                        <a:buNone/>
                      </a:pPr>
                      <a:r>
                        <a:rPr lang="sr-Cyrl-BA" altLang="sr-Latn-RS" sz="1600">
                          <a:solidFill>
                            <a:schemeClr val="tx1"/>
                          </a:solidFill>
                          <a:latin typeface="Times New Roman" panose="02020603050405020304" charset="0"/>
                          <a:cs typeface="Times New Roman" panose="02020603050405020304" charset="0"/>
                        </a:rPr>
                        <a:t>Процесор</a:t>
                      </a:r>
                      <a:endParaRPr lang="sr-Cyrl-BA" altLang="sr-Latn-RS" sz="1600">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en-US" altLang="zh-CN" sz="1600">
                          <a:solidFill>
                            <a:schemeClr val="tx1"/>
                          </a:solidFill>
                          <a:latin typeface="Times New Roman" panose="02020603050405020304" charset="0"/>
                          <a:cs typeface="Times New Roman" panose="02020603050405020304" charset="0"/>
                          <a:sym typeface="+mn-ea"/>
                        </a:rPr>
                        <a:t>AMD Ryzen 5 5600H · 3,30 GHz</a:t>
                      </a:r>
                      <a:endParaRPr lang="en-US" altLang="zh-CN" sz="1600">
                        <a:solidFill>
                          <a:schemeClr val="tx1"/>
                        </a:solidFill>
                        <a:latin typeface="Times New Roman" panose="02020603050405020304" charset="0"/>
                        <a:cs typeface="Times New Roman" panose="02020603050405020304" charset="0"/>
                        <a:sym typeface="+mn-ea"/>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r>
              <a:tr h="381000">
                <a:tc>
                  <a:txBody>
                    <a:bodyPr/>
                    <a:lstStyle/>
                    <a:p>
                      <a:pPr algn="ctr">
                        <a:buNone/>
                      </a:pPr>
                      <a:r>
                        <a:rPr lang="en-US" altLang="sr-Latn-RS" sz="1600">
                          <a:solidFill>
                            <a:schemeClr val="tx1"/>
                          </a:solidFill>
                          <a:latin typeface="Times New Roman" panose="02020603050405020304" charset="0"/>
                          <a:cs typeface="Times New Roman" panose="02020603050405020304" charset="0"/>
                        </a:rPr>
                        <a:t>RAM</a:t>
                      </a:r>
                      <a:endParaRPr lang="en-US" altLang="sr-Latn-RS" sz="1600">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en-US" altLang="zh-CN" sz="1600">
                          <a:solidFill>
                            <a:schemeClr val="tx1"/>
                          </a:solidFill>
                          <a:latin typeface="Times New Roman" panose="02020603050405020304" charset="0"/>
                          <a:cs typeface="Times New Roman" panose="02020603050405020304" charset="0"/>
                          <a:sym typeface="+mn-ea"/>
                        </a:rPr>
                        <a:t>8 GB (7,34 GB доступно)</a:t>
                      </a:r>
                      <a:endParaRPr lang="en-US" altLang="zh-CN" sz="1600">
                        <a:solidFill>
                          <a:schemeClr val="tx1"/>
                        </a:solidFill>
                        <a:latin typeface="Times New Roman" panose="02020603050405020304" charset="0"/>
                        <a:cs typeface="Times New Roman" panose="02020603050405020304" charset="0"/>
                        <a:sym typeface="+mn-ea"/>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r>
              <a:tr h="381000">
                <a:tc>
                  <a:txBody>
                    <a:bodyPr/>
                    <a:lstStyle/>
                    <a:p>
                      <a:pPr algn="ctr">
                        <a:buNone/>
                      </a:pPr>
                      <a:r>
                        <a:rPr lang="sr-Cyrl-BA" altLang="sr-Latn-RS" sz="1600">
                          <a:solidFill>
                            <a:schemeClr val="tx1"/>
                          </a:solidFill>
                          <a:latin typeface="Times New Roman" panose="02020603050405020304" charset="0"/>
                          <a:cs typeface="Times New Roman" panose="02020603050405020304" charset="0"/>
                        </a:rPr>
                        <a:t>Оперативни систем</a:t>
                      </a:r>
                      <a:endParaRPr lang="sr-Cyrl-BA" altLang="sr-Latn-RS" sz="1600">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600">
                          <a:solidFill>
                            <a:schemeClr val="tx1"/>
                          </a:solidFill>
                          <a:latin typeface="Times New Roman" panose="02020603050405020304" charset="0"/>
                          <a:cs typeface="Times New Roman" panose="02020603050405020304" charset="0"/>
                          <a:sym typeface="+mn-ea"/>
                        </a:rPr>
                        <a:t>64-битни </a:t>
                      </a:r>
                      <a:r>
                        <a:rPr lang="en-US" altLang="zh-CN" sz="1600">
                          <a:solidFill>
                            <a:schemeClr val="tx1"/>
                          </a:solidFill>
                          <a:latin typeface="Times New Roman" panose="02020603050405020304" charset="0"/>
                          <a:cs typeface="Times New Roman" panose="02020603050405020304" charset="0"/>
                          <a:sym typeface="+mn-ea"/>
                        </a:rPr>
                        <a:t>Windows </a:t>
                      </a:r>
                      <a:endParaRPr lang="en-US" altLang="zh-CN" sz="1600">
                        <a:solidFill>
                          <a:schemeClr val="tx1"/>
                        </a:solidFill>
                        <a:latin typeface="Times New Roman" panose="02020603050405020304" charset="0"/>
                        <a:cs typeface="Times New Roman" panose="02020603050405020304" charset="0"/>
                        <a:sym typeface="+mn-ea"/>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81000">
                <a:tc>
                  <a:txBody>
                    <a:bodyPr/>
                    <a:lstStyle/>
                    <a:p>
                      <a:pPr algn="ctr">
                        <a:buNone/>
                      </a:pPr>
                      <a:r>
                        <a:rPr lang="sr-Cyrl-BA" altLang="sr-Latn-RS" sz="1600">
                          <a:solidFill>
                            <a:schemeClr val="tx1"/>
                          </a:solidFill>
                          <a:latin typeface="Times New Roman" panose="02020603050405020304" charset="0"/>
                          <a:cs typeface="Times New Roman" panose="02020603050405020304" charset="0"/>
                        </a:rPr>
                        <a:t>Извршавање</a:t>
                      </a:r>
                      <a:endParaRPr lang="sr-Cyrl-BA" altLang="sr-Latn-RS" sz="1600">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en-US" altLang="zh-CN" sz="1600">
                          <a:solidFill>
                            <a:schemeClr val="tx1"/>
                          </a:solidFill>
                          <a:latin typeface="Times New Roman" panose="02020603050405020304" charset="0"/>
                          <a:cs typeface="Times New Roman" panose="02020603050405020304" charset="0"/>
                          <a:sym typeface="+mn-ea"/>
                        </a:rPr>
                        <a:t>CPU</a:t>
                      </a:r>
                      <a:endParaRPr lang="en-US" altLang="zh-CN" sz="1600">
                        <a:solidFill>
                          <a:schemeClr val="tx1"/>
                        </a:solidFill>
                        <a:latin typeface="Times New Roman" panose="02020603050405020304" charset="0"/>
                        <a:cs typeface="Times New Roman" panose="02020603050405020304" charset="0"/>
                        <a:sym typeface="+mn-ea"/>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
        <p:nvSpPr>
          <p:cNvPr id="7" name="Text Box 6"/>
          <p:cNvSpPr txBox="1"/>
          <p:nvPr/>
        </p:nvSpPr>
        <p:spPr>
          <a:xfrm>
            <a:off x="1115695" y="3162935"/>
            <a:ext cx="3048000" cy="33718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Софтвер</a:t>
            </a:r>
            <a:endParaRPr lang="en-US" altLang="en-US" sz="1600" b="1">
              <a:latin typeface="Times New Roman" panose="02020603050405020304" charset="0"/>
              <a:cs typeface="Times New Roman" panose="02020603050405020304" charset="0"/>
            </a:endParaRPr>
          </a:p>
        </p:txBody>
      </p:sp>
      <p:sp>
        <p:nvSpPr>
          <p:cNvPr id="50" name="Rounded Rectangle 49"/>
          <p:cNvSpPr/>
          <p:nvPr/>
        </p:nvSpPr>
        <p:spPr>
          <a:xfrm>
            <a:off x="1064895" y="3529330"/>
            <a:ext cx="3214370"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Модели и инференција</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Python · PyTorch · OpenAI Whisper · Faster-Whisper / CTranslate2</a:t>
            </a:r>
            <a:endParaRPr lang="en-US" altLang="en-US">
              <a:solidFill>
                <a:schemeClr val="tx1"/>
              </a:solidFill>
              <a:latin typeface="Times New Roman" panose="02020603050405020304" charset="0"/>
              <a:cs typeface="Times New Roman" panose="02020603050405020304" charset="0"/>
            </a:endParaRPr>
          </a:p>
        </p:txBody>
      </p:sp>
      <p:sp>
        <p:nvSpPr>
          <p:cNvPr id="10" name="Rounded Rectangle 9"/>
          <p:cNvSpPr/>
          <p:nvPr/>
        </p:nvSpPr>
        <p:spPr>
          <a:xfrm>
            <a:off x="4715510" y="3529330"/>
            <a:ext cx="411162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buNone/>
            </a:pPr>
            <a:r>
              <a:rPr lang="en-US" altLang="en-US" b="1">
                <a:solidFill>
                  <a:schemeClr val="tx1"/>
                </a:solidFill>
                <a:latin typeface="Times New Roman" panose="02020603050405020304" charset="0"/>
                <a:cs typeface="Times New Roman" panose="02020603050405020304" charset="0"/>
              </a:rPr>
              <a:t>Експерименти и анализа</a:t>
            </a:r>
            <a:endParaRPr lang="en-US" altLang="en-US" b="1">
              <a:solidFill>
                <a:schemeClr val="tx1"/>
              </a:solidFill>
              <a:latin typeface="Times New Roman" panose="02020603050405020304" charset="0"/>
              <a:cs typeface="Times New Roman" panose="02020603050405020304" charset="0"/>
            </a:endParaRPr>
          </a:p>
          <a:p>
            <a:pPr algn="ctr">
              <a:buSzTx/>
              <a:buNone/>
            </a:pPr>
            <a:r>
              <a:rPr lang="en-US" altLang="en-US">
                <a:solidFill>
                  <a:schemeClr val="tx1"/>
                </a:solidFill>
                <a:latin typeface="Times New Roman" panose="02020603050405020304" charset="0"/>
                <a:cs typeface="Times New Roman" panose="02020603050405020304" charset="0"/>
              </a:rPr>
              <a:t>Anaconda ·Jupyter·NumPy ·Pandas Matplotlib · JiWER · psutil</a:t>
            </a:r>
            <a:endParaRPr lang="en-US" altLang="en-US">
              <a:solidFill>
                <a:schemeClr val="tx1"/>
              </a:solidFill>
              <a:latin typeface="Times New Roman" panose="02020603050405020304" charset="0"/>
              <a:cs typeface="Times New Roman" panose="02020603050405020304" charset="0"/>
            </a:endParaRPr>
          </a:p>
        </p:txBody>
      </p:sp>
      <p:sp>
        <p:nvSpPr>
          <p:cNvPr id="8" name="Text Box 7"/>
          <p:cNvSpPr txBox="1"/>
          <p:nvPr/>
        </p:nvSpPr>
        <p:spPr>
          <a:xfrm>
            <a:off x="385762" y="4553744"/>
            <a:ext cx="8858250" cy="795020"/>
          </a:xfrm>
          <a:prstGeom prst="rect">
            <a:avLst/>
          </a:prstGeom>
          <a:noFill/>
        </p:spPr>
        <p:txBody>
          <a:bodyPr wrap="square" rtlCol="0">
            <a:noAutofit/>
          </a:bodyPr>
          <a:lstStyle/>
          <a:p>
            <a:pPr algn="l">
              <a:buSzTx/>
            </a:pPr>
            <a:r>
              <a:rPr lang="sr-Cyrl-BA" altLang="en-US" sz="2400" dirty="0">
                <a:solidFill>
                  <a:schemeClr val="accent1"/>
                </a:solidFill>
                <a:highlight>
                  <a:srgbClr val="000000"/>
                </a:highlight>
                <a:latin typeface="Times New Roman" panose="02020603050405020304" charset="0"/>
                <a:cs typeface="Times New Roman" panose="02020603050405020304" charset="0"/>
              </a:rPr>
              <a:t>Циљ: поређење конфигурација у истом локалном CPU окружењу.</a:t>
            </a:r>
            <a:endParaRPr lang="sr-Cyrl-BA" altLang="en-US" sz="2400" dirty="0">
              <a:solidFill>
                <a:schemeClr val="accent1"/>
              </a:solidFill>
              <a:highlight>
                <a:srgbClr val="000000"/>
              </a:highlight>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5595" y="339090"/>
            <a:ext cx="6475730" cy="575945"/>
          </a:xfrm>
        </p:spPr>
        <p:txBody>
          <a:bodyPr/>
          <a:lstStyle/>
          <a:p>
            <a:pPr algn="ctr"/>
            <a:r>
              <a:rPr lang="en-US" altLang="en-US">
                <a:latin typeface="Times New Roman" panose="02020603050405020304" charset="0"/>
                <a:cs typeface="Times New Roman" panose="02020603050405020304" charset="0"/>
              </a:rPr>
              <a:t>Главни </a:t>
            </a:r>
            <a:r>
              <a:rPr lang="sr-Cyrl-BA" altLang="en-US">
                <a:latin typeface="Times New Roman" panose="02020603050405020304" charset="0"/>
                <a:cs typeface="Times New Roman" panose="02020603050405020304" charset="0"/>
              </a:rPr>
              <a:t>референтни</a:t>
            </a:r>
            <a:r>
              <a:rPr lang="en-US" altLang="en-US">
                <a:latin typeface="Times New Roman" panose="02020603050405020304" charset="0"/>
                <a:cs typeface="Times New Roman" panose="02020603050405020304" charset="0"/>
              </a:rPr>
              <a:t> скуп — српски говор</a:t>
            </a:r>
            <a:endParaRPr lang="en-US" altLang="en-US">
              <a:latin typeface="Times New Roman" panose="02020603050405020304" charset="0"/>
              <a:cs typeface="Times New Roman" panose="02020603050405020304" charset="0"/>
            </a:endParaRPr>
          </a:p>
        </p:txBody>
      </p:sp>
      <p:sp>
        <p:nvSpPr>
          <p:cNvPr id="7" name="Rounded Rectangle 6"/>
          <p:cNvSpPr/>
          <p:nvPr/>
        </p:nvSpPr>
        <p:spPr>
          <a:xfrm>
            <a:off x="2277745" y="1224915"/>
            <a:ext cx="1125855" cy="85153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800" b="1">
                <a:solidFill>
                  <a:schemeClr val="tx1"/>
                </a:solidFill>
                <a:latin typeface="Times New Roman" panose="02020603050405020304" charset="0"/>
                <a:cs typeface="Times New Roman" panose="02020603050405020304" charset="0"/>
                <a:sym typeface="+mn-ea"/>
              </a:rPr>
              <a:t>40</a:t>
            </a:r>
            <a:endParaRPr lang="sr-Cyrl-BA" altLang="en-US" sz="2800" b="1">
              <a:solidFill>
                <a:schemeClr val="tx1"/>
              </a:solidFill>
              <a:latin typeface="Times New Roman" panose="02020603050405020304" charset="0"/>
              <a:cs typeface="Times New Roman" panose="02020603050405020304" charset="0"/>
              <a:sym typeface="+mn-ea"/>
            </a:endParaRPr>
          </a:p>
          <a:p>
            <a:pPr algn="ctr"/>
            <a:r>
              <a:rPr lang="en-US" altLang="en-US" b="1">
                <a:solidFill>
                  <a:schemeClr val="tx1"/>
                </a:solidFill>
                <a:latin typeface="Times New Roman" panose="02020603050405020304" charset="0"/>
                <a:cs typeface="Times New Roman" panose="02020603050405020304" charset="0"/>
                <a:sym typeface="+mn-ea"/>
              </a:rPr>
              <a:t>WAV снимака</a:t>
            </a:r>
            <a:endParaRPr lang="en-US" altLang="en-US" b="1">
              <a:solidFill>
                <a:schemeClr val="tx1"/>
              </a:solidFill>
              <a:latin typeface="Times New Roman" panose="02020603050405020304" charset="0"/>
              <a:cs typeface="Times New Roman" panose="02020603050405020304" charset="0"/>
              <a:sym typeface="+mn-ea"/>
            </a:endParaRPr>
          </a:p>
        </p:txBody>
      </p:sp>
      <p:sp>
        <p:nvSpPr>
          <p:cNvPr id="9" name="Rounded Rectangle 8"/>
          <p:cNvSpPr/>
          <p:nvPr/>
        </p:nvSpPr>
        <p:spPr>
          <a:xfrm>
            <a:off x="3884930" y="1203325"/>
            <a:ext cx="1125855"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altLang="en-US" sz="2800" b="1">
                <a:solidFill>
                  <a:schemeClr val="tx1"/>
                </a:solidFill>
                <a:latin typeface="Times New Roman" panose="02020603050405020304" charset="0"/>
                <a:cs typeface="Times New Roman" panose="02020603050405020304" charset="0"/>
                <a:sym typeface="+mn-ea"/>
              </a:rPr>
              <a:t>3</a:t>
            </a:r>
            <a:endParaRPr lang="sr-Cyrl-BA" altLang="en-US" sz="2800" b="1">
              <a:solidFill>
                <a:schemeClr val="tx1"/>
              </a:solidFill>
              <a:latin typeface="Times New Roman" panose="02020603050405020304" charset="0"/>
              <a:cs typeface="Times New Roman" panose="02020603050405020304" charset="0"/>
              <a:sym typeface="+mn-ea"/>
            </a:endParaRPr>
          </a:p>
          <a:p>
            <a:pPr algn="ctr">
              <a:buSzTx/>
            </a:pPr>
            <a:r>
              <a:rPr lang="sr-Cyrl-BA" altLang="en-US" b="1">
                <a:solidFill>
                  <a:schemeClr val="tx1"/>
                </a:solidFill>
                <a:latin typeface="Times New Roman" panose="02020603050405020304" charset="0"/>
                <a:cs typeface="Times New Roman" panose="02020603050405020304" charset="0"/>
                <a:sym typeface="+mn-ea"/>
              </a:rPr>
              <a:t>говорника</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2" name="Rounded Rectangle 1"/>
          <p:cNvSpPr/>
          <p:nvPr/>
        </p:nvSpPr>
        <p:spPr>
          <a:xfrm>
            <a:off x="5435600" y="1203325"/>
            <a:ext cx="112649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800" b="1">
                <a:solidFill>
                  <a:schemeClr val="tx1"/>
                </a:solidFill>
                <a:latin typeface="Times New Roman" panose="02020603050405020304" charset="0"/>
                <a:cs typeface="Times New Roman" panose="02020603050405020304" charset="0"/>
                <a:sym typeface="+mn-ea"/>
              </a:rPr>
              <a:t>4</a:t>
            </a:r>
            <a:endParaRPr lang="sr-Cyrl-BA" altLang="en-US" sz="2800" b="1">
              <a:solidFill>
                <a:schemeClr val="tx1"/>
              </a:solidFill>
              <a:latin typeface="Times New Roman" panose="02020603050405020304" charset="0"/>
              <a:cs typeface="Times New Roman" panose="02020603050405020304" charset="0"/>
              <a:sym typeface="+mn-ea"/>
            </a:endParaRPr>
          </a:p>
          <a:p>
            <a:pPr algn="ctr"/>
            <a:r>
              <a:rPr lang="sr-Cyrl-BA" altLang="en-US" b="1">
                <a:solidFill>
                  <a:schemeClr val="tx1"/>
                </a:solidFill>
                <a:latin typeface="Times New Roman" panose="02020603050405020304" charset="0"/>
                <a:cs typeface="Times New Roman" panose="02020603050405020304" charset="0"/>
                <a:sym typeface="+mn-ea"/>
              </a:rPr>
              <a:t>групе трајања</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8" name="Text Box 7"/>
          <p:cNvSpPr txBox="1"/>
          <p:nvPr/>
        </p:nvSpPr>
        <p:spPr>
          <a:xfrm>
            <a:off x="3275965" y="2211705"/>
            <a:ext cx="3048000" cy="33718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Организација скупа</a:t>
            </a:r>
            <a:endParaRPr lang="en-US" altLang="en-US" sz="1600" b="1">
              <a:latin typeface="Times New Roman" panose="02020603050405020304" charset="0"/>
              <a:cs typeface="Times New Roman" panose="02020603050405020304" charset="0"/>
            </a:endParaRPr>
          </a:p>
        </p:txBody>
      </p:sp>
      <p:sp>
        <p:nvSpPr>
          <p:cNvPr id="12" name="Text Box 11"/>
          <p:cNvSpPr txBox="1"/>
          <p:nvPr/>
        </p:nvSpPr>
        <p:spPr>
          <a:xfrm>
            <a:off x="1035685" y="4732020"/>
            <a:ext cx="7084695" cy="337185"/>
          </a:xfrm>
          <a:prstGeom prst="rect">
            <a:avLst/>
          </a:prstGeom>
        </p:spPr>
        <p:txBody>
          <a:bodyPr wrap="square">
            <a:spAutoFit/>
          </a:bodyPr>
          <a:lstStyle/>
          <a:p>
            <a:r>
              <a:rPr lang="en-US" altLang="zh-CN" sz="1600" b="1">
                <a:latin typeface="Times New Roman" panose="02020603050405020304" charset="0"/>
                <a:cs typeface="Times New Roman" panose="02020603050405020304" charset="0"/>
              </a:rPr>
              <a:t>Различит садржај и трајање · </a:t>
            </a:r>
            <a:r>
              <a:rPr lang="sr-Cyrl-BA" altLang="en-US" sz="1600" b="1">
                <a:latin typeface="Times New Roman" panose="02020603050405020304" charset="0"/>
                <a:cs typeface="Times New Roman" panose="02020603050405020304" charset="0"/>
              </a:rPr>
              <a:t>читани говор</a:t>
            </a:r>
            <a:r>
              <a:rPr lang="en-US" altLang="zh-CN" sz="1600" b="1">
                <a:latin typeface="Times New Roman" panose="02020603050405020304" charset="0"/>
                <a:cs typeface="Times New Roman" panose="02020603050405020304" charset="0"/>
              </a:rPr>
              <a:t> · референтни транскрипти</a:t>
            </a:r>
            <a:endParaRPr lang="en-US" altLang="zh-CN" sz="1600"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1763395" y="2571750"/>
          <a:ext cx="5294630" cy="1967865"/>
        </p:xfrm>
        <a:graphic>
          <a:graphicData uri="http://schemas.openxmlformats.org/drawingml/2006/table">
            <a:tbl>
              <a:tblPr firstRow="1" bandRow="1">
                <a:tableStyleId>{5C22544A-7EE6-4342-B048-85BDC9FD1C3A}</a:tableStyleId>
              </a:tblPr>
              <a:tblGrid>
                <a:gridCol w="1365885"/>
                <a:gridCol w="1964690"/>
                <a:gridCol w="1964055"/>
              </a:tblGrid>
              <a:tr h="579120">
                <a:tc>
                  <a:txBody>
                    <a:bodyPr/>
                    <a:lstStyle/>
                    <a:p>
                      <a:pPr algn="ctr">
                        <a:buNone/>
                      </a:pPr>
                      <a:r>
                        <a:rPr lang="sr-Cyrl-BA" altLang="sr-Latn-RS" sz="1600" b="1">
                          <a:solidFill>
                            <a:schemeClr val="tx1"/>
                          </a:solidFill>
                          <a:latin typeface="Times New Roman" panose="02020603050405020304" charset="0"/>
                          <a:cs typeface="Times New Roman" panose="02020603050405020304" charset="0"/>
                        </a:rPr>
                        <a:t>Група</a:t>
                      </a:r>
                      <a:endParaRPr lang="sr-Cyrl-BA" altLang="sr-Latn-RS" sz="1600" b="1">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SzTx/>
                        <a:buNone/>
                      </a:pPr>
                      <a:r>
                        <a:rPr lang="sr-Cyrl-BA" altLang="sr-Latn-RS" sz="1600" b="1">
                          <a:solidFill>
                            <a:schemeClr val="tx1"/>
                          </a:solidFill>
                          <a:latin typeface="Times New Roman" panose="02020603050405020304" charset="0"/>
                          <a:cs typeface="Times New Roman" panose="02020603050405020304" charset="0"/>
                          <a:sym typeface="+mn-ea"/>
                        </a:rPr>
                        <a:t>Просечно трајање [s]</a:t>
                      </a:r>
                      <a:endParaRPr lang="sr-Cyrl-BA" altLang="sr-Latn-RS" sz="1600" b="1">
                        <a:solidFill>
                          <a:schemeClr val="tx1"/>
                        </a:solidFill>
                        <a:latin typeface="Times New Roman" panose="02020603050405020304" charset="0"/>
                        <a:cs typeface="Times New Roman" panose="02020603050405020304" charset="0"/>
                        <a:sym typeface="+mn-ea"/>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600" b="1">
                          <a:solidFill>
                            <a:schemeClr val="tx1"/>
                          </a:solidFill>
                          <a:latin typeface="Times New Roman" panose="02020603050405020304" charset="0"/>
                          <a:cs typeface="Times New Roman" panose="02020603050405020304" charset="0"/>
                          <a:sym typeface="+mn-ea"/>
                        </a:rPr>
                        <a:t>Број снимака</a:t>
                      </a:r>
                      <a:endParaRPr lang="sr-Cyrl-BA" altLang="en-US" sz="1600" b="1">
                        <a:solidFill>
                          <a:schemeClr val="tx1"/>
                        </a:solidFill>
                        <a:latin typeface="Times New Roman" panose="02020603050405020304" charset="0"/>
                        <a:cs typeface="Times New Roman" panose="02020603050405020304" charset="0"/>
                        <a:sym typeface="+mn-ea"/>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r>
              <a:tr h="358775">
                <a:tc>
                  <a:txBody>
                    <a:bodyPr/>
                    <a:lstStyle/>
                    <a:p>
                      <a:pPr algn="ctr">
                        <a:buNone/>
                      </a:pPr>
                      <a:r>
                        <a:rPr lang="sr-Cyrl-BA" altLang="sr-Latn-RS" sz="1600" b="1">
                          <a:solidFill>
                            <a:schemeClr val="tx1"/>
                          </a:solidFill>
                          <a:latin typeface="Times New Roman" panose="02020603050405020304" charset="0"/>
                          <a:cs typeface="Times New Roman" panose="02020603050405020304" charset="0"/>
                        </a:rPr>
                        <a:t>Кратки</a:t>
                      </a:r>
                      <a:endParaRPr lang="sr-Cyrl-BA" altLang="sr-Latn-RS" sz="1600" b="1">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spcBef>
                          <a:spcPts val="0"/>
                        </a:spcBef>
                        <a:spcAft>
                          <a:spcPts val="0"/>
                        </a:spcAft>
                        <a:buSzTx/>
                      </a:pPr>
                      <a:r>
                        <a:rPr lang="sr-Cyrl-BA" altLang="sr-Latn-RS" sz="1600" b="1">
                          <a:solidFill>
                            <a:schemeClr val="tx1"/>
                          </a:solidFill>
                          <a:latin typeface="Times New Roman" panose="02020603050405020304" charset="0"/>
                          <a:cs typeface="Times New Roman" panose="02020603050405020304" charset="0"/>
                        </a:rPr>
                        <a:t>6,96</a:t>
                      </a:r>
                      <a:endParaRPr lang="sr-Cyrl-BA" altLang="sr-Latn-RS" sz="1600" b="1">
                        <a:solidFill>
                          <a:schemeClr val="tx1"/>
                        </a:solidFill>
                        <a:latin typeface="Times New Roman" panose="02020603050405020304" charset="0"/>
                        <a:cs typeface="Times New Roman" panose="02020603050405020304" charset="0"/>
                      </a:endParaRPr>
                    </a:p>
                  </a:txBody>
                  <a:tcPr marL="9525" marR="9525" marT="9525" marB="9525"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600" b="1">
                          <a:solidFill>
                            <a:schemeClr val="tx1"/>
                          </a:solidFill>
                          <a:latin typeface="Times New Roman" panose="02020603050405020304" charset="0"/>
                          <a:cs typeface="Times New Roman" panose="02020603050405020304" charset="0"/>
                          <a:sym typeface="+mn-ea"/>
                        </a:rPr>
                        <a:t>10</a:t>
                      </a:r>
                      <a:endParaRPr lang="sr-Cyrl-BA" altLang="en-US" sz="1600" b="1">
                        <a:solidFill>
                          <a:schemeClr val="tx1"/>
                        </a:solidFill>
                        <a:latin typeface="Times New Roman" panose="02020603050405020304" charset="0"/>
                        <a:cs typeface="Times New Roman" panose="02020603050405020304" charset="0"/>
                        <a:sym typeface="+mn-ea"/>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r>
              <a:tr h="335280">
                <a:tc>
                  <a:txBody>
                    <a:bodyPr/>
                    <a:lstStyle/>
                    <a:p>
                      <a:pPr algn="ctr">
                        <a:buNone/>
                      </a:pPr>
                      <a:r>
                        <a:rPr lang="sr-Cyrl-BA" altLang="en-US" sz="1600" b="1">
                          <a:solidFill>
                            <a:schemeClr val="tx1"/>
                          </a:solidFill>
                          <a:latin typeface="Times New Roman" panose="02020603050405020304" charset="0"/>
                          <a:cs typeface="Times New Roman" panose="02020603050405020304" charset="0"/>
                        </a:rPr>
                        <a:t>Средњи</a:t>
                      </a:r>
                      <a:endParaRPr lang="sr-Cyrl-BA" altLang="en-US" sz="1600" b="1">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spcBef>
                          <a:spcPts val="0"/>
                        </a:spcBef>
                        <a:spcAft>
                          <a:spcPts val="0"/>
                        </a:spcAft>
                        <a:buSzTx/>
                      </a:pPr>
                      <a:r>
                        <a:rPr lang="sr-Cyrl-BA" altLang="sr-Latn-RS" sz="1600" b="1">
                          <a:solidFill>
                            <a:schemeClr val="tx1"/>
                          </a:solidFill>
                          <a:latin typeface="Times New Roman" panose="02020603050405020304" charset="0"/>
                          <a:cs typeface="Times New Roman" panose="02020603050405020304" charset="0"/>
                        </a:rPr>
                        <a:t>15,35</a:t>
                      </a:r>
                      <a:endParaRPr lang="sr-Cyrl-BA" altLang="sr-Latn-RS" sz="1600" b="1">
                        <a:solidFill>
                          <a:schemeClr val="tx1"/>
                        </a:solidFill>
                        <a:latin typeface="Times New Roman" panose="02020603050405020304" charset="0"/>
                        <a:cs typeface="Times New Roman" panose="02020603050405020304" charset="0"/>
                      </a:endParaRPr>
                    </a:p>
                  </a:txBody>
                  <a:tcPr marL="9525" marR="9525" marT="9525" marB="9525"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600" b="1">
                          <a:solidFill>
                            <a:schemeClr val="tx1"/>
                          </a:solidFill>
                          <a:latin typeface="Times New Roman" panose="02020603050405020304" charset="0"/>
                          <a:cs typeface="Times New Roman" panose="02020603050405020304" charset="0"/>
                          <a:sym typeface="+mn-ea"/>
                        </a:rPr>
                        <a:t>15</a:t>
                      </a:r>
                      <a:endParaRPr lang="sr-Cyrl-BA" altLang="en-US" sz="1600" b="1">
                        <a:solidFill>
                          <a:schemeClr val="tx1"/>
                        </a:solidFill>
                        <a:latin typeface="Times New Roman" panose="02020603050405020304" charset="0"/>
                        <a:cs typeface="Times New Roman" panose="02020603050405020304" charset="0"/>
                        <a:sym typeface="+mn-ea"/>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r>
              <a:tr h="359410">
                <a:tc>
                  <a:txBody>
                    <a:bodyPr/>
                    <a:lstStyle/>
                    <a:p>
                      <a:pPr algn="ctr">
                        <a:buNone/>
                      </a:pPr>
                      <a:r>
                        <a:rPr lang="sr-Cyrl-BA" altLang="sr-Latn-RS" sz="1600" b="1">
                          <a:solidFill>
                            <a:schemeClr val="tx1"/>
                          </a:solidFill>
                          <a:latin typeface="Times New Roman" panose="02020603050405020304" charset="0"/>
                          <a:cs typeface="Times New Roman" panose="02020603050405020304" charset="0"/>
                        </a:rPr>
                        <a:t>Дуги</a:t>
                      </a:r>
                      <a:endParaRPr lang="sr-Cyrl-BA" altLang="sr-Latn-RS" sz="1600" b="1">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spcBef>
                          <a:spcPts val="0"/>
                        </a:spcBef>
                        <a:spcAft>
                          <a:spcPts val="0"/>
                        </a:spcAft>
                        <a:buSzTx/>
                      </a:pPr>
                      <a:r>
                        <a:rPr lang="sr-Cyrl-BA" altLang="sr-Latn-RS" sz="1600" b="1">
                          <a:solidFill>
                            <a:schemeClr val="tx1"/>
                          </a:solidFill>
                          <a:latin typeface="Times New Roman" panose="02020603050405020304" charset="0"/>
                          <a:cs typeface="Times New Roman" panose="02020603050405020304" charset="0"/>
                        </a:rPr>
                        <a:t>31,83</a:t>
                      </a:r>
                      <a:endParaRPr lang="sr-Cyrl-BA" altLang="sr-Latn-RS" sz="1600" b="1">
                        <a:solidFill>
                          <a:schemeClr val="tx1"/>
                        </a:solidFill>
                        <a:latin typeface="Times New Roman" panose="02020603050405020304" charset="0"/>
                        <a:cs typeface="Times New Roman" panose="02020603050405020304" charset="0"/>
                      </a:endParaRPr>
                    </a:p>
                  </a:txBody>
                  <a:tcPr marL="9525" marR="9525" marT="9525" marB="9525"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600" b="1">
                          <a:solidFill>
                            <a:schemeClr val="tx1"/>
                          </a:solidFill>
                          <a:latin typeface="Times New Roman" panose="02020603050405020304" charset="0"/>
                          <a:cs typeface="Times New Roman" panose="02020603050405020304" charset="0"/>
                          <a:sym typeface="+mn-ea"/>
                        </a:rPr>
                        <a:t>10</a:t>
                      </a:r>
                      <a:endParaRPr lang="sr-Cyrl-BA" altLang="en-US" sz="1600" b="1">
                        <a:solidFill>
                          <a:schemeClr val="tx1"/>
                        </a:solidFill>
                        <a:latin typeface="Times New Roman" panose="02020603050405020304" charset="0"/>
                        <a:cs typeface="Times New Roman" panose="02020603050405020304" charset="0"/>
                        <a:sym typeface="+mn-ea"/>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35280">
                <a:tc>
                  <a:txBody>
                    <a:bodyPr/>
                    <a:lstStyle/>
                    <a:p>
                      <a:pPr algn="ctr">
                        <a:buNone/>
                      </a:pPr>
                      <a:r>
                        <a:rPr lang="sr-Cyrl-BA" altLang="sr-Latn-RS" sz="1600" b="1">
                          <a:solidFill>
                            <a:schemeClr val="tx1"/>
                          </a:solidFill>
                          <a:latin typeface="Times New Roman" panose="02020603050405020304" charset="0"/>
                          <a:cs typeface="Times New Roman" panose="02020603050405020304" charset="0"/>
                        </a:rPr>
                        <a:t>Веома дуги</a:t>
                      </a:r>
                      <a:endParaRPr lang="sr-Cyrl-BA" altLang="sr-Latn-RS" sz="1600" b="1">
                        <a:solidFill>
                          <a:schemeClr val="tx1"/>
                        </a:solidFill>
                        <a:latin typeface="Times New Roman" panose="02020603050405020304" charset="0"/>
                        <a:cs typeface="Times New Roman" panose="02020603050405020304" charset="0"/>
                      </a:endParaRPr>
                    </a:p>
                  </a:txBody>
                  <a:tcP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spcBef>
                          <a:spcPts val="0"/>
                        </a:spcBef>
                        <a:spcAft>
                          <a:spcPts val="0"/>
                        </a:spcAft>
                        <a:buSzTx/>
                      </a:pPr>
                      <a:r>
                        <a:rPr lang="sr-Cyrl-BA" altLang="sr-Latn-RS" sz="1600" b="1">
                          <a:solidFill>
                            <a:schemeClr val="tx1"/>
                          </a:solidFill>
                          <a:latin typeface="Times New Roman" panose="02020603050405020304" charset="0"/>
                          <a:cs typeface="Times New Roman" panose="02020603050405020304" charset="0"/>
                        </a:rPr>
                        <a:t>71,66</a:t>
                      </a:r>
                      <a:endParaRPr lang="sr-Cyrl-BA" altLang="sr-Latn-RS" sz="1600" b="1">
                        <a:solidFill>
                          <a:schemeClr val="tx1"/>
                        </a:solidFill>
                        <a:latin typeface="Times New Roman" panose="02020603050405020304" charset="0"/>
                        <a:cs typeface="Times New Roman" panose="02020603050405020304" charset="0"/>
                      </a:endParaRPr>
                    </a:p>
                  </a:txBody>
                  <a:tcPr marL="9525" marR="9525" marT="9525" marB="9525"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600" b="1">
                          <a:solidFill>
                            <a:schemeClr val="tx1"/>
                          </a:solidFill>
                          <a:latin typeface="Times New Roman" panose="02020603050405020304" charset="0"/>
                          <a:cs typeface="Times New Roman" panose="02020603050405020304" charset="0"/>
                          <a:sym typeface="+mn-ea"/>
                        </a:rPr>
                        <a:t>5</a:t>
                      </a:r>
                      <a:endParaRPr lang="sr-Cyrl-BA" altLang="en-US" sz="1600" b="1">
                        <a:solidFill>
                          <a:schemeClr val="tx1"/>
                        </a:solidFill>
                        <a:latin typeface="Times New Roman" panose="02020603050405020304" charset="0"/>
                        <a:cs typeface="Times New Roman" panose="02020603050405020304" charset="0"/>
                        <a:sym typeface="+mn-ea"/>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0405" y="339090"/>
            <a:ext cx="6090920" cy="575945"/>
          </a:xfrm>
        </p:spPr>
        <p:txBody>
          <a:bodyPr/>
          <a:lstStyle/>
          <a:p>
            <a:pPr algn="ctr"/>
            <a:r>
              <a:rPr lang="en-US" altLang="en-US">
                <a:latin typeface="Times New Roman" panose="02020603050405020304" charset="0"/>
                <a:cs typeface="Times New Roman" panose="02020603050405020304" charset="0"/>
              </a:rPr>
              <a:t>Додатни експериментални скупови</a:t>
            </a:r>
            <a:endParaRPr lang="en-US" altLang="en-US">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700405" y="987425"/>
          <a:ext cx="6862445" cy="2595880"/>
        </p:xfrm>
        <a:graphic>
          <a:graphicData uri="http://schemas.openxmlformats.org/drawingml/2006/table">
            <a:tbl>
              <a:tblPr firstRow="1" bandRow="1">
                <a:tableStyleId>{5C22544A-7EE6-4342-B048-85BDC9FD1C3A}</a:tableStyleId>
              </a:tblPr>
              <a:tblGrid>
                <a:gridCol w="2310765"/>
                <a:gridCol w="4551680"/>
              </a:tblGrid>
              <a:tr h="471170">
                <a:tc>
                  <a:txBody>
                    <a:bodyPr/>
                    <a:lstStyle/>
                    <a:p>
                      <a:pPr algn="ctr"/>
                      <a:r>
                        <a:rPr lang="en-US" altLang="zh-CN" sz="1400" b="1">
                          <a:solidFill>
                            <a:schemeClr val="tx1"/>
                          </a:solidFill>
                          <a:latin typeface="Times New Roman" panose="02020603050405020304" charset="0"/>
                          <a:cs typeface="Times New Roman" panose="02020603050405020304" charset="0"/>
                        </a:rPr>
                        <a:t>Скуп</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Намена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0535">
                <a:tc>
                  <a:txBody>
                    <a:bodyPr/>
                    <a:lstStyle/>
                    <a:p>
                      <a:pPr algn="ctr"/>
                      <a:r>
                        <a:rPr lang="en-US" altLang="zh-CN" sz="1400" b="1">
                          <a:solidFill>
                            <a:schemeClr val="tx1"/>
                          </a:solidFill>
                          <a:latin typeface="Times New Roman" panose="02020603050405020304" charset="0"/>
                          <a:cs typeface="Times New Roman" panose="02020603050405020304" charset="0"/>
                        </a:rPr>
                        <a:t>Шум и SNR</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400" b="1">
                          <a:solidFill>
                            <a:schemeClr val="tx1"/>
                          </a:solidFill>
                          <a:latin typeface="Times New Roman" panose="02020603050405020304" charset="0"/>
                          <a:cs typeface="Times New Roman" panose="02020603050405020304" charset="0"/>
                        </a:rPr>
                        <a:t>Генерисани снимци са додатим белим и розе</a:t>
                      </a:r>
                      <a:r>
                        <a:rPr lang="en-US" altLang="zh-CN" sz="1400" b="1">
                          <a:solidFill>
                            <a:schemeClr val="tx1"/>
                          </a:solidFill>
                          <a:latin typeface="Times New Roman" panose="02020603050405020304" charset="0"/>
                          <a:cs typeface="Times New Roman" panose="02020603050405020304" charset="0"/>
                        </a:rPr>
                        <a:t> шум</a:t>
                      </a:r>
                      <a:r>
                        <a:rPr lang="sr-Cyrl-BA" altLang="en-US" sz="1400" b="1">
                          <a:solidFill>
                            <a:schemeClr val="tx1"/>
                          </a:solidFill>
                          <a:latin typeface="Times New Roman" panose="02020603050405020304" charset="0"/>
                          <a:cs typeface="Times New Roman" panose="02020603050405020304" charset="0"/>
                        </a:rPr>
                        <a:t>ом на подскупу од 10 снимака</a:t>
                      </a:r>
                      <a:r>
                        <a:rPr lang="en-US" altLang="zh-CN" sz="1400" b="1">
                          <a:solidFill>
                            <a:schemeClr val="tx1"/>
                          </a:solidFill>
                          <a:latin typeface="Times New Roman" panose="02020603050405020304" charset="0"/>
                          <a:cs typeface="Times New Roman" panose="02020603050405020304" charset="0"/>
                        </a:rPr>
                        <a:t>; различити нивои деградације</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r>
                        <a:rPr lang="en-US" altLang="zh-CN" sz="1400" b="1">
                          <a:solidFill>
                            <a:schemeClr val="tx1"/>
                          </a:solidFill>
                          <a:latin typeface="Times New Roman" panose="02020603050405020304" charset="0"/>
                          <a:cs typeface="Times New Roman" panose="02020603050405020304" charset="0"/>
                        </a:rPr>
                        <a:t>Српски / енглески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Контролисано поређење синтетичког говора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39420">
                <a:tc>
                  <a:txBody>
                    <a:bodyPr/>
                    <a:lstStyle/>
                    <a:p>
                      <a:pPr algn="ctr"/>
                      <a:r>
                        <a:rPr lang="en-US" altLang="zh-CN" sz="1400" b="1">
                          <a:solidFill>
                            <a:schemeClr val="tx1"/>
                          </a:solidFill>
                          <a:latin typeface="Times New Roman" panose="02020603050405020304" charset="0"/>
                          <a:cs typeface="Times New Roman" panose="02020603050405020304" charset="0"/>
                        </a:rPr>
                        <a:t>VAD</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5 снимака</a:t>
                      </a:r>
                      <a:r>
                        <a:rPr lang="sr-Cyrl-BA" altLang="en-US" sz="1400" b="1">
                          <a:solidFill>
                            <a:schemeClr val="tx1"/>
                          </a:solidFill>
                          <a:latin typeface="Times New Roman" panose="02020603050405020304" charset="0"/>
                          <a:cs typeface="Times New Roman" panose="02020603050405020304" charset="0"/>
                        </a:rPr>
                        <a:t> читаног српског говора</a:t>
                      </a:r>
                      <a:r>
                        <a:rPr lang="en-US" altLang="zh-CN" sz="1400" b="1">
                          <a:solidFill>
                            <a:schemeClr val="tx1"/>
                          </a:solidFill>
                          <a:latin typeface="Times New Roman" panose="02020603050405020304" charset="0"/>
                          <a:cs typeface="Times New Roman" panose="02020603050405020304" charset="0"/>
                        </a:rPr>
                        <a:t> + 5 синтетичких енглеских;</a:t>
                      </a:r>
                      <a:r>
                        <a:rPr lang="sr-Latn-RS" altLang="zh-CN" sz="1400" b="1">
                          <a:solidFill>
                            <a:schemeClr val="tx1"/>
                          </a:solidFill>
                          <a:latin typeface="Times New Roman" panose="02020603050405020304" charset="0"/>
                          <a:cs typeface="Times New Roman" panose="02020603050405020304" charset="0"/>
                        </a:rPr>
                        <a:t> </a:t>
                      </a:r>
                      <a:r>
                        <a:rPr lang="sr-Cyrl-BA" altLang="zh-CN" sz="1400" b="1">
                          <a:solidFill>
                            <a:schemeClr val="tx1"/>
                          </a:solidFill>
                          <a:latin typeface="Times New Roman" panose="02020603050405020304" charset="0"/>
                          <a:cs typeface="Times New Roman" panose="02020603050405020304" charset="0"/>
                        </a:rPr>
                        <a:t>са периодима тишине</a:t>
                      </a:r>
                      <a:endParaRPr lang="sr-Cyrl-BA"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r>
                        <a:rPr lang="sr-Cyrl-BA" altLang="en-US" sz="1400" b="1">
                          <a:solidFill>
                            <a:schemeClr val="tx1"/>
                          </a:solidFill>
                          <a:latin typeface="Times New Roman" panose="02020603050405020304" charset="0"/>
                          <a:cs typeface="Times New Roman" panose="02020603050405020304" charset="0"/>
                        </a:rPr>
                        <a:t>Обрада у реалном времену</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5 најдужих снимака; сегменти од 2, 5 и 10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272415">
                <a:tc>
                  <a:txBody>
                    <a:bodyPr/>
                    <a:lstStyle/>
                    <a:p>
                      <a:pPr algn="ctr"/>
                      <a:r>
                        <a:rPr lang="sr-Cyrl-BA" altLang="en-US" sz="1400" b="1">
                          <a:solidFill>
                            <a:schemeClr val="tx1"/>
                          </a:solidFill>
                          <a:latin typeface="Times New Roman" panose="02020603050405020304" charset="0"/>
                          <a:cs typeface="Times New Roman" panose="02020603050405020304" charset="0"/>
                        </a:rPr>
                        <a:t>Доменска адаптација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800 снимака за доменску адаптацију</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10" name="Picture 9"/>
          <p:cNvPicPr>
            <a:picLocks noChangeAspect="1"/>
          </p:cNvPicPr>
          <p:nvPr/>
        </p:nvPicPr>
        <p:blipFill>
          <a:blip r:embed="rId2"/>
          <a:srcRect b="42893"/>
          <a:stretch>
            <a:fillRect/>
          </a:stretch>
        </p:blipFill>
        <p:spPr>
          <a:xfrm>
            <a:off x="683895" y="4660265"/>
            <a:ext cx="7607935" cy="288290"/>
          </a:xfrm>
          <a:prstGeom prst="rect">
            <a:avLst/>
          </a:prstGeom>
        </p:spPr>
      </p:pic>
      <p:sp>
        <p:nvSpPr>
          <p:cNvPr id="11" name="Text Box 10"/>
          <p:cNvSpPr txBox="1"/>
          <p:nvPr/>
        </p:nvSpPr>
        <p:spPr>
          <a:xfrm>
            <a:off x="2771775" y="3711575"/>
            <a:ext cx="3048000" cy="953135"/>
          </a:xfrm>
          <a:prstGeom prst="rect">
            <a:avLst/>
          </a:prstGeom>
          <a:noFill/>
        </p:spPr>
        <p:txBody>
          <a:bodyPr wrap="square" rtlCol="0">
            <a:spAutoFit/>
          </a:bodyPr>
          <a:lstStyle/>
          <a:p>
            <a:pPr algn="ctr"/>
            <a:r>
              <a:rPr lang="sr-Cyrl-BA" altLang="en-US" b="1">
                <a:latin typeface="Times New Roman" panose="02020603050405020304" charset="0"/>
                <a:cs typeface="Times New Roman" panose="02020603050405020304" charset="0"/>
              </a:rPr>
              <a:t>Доменски скуп </a:t>
            </a:r>
            <a:endParaRPr lang="sr-Cyrl-BA" altLang="en-US">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Обучавање: 675</a:t>
            </a:r>
            <a:endParaRPr lang="en-US" altLang="en-US">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Валидација: 75</a:t>
            </a:r>
            <a:endParaRPr lang="en-US" altLang="en-US">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Тестирање: 50</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4310" y="339090"/>
            <a:ext cx="6884035" cy="575945"/>
          </a:xfrm>
        </p:spPr>
        <p:txBody>
          <a:bodyPr/>
          <a:lstStyle/>
          <a:p>
            <a:pPr algn="ctr"/>
            <a:r>
              <a:rPr lang="en-US" altLang="en-US">
                <a:latin typeface="Times New Roman" panose="02020603050405020304" charset="0"/>
                <a:cs typeface="Times New Roman" panose="02020603050405020304" charset="0"/>
              </a:rPr>
              <a:t>Припрема и претпроцесирање аудио-записа</a:t>
            </a:r>
            <a:endParaRPr lang="en-US" altLang="en-US">
              <a:latin typeface="Times New Roman" panose="02020603050405020304" charset="0"/>
              <a:cs typeface="Times New Roman" panose="02020603050405020304" charset="0"/>
            </a:endParaRPr>
          </a:p>
        </p:txBody>
      </p:sp>
      <p:sp>
        <p:nvSpPr>
          <p:cNvPr id="50" name="Rounded Rectangle 49"/>
          <p:cNvSpPr/>
          <p:nvPr/>
        </p:nvSpPr>
        <p:spPr>
          <a:xfrm>
            <a:off x="311150" y="1059815"/>
            <a:ext cx="1304290"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tx1"/>
                </a:solidFill>
                <a:latin typeface="Times New Roman" panose="02020603050405020304" charset="0"/>
                <a:cs typeface="Times New Roman" panose="02020603050405020304" charset="0"/>
              </a:rPr>
              <a:t>Аудио-запис + референтни текст</a:t>
            </a:r>
            <a:endParaRPr lang="en-US" altLang="en-US">
              <a:solidFill>
                <a:schemeClr val="tx1"/>
              </a:solidFill>
              <a:latin typeface="Times New Roman" panose="02020603050405020304" charset="0"/>
              <a:cs typeface="Times New Roman" panose="02020603050405020304" charset="0"/>
            </a:endParaRPr>
          </a:p>
        </p:txBody>
      </p:sp>
      <p:sp>
        <p:nvSpPr>
          <p:cNvPr id="51" name="TextBox 10"/>
          <p:cNvSpPr txBox="1"/>
          <p:nvPr/>
        </p:nvSpPr>
        <p:spPr>
          <a:xfrm>
            <a:off x="1546606" y="177990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2" name="TextBox 14"/>
          <p:cNvSpPr txBox="1"/>
          <p:nvPr/>
        </p:nvSpPr>
        <p:spPr>
          <a:xfrm>
            <a:off x="2986913" y="242760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3" name="TextBox 18"/>
          <p:cNvSpPr txBox="1"/>
          <p:nvPr/>
        </p:nvSpPr>
        <p:spPr>
          <a:xfrm>
            <a:off x="4859655" y="3147695"/>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54" name="Rounded Rectangle 53"/>
          <p:cNvSpPr/>
          <p:nvPr/>
        </p:nvSpPr>
        <p:spPr>
          <a:xfrm>
            <a:off x="1805305" y="1921510"/>
            <a:ext cx="1220470" cy="122618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tx1"/>
                </a:solidFill>
                <a:latin typeface="Times New Roman" panose="02020603050405020304" charset="0"/>
                <a:cs typeface="Times New Roman" panose="02020603050405020304" charset="0"/>
              </a:rPr>
              <a:t>Провера формата, трајања и припрема улаза</a:t>
            </a:r>
            <a:endParaRPr lang="en-US" altLang="en-US">
              <a:solidFill>
                <a:schemeClr val="tx1"/>
              </a:solidFill>
              <a:latin typeface="Times New Roman" panose="02020603050405020304" charset="0"/>
              <a:cs typeface="Times New Roman" panose="02020603050405020304" charset="0"/>
            </a:endParaRPr>
          </a:p>
        </p:txBody>
      </p:sp>
      <p:sp>
        <p:nvSpPr>
          <p:cNvPr id="55" name="Rounded Rectangle 54"/>
          <p:cNvSpPr/>
          <p:nvPr/>
        </p:nvSpPr>
        <p:spPr>
          <a:xfrm>
            <a:off x="3215640" y="2574290"/>
            <a:ext cx="1729740" cy="114935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tx1"/>
                </a:solidFill>
                <a:latin typeface="Times New Roman" panose="02020603050405020304" charset="0"/>
                <a:cs typeface="Times New Roman" panose="02020603050405020304" charset="0"/>
              </a:rPr>
              <a:t>Претпроцесирање према експерименту</a:t>
            </a:r>
            <a:endParaRPr lang="en-US" altLang="en-US">
              <a:solidFill>
                <a:schemeClr val="tx1"/>
              </a:solidFill>
              <a:latin typeface="Times New Roman" panose="02020603050405020304" charset="0"/>
              <a:cs typeface="Times New Roman" panose="02020603050405020304" charset="0"/>
            </a:endParaRPr>
          </a:p>
        </p:txBody>
      </p:sp>
      <p:sp>
        <p:nvSpPr>
          <p:cNvPr id="56" name="Rounded Rectangle 55"/>
          <p:cNvSpPr/>
          <p:nvPr/>
        </p:nvSpPr>
        <p:spPr>
          <a:xfrm>
            <a:off x="5147945" y="2931795"/>
            <a:ext cx="2220595" cy="9055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tx1"/>
                </a:solidFill>
                <a:latin typeface="Times New Roman" panose="02020603050405020304" charset="0"/>
                <a:cs typeface="Times New Roman" panose="02020603050405020304" charset="0"/>
              </a:rPr>
              <a:t>Шум / SNR</a:t>
            </a:r>
            <a:endParaRPr lang="en-US" altLang="en-US">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VAD / паузе</a:t>
            </a:r>
            <a:endParaRPr lang="en-US" altLang="en-US">
              <a:solidFill>
                <a:schemeClr val="tx1"/>
              </a:solidFill>
              <a:latin typeface="Times New Roman" panose="02020603050405020304" charset="0"/>
              <a:cs typeface="Times New Roman" panose="02020603050405020304" charset="0"/>
            </a:endParaRPr>
          </a:p>
          <a:p>
            <a:pPr algn="ctr"/>
            <a:r>
              <a:rPr lang="sr-Cyrl-BA" altLang="en-US">
                <a:solidFill>
                  <a:schemeClr val="tx1"/>
                </a:solidFill>
                <a:latin typeface="Times New Roman" panose="02020603050405020304" charset="0"/>
                <a:cs typeface="Times New Roman" panose="02020603050405020304" charset="0"/>
              </a:rPr>
              <a:t>Обрада у реалном времену</a:t>
            </a:r>
            <a:r>
              <a:rPr lang="en-US" altLang="en-US">
                <a:solidFill>
                  <a:schemeClr val="tx1"/>
                </a:solidFill>
                <a:latin typeface="Times New Roman" panose="02020603050405020304" charset="0"/>
                <a:cs typeface="Times New Roman" panose="02020603050405020304" charset="0"/>
              </a:rPr>
              <a:t> / сегменти</a:t>
            </a:r>
            <a:endParaRPr lang="en-US" altLang="en-US">
              <a:solidFill>
                <a:schemeClr val="tx1"/>
              </a:solidFill>
              <a:latin typeface="Times New Roman" panose="02020603050405020304" charset="0"/>
              <a:cs typeface="Times New Roman" panose="02020603050405020304" charset="0"/>
            </a:endParaRPr>
          </a:p>
        </p:txBody>
      </p:sp>
      <p:sp>
        <p:nvSpPr>
          <p:cNvPr id="3" name="Rounded Rectangle 2"/>
          <p:cNvSpPr/>
          <p:nvPr/>
        </p:nvSpPr>
        <p:spPr>
          <a:xfrm>
            <a:off x="7524750" y="3291205"/>
            <a:ext cx="1482090" cy="133794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solidFill>
                  <a:schemeClr val="tx1"/>
                </a:solidFill>
                <a:latin typeface="Times New Roman" panose="02020603050405020304" charset="0"/>
                <a:cs typeface="Times New Roman" panose="02020603050405020304" charset="0"/>
              </a:rPr>
              <a:t>Транскрипција → нормализација текста </a:t>
            </a:r>
            <a:endParaRPr lang="en-US" altLang="en-US">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 </a:t>
            </a:r>
            <a:endParaRPr lang="en-US" altLang="en-US">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WER</a:t>
            </a:r>
            <a:endParaRPr lang="en-US" altLang="en-US">
              <a:solidFill>
                <a:schemeClr val="tx1"/>
              </a:solidFill>
              <a:latin typeface="Times New Roman" panose="02020603050405020304" charset="0"/>
              <a:cs typeface="Times New Roman" panose="02020603050405020304" charset="0"/>
            </a:endParaRPr>
          </a:p>
        </p:txBody>
      </p:sp>
      <p:sp>
        <p:nvSpPr>
          <p:cNvPr id="7" name="TextBox 18"/>
          <p:cNvSpPr txBox="1"/>
          <p:nvPr/>
        </p:nvSpPr>
        <p:spPr>
          <a:xfrm>
            <a:off x="7308215" y="321945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8" name="Text Box 7"/>
          <p:cNvSpPr txBox="1"/>
          <p:nvPr/>
        </p:nvSpPr>
        <p:spPr>
          <a:xfrm>
            <a:off x="771525" y="4168775"/>
            <a:ext cx="6429375" cy="830997"/>
          </a:xfrm>
          <a:prstGeom prst="rect">
            <a:avLst/>
          </a:prstGeom>
          <a:noFill/>
        </p:spPr>
        <p:txBody>
          <a:bodyPr wrap="square" rtlCol="0">
            <a:spAutoFit/>
          </a:bodyPr>
          <a:lstStyle/>
          <a:p>
            <a:r>
              <a:rPr lang="sr-Cyrl-BA" altLang="en-US" sz="2400" dirty="0">
                <a:solidFill>
                  <a:schemeClr val="accent1"/>
                </a:solidFill>
                <a:highlight>
                  <a:srgbClr val="000000"/>
                </a:highlight>
                <a:latin typeface="Times New Roman" panose="02020603050405020304" charset="0"/>
                <a:cs typeface="Times New Roman" panose="02020603050405020304" charset="0"/>
              </a:rPr>
              <a:t>Принцип контролисаног поређења: исти улаз и исти референтни текст.</a:t>
            </a:r>
            <a:endParaRPr lang="sr-Cyrl-BA" altLang="en-US" sz="2400" dirty="0">
              <a:solidFill>
                <a:schemeClr val="accent1"/>
              </a:solidFill>
              <a:highlight>
                <a:srgbClr val="000000"/>
              </a:highlight>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31595" y="331787"/>
            <a:ext cx="5770245" cy="575945"/>
          </a:xfrm>
        </p:spPr>
        <p:txBody>
          <a:bodyPr/>
          <a:lstStyle/>
          <a:p>
            <a:pPr algn="ctr"/>
            <a:r>
              <a:rPr lang="en-US" altLang="en-US" dirty="0" err="1">
                <a:latin typeface="Times New Roman" panose="02020603050405020304" charset="0"/>
                <a:cs typeface="Times New Roman" panose="02020603050405020304" charset="0"/>
              </a:rPr>
              <a:t>Методологија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евалуације</a:t>
            </a:r>
            <a:r>
              <a:rPr lang="en-US" altLang="en-US" dirty="0">
                <a:latin typeface="Times New Roman" panose="02020603050405020304" charset="0"/>
                <a:cs typeface="Times New Roman" panose="02020603050405020304" charset="0"/>
              </a:rPr>
              <a:t> и </a:t>
            </a:r>
            <a:r>
              <a:rPr lang="en-US" altLang="en-US" dirty="0" err="1">
                <a:latin typeface="Times New Roman" panose="02020603050405020304" charset="0"/>
                <a:cs typeface="Times New Roman" panose="02020603050405020304" charset="0"/>
              </a:rPr>
              <a:t>мерења</a:t>
            </a:r>
            <a:endParaRPr lang="en-US" altLang="en-US" dirty="0">
              <a:latin typeface="Times New Roman" panose="02020603050405020304" charset="0"/>
              <a:cs typeface="Times New Roman" panose="02020603050405020304" charset="0"/>
            </a:endParaRPr>
          </a:p>
        </p:txBody>
      </p:sp>
      <p:sp>
        <p:nvSpPr>
          <p:cNvPr id="5" name="Text Placeholder 4"/>
          <p:cNvSpPr>
            <a:spLocks noGrp="1"/>
          </p:cNvSpPr>
          <p:nvPr>
            <p:ph type="body" idx="1"/>
          </p:nvPr>
        </p:nvSpPr>
        <p:spPr>
          <a:xfrm>
            <a:off x="1021080" y="771525"/>
            <a:ext cx="6475730" cy="928370"/>
          </a:xfrm>
        </p:spPr>
        <p:txBody>
          <a:bodyPr/>
          <a:lstStyle/>
          <a:p>
            <a:pPr marL="139700" indent="0" algn="ctr">
              <a:buNone/>
            </a:pPr>
            <a:r>
              <a:rPr lang="en-US" altLang="en-US" sz="1600" b="1">
                <a:latin typeface="Times New Roman" panose="02020603050405020304" charset="0"/>
                <a:cs typeface="Times New Roman" panose="02020603050405020304" charset="0"/>
              </a:rPr>
              <a:t>Исти аудио-запис + исти референтни текст</a:t>
            </a:r>
            <a:r>
              <a:rPr lang="sr-Cyrl-BA" altLang="en-US" sz="1600" b="1">
                <a:latin typeface="Times New Roman" panose="02020603050405020304" charset="0"/>
                <a:cs typeface="Times New Roman" panose="02020603050405020304" charset="0"/>
              </a:rPr>
              <a:t> + контролисани услови</a:t>
            </a:r>
            <a:endParaRPr lang="sr-Cyrl-BA" altLang="en-US" sz="1600" b="1">
              <a:latin typeface="Times New Roman" panose="02020603050405020304" charset="0"/>
              <a:cs typeface="Times New Roman" panose="02020603050405020304" charset="0"/>
            </a:endParaRPr>
          </a:p>
        </p:txBody>
      </p:sp>
      <p:sp>
        <p:nvSpPr>
          <p:cNvPr id="50" name="Rounded Rectangle 49"/>
          <p:cNvSpPr/>
          <p:nvPr/>
        </p:nvSpPr>
        <p:spPr>
          <a:xfrm>
            <a:off x="1439545" y="1873250"/>
            <a:ext cx="2953385" cy="86868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Тачност</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WER</a:t>
            </a:r>
            <a:endParaRPr lang="en-US" altLang="en-US">
              <a:solidFill>
                <a:schemeClr val="tx1"/>
              </a:solidFill>
              <a:latin typeface="Times New Roman" panose="02020603050405020304" charset="0"/>
              <a:cs typeface="Times New Roman" panose="02020603050405020304" charset="0"/>
            </a:endParaRPr>
          </a:p>
          <a:p>
            <a:pPr algn="ctr"/>
            <a:r>
              <a:rPr lang="sr-Cyrl-BA" altLang="en-US" b="1">
                <a:solidFill>
                  <a:schemeClr val="tx1"/>
                </a:solidFill>
                <a:latin typeface="Times New Roman" panose="02020603050405020304" charset="0"/>
                <a:cs typeface="Times New Roman" panose="02020603050405020304" charset="0"/>
              </a:rPr>
              <a:t>п</a:t>
            </a:r>
            <a:r>
              <a:rPr lang="en-US" altLang="en-US" b="1">
                <a:solidFill>
                  <a:schemeClr val="tx1"/>
                </a:solidFill>
                <a:latin typeface="Times New Roman" panose="02020603050405020304" charset="0"/>
                <a:cs typeface="Times New Roman" panose="02020603050405020304" charset="0"/>
              </a:rPr>
              <a:t>росек · медијана · WER</a:t>
            </a:r>
            <a:r>
              <a:rPr lang="sr-Cyrl-BA" altLang="en-US" b="1">
                <a:solidFill>
                  <a:schemeClr val="tx1"/>
                </a:solidFill>
                <a:latin typeface="Times New Roman" panose="02020603050405020304" charset="0"/>
                <a:cs typeface="Times New Roman" panose="02020603050405020304" charset="0"/>
              </a:rPr>
              <a:t> на нивоу корпуса</a:t>
            </a:r>
            <a:endParaRPr lang="sr-Cyrl-BA" altLang="en-US" b="1">
              <a:solidFill>
                <a:schemeClr val="tx1"/>
              </a:solidFill>
              <a:latin typeface="Times New Roman" panose="02020603050405020304" charset="0"/>
              <a:cs typeface="Times New Roman" panose="02020603050405020304" charset="0"/>
            </a:endParaRPr>
          </a:p>
        </p:txBody>
      </p:sp>
      <p:sp>
        <p:nvSpPr>
          <p:cNvPr id="10" name="Rounded Rectangle 9"/>
          <p:cNvSpPr/>
          <p:nvPr/>
        </p:nvSpPr>
        <p:spPr>
          <a:xfrm>
            <a:off x="4874260" y="1851660"/>
            <a:ext cx="2863215" cy="88011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buNone/>
            </a:pPr>
            <a:r>
              <a:rPr lang="en-US" altLang="en-US" b="1">
                <a:solidFill>
                  <a:schemeClr val="tx1"/>
                </a:solidFill>
                <a:latin typeface="Times New Roman" panose="02020603050405020304" charset="0"/>
                <a:cs typeface="Times New Roman" panose="02020603050405020304" charset="0"/>
              </a:rPr>
              <a:t>Перформансе</a:t>
            </a:r>
            <a:endParaRPr lang="en-US" altLang="en-US" b="1">
              <a:solidFill>
                <a:schemeClr val="tx1"/>
              </a:solidFill>
              <a:latin typeface="Times New Roman" panose="02020603050405020304" charset="0"/>
              <a:cs typeface="Times New Roman" panose="02020603050405020304" charset="0"/>
            </a:endParaRPr>
          </a:p>
          <a:p>
            <a:pPr algn="ctr">
              <a:buSzTx/>
              <a:buNone/>
            </a:pPr>
            <a:r>
              <a:rPr lang="en-US" altLang="en-US">
                <a:solidFill>
                  <a:schemeClr val="tx1"/>
                </a:solidFill>
                <a:latin typeface="Times New Roman" panose="02020603050405020304" charset="0"/>
                <a:cs typeface="Times New Roman" panose="02020603050405020304" charset="0"/>
              </a:rPr>
              <a:t>Време · RTF · RSS</a:t>
            </a:r>
            <a:endParaRPr lang="en-US" altLang="en-US">
              <a:solidFill>
                <a:schemeClr val="tx1"/>
              </a:solidFill>
              <a:latin typeface="Times New Roman" panose="02020603050405020304" charset="0"/>
              <a:cs typeface="Times New Roman" panose="02020603050405020304" charset="0"/>
            </a:endParaRPr>
          </a:p>
          <a:p>
            <a:pPr algn="ctr">
              <a:buSzTx/>
              <a:buNone/>
            </a:pPr>
            <a:r>
              <a:rPr lang="sr-Cyrl-BA" altLang="en-US" b="1">
                <a:solidFill>
                  <a:schemeClr val="tx1"/>
                </a:solidFill>
                <a:latin typeface="Times New Roman" panose="02020603050405020304" charset="0"/>
                <a:cs typeface="Times New Roman" panose="02020603050405020304" charset="0"/>
              </a:rPr>
              <a:t>у</a:t>
            </a:r>
            <a:r>
              <a:rPr lang="en-US" altLang="en-US" b="1">
                <a:solidFill>
                  <a:schemeClr val="tx1"/>
                </a:solidFill>
                <a:latin typeface="Times New Roman" panose="02020603050405020304" charset="0"/>
                <a:cs typeface="Times New Roman" panose="02020603050405020304" charset="0"/>
              </a:rPr>
              <a:t>брзање · </a:t>
            </a:r>
            <a:r>
              <a:rPr lang="sr-Cyrl-BA" altLang="en-US" b="1">
                <a:solidFill>
                  <a:schemeClr val="tx1"/>
                </a:solidFill>
                <a:latin typeface="Times New Roman" panose="02020603050405020304" charset="0"/>
                <a:cs typeface="Times New Roman" panose="02020603050405020304" charset="0"/>
              </a:rPr>
              <a:t>л</a:t>
            </a:r>
            <a:r>
              <a:rPr lang="en-US" altLang="en-US" b="1">
                <a:solidFill>
                  <a:schemeClr val="tx1"/>
                </a:solidFill>
                <a:latin typeface="Times New Roman" panose="02020603050405020304" charset="0"/>
                <a:cs typeface="Times New Roman" panose="02020603050405020304" charset="0"/>
              </a:rPr>
              <a:t>атенција</a:t>
            </a:r>
            <a:endParaRPr lang="en-US" altLang="en-US" b="1">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692944" y="2931795"/>
            <a:ext cx="8229599" cy="1815882"/>
          </a:xfrm>
          <a:prstGeom prst="rect">
            <a:avLst/>
          </a:prstGeom>
          <a:noFill/>
        </p:spPr>
        <p:txBody>
          <a:bodyPr wrap="square" rtlCol="0">
            <a:spAutoFit/>
          </a:bodyPr>
          <a:lstStyle/>
          <a:p>
            <a:pPr algn="ctr"/>
            <a:endParaRPr lang="en-US" altLang="en-US" sz="1600" dirty="0">
              <a:latin typeface="Times New Roman" panose="02020603050405020304" charset="0"/>
              <a:cs typeface="Times New Roman" panose="02020603050405020304" charset="0"/>
            </a:endParaRPr>
          </a:p>
          <a:p>
            <a:pPr algn="ctr">
              <a:buSzTx/>
            </a:pPr>
            <a:r>
              <a:rPr lang="en-US" altLang="en-US" sz="1600" b="1" dirty="0" err="1">
                <a:latin typeface="Times New Roman" panose="02020603050405020304" charset="0"/>
                <a:cs typeface="Times New Roman" panose="02020603050405020304" charset="0"/>
              </a:rPr>
              <a:t>Контролисано</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поређење</a:t>
            </a:r>
            <a:endParaRPr lang="en-US" altLang="en-US" sz="1600" b="1" dirty="0">
              <a:latin typeface="Times New Roman" panose="02020603050405020304" charset="0"/>
              <a:cs typeface="Times New Roman" panose="02020603050405020304" charset="0"/>
            </a:endParaRPr>
          </a:p>
          <a:p>
            <a:pPr algn="ctr"/>
            <a:r>
              <a:rPr lang="en-US" altLang="en-US" sz="1600" dirty="0" err="1">
                <a:latin typeface="Times New Roman" panose="02020603050405020304" charset="0"/>
                <a:cs typeface="Times New Roman" panose="02020603050405020304" charset="0"/>
              </a:rPr>
              <a:t>Мења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испитивани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параметар</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док</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остали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услови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остају</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непромењени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кад</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год</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је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то</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могуће</a:t>
            </a:r>
            <a:r>
              <a:rPr lang="en-US" altLang="en-US" sz="1600" dirty="0">
                <a:latin typeface="Times New Roman" panose="02020603050405020304" charset="0"/>
                <a:cs typeface="Times New Roman" panose="02020603050405020304" charset="0"/>
              </a:rPr>
              <a:t>.</a:t>
            </a:r>
            <a:endParaRPr lang="en-US" altLang="en-US" sz="1600" dirty="0">
              <a:latin typeface="Times New Roman" panose="02020603050405020304" charset="0"/>
              <a:cs typeface="Times New Roman" panose="02020603050405020304" charset="0"/>
            </a:endParaRPr>
          </a:p>
          <a:p>
            <a:pPr algn="ctr"/>
            <a:endParaRPr lang="en-US" altLang="en-US" sz="1600" dirty="0">
              <a:latin typeface="Times New Roman" panose="02020603050405020304" charset="0"/>
              <a:cs typeface="Times New Roman" panose="02020603050405020304" charset="0"/>
            </a:endParaRPr>
          </a:p>
          <a:p>
            <a:pPr marL="0" indent="0" algn="ctr">
              <a:buNone/>
            </a:pPr>
            <a:r>
              <a:rPr lang="en-US" altLang="en-US" sz="1600" dirty="0" err="1">
                <a:latin typeface="Times New Roman" panose="02020603050405020304" charset="0"/>
                <a:cs typeface="Times New Roman" panose="02020603050405020304" charset="0"/>
              </a:rPr>
              <a:t>Време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учитавања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модела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није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укључено</a:t>
            </a:r>
            <a:r>
              <a:rPr lang="en-US" altLang="en-US" sz="1600" dirty="0">
                <a:latin typeface="Times New Roman" panose="02020603050405020304" charset="0"/>
                <a:cs typeface="Times New Roman" panose="02020603050405020304" charset="0"/>
              </a:rPr>
              <a:t> у </a:t>
            </a:r>
            <a:r>
              <a:rPr lang="en-US" altLang="en-US" sz="1600" dirty="0" err="1">
                <a:latin typeface="Times New Roman" panose="02020603050405020304" charset="0"/>
                <a:cs typeface="Times New Roman" panose="02020603050405020304" charset="0"/>
              </a:rPr>
              <a:t>време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транскрипције</a:t>
            </a:r>
            <a:r>
              <a:rPr lang="en-US" altLang="en-US" sz="1600" dirty="0">
                <a:latin typeface="Times New Roman" panose="02020603050405020304" charset="0"/>
                <a:cs typeface="Times New Roman" panose="02020603050405020304" charset="0"/>
              </a:rPr>
              <a:t>.</a:t>
            </a:r>
            <a:endParaRPr lang="en-US" altLang="en-US" sz="1600" dirty="0">
              <a:latin typeface="Times New Roman" panose="02020603050405020304" charset="0"/>
              <a:cs typeface="Times New Roman" panose="02020603050405020304" charset="0"/>
            </a:endParaRPr>
          </a:p>
          <a:p>
            <a:pPr marL="0" indent="0" algn="ctr">
              <a:buNone/>
            </a:pPr>
            <a:r>
              <a:rPr lang="en-US" altLang="en-US" sz="1600" dirty="0" err="1">
                <a:latin typeface="Times New Roman" panose="02020603050405020304" charset="0"/>
                <a:cs typeface="Times New Roman" panose="02020603050405020304" charset="0"/>
              </a:rPr>
              <a:t>Меморија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мери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као</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максимална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вредност</a:t>
            </a:r>
            <a:r>
              <a:rPr lang="en-US" altLang="en-US" sz="1600" dirty="0">
                <a:latin typeface="Times New Roman" panose="02020603050405020304" charset="0"/>
                <a:cs typeface="Times New Roman" panose="02020603050405020304" charset="0"/>
              </a:rPr>
              <a:t> RSS-а у </a:t>
            </a:r>
            <a:r>
              <a:rPr lang="en-US" altLang="en-US" sz="1600" dirty="0" err="1">
                <a:latin typeface="Times New Roman" panose="02020603050405020304" charset="0"/>
                <a:cs typeface="Times New Roman" panose="02020603050405020304" charset="0"/>
              </a:rPr>
              <a:t>независном</a:t>
            </a:r>
            <a:r>
              <a:rPr lang="en-US" altLang="en-US" sz="1600" dirty="0">
                <a:latin typeface="Times New Roman" panose="02020603050405020304" charset="0"/>
                <a:cs typeface="Times New Roman" panose="02020603050405020304" charset="0"/>
              </a:rPr>
              <a:t> Python </a:t>
            </a:r>
            <a:r>
              <a:rPr lang="en-US" altLang="en-US" sz="1600" dirty="0" err="1">
                <a:latin typeface="Times New Roman" panose="02020603050405020304" charset="0"/>
                <a:cs typeface="Times New Roman" panose="02020603050405020304" charset="0"/>
              </a:rPr>
              <a:t>процесу</a:t>
            </a:r>
            <a:r>
              <a:rPr lang="en-US" altLang="en-US" sz="1600" dirty="0">
                <a:latin typeface="Times New Roman" panose="02020603050405020304" charset="0"/>
                <a:cs typeface="Times New Roman" panose="02020603050405020304" charset="0"/>
              </a:rPr>
              <a:t>.</a:t>
            </a:r>
            <a:endParaRPr lang="en-US" altLang="en-US" sz="1600" dirty="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12"/>
        <p:cNvGrpSpPr/>
        <p:nvPr/>
      </p:nvGrpSpPr>
      <p:grpSpPr>
        <a:xfrm>
          <a:off x="0" y="0"/>
          <a:ext cx="0" cy="0"/>
          <a:chOff x="0" y="0"/>
          <a:chExt cx="0" cy="0"/>
        </a:xfrm>
      </p:grpSpPr>
      <p:sp>
        <p:nvSpPr>
          <p:cNvPr id="3515" name="Google Shape;3515;p62"/>
          <p:cNvSpPr txBox="1">
            <a:spLocks noGrp="1"/>
          </p:cNvSpPr>
          <p:nvPr>
            <p:ph type="title"/>
          </p:nvPr>
        </p:nvSpPr>
        <p:spPr>
          <a:xfrm>
            <a:off x="301625" y="347345"/>
            <a:ext cx="7078980" cy="58547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US">
                <a:latin typeface="Times New Roman" panose="02020603050405020304" charset="0"/>
                <a:cs typeface="Times New Roman" panose="02020603050405020304" charset="0"/>
              </a:rPr>
              <a:t>Whisper </a:t>
            </a:r>
            <a:r>
              <a:rPr lang="sr-Cyrl-BA" altLang="en-US">
                <a:latin typeface="Times New Roman" panose="02020603050405020304" charset="0"/>
                <a:cs typeface="Times New Roman" panose="02020603050405020304" charset="0"/>
              </a:rPr>
              <a:t>и</a:t>
            </a:r>
            <a:r>
              <a:rPr lang="en-US" altLang="en-US">
                <a:latin typeface="Times New Roman" panose="02020603050405020304" charset="0"/>
                <a:cs typeface="Times New Roman" panose="02020603050405020304" charset="0"/>
              </a:rPr>
              <a:t> Faster-Whisper: </a:t>
            </a:r>
            <a:r>
              <a:rPr lang="sr-Cyrl-BA" altLang="en-US">
                <a:latin typeface="Times New Roman" panose="02020603050405020304" charset="0"/>
                <a:cs typeface="Times New Roman" panose="02020603050405020304" charset="0"/>
              </a:rPr>
              <a:t>основно поређење</a:t>
            </a:r>
            <a:endParaRPr lang="sr-Cyrl-BA" altLang="en-US">
              <a:latin typeface="Times New Roman" panose="02020603050405020304" charset="0"/>
              <a:cs typeface="Times New Roman" panose="02020603050405020304" charset="0"/>
            </a:endParaRPr>
          </a:p>
        </p:txBody>
      </p:sp>
      <p:sp>
        <p:nvSpPr>
          <p:cNvPr id="7" name="Rounded Rectangle 6"/>
          <p:cNvSpPr/>
          <p:nvPr/>
        </p:nvSpPr>
        <p:spPr>
          <a:xfrm>
            <a:off x="2277745" y="1224915"/>
            <a:ext cx="2062480" cy="85153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800" b="1">
                <a:solidFill>
                  <a:schemeClr val="tx1"/>
                </a:solidFill>
                <a:latin typeface="Times New Roman" panose="02020603050405020304" charset="0"/>
                <a:cs typeface="Times New Roman" panose="02020603050405020304" charset="0"/>
                <a:sym typeface="+mn-ea"/>
              </a:rPr>
              <a:t>40</a:t>
            </a:r>
            <a:endParaRPr lang="sr-Cyrl-BA" altLang="en-US" sz="2800" b="1">
              <a:solidFill>
                <a:schemeClr val="tx1"/>
              </a:solidFill>
              <a:latin typeface="Times New Roman" panose="02020603050405020304" charset="0"/>
              <a:cs typeface="Times New Roman" panose="02020603050405020304" charset="0"/>
              <a:sym typeface="+mn-ea"/>
            </a:endParaRPr>
          </a:p>
          <a:p>
            <a:pPr algn="ctr"/>
            <a:r>
              <a:rPr lang="en-US" altLang="en-US" b="1">
                <a:solidFill>
                  <a:schemeClr val="tx1"/>
                </a:solidFill>
                <a:latin typeface="Times New Roman" panose="02020603050405020304" charset="0"/>
                <a:cs typeface="Times New Roman" panose="02020603050405020304" charset="0"/>
                <a:sym typeface="+mn-ea"/>
              </a:rPr>
              <a:t>снимака</a:t>
            </a:r>
            <a:r>
              <a:rPr lang="sr-Cyrl-BA" altLang="en-US" b="1">
                <a:solidFill>
                  <a:schemeClr val="tx1"/>
                </a:solidFill>
                <a:latin typeface="Times New Roman" panose="02020603050405020304" charset="0"/>
                <a:cs typeface="Times New Roman" panose="02020603050405020304" charset="0"/>
                <a:sym typeface="+mn-ea"/>
              </a:rPr>
              <a:t> читаног српског говора</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9" name="Rounded Rectangle 8"/>
          <p:cNvSpPr/>
          <p:nvPr/>
        </p:nvSpPr>
        <p:spPr>
          <a:xfrm>
            <a:off x="4644390" y="1203325"/>
            <a:ext cx="20624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en-US" altLang="sr-Cyrl-BA" sz="2800" b="1">
                <a:solidFill>
                  <a:schemeClr val="tx1"/>
                </a:solidFill>
                <a:latin typeface="Times New Roman" panose="02020603050405020304" charset="0"/>
                <a:cs typeface="Times New Roman" panose="02020603050405020304" charset="0"/>
                <a:sym typeface="+mn-ea"/>
              </a:rPr>
              <a:t>CPU </a:t>
            </a:r>
            <a:endParaRPr lang="sr-Cyrl-BA" altLang="en-US" sz="2800" b="1">
              <a:solidFill>
                <a:schemeClr val="tx1"/>
              </a:solidFill>
              <a:latin typeface="Times New Roman" panose="02020603050405020304" charset="0"/>
              <a:cs typeface="Times New Roman" panose="02020603050405020304" charset="0"/>
              <a:sym typeface="+mn-ea"/>
            </a:endParaRPr>
          </a:p>
          <a:p>
            <a:pPr algn="ctr">
              <a:buSzTx/>
            </a:pPr>
            <a:r>
              <a:rPr lang="sr-Latn-RS" altLang="sr-Cyrl-BA" b="1">
                <a:solidFill>
                  <a:schemeClr val="tx1"/>
                </a:solidFill>
                <a:latin typeface="Times New Roman" panose="02020603050405020304" charset="0"/>
                <a:cs typeface="Times New Roman" panose="02020603050405020304" charset="0"/>
                <a:sym typeface="+mn-ea"/>
              </a:rPr>
              <a:t> </a:t>
            </a:r>
            <a:r>
              <a:rPr lang="sr-Cyrl-BA" altLang="sr-Latn-RS" b="1">
                <a:solidFill>
                  <a:schemeClr val="tx1"/>
                </a:solidFill>
                <a:latin typeface="Times New Roman" panose="02020603050405020304" charset="0"/>
                <a:cs typeface="Times New Roman" panose="02020603050405020304" charset="0"/>
                <a:sym typeface="+mn-ea"/>
              </a:rPr>
              <a:t>и</a:t>
            </a:r>
            <a:r>
              <a:rPr lang="sr-Cyrl-BA" altLang="sr-Cyrl-BA" b="1">
                <a:solidFill>
                  <a:schemeClr val="tx1"/>
                </a:solidFill>
                <a:latin typeface="Times New Roman" panose="02020603050405020304" charset="0"/>
                <a:cs typeface="Times New Roman" panose="02020603050405020304" charset="0"/>
                <a:sym typeface="+mn-ea"/>
              </a:rPr>
              <a:t>сто хардверско окружење</a:t>
            </a:r>
            <a:endParaRPr lang="sr-Cyrl-BA" altLang="sr-Cyrl-BA" b="1">
              <a:solidFill>
                <a:schemeClr val="tx1"/>
              </a:solidFill>
              <a:latin typeface="Times New Roman" panose="02020603050405020304" charset="0"/>
              <a:cs typeface="Times New Roman" panose="02020603050405020304" charset="0"/>
              <a:sym typeface="+mn-ea"/>
            </a:endParaRPr>
          </a:p>
        </p:txBody>
      </p:sp>
      <p:sp>
        <p:nvSpPr>
          <p:cNvPr id="3" name="Text Box 2"/>
          <p:cNvSpPr txBox="1"/>
          <p:nvPr/>
        </p:nvSpPr>
        <p:spPr>
          <a:xfrm>
            <a:off x="3348355" y="3760470"/>
            <a:ext cx="3048000" cy="1322070"/>
          </a:xfrm>
          <a:prstGeom prst="rect">
            <a:avLst/>
          </a:prstGeom>
          <a:noFill/>
        </p:spPr>
        <p:txBody>
          <a:bodyPr wrap="square" rtlCol="0">
            <a:spAutoFit/>
          </a:bodyPr>
          <a:lstStyle/>
          <a:p>
            <a:r>
              <a:rPr lang="en-US" altLang="en-US" sz="1600" b="1" dirty="0" err="1">
                <a:latin typeface="Times New Roman" panose="02020603050405020304" charset="0"/>
                <a:cs typeface="Times New Roman" panose="02020603050405020304" charset="0"/>
              </a:rPr>
              <a:t>Мерене</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метрике</a:t>
            </a:r>
            <a:endParaRPr lang="en-US" alt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dirty="0">
                <a:latin typeface="Times New Roman" panose="02020603050405020304" charset="0"/>
                <a:cs typeface="Times New Roman" panose="02020603050405020304" charset="0"/>
              </a:rPr>
              <a:t>WER</a:t>
            </a:r>
            <a:endParaRPr lang="en-US" alt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sr-Cyrl-BA" altLang="en-US" sz="1600" dirty="0">
                <a:latin typeface="Times New Roman" panose="02020603050405020304" charset="0"/>
                <a:cs typeface="Times New Roman" panose="02020603050405020304" charset="0"/>
              </a:rPr>
              <a:t>в</a:t>
            </a:r>
            <a:r>
              <a:rPr lang="en-US" altLang="en-US" sz="1600" dirty="0" err="1">
                <a:latin typeface="Times New Roman" panose="02020603050405020304" charset="0"/>
                <a:cs typeface="Times New Roman" panose="02020603050405020304" charset="0"/>
              </a:rPr>
              <a:t>реме</a:t>
            </a:r>
            <a:r>
              <a:rPr lang="en-US" altLang="en-US" sz="1600" dirty="0">
                <a:latin typeface="Times New Roman" panose="02020603050405020304" charset="0"/>
                <a:cs typeface="Times New Roman" panose="02020603050405020304" charset="0"/>
              </a:rPr>
              <a:t> [s]</a:t>
            </a:r>
            <a:endParaRPr lang="en-US" alt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dirty="0">
                <a:latin typeface="Times New Roman" panose="02020603050405020304" charset="0"/>
                <a:cs typeface="Times New Roman" panose="02020603050405020304" charset="0"/>
              </a:rPr>
              <a:t>RTF</a:t>
            </a:r>
            <a:endParaRPr lang="en-US" alt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dirty="0">
                <a:latin typeface="Times New Roman" panose="02020603050405020304" charset="0"/>
                <a:cs typeface="Times New Roman" panose="02020603050405020304" charset="0"/>
              </a:rPr>
              <a:t>RSS [MB]</a:t>
            </a:r>
            <a:endParaRPr lang="en-US" altLang="en-US" sz="1600" dirty="0">
              <a:latin typeface="Times New Roman" panose="02020603050405020304" charset="0"/>
              <a:cs typeface="Times New Roman" panose="02020603050405020304" charset="0"/>
            </a:endParaRPr>
          </a:p>
        </p:txBody>
      </p:sp>
      <p:sp>
        <p:nvSpPr>
          <p:cNvPr id="50" name="Rounded Rectangle 49"/>
          <p:cNvSpPr/>
          <p:nvPr/>
        </p:nvSpPr>
        <p:spPr>
          <a:xfrm>
            <a:off x="138430" y="2635250"/>
            <a:ext cx="26498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Whisper</a:t>
            </a:r>
            <a:r>
              <a:rPr lang="sr-Cyrl-BA" altLang="en-US" b="1">
                <a:solidFill>
                  <a:schemeClr val="tx1"/>
                </a:solidFill>
                <a:latin typeface="Times New Roman" panose="02020603050405020304" charset="0"/>
                <a:cs typeface="Times New Roman" panose="02020603050405020304" charset="0"/>
              </a:rPr>
              <a:t> </a:t>
            </a:r>
            <a:r>
              <a:rPr lang="en-US" altLang="sr-Cyrl-BA" b="1">
                <a:solidFill>
                  <a:schemeClr val="tx1"/>
                </a:solidFill>
                <a:latin typeface="Times New Roman" panose="02020603050405020304" charset="0"/>
                <a:cs typeface="Times New Roman" panose="02020603050405020304" charset="0"/>
              </a:rPr>
              <a:t>Base</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FP32</a:t>
            </a:r>
            <a:endParaRPr lang="en-US" altLang="en-US">
              <a:solidFill>
                <a:schemeClr val="tx1"/>
              </a:solidFill>
              <a:latin typeface="Times New Roman" panose="02020603050405020304" charset="0"/>
              <a:cs typeface="Times New Roman" panose="02020603050405020304" charset="0"/>
            </a:endParaRPr>
          </a:p>
          <a:p>
            <a:pPr algn="ctr"/>
            <a:r>
              <a:rPr lang="sr-Cyrl-BA" altLang="en-US" b="1">
                <a:solidFill>
                  <a:schemeClr val="tx1"/>
                </a:solidFill>
                <a:latin typeface="Times New Roman" panose="02020603050405020304" charset="0"/>
                <a:cs typeface="Times New Roman" panose="02020603050405020304" charset="0"/>
              </a:rPr>
              <a:t>оригинална имплементација</a:t>
            </a:r>
            <a:endParaRPr lang="sr-Cyrl-BA" altLang="en-US" b="1">
              <a:solidFill>
                <a:schemeClr val="tx1"/>
              </a:solidFill>
              <a:latin typeface="Times New Roman" panose="02020603050405020304" charset="0"/>
              <a:cs typeface="Times New Roman" panose="02020603050405020304" charset="0"/>
            </a:endParaRPr>
          </a:p>
        </p:txBody>
      </p:sp>
      <p:sp>
        <p:nvSpPr>
          <p:cNvPr id="5" name="Rounded Rectangle 4"/>
          <p:cNvSpPr/>
          <p:nvPr/>
        </p:nvSpPr>
        <p:spPr>
          <a:xfrm>
            <a:off x="3048635" y="2643505"/>
            <a:ext cx="2848610"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Faster-Whisper</a:t>
            </a:r>
            <a:r>
              <a:rPr lang="sr-Cyrl-BA" altLang="en-US" b="1">
                <a:solidFill>
                  <a:schemeClr val="tx1"/>
                </a:solidFill>
                <a:latin typeface="Times New Roman" panose="02020603050405020304" charset="0"/>
                <a:cs typeface="Times New Roman" panose="02020603050405020304" charset="0"/>
              </a:rPr>
              <a:t> </a:t>
            </a:r>
            <a:r>
              <a:rPr lang="en-US" altLang="sr-Cyrl-BA" b="1">
                <a:solidFill>
                  <a:schemeClr val="tx1"/>
                </a:solidFill>
                <a:latin typeface="Times New Roman" panose="02020603050405020304" charset="0"/>
                <a:cs typeface="Times New Roman" panose="02020603050405020304" charset="0"/>
              </a:rPr>
              <a:t>Base</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FP32</a:t>
            </a:r>
            <a:endParaRPr lang="en-US" altLang="en-US">
              <a:solidFill>
                <a:schemeClr val="tx1"/>
              </a:solidFill>
              <a:latin typeface="Times New Roman" panose="02020603050405020304" charset="0"/>
              <a:cs typeface="Times New Roman" panose="02020603050405020304" charset="0"/>
            </a:endParaRPr>
          </a:p>
          <a:p>
            <a:pPr algn="ctr"/>
            <a:r>
              <a:rPr lang="sr-Cyrl-BA" altLang="en-US" b="1">
                <a:solidFill>
                  <a:schemeClr val="tx1"/>
                </a:solidFill>
                <a:latin typeface="Times New Roman" panose="02020603050405020304" charset="0"/>
                <a:cs typeface="Times New Roman" panose="02020603050405020304" charset="0"/>
              </a:rPr>
              <a:t>оптимизована имплементација</a:t>
            </a:r>
            <a:endParaRPr lang="sr-Cyrl-BA" altLang="en-US" b="1">
              <a:solidFill>
                <a:schemeClr val="tx1"/>
              </a:solidFill>
              <a:latin typeface="Times New Roman" panose="02020603050405020304" charset="0"/>
              <a:cs typeface="Times New Roman" panose="02020603050405020304" charset="0"/>
            </a:endParaRPr>
          </a:p>
        </p:txBody>
      </p:sp>
      <p:sp>
        <p:nvSpPr>
          <p:cNvPr id="6" name="Rounded Rectangle 5"/>
          <p:cNvSpPr/>
          <p:nvPr/>
        </p:nvSpPr>
        <p:spPr>
          <a:xfrm>
            <a:off x="6228080" y="2635250"/>
            <a:ext cx="275780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latin typeface="Times New Roman" panose="02020603050405020304" charset="0"/>
                <a:cs typeface="Times New Roman" panose="02020603050405020304" charset="0"/>
              </a:rPr>
              <a:t>Faster-Whisper</a:t>
            </a:r>
            <a:r>
              <a:rPr lang="sr-Cyrl-BA" altLang="en-US" b="1">
                <a:solidFill>
                  <a:schemeClr val="tx1"/>
                </a:solidFill>
                <a:latin typeface="Times New Roman" panose="02020603050405020304" charset="0"/>
                <a:cs typeface="Times New Roman" panose="02020603050405020304" charset="0"/>
              </a:rPr>
              <a:t> </a:t>
            </a:r>
            <a:r>
              <a:rPr lang="en-US" altLang="sr-Cyrl-BA" b="1">
                <a:solidFill>
                  <a:schemeClr val="tx1"/>
                </a:solidFill>
                <a:latin typeface="Times New Roman" panose="02020603050405020304" charset="0"/>
                <a:cs typeface="Times New Roman" panose="02020603050405020304" charset="0"/>
              </a:rPr>
              <a:t>Base</a:t>
            </a:r>
            <a:endParaRPr lang="en-US" altLang="en-US" b="1">
              <a:solidFill>
                <a:schemeClr val="tx1"/>
              </a:solidFill>
              <a:latin typeface="Times New Roman" panose="02020603050405020304" charset="0"/>
              <a:cs typeface="Times New Roman" panose="02020603050405020304" charset="0"/>
            </a:endParaRPr>
          </a:p>
          <a:p>
            <a:pPr algn="ctr"/>
            <a:r>
              <a:rPr lang="en-US" altLang="en-US">
                <a:solidFill>
                  <a:schemeClr val="tx1"/>
                </a:solidFill>
                <a:latin typeface="Times New Roman" panose="02020603050405020304" charset="0"/>
                <a:cs typeface="Times New Roman" panose="02020603050405020304" charset="0"/>
              </a:rPr>
              <a:t>INT8</a:t>
            </a:r>
            <a:endParaRPr lang="en-US" altLang="en-US">
              <a:solidFill>
                <a:schemeClr val="tx1"/>
              </a:solidFill>
              <a:latin typeface="Times New Roman" panose="02020603050405020304" charset="0"/>
              <a:cs typeface="Times New Roman" panose="02020603050405020304" charset="0"/>
            </a:endParaRPr>
          </a:p>
          <a:p>
            <a:pPr algn="ctr"/>
            <a:r>
              <a:rPr lang="sr-Cyrl-BA" altLang="en-US" b="1">
                <a:solidFill>
                  <a:schemeClr val="tx1"/>
                </a:solidFill>
                <a:latin typeface="Times New Roman" panose="02020603050405020304" charset="0"/>
                <a:cs typeface="Times New Roman" panose="02020603050405020304" charset="0"/>
              </a:rPr>
              <a:t>квантизована имплементација</a:t>
            </a:r>
            <a:endParaRPr lang="sr-Cyrl-BA" altLang="en-US" b="1">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174115" y="1059815"/>
            <a:ext cx="6791960" cy="645795"/>
          </a:xfrm>
        </p:spPr>
        <p:txBody>
          <a:bodyPr/>
          <a:lstStyle/>
          <a:p>
            <a:pPr algn="l"/>
            <a:r>
              <a:rPr lang="en-US" altLang="en-US" sz="1600" b="1">
                <a:latin typeface="Times New Roman" panose="02020603050405020304" charset="0"/>
                <a:cs typeface="Times New Roman" panose="02020603050405020304" charset="0"/>
              </a:rPr>
              <a:t>Просечан WER на 40 снимака · Base модел</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Поређење тачности транскрипције</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908175" y="4371975"/>
            <a:ext cx="5792470" cy="73723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Whisper Base FP32 и Faster-Whisper Base FP32 остварују исту просечну вредност WER-а од 42,95%.</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Код INT8 варијанте WER је већи за само 0,13 процентних поена.</a:t>
            </a:r>
            <a:endParaRPr lang="en-US" altLang="en-US"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5557520" y="2042160"/>
          <a:ext cx="2755900" cy="1818640"/>
        </p:xfrm>
        <a:graphic>
          <a:graphicData uri="http://schemas.openxmlformats.org/drawingml/2006/table">
            <a:tbl>
              <a:tblPr firstRow="1" bandRow="1">
                <a:tableStyleId>{5C22544A-7EE6-4342-B048-85BDC9FD1C3A}</a:tableStyleId>
              </a:tblPr>
              <a:tblGrid>
                <a:gridCol w="1894840"/>
                <a:gridCol w="861060"/>
              </a:tblGrid>
              <a:tr h="405765">
                <a:tc>
                  <a:txBody>
                    <a:bodyPr/>
                    <a:lstStyle/>
                    <a:p>
                      <a:pPr algn="ctr"/>
                      <a:r>
                        <a:rPr lang="sr-Cyrl-BA" altLang="en-US" sz="1400" b="1">
                          <a:solidFill>
                            <a:schemeClr val="tx1"/>
                          </a:solidFill>
                          <a:latin typeface="Times New Roman" panose="02020603050405020304" charset="0"/>
                          <a:cs typeface="Times New Roman" panose="02020603050405020304" charset="0"/>
                        </a:rPr>
                        <a:t>Конфигурација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400" b="1">
                          <a:solidFill>
                            <a:schemeClr val="tx1"/>
                          </a:solidFill>
                          <a:latin typeface="Times New Roman" panose="02020603050405020304" charset="0"/>
                          <a:cs typeface="Times New Roman" panose="02020603050405020304" charset="0"/>
                        </a:rPr>
                        <a:t> </a:t>
                      </a:r>
                      <a:r>
                        <a:rPr lang="en-US" altLang="sr-Cyrl-BA" sz="1400" b="1">
                          <a:solidFill>
                            <a:schemeClr val="tx1"/>
                          </a:solidFill>
                          <a:latin typeface="Times New Roman" panose="02020603050405020304" charset="0"/>
                          <a:cs typeface="Times New Roman" panose="02020603050405020304" charset="0"/>
                        </a:rPr>
                        <a:t>WER</a:t>
                      </a:r>
                      <a:r>
                        <a:rPr lang="sr-Cyrl-BA" altLang="en-US" sz="1400" b="1">
                          <a:solidFill>
                            <a:schemeClr val="tx1"/>
                          </a:solidFill>
                          <a:latin typeface="Times New Roman" panose="02020603050405020304" charset="0"/>
                          <a:cs typeface="Times New Roman" panose="02020603050405020304" charset="0"/>
                        </a:rPr>
                        <a:t> </a:t>
                      </a:r>
                      <a:r>
                        <a:rPr lang="en-US" altLang="en-US" sz="1400" b="1">
                          <a:solidFill>
                            <a:schemeClr val="tx1"/>
                          </a:solidFill>
                          <a:latin typeface="Times New Roman" panose="02020603050405020304" charset="0"/>
                          <a:cs typeface="Times New Roman" panose="02020603050405020304" charset="0"/>
                        </a:rPr>
                        <a:t>[%]</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buNone/>
                      </a:pPr>
                      <a:r>
                        <a:rPr lang="sr-Latn-RS" altLang="sr-Cyrl-BA" sz="1400" b="1">
                          <a:solidFill>
                            <a:schemeClr val="tx1"/>
                          </a:solidFill>
                          <a:latin typeface="Times New Roman" panose="02020603050405020304" charset="0"/>
                          <a:cs typeface="Times New Roman" panose="02020603050405020304" charset="0"/>
                        </a:rPr>
                        <a:t>Whisper</a:t>
                      </a:r>
                      <a:r>
                        <a:rPr lang="en-US" altLang="sr-Latn-RS" sz="1400" b="1">
                          <a:solidFill>
                            <a:schemeClr val="tx1"/>
                          </a:solidFill>
                          <a:latin typeface="Times New Roman" panose="02020603050405020304" charset="0"/>
                          <a:cs typeface="Times New Roman" panose="02020603050405020304" charset="0"/>
                        </a:rPr>
                        <a:t> FP32</a:t>
                      </a:r>
                      <a:endParaRPr lang="en-US" altLang="sr-Latn-R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Latn-RS" altLang="en-US" sz="1400" b="1">
                          <a:solidFill>
                            <a:schemeClr val="tx1"/>
                          </a:solidFill>
                          <a:latin typeface="Times New Roman" panose="02020603050405020304" charset="0"/>
                          <a:cs typeface="Times New Roman" panose="02020603050405020304" charset="0"/>
                        </a:rPr>
                        <a:t>4</a:t>
                      </a:r>
                      <a:r>
                        <a:rPr lang="sr-Cyrl-BA" altLang="sr-Latn-RS" sz="1400" b="1">
                          <a:solidFill>
                            <a:schemeClr val="tx1"/>
                          </a:solidFill>
                          <a:latin typeface="Times New Roman" panose="02020603050405020304" charset="0"/>
                          <a:cs typeface="Times New Roman" panose="02020603050405020304" charset="0"/>
                        </a:rPr>
                        <a:t>2</a:t>
                      </a:r>
                      <a:r>
                        <a:rPr lang="en-US" altLang="sr-Cyrl-BA" sz="1400" b="1">
                          <a:solidFill>
                            <a:schemeClr val="tx1"/>
                          </a:solidFill>
                          <a:latin typeface="Times New Roman" panose="02020603050405020304" charset="0"/>
                          <a:cs typeface="Times New Roman" panose="02020603050405020304" charset="0"/>
                        </a:rPr>
                        <a:t>,</a:t>
                      </a:r>
                      <a:r>
                        <a:rPr lang="sr-Cyrl-BA" altLang="sr-Latn-RS" sz="1400" b="1">
                          <a:solidFill>
                            <a:schemeClr val="tx1"/>
                          </a:solidFill>
                          <a:latin typeface="Times New Roman" panose="02020603050405020304" charset="0"/>
                          <a:cs typeface="Times New Roman" panose="02020603050405020304" charset="0"/>
                        </a:rPr>
                        <a:t>95</a:t>
                      </a:r>
                      <a:endParaRPr lang="sr-Latn-R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0535">
                <a:tc>
                  <a:txBody>
                    <a:bodyPr/>
                    <a:lstStyle/>
                    <a:p>
                      <a:pPr algn="ctr"/>
                      <a:r>
                        <a:rPr lang="sr-Latn-RS" altLang="en-US" sz="1400" b="1">
                          <a:solidFill>
                            <a:schemeClr val="tx1"/>
                          </a:solidFill>
                          <a:latin typeface="Times New Roman" panose="02020603050405020304" charset="0"/>
                          <a:cs typeface="Times New Roman" panose="02020603050405020304" charset="0"/>
                        </a:rPr>
                        <a:t>F</a:t>
                      </a:r>
                      <a:r>
                        <a:rPr lang="en-US" altLang="sr-Latn-RS" sz="1400" b="1">
                          <a:solidFill>
                            <a:schemeClr val="tx1"/>
                          </a:solidFill>
                          <a:latin typeface="Times New Roman" panose="02020603050405020304" charset="0"/>
                          <a:cs typeface="Times New Roman" panose="02020603050405020304" charset="0"/>
                        </a:rPr>
                        <a:t>aster-Whisper</a:t>
                      </a:r>
                      <a:r>
                        <a:rPr lang="sr-Latn-RS" altLang="en-US" sz="1400" b="1">
                          <a:solidFill>
                            <a:schemeClr val="tx1"/>
                          </a:solidFill>
                          <a:latin typeface="Times New Roman" panose="02020603050405020304" charset="0"/>
                          <a:cs typeface="Times New Roman" panose="02020603050405020304" charset="0"/>
                        </a:rPr>
                        <a:t> INT8</a:t>
                      </a:r>
                      <a:endParaRPr lang="sr-Latn-R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Latn-RS" altLang="en-US" sz="1400" b="1">
                          <a:solidFill>
                            <a:schemeClr val="tx1"/>
                          </a:solidFill>
                          <a:latin typeface="Times New Roman" panose="02020603050405020304" charset="0"/>
                          <a:cs typeface="Times New Roman" panose="02020603050405020304" charset="0"/>
                        </a:rPr>
                        <a:t>43</a:t>
                      </a:r>
                      <a:r>
                        <a:rPr lang="en-US" altLang="sr-Latn-RS" sz="1400" b="1">
                          <a:solidFill>
                            <a:schemeClr val="tx1"/>
                          </a:solidFill>
                          <a:latin typeface="Times New Roman" panose="02020603050405020304" charset="0"/>
                          <a:cs typeface="Times New Roman" panose="02020603050405020304" charset="0"/>
                        </a:rPr>
                        <a:t>,</a:t>
                      </a:r>
                      <a:r>
                        <a:rPr lang="sr-Latn-RS" altLang="en-US" sz="1400" b="1">
                          <a:solidFill>
                            <a:schemeClr val="tx1"/>
                          </a:solidFill>
                          <a:latin typeface="Times New Roman" panose="02020603050405020304" charset="0"/>
                          <a:cs typeface="Times New Roman" panose="02020603050405020304" charset="0"/>
                        </a:rPr>
                        <a:t>08</a:t>
                      </a:r>
                      <a:endParaRPr lang="sr-Latn-R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r>
                        <a:rPr lang="en-US" altLang="sr-Latn-RS" sz="1400" b="1">
                          <a:solidFill>
                            <a:schemeClr val="tx1"/>
                          </a:solidFill>
                          <a:latin typeface="Times New Roman" panose="02020603050405020304" charset="0"/>
                          <a:cs typeface="Times New Roman" panose="02020603050405020304" charset="0"/>
                        </a:rPr>
                        <a:t>Faster-Whisper</a:t>
                      </a:r>
                      <a:r>
                        <a:rPr lang="sr-Latn-RS" altLang="en-US" sz="1400" b="1">
                          <a:solidFill>
                            <a:schemeClr val="tx1"/>
                          </a:solidFill>
                          <a:latin typeface="Times New Roman" panose="02020603050405020304" charset="0"/>
                          <a:cs typeface="Times New Roman" panose="02020603050405020304" charset="0"/>
                        </a:rPr>
                        <a:t> </a:t>
                      </a:r>
                      <a:r>
                        <a:rPr lang="en-US" altLang="sr-Latn-RS" sz="1400" b="1">
                          <a:solidFill>
                            <a:schemeClr val="tx1"/>
                          </a:solidFill>
                          <a:latin typeface="Times New Roman" panose="02020603050405020304" charset="0"/>
                          <a:cs typeface="Times New Roman" panose="02020603050405020304" charset="0"/>
                        </a:rPr>
                        <a:t>FP</a:t>
                      </a:r>
                      <a:r>
                        <a:rPr lang="sr-Latn-RS" altLang="en-US" sz="1400" b="1">
                          <a:solidFill>
                            <a:schemeClr val="tx1"/>
                          </a:solidFill>
                          <a:latin typeface="Times New Roman" panose="02020603050405020304" charset="0"/>
                          <a:cs typeface="Times New Roman" panose="02020603050405020304" charset="0"/>
                        </a:rPr>
                        <a:t>32</a:t>
                      </a:r>
                      <a:endParaRPr lang="sr-Latn-R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Latn-RS" altLang="en-US" sz="1400" b="1">
                          <a:solidFill>
                            <a:schemeClr val="tx1"/>
                          </a:solidFill>
                          <a:latin typeface="Times New Roman" panose="02020603050405020304" charset="0"/>
                          <a:cs typeface="Times New Roman" panose="02020603050405020304" charset="0"/>
                        </a:rPr>
                        <a:t>42</a:t>
                      </a:r>
                      <a:r>
                        <a:rPr lang="en-US" altLang="sr-Latn-RS" sz="1400" b="1">
                          <a:solidFill>
                            <a:schemeClr val="tx1"/>
                          </a:solidFill>
                          <a:latin typeface="Times New Roman" panose="02020603050405020304" charset="0"/>
                          <a:cs typeface="Times New Roman" panose="02020603050405020304" charset="0"/>
                        </a:rPr>
                        <a:t>,</a:t>
                      </a:r>
                      <a:r>
                        <a:rPr lang="sr-Latn-RS" altLang="en-US" sz="1400" b="1">
                          <a:solidFill>
                            <a:schemeClr val="tx1"/>
                          </a:solidFill>
                          <a:latin typeface="Times New Roman" panose="02020603050405020304" charset="0"/>
                          <a:cs typeface="Times New Roman" panose="02020603050405020304" charset="0"/>
                        </a:rPr>
                        <a:t>95</a:t>
                      </a:r>
                      <a:endParaRPr lang="sr-Latn-R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7" name="Picture 6"/>
          <p:cNvPicPr>
            <a:picLocks noChangeAspect="1"/>
          </p:cNvPicPr>
          <p:nvPr/>
        </p:nvPicPr>
        <p:blipFill>
          <a:blip r:embed="rId2"/>
          <a:srcRect t="7977"/>
          <a:stretch>
            <a:fillRect/>
          </a:stretch>
        </p:blipFill>
        <p:spPr>
          <a:xfrm>
            <a:off x="885825" y="1904365"/>
            <a:ext cx="4522470" cy="22929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259840" y="1016635"/>
            <a:ext cx="6791960" cy="645795"/>
          </a:xfrm>
        </p:spPr>
        <p:txBody>
          <a:bodyPr/>
          <a:lstStyle/>
          <a:p>
            <a:pPr algn="l"/>
            <a:r>
              <a:rPr lang="en-US" altLang="en-US" sz="1600" b="1">
                <a:latin typeface="Times New Roman" panose="02020603050405020304" charset="0"/>
                <a:cs typeface="Times New Roman" panose="02020603050405020304" charset="0"/>
              </a:rPr>
              <a:t>Просечно време обраде једног снимка</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Поређење </a:t>
            </a:r>
            <a:r>
              <a:rPr lang="sr-Cyrl-BA" altLang="en-US">
                <a:latin typeface="Times New Roman" panose="02020603050405020304" charset="0"/>
                <a:cs typeface="Times New Roman" panose="02020603050405020304" charset="0"/>
              </a:rPr>
              <a:t>времена обраде</a:t>
            </a:r>
            <a:endParaRPr lang="sr-Cyrl-BA" altLang="en-US">
              <a:latin typeface="Times New Roman" panose="02020603050405020304" charset="0"/>
              <a:cs typeface="Times New Roman" panose="02020603050405020304" charset="0"/>
            </a:endParaRPr>
          </a:p>
        </p:txBody>
      </p:sp>
      <p:sp>
        <p:nvSpPr>
          <p:cNvPr id="3" name="Text Box 2"/>
          <p:cNvSpPr txBox="1"/>
          <p:nvPr/>
        </p:nvSpPr>
        <p:spPr>
          <a:xfrm>
            <a:off x="1303655" y="4300220"/>
            <a:ext cx="6537325" cy="73723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Убрзање у односу на Whisper FP32:</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Faster-Whisper FP32: 3,17×</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Faster-Whisper INT8: 4,73×</a:t>
            </a:r>
            <a:endParaRPr lang="en-US" altLang="en-US"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5577205" y="1885950"/>
          <a:ext cx="2755265" cy="1818640"/>
        </p:xfrm>
        <a:graphic>
          <a:graphicData uri="http://schemas.openxmlformats.org/drawingml/2006/table">
            <a:tbl>
              <a:tblPr firstRow="1" bandRow="1">
                <a:tableStyleId>{5C22544A-7EE6-4342-B048-85BDC9FD1C3A}</a:tableStyleId>
              </a:tblPr>
              <a:tblGrid>
                <a:gridCol w="1936115"/>
                <a:gridCol w="819150"/>
              </a:tblGrid>
              <a:tr h="405765">
                <a:tc>
                  <a:txBody>
                    <a:bodyPr/>
                    <a:lstStyle/>
                    <a:p>
                      <a:pPr algn="ctr"/>
                      <a:r>
                        <a:rPr lang="sr-Cyrl-BA" altLang="en-US" sz="1400" b="1">
                          <a:solidFill>
                            <a:schemeClr val="tx1"/>
                          </a:solidFill>
                          <a:latin typeface="Times New Roman" panose="02020603050405020304" charset="0"/>
                          <a:cs typeface="Times New Roman" panose="02020603050405020304" charset="0"/>
                        </a:rPr>
                        <a:t>Конфигурација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400" b="1">
                          <a:solidFill>
                            <a:schemeClr val="tx1"/>
                          </a:solidFill>
                          <a:latin typeface="Times New Roman" panose="02020603050405020304" charset="0"/>
                          <a:cs typeface="Times New Roman" panose="02020603050405020304" charset="0"/>
                        </a:rPr>
                        <a:t> Време </a:t>
                      </a:r>
                      <a:r>
                        <a:rPr lang="en-US" altLang="en-US" sz="1400" b="1">
                          <a:solidFill>
                            <a:schemeClr val="tx1"/>
                          </a:solidFill>
                          <a:latin typeface="Times New Roman" panose="02020603050405020304" charset="0"/>
                          <a:cs typeface="Times New Roman" panose="02020603050405020304" charset="0"/>
                        </a:rPr>
                        <a:t>[</a:t>
                      </a:r>
                      <a:r>
                        <a:rPr lang="sr-Latn-RS" altLang="en-US" sz="1400" b="1">
                          <a:solidFill>
                            <a:schemeClr val="tx1"/>
                          </a:solidFill>
                          <a:latin typeface="Times New Roman" panose="02020603050405020304" charset="0"/>
                          <a:cs typeface="Times New Roman" panose="02020603050405020304" charset="0"/>
                        </a:rPr>
                        <a:t>s</a:t>
                      </a:r>
                      <a:r>
                        <a:rPr lang="en-US" altLang="en-US" sz="1400" b="1">
                          <a:solidFill>
                            <a:schemeClr val="tx1"/>
                          </a:solidFill>
                          <a:latin typeface="Times New Roman" panose="02020603050405020304" charset="0"/>
                          <a:cs typeface="Times New Roman" panose="02020603050405020304" charset="0"/>
                        </a:rPr>
                        <a:t>]</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r>
                        <a:rPr lang="en-US" altLang="zh-CN" sz="1400" b="1">
                          <a:latin typeface="Times New Roman" panose="02020603050405020304" charset="0"/>
                          <a:cs typeface="Times New Roman" panose="02020603050405020304" charset="0"/>
                        </a:rPr>
                        <a:t>Whisper FP32</a:t>
                      </a:r>
                      <a:endParaRPr lang="en-US" altLang="zh-CN" sz="1400" b="1">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400" b="1">
                          <a:latin typeface="Times New Roman" panose="02020603050405020304" charset="0"/>
                          <a:cs typeface="Times New Roman" panose="02020603050405020304" charset="0"/>
                        </a:rPr>
                        <a:t>21,72</a:t>
                      </a:r>
                      <a:endParaRPr lang="sr-Cyrl-BA" altLang="en-US" sz="1400" b="1">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0535">
                <a:tc>
                  <a:txBody>
                    <a:bodyPr/>
                    <a:lstStyle/>
                    <a:p>
                      <a:pPr algn="ctr"/>
                      <a:r>
                        <a:rPr lang="en-US" altLang="zh-CN" sz="1400" b="1">
                          <a:latin typeface="Times New Roman" panose="02020603050405020304" charset="0"/>
                          <a:cs typeface="Times New Roman" panose="02020603050405020304" charset="0"/>
                        </a:rPr>
                        <a:t>Faster-Whisper INT8</a:t>
                      </a:r>
                      <a:endParaRPr lang="en-US" altLang="zh-CN" sz="1400" b="1">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400" b="1">
                          <a:latin typeface="Times New Roman" panose="02020603050405020304" charset="0"/>
                          <a:cs typeface="Times New Roman" panose="02020603050405020304" charset="0"/>
                        </a:rPr>
                        <a:t>4,59</a:t>
                      </a:r>
                      <a:endParaRPr lang="sr-Cyrl-BA" altLang="en-US" sz="1400" b="1">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r>
                        <a:rPr lang="en-US" altLang="zh-CN" sz="1400" b="1">
                          <a:latin typeface="Times New Roman" panose="02020603050405020304" charset="0"/>
                          <a:cs typeface="Times New Roman" panose="02020603050405020304" charset="0"/>
                        </a:rPr>
                        <a:t>Faster-Whisper FP32</a:t>
                      </a:r>
                      <a:endParaRPr lang="en-US" altLang="zh-CN" sz="1400" b="1">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en-US" sz="1400" b="1">
                          <a:latin typeface="Times New Roman" panose="02020603050405020304" charset="0"/>
                          <a:cs typeface="Times New Roman" panose="02020603050405020304" charset="0"/>
                        </a:rPr>
                        <a:t>6</a:t>
                      </a:r>
                      <a:r>
                        <a:rPr lang="en-US" altLang="zh-CN" sz="1400" b="1">
                          <a:latin typeface="Times New Roman" panose="02020603050405020304" charset="0"/>
                          <a:cs typeface="Times New Roman" panose="02020603050405020304" charset="0"/>
                        </a:rPr>
                        <a:t>,</a:t>
                      </a:r>
                      <a:r>
                        <a:rPr lang="sr-Cyrl-BA" altLang="en-US" sz="1400" b="1">
                          <a:latin typeface="Times New Roman" panose="02020603050405020304" charset="0"/>
                          <a:cs typeface="Times New Roman" panose="02020603050405020304" charset="0"/>
                        </a:rPr>
                        <a:t>85</a:t>
                      </a:r>
                      <a:endParaRPr lang="sr-Cyrl-BA" altLang="en-US" sz="1400" b="1">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5" name="Picture 4"/>
          <p:cNvPicPr>
            <a:picLocks noChangeAspect="1"/>
          </p:cNvPicPr>
          <p:nvPr/>
        </p:nvPicPr>
        <p:blipFill>
          <a:blip r:embed="rId2"/>
          <a:srcRect t="9816"/>
          <a:stretch>
            <a:fillRect/>
          </a:stretch>
        </p:blipFill>
        <p:spPr>
          <a:xfrm>
            <a:off x="825500" y="1885950"/>
            <a:ext cx="4619625" cy="20535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403985" y="1002030"/>
            <a:ext cx="6791960" cy="645795"/>
          </a:xfrm>
        </p:spPr>
        <p:txBody>
          <a:bodyPr/>
          <a:lstStyle/>
          <a:p>
            <a:pPr algn="l"/>
            <a:r>
              <a:rPr lang="en-US" altLang="en-US" sz="1600" b="1">
                <a:latin typeface="Times New Roman" panose="02020603050405020304" charset="0"/>
                <a:cs typeface="Times New Roman" panose="02020603050405020304" charset="0"/>
              </a:rPr>
              <a:t>Максимална вредност RSS-а · засебан Python процес · 3 независна мерења</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Поређење меморијске потрошње</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067435" y="4190365"/>
            <a:ext cx="7094220" cy="95313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Faster-Whisper FP32: ≈34% мања максимална вредност RSS-а</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Faster-Whisper INT8: ≈5</a:t>
            </a:r>
            <a:r>
              <a:rPr lang="sr-Cyrl-BA" altLang="en-US" b="1">
                <a:latin typeface="Times New Roman" panose="02020603050405020304" charset="0"/>
                <a:cs typeface="Times New Roman" panose="02020603050405020304" charset="0"/>
              </a:rPr>
              <a:t>3</a:t>
            </a:r>
            <a:r>
              <a:rPr lang="en-US" altLang="en-US" b="1">
                <a:latin typeface="Times New Roman" panose="02020603050405020304" charset="0"/>
                <a:cs typeface="Times New Roman" panose="02020603050405020304" charset="0"/>
              </a:rPr>
              <a:t>% мања максимална вредност RSS-а у односу на Whisper</a:t>
            </a:r>
            <a:r>
              <a:rPr lang="en-US" altLang="en-US">
                <a:latin typeface="Times New Roman" panose="02020603050405020304" charset="0"/>
                <a:cs typeface="Times New Roman" panose="02020603050405020304" charset="0"/>
              </a:rPr>
              <a:t> </a:t>
            </a:r>
            <a:endParaRPr lang="en-US" altLang="en-US">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FP32  </a:t>
            </a:r>
            <a:endParaRPr lang="en-US" altLang="en-US" b="1">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Peak RSS представља максималну вредност RSS-а Python процеса током мерења.</a:t>
            </a:r>
            <a:endParaRPr lang="en-US" altLang="en-US">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4860290" y="1735455"/>
          <a:ext cx="3386455" cy="2052320"/>
        </p:xfrm>
        <a:graphic>
          <a:graphicData uri="http://schemas.openxmlformats.org/drawingml/2006/table">
            <a:tbl>
              <a:tblPr firstRow="1" bandRow="1">
                <a:tableStyleId>{5C22544A-7EE6-4342-B048-85BDC9FD1C3A}</a:tableStyleId>
              </a:tblPr>
              <a:tblGrid>
                <a:gridCol w="1302385"/>
                <a:gridCol w="1386205"/>
                <a:gridCol w="697865"/>
              </a:tblGrid>
              <a:tr h="405765">
                <a:tc>
                  <a:txBody>
                    <a:bodyPr/>
                    <a:lstStyle/>
                    <a:p>
                      <a:pPr algn="ctr"/>
                      <a:r>
                        <a:rPr lang="en-US" altLang="zh-CN" sz="1400" b="1" dirty="0">
                          <a:solidFill>
                            <a:schemeClr val="tx1"/>
                          </a:solidFill>
                          <a:latin typeface="Times New Roman" panose="02020603050405020304" charset="0"/>
                          <a:cs typeface="Times New Roman" panose="02020603050405020304" charset="0"/>
                        </a:rPr>
                        <a:t>Конфигурација</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zh-CN" sz="1400" b="1">
                          <a:solidFill>
                            <a:schemeClr val="tx1"/>
                          </a:solidFill>
                          <a:latin typeface="Times New Roman" panose="02020603050405020304" charset="0"/>
                          <a:cs typeface="Times New Roman" panose="02020603050405020304" charset="0"/>
                        </a:rPr>
                        <a:t>Максимална вредност</a:t>
                      </a:r>
                      <a:r>
                        <a:rPr lang="en-US" altLang="zh-CN" sz="1400" b="1">
                          <a:solidFill>
                            <a:schemeClr val="tx1"/>
                          </a:solidFill>
                          <a:latin typeface="Times New Roman" panose="02020603050405020304" charset="0"/>
                          <a:cs typeface="Times New Roman" panose="02020603050405020304" charset="0"/>
                        </a:rPr>
                        <a:t> RSS</a:t>
                      </a:r>
                      <a:r>
                        <a:rPr lang="sr-Cyrl-BA" altLang="en-US" sz="1400" b="1">
                          <a:solidFill>
                            <a:schemeClr val="tx1"/>
                          </a:solidFill>
                          <a:latin typeface="Times New Roman" panose="02020603050405020304" charset="0"/>
                          <a:cs typeface="Times New Roman" panose="02020603050405020304" charset="0"/>
                        </a:rPr>
                        <a:t>-а</a:t>
                      </a:r>
                      <a:r>
                        <a:rPr lang="en-US" altLang="zh-CN" sz="1400" b="1">
                          <a:solidFill>
                            <a:schemeClr val="tx1"/>
                          </a:solidFill>
                          <a:latin typeface="Times New Roman" panose="02020603050405020304" charset="0"/>
                          <a:cs typeface="Times New Roman" panose="02020603050405020304" charset="0"/>
                        </a:rPr>
                        <a:t> [MB]</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SD [MB]</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1170">
                <a:tc>
                  <a:txBody>
                    <a:bodyPr/>
                    <a:lstStyle/>
                    <a:p>
                      <a:pPr algn="ctr"/>
                      <a:r>
                        <a:rPr lang="en-US" altLang="zh-CN" sz="1400" b="1">
                          <a:solidFill>
                            <a:schemeClr val="tx1"/>
                          </a:solidFill>
                          <a:latin typeface="Times New Roman" panose="02020603050405020304" charset="0"/>
                          <a:cs typeface="Times New Roman" panose="02020603050405020304" charset="0"/>
                        </a:rPr>
                        <a:t>Whisper FP32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1050,92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73,28</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0535">
                <a:tc>
                  <a:txBody>
                    <a:bodyPr/>
                    <a:lstStyle/>
                    <a:p>
                      <a:pPr algn="ctr"/>
                      <a:r>
                        <a:rPr lang="en-US" altLang="zh-CN" sz="1400" b="1">
                          <a:solidFill>
                            <a:schemeClr val="tx1"/>
                          </a:solidFill>
                          <a:latin typeface="Times New Roman" panose="02020603050405020304" charset="0"/>
                          <a:cs typeface="Times New Roman" panose="02020603050405020304" charset="0"/>
                        </a:rPr>
                        <a:t>Faster-Whisper FP32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693,22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0,97</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70535">
                <a:tc>
                  <a:txBody>
                    <a:bodyPr/>
                    <a:lstStyle/>
                    <a:p>
                      <a:pPr algn="ctr"/>
                      <a:r>
                        <a:rPr lang="en-US" altLang="zh-CN" sz="1400" b="1">
                          <a:solidFill>
                            <a:schemeClr val="tx1"/>
                          </a:solidFill>
                          <a:latin typeface="Times New Roman" panose="02020603050405020304" charset="0"/>
                          <a:cs typeface="Times New Roman" panose="02020603050405020304" charset="0"/>
                        </a:rPr>
                        <a:t>Faster-Whisper INT8</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494,15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0,33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2" name="Picture 1"/>
          <p:cNvPicPr>
            <a:picLocks noChangeAspect="1"/>
          </p:cNvPicPr>
          <p:nvPr/>
        </p:nvPicPr>
        <p:blipFill>
          <a:blip r:embed="rId2"/>
          <a:srcRect t="9341"/>
          <a:stretch>
            <a:fillRect/>
          </a:stretch>
        </p:blipFill>
        <p:spPr>
          <a:xfrm>
            <a:off x="817880" y="1856105"/>
            <a:ext cx="3991610" cy="20523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043940" y="843915"/>
            <a:ext cx="7192645" cy="645795"/>
          </a:xfrm>
        </p:spPr>
        <p:txBody>
          <a:bodyPr/>
          <a:lstStyle/>
          <a:p>
            <a:pPr algn="l"/>
            <a:r>
              <a:rPr lang="en-US" altLang="en-US" sz="1600" b="1">
                <a:latin typeface="Times New Roman" panose="02020603050405020304" charset="0"/>
                <a:cs typeface="Times New Roman" panose="02020603050405020304" charset="0"/>
              </a:rPr>
              <a:t>Основно поређење · 40 снимака читаног српског говора · Base модел</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Утицај трајања и говорника</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115695" y="4142105"/>
            <a:ext cx="6582410" cy="95313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Резултати према трајању</a:t>
            </a:r>
            <a:r>
              <a:rPr lang="sr-Cyrl-BA" altLang="en-US" b="1">
                <a:latin typeface="Times New Roman" panose="02020603050405020304" charset="0"/>
                <a:cs typeface="Times New Roman" panose="02020603050405020304" charset="0"/>
              </a:rPr>
              <a:t>:</a:t>
            </a:r>
            <a:endParaRPr lang="en-US" altLang="en-US" b="1">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Faster-Whisper INT8 остварује најнижи RTF у свим групама трајања.</a:t>
            </a:r>
            <a:endParaRPr lang="en-US" altLang="en-US">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У испитиваном скупу уочене су израженије разлике у WER-у између говорника него између група трајања.</a:t>
            </a:r>
            <a:endParaRPr lang="en-US" altLang="en-US">
              <a:latin typeface="Times New Roman" panose="02020603050405020304" charset="0"/>
              <a:cs typeface="Times New Roman" panose="02020603050405020304" charset="0"/>
            </a:endParaRPr>
          </a:p>
        </p:txBody>
      </p:sp>
      <p:graphicFrame>
        <p:nvGraphicFramePr>
          <p:cNvPr id="7" name="Table 6"/>
          <p:cNvGraphicFramePr/>
          <p:nvPr>
            <p:custDataLst>
              <p:tags r:id="rId1"/>
            </p:custDataLst>
          </p:nvPr>
        </p:nvGraphicFramePr>
        <p:xfrm>
          <a:off x="5038725" y="1594485"/>
          <a:ext cx="3252470" cy="2452370"/>
        </p:xfrm>
        <a:graphic>
          <a:graphicData uri="http://schemas.openxmlformats.org/drawingml/2006/table">
            <a:tbl>
              <a:tblPr firstRow="1" bandRow="1">
                <a:tableStyleId>{5C22544A-7EE6-4342-B048-85BDC9FD1C3A}</a:tableStyleId>
              </a:tblPr>
              <a:tblGrid>
                <a:gridCol w="800735"/>
                <a:gridCol w="788035"/>
                <a:gridCol w="890270"/>
                <a:gridCol w="773430"/>
              </a:tblGrid>
              <a:tr h="789940">
                <a:tc>
                  <a:txBody>
                    <a:bodyPr/>
                    <a:lstStyle/>
                    <a:p>
                      <a:pPr algn="ctr"/>
                      <a:r>
                        <a:rPr lang="en-US" altLang="zh-CN" sz="1400" b="1">
                          <a:solidFill>
                            <a:schemeClr val="tx1"/>
                          </a:solidFill>
                          <a:latin typeface="Times New Roman" panose="02020603050405020304" charset="0"/>
                          <a:cs typeface="Times New Roman" panose="02020603050405020304" charset="0"/>
                        </a:rPr>
                        <a:t>Група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zh-CN" sz="1400" b="1">
                          <a:solidFill>
                            <a:schemeClr val="tx1"/>
                          </a:solidFill>
                          <a:latin typeface="Times New Roman" panose="02020603050405020304" charset="0"/>
                          <a:cs typeface="Times New Roman" panose="02020603050405020304" charset="0"/>
                        </a:rPr>
                        <a:t>Основни </a:t>
                      </a:r>
                      <a:r>
                        <a:rPr lang="en-US" altLang="sr-Cyrl-BA" sz="1400" b="1">
                          <a:solidFill>
                            <a:schemeClr val="tx1"/>
                          </a:solidFill>
                          <a:latin typeface="Times New Roman" panose="02020603050405020304" charset="0"/>
                          <a:cs typeface="Times New Roman" panose="02020603050405020304" charset="0"/>
                        </a:rPr>
                        <a:t>Whisper</a:t>
                      </a:r>
                      <a:endParaRPr lang="en-US" altLang="sr-Cyrl-BA"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Faster-Whisper INT8</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Faster-Whisper FP32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21970">
                <a:tc>
                  <a:txBody>
                    <a:bodyPr/>
                    <a:lstStyle/>
                    <a:p>
                      <a:pPr algn="ctr"/>
                      <a:r>
                        <a:rPr lang="en-US" altLang="zh-CN" sz="1400" b="1">
                          <a:solidFill>
                            <a:schemeClr val="tx1"/>
                          </a:solidFill>
                          <a:latin typeface="Times New Roman" panose="02020603050405020304" charset="0"/>
                          <a:cs typeface="Times New Roman" panose="02020603050405020304" charset="0"/>
                        </a:rPr>
                        <a:t>Кратки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1,003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0,240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0,353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30200">
                <a:tc>
                  <a:txBody>
                    <a:bodyPr/>
                    <a:lstStyle/>
                    <a:p>
                      <a:pPr algn="ctr"/>
                      <a:r>
                        <a:rPr lang="en-US" altLang="zh-CN" sz="1400" b="1">
                          <a:solidFill>
                            <a:schemeClr val="tx1"/>
                          </a:solidFill>
                          <a:latin typeface="Times New Roman" panose="02020603050405020304" charset="0"/>
                          <a:cs typeface="Times New Roman" panose="02020603050405020304" charset="0"/>
                        </a:rPr>
                        <a:t>Средњи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0,832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0,154</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0,246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83540">
                <a:tc>
                  <a:txBody>
                    <a:bodyPr/>
                    <a:lstStyle/>
                    <a:p>
                      <a:pPr algn="ctr"/>
                      <a:r>
                        <a:rPr lang="en-US" altLang="zh-CN" sz="1400" b="1">
                          <a:solidFill>
                            <a:schemeClr val="tx1"/>
                          </a:solidFill>
                          <a:latin typeface="Times New Roman" panose="02020603050405020304" charset="0"/>
                          <a:cs typeface="Times New Roman" panose="02020603050405020304" charset="0"/>
                        </a:rPr>
                        <a:t>Дуги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0,942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0,187</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0,287</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26720">
                <a:tc>
                  <a:txBody>
                    <a:bodyPr/>
                    <a:lstStyle/>
                    <a:p>
                      <a:pPr algn="ctr"/>
                      <a:r>
                        <a:rPr lang="en-US" altLang="zh-CN" sz="1400" b="1">
                          <a:solidFill>
                            <a:schemeClr val="tx1"/>
                          </a:solidFill>
                          <a:latin typeface="Times New Roman" panose="02020603050405020304" charset="0"/>
                          <a:cs typeface="Times New Roman" panose="02020603050405020304" charset="0"/>
                        </a:rPr>
                        <a:t>Веома дуги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0,879</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0,206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0,289</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
        <p:nvSpPr>
          <p:cNvPr id="10" name="Text Box 9"/>
          <p:cNvSpPr txBox="1"/>
          <p:nvPr/>
        </p:nvSpPr>
        <p:spPr>
          <a:xfrm>
            <a:off x="1115695" y="1236345"/>
            <a:ext cx="3048000" cy="306705"/>
          </a:xfrm>
          <a:prstGeom prst="rect">
            <a:avLst/>
          </a:prstGeom>
          <a:noFill/>
        </p:spPr>
        <p:txBody>
          <a:bodyPr wrap="square" rtlCol="0">
            <a:spAutoFit/>
          </a:bodyPr>
          <a:lstStyle/>
          <a:p>
            <a:r>
              <a:rPr lang="sr-Cyrl-BA" altLang="en-US" b="1">
                <a:latin typeface="Times New Roman" panose="02020603050405020304" charset="0"/>
                <a:cs typeface="Times New Roman" panose="02020603050405020304" charset="0"/>
              </a:rPr>
              <a:t>Вредност </a:t>
            </a:r>
            <a:r>
              <a:rPr lang="en-US" altLang="en-US" b="1">
                <a:latin typeface="Times New Roman" panose="02020603050405020304" charset="0"/>
                <a:cs typeface="Times New Roman" panose="02020603050405020304" charset="0"/>
              </a:rPr>
              <a:t>WER</a:t>
            </a:r>
            <a:r>
              <a:rPr lang="sr-Cyrl-BA" altLang="en-US" b="1">
                <a:latin typeface="Times New Roman" panose="02020603050405020304" charset="0"/>
                <a:cs typeface="Times New Roman" panose="02020603050405020304" charset="0"/>
              </a:rPr>
              <a:t>-а</a:t>
            </a:r>
            <a:r>
              <a:rPr lang="en-US" altLang="en-US" b="1">
                <a:latin typeface="Times New Roman" panose="02020603050405020304" charset="0"/>
                <a:cs typeface="Times New Roman" panose="02020603050405020304" charset="0"/>
              </a:rPr>
              <a:t> према говорнику</a:t>
            </a:r>
            <a:endParaRPr lang="en-US" altLang="en-US" b="1">
              <a:latin typeface="Times New Roman" panose="02020603050405020304" charset="0"/>
              <a:cs typeface="Times New Roman" panose="02020603050405020304" charset="0"/>
            </a:endParaRPr>
          </a:p>
        </p:txBody>
      </p:sp>
      <p:sp>
        <p:nvSpPr>
          <p:cNvPr id="11" name="Text Box 10"/>
          <p:cNvSpPr txBox="1"/>
          <p:nvPr/>
        </p:nvSpPr>
        <p:spPr>
          <a:xfrm>
            <a:off x="5038725" y="1242695"/>
            <a:ext cx="3501390" cy="306705"/>
          </a:xfrm>
          <a:prstGeom prst="rect">
            <a:avLst/>
          </a:prstGeom>
          <a:noFill/>
        </p:spPr>
        <p:txBody>
          <a:bodyPr wrap="square" rtlCol="0">
            <a:spAutoFit/>
          </a:bodyPr>
          <a:lstStyle/>
          <a:p>
            <a:r>
              <a:rPr lang="sr-Cyrl-BA" altLang="en-US" b="1" dirty="0">
                <a:solidFill>
                  <a:schemeClr val="tx1"/>
                </a:solidFill>
                <a:latin typeface="Times New Roman" panose="02020603050405020304" charset="0"/>
                <a:cs typeface="Times New Roman" panose="02020603050405020304" charset="0"/>
              </a:rPr>
              <a:t>Вредност </a:t>
            </a:r>
            <a:r>
              <a:rPr lang="en-US" altLang="en-US" b="1" dirty="0">
                <a:solidFill>
                  <a:schemeClr val="tx1"/>
                </a:solidFill>
                <a:latin typeface="Times New Roman" panose="02020603050405020304" charset="0"/>
                <a:cs typeface="Times New Roman" panose="02020603050405020304" charset="0"/>
              </a:rPr>
              <a:t>RTF</a:t>
            </a:r>
            <a:r>
              <a:rPr lang="sr-Cyrl-BA" altLang="en-US" b="1" dirty="0">
                <a:solidFill>
                  <a:schemeClr val="tx1"/>
                </a:solidFill>
                <a:latin typeface="Times New Roman" panose="02020603050405020304" charset="0"/>
                <a:cs typeface="Times New Roman" panose="02020603050405020304" charset="0"/>
              </a:rPr>
              <a:t>-а</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према</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трајању</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снимка</a:t>
            </a:r>
            <a:endParaRPr lang="en-US" altLang="en-US" b="1" dirty="0">
              <a:solidFill>
                <a:schemeClr val="tx1"/>
              </a:solidFill>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852805" y="1628775"/>
            <a:ext cx="4053205" cy="2349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990600" y="855345"/>
            <a:ext cx="6995795" cy="645795"/>
          </a:xfrm>
        </p:spPr>
        <p:txBody>
          <a:bodyPr/>
          <a:lstStyle/>
          <a:p>
            <a:pPr algn="l"/>
            <a:r>
              <a:rPr lang="en-US" altLang="en-US" sz="1600" b="1">
                <a:latin typeface="Times New Roman" panose="02020603050405020304" charset="0"/>
                <a:cs typeface="Times New Roman" panose="02020603050405020304" charset="0"/>
              </a:rPr>
              <a:t>Faster-Whisper · 20 снимака · исти тест скуп</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Утицај величине модела на </a:t>
            </a:r>
            <a:r>
              <a:rPr lang="sr-Cyrl-BA" altLang="en-US">
                <a:latin typeface="Times New Roman" panose="02020603050405020304" charset="0"/>
                <a:cs typeface="Times New Roman" panose="02020603050405020304" charset="0"/>
              </a:rPr>
              <a:t>вредност</a:t>
            </a:r>
            <a:r>
              <a:rPr lang="en-US" altLang="en-US">
                <a:latin typeface="Times New Roman" panose="02020603050405020304" charset="0"/>
                <a:cs typeface="Times New Roman" panose="02020603050405020304" charset="0"/>
              </a:rPr>
              <a:t> WER</a:t>
            </a:r>
            <a:r>
              <a:rPr lang="sr-Cyrl-BA" altLang="en-US">
                <a:latin typeface="Times New Roman" panose="02020603050405020304" charset="0"/>
                <a:cs typeface="Times New Roman" panose="02020603050405020304" charset="0"/>
              </a:rPr>
              <a:t>-а</a:t>
            </a:r>
            <a:endParaRPr lang="sr-Cyrl-BA" altLang="en-US">
              <a:latin typeface="Times New Roman" panose="02020603050405020304" charset="0"/>
              <a:cs typeface="Times New Roman" panose="02020603050405020304" charset="0"/>
            </a:endParaRPr>
          </a:p>
        </p:txBody>
      </p:sp>
      <p:sp>
        <p:nvSpPr>
          <p:cNvPr id="3" name="Text Box 2"/>
          <p:cNvSpPr txBox="1"/>
          <p:nvPr/>
        </p:nvSpPr>
        <p:spPr>
          <a:xfrm>
            <a:off x="1403985" y="3975100"/>
            <a:ext cx="6582410" cy="95313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Base → Small: WER је смањен за 20,87 процентних поена.</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Small → Medium: WER је смањен за додатних 6,88 процентних поена.</a:t>
            </a:r>
            <a:endParaRPr lang="en-US" altLang="en-US" b="1">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У овом експерименту већи модели остварују нижи WER, док је смањење WER-а при преласку са Small на Medium мање него при преласку са Base на Small.</a:t>
            </a:r>
            <a:endParaRPr lang="en-US" altLang="en-US">
              <a:latin typeface="Times New Roman" panose="02020603050405020304" charset="0"/>
              <a:cs typeface="Times New Roman" panose="02020603050405020304" charset="0"/>
            </a:endParaRPr>
          </a:p>
        </p:txBody>
      </p:sp>
      <p:pic>
        <p:nvPicPr>
          <p:cNvPr id="8" name="Picture 7"/>
          <p:cNvPicPr>
            <a:picLocks noChangeAspect="1"/>
          </p:cNvPicPr>
          <p:nvPr/>
        </p:nvPicPr>
        <p:blipFill>
          <a:blip r:embed="rId1"/>
          <a:stretch>
            <a:fillRect/>
          </a:stretch>
        </p:blipFill>
        <p:spPr>
          <a:xfrm>
            <a:off x="2018030" y="1375410"/>
            <a:ext cx="5107940" cy="25996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294765" y="843915"/>
            <a:ext cx="6791960" cy="645795"/>
          </a:xfrm>
        </p:spPr>
        <p:txBody>
          <a:bodyPr/>
          <a:lstStyle/>
          <a:p>
            <a:pPr algn="l"/>
            <a:r>
              <a:rPr lang="sr-Cyrl-BA" altLang="en-US" sz="1600" b="1">
                <a:latin typeface="Times New Roman" panose="02020603050405020304" charset="0"/>
                <a:cs typeface="Times New Roman" panose="02020603050405020304" charset="0"/>
                <a:sym typeface="+mn-ea"/>
              </a:rPr>
              <a:t>П</a:t>
            </a:r>
            <a:r>
              <a:rPr lang="en-US" altLang="en-US" sz="1600" b="1">
                <a:latin typeface="Times New Roman" panose="02020603050405020304" charset="0"/>
                <a:cs typeface="Times New Roman" panose="02020603050405020304" charset="0"/>
              </a:rPr>
              <a:t>росечно време транскрипције по снимку ·</a:t>
            </a:r>
            <a:r>
              <a:rPr lang="sr-Cyrl-BA" altLang="en-US" sz="1600" b="1">
                <a:latin typeface="Times New Roman" panose="02020603050405020304" charset="0"/>
                <a:cs typeface="Times New Roman" panose="02020603050405020304" charset="0"/>
              </a:rPr>
              <a:t> </a:t>
            </a:r>
            <a:r>
              <a:rPr lang="en-US" altLang="en-US" sz="1600" b="1">
                <a:latin typeface="Times New Roman" panose="02020603050405020304" charset="0"/>
                <a:cs typeface="Times New Roman" panose="02020603050405020304" charset="0"/>
                <a:sym typeface="+mn-ea"/>
              </a:rPr>
              <a:t>Просеч</a:t>
            </a:r>
            <a:r>
              <a:rPr lang="sr-Cyrl-BA" altLang="en-US" sz="1600" b="1">
                <a:latin typeface="Times New Roman" panose="02020603050405020304" charset="0"/>
                <a:cs typeface="Times New Roman" panose="02020603050405020304" charset="0"/>
                <a:sym typeface="+mn-ea"/>
              </a:rPr>
              <a:t>на вредност</a:t>
            </a:r>
            <a:r>
              <a:rPr lang="en-US" altLang="en-US" sz="1600" b="1">
                <a:latin typeface="Times New Roman" panose="02020603050405020304" charset="0"/>
                <a:cs typeface="Times New Roman" panose="02020603050405020304" charset="0"/>
                <a:sym typeface="+mn-ea"/>
              </a:rPr>
              <a:t> RTF</a:t>
            </a:r>
            <a:r>
              <a:rPr lang="sr-Cyrl-BA" altLang="en-US" sz="1600" b="1">
                <a:latin typeface="Times New Roman" panose="02020603050405020304" charset="0"/>
                <a:cs typeface="Times New Roman" panose="02020603050405020304" charset="0"/>
                <a:sym typeface="+mn-ea"/>
              </a:rPr>
              <a:t>-а</a:t>
            </a:r>
            <a:r>
              <a:rPr lang="en-US" altLang="en-US" sz="1600" b="1">
                <a:latin typeface="Times New Roman" panose="02020603050405020304" charset="0"/>
                <a:cs typeface="Times New Roman" panose="02020603050405020304" charset="0"/>
                <a:sym typeface="+mn-ea"/>
              </a:rPr>
              <a:t> ·</a:t>
            </a:r>
            <a:r>
              <a:rPr lang="sr-Cyrl-BA" altLang="en-US" sz="1600" b="1">
                <a:latin typeface="Times New Roman" panose="02020603050405020304" charset="0"/>
                <a:cs typeface="Times New Roman" panose="02020603050405020304" charset="0"/>
                <a:sym typeface="+mn-ea"/>
              </a:rPr>
              <a:t> </a:t>
            </a:r>
            <a:r>
              <a:rPr lang="en-US" altLang="en-US" sz="1600" b="1">
                <a:latin typeface="Times New Roman" panose="02020603050405020304" charset="0"/>
                <a:cs typeface="Times New Roman" panose="02020603050405020304" charset="0"/>
              </a:rPr>
              <a:t>CPU</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Утицај величине модела на брзину</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399540" y="4371975"/>
            <a:ext cx="6582410" cy="521970"/>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Са повећањем величине модела расту време обраде и RTF.</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RTF Medium модела је ≈2,7× већи него код Small модела.</a:t>
            </a:r>
            <a:endParaRPr lang="en-US" altLang="en-US"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5788660" y="1635760"/>
          <a:ext cx="2193290" cy="2200275"/>
        </p:xfrm>
        <a:graphic>
          <a:graphicData uri="http://schemas.openxmlformats.org/drawingml/2006/table">
            <a:tbl>
              <a:tblPr firstRow="1" bandRow="1">
                <a:tableStyleId>{5C22544A-7EE6-4342-B048-85BDC9FD1C3A}</a:tableStyleId>
              </a:tblPr>
              <a:tblGrid>
                <a:gridCol w="1240155"/>
                <a:gridCol w="953135"/>
              </a:tblGrid>
              <a:tr h="464820">
                <a:tc>
                  <a:txBody>
                    <a:bodyPr/>
                    <a:lstStyle/>
                    <a:p>
                      <a:pPr algn="ctr"/>
                      <a:r>
                        <a:rPr lang="en-US" altLang="zh-CN" sz="1400" b="1">
                          <a:solidFill>
                            <a:schemeClr val="tx1"/>
                          </a:solidFill>
                          <a:latin typeface="Times New Roman" panose="02020603050405020304" charset="0"/>
                          <a:cs typeface="Times New Roman" panose="02020603050405020304" charset="0"/>
                        </a:rPr>
                        <a:t>Модел</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Просеч</a:t>
                      </a:r>
                      <a:r>
                        <a:rPr lang="sr-Cyrl-BA" altLang="en-US" sz="1400" b="1">
                          <a:solidFill>
                            <a:schemeClr val="tx1"/>
                          </a:solidFill>
                          <a:latin typeface="Times New Roman" panose="02020603050405020304" charset="0"/>
                          <a:cs typeface="Times New Roman" panose="02020603050405020304" charset="0"/>
                        </a:rPr>
                        <a:t>на вредност</a:t>
                      </a:r>
                      <a:r>
                        <a:rPr lang="en-US" altLang="zh-CN" sz="1400" b="1">
                          <a:solidFill>
                            <a:schemeClr val="tx1"/>
                          </a:solidFill>
                          <a:latin typeface="Times New Roman" panose="02020603050405020304" charset="0"/>
                          <a:cs typeface="Times New Roman" panose="02020603050405020304" charset="0"/>
                        </a:rPr>
                        <a:t> RTF</a:t>
                      </a:r>
                      <a:r>
                        <a:rPr lang="sr-Cyrl-BA" altLang="en-US" sz="1400" b="1">
                          <a:solidFill>
                            <a:schemeClr val="tx1"/>
                          </a:solidFill>
                          <a:latin typeface="Times New Roman" panose="02020603050405020304" charset="0"/>
                          <a:cs typeface="Times New Roman" panose="02020603050405020304" charset="0"/>
                        </a:rPr>
                        <a:t>-а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48615">
                <a:tc>
                  <a:txBody>
                    <a:bodyPr/>
                    <a:lstStyle/>
                    <a:p>
                      <a:pPr algn="ctr"/>
                      <a:r>
                        <a:rPr lang="en-US" altLang="zh-CN" sz="1400" b="1">
                          <a:solidFill>
                            <a:schemeClr val="tx1"/>
                          </a:solidFill>
                          <a:latin typeface="Times New Roman" panose="02020603050405020304" charset="0"/>
                          <a:cs typeface="Times New Roman" panose="02020603050405020304" charset="0"/>
                        </a:rPr>
                        <a:t>Tiny</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0,0871</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03860">
                <a:tc>
                  <a:txBody>
                    <a:bodyPr/>
                    <a:lstStyle/>
                    <a:p>
                      <a:pPr algn="ctr"/>
                      <a:r>
                        <a:rPr lang="en-US" altLang="zh-CN" sz="1400" b="1">
                          <a:solidFill>
                            <a:schemeClr val="tx1"/>
                          </a:solidFill>
                          <a:latin typeface="Times New Roman" panose="02020603050405020304" charset="0"/>
                          <a:cs typeface="Times New Roman" panose="02020603050405020304" charset="0"/>
                        </a:rPr>
                        <a:t>Base</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0,1405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03860">
                <a:tc>
                  <a:txBody>
                    <a:bodyPr/>
                    <a:lstStyle/>
                    <a:p>
                      <a:pPr algn="ctr"/>
                      <a:r>
                        <a:rPr lang="en-US" altLang="zh-CN" sz="1400" b="1">
                          <a:solidFill>
                            <a:schemeClr val="tx1"/>
                          </a:solidFill>
                          <a:latin typeface="Times New Roman" panose="02020603050405020304" charset="0"/>
                          <a:cs typeface="Times New Roman" panose="02020603050405020304" charset="0"/>
                        </a:rPr>
                        <a:t>Small</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0,3907</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03860">
                <a:tc>
                  <a:txBody>
                    <a:bodyPr/>
                    <a:lstStyle/>
                    <a:p>
                      <a:pPr algn="ctr"/>
                      <a:r>
                        <a:rPr lang="en-US" altLang="zh-CN" sz="1400" b="1">
                          <a:solidFill>
                            <a:schemeClr val="tx1"/>
                          </a:solidFill>
                          <a:latin typeface="Times New Roman" panose="02020603050405020304" charset="0"/>
                          <a:cs typeface="Times New Roman" panose="02020603050405020304" charset="0"/>
                        </a:rPr>
                        <a:t>Medium</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1,0452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8" name="Picture 7"/>
          <p:cNvPicPr>
            <a:picLocks noChangeAspect="1"/>
          </p:cNvPicPr>
          <p:nvPr/>
        </p:nvPicPr>
        <p:blipFill>
          <a:blip r:embed="rId2"/>
          <a:stretch>
            <a:fillRect/>
          </a:stretch>
        </p:blipFill>
        <p:spPr>
          <a:xfrm>
            <a:off x="935355" y="1635760"/>
            <a:ext cx="4572000" cy="23082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01370" y="25717"/>
            <a:ext cx="6475730" cy="575945"/>
          </a:xfrm>
        </p:spPr>
        <p:txBody>
          <a:bodyPr/>
          <a:lstStyle/>
          <a:p>
            <a:pPr algn="ctr"/>
            <a:r>
              <a:rPr lang="en-US" altLang="en-US" dirty="0" err="1">
                <a:latin typeface="Times New Roman" panose="02020603050405020304" charset="0"/>
                <a:cs typeface="Times New Roman" panose="02020603050405020304" charset="0"/>
              </a:rPr>
              <a:t>Експериментални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скуп</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за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анализу</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робусности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на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шум</a:t>
            </a:r>
            <a:endParaRPr lang="en-US" altLang="en-US" dirty="0">
              <a:latin typeface="Times New Roman" panose="02020603050405020304" charset="0"/>
              <a:cs typeface="Times New Roman" panose="02020603050405020304" charset="0"/>
            </a:endParaRPr>
          </a:p>
        </p:txBody>
      </p:sp>
      <p:sp>
        <p:nvSpPr>
          <p:cNvPr id="7" name="Rounded Rectangle 6"/>
          <p:cNvSpPr/>
          <p:nvPr/>
        </p:nvSpPr>
        <p:spPr>
          <a:xfrm>
            <a:off x="2277745" y="1224915"/>
            <a:ext cx="1125855" cy="85153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800" b="1">
                <a:solidFill>
                  <a:schemeClr val="tx1"/>
                </a:solidFill>
                <a:latin typeface="Times New Roman" panose="02020603050405020304" charset="0"/>
                <a:cs typeface="Times New Roman" panose="02020603050405020304" charset="0"/>
                <a:sym typeface="+mn-ea"/>
              </a:rPr>
              <a:t>10</a:t>
            </a:r>
            <a:endParaRPr lang="sr-Cyrl-BA" altLang="en-US" sz="2800" b="1">
              <a:solidFill>
                <a:schemeClr val="tx1"/>
              </a:solidFill>
              <a:latin typeface="Times New Roman" panose="02020603050405020304" charset="0"/>
              <a:cs typeface="Times New Roman" panose="02020603050405020304" charset="0"/>
              <a:sym typeface="+mn-ea"/>
            </a:endParaRPr>
          </a:p>
          <a:p>
            <a:pPr algn="ctr"/>
            <a:r>
              <a:rPr lang="sr-Cyrl-BA" altLang="en-US" b="1">
                <a:solidFill>
                  <a:schemeClr val="tx1"/>
                </a:solidFill>
                <a:latin typeface="Times New Roman" panose="02020603050405020304" charset="0"/>
                <a:cs typeface="Times New Roman" panose="02020603050405020304" charset="0"/>
                <a:sym typeface="+mn-ea"/>
              </a:rPr>
              <a:t>чистих</a:t>
            </a:r>
            <a:endParaRPr lang="sr-Cyrl-BA" altLang="en-US" b="1">
              <a:solidFill>
                <a:schemeClr val="tx1"/>
              </a:solidFill>
              <a:latin typeface="Times New Roman" panose="02020603050405020304" charset="0"/>
              <a:cs typeface="Times New Roman" panose="02020603050405020304" charset="0"/>
              <a:sym typeface="+mn-ea"/>
            </a:endParaRPr>
          </a:p>
          <a:p>
            <a:pPr algn="ctr"/>
            <a:r>
              <a:rPr lang="en-US" altLang="en-US" b="1">
                <a:solidFill>
                  <a:schemeClr val="tx1"/>
                </a:solidFill>
                <a:latin typeface="Times New Roman" panose="02020603050405020304" charset="0"/>
                <a:cs typeface="Times New Roman" panose="02020603050405020304" charset="0"/>
                <a:sym typeface="+mn-ea"/>
              </a:rPr>
              <a:t>снимака</a:t>
            </a:r>
            <a:endParaRPr lang="en-US" altLang="en-US" b="1">
              <a:solidFill>
                <a:schemeClr val="tx1"/>
              </a:solidFill>
              <a:latin typeface="Times New Roman" panose="02020603050405020304" charset="0"/>
              <a:cs typeface="Times New Roman" panose="02020603050405020304" charset="0"/>
              <a:sym typeface="+mn-ea"/>
            </a:endParaRPr>
          </a:p>
        </p:txBody>
      </p:sp>
      <p:sp>
        <p:nvSpPr>
          <p:cNvPr id="9" name="Rounded Rectangle 8"/>
          <p:cNvSpPr/>
          <p:nvPr/>
        </p:nvSpPr>
        <p:spPr>
          <a:xfrm>
            <a:off x="3884930" y="1203325"/>
            <a:ext cx="1176655"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altLang="en-US" sz="2800" b="1">
                <a:solidFill>
                  <a:schemeClr val="tx1"/>
                </a:solidFill>
                <a:latin typeface="Times New Roman" panose="02020603050405020304" charset="0"/>
                <a:cs typeface="Times New Roman" panose="02020603050405020304" charset="0"/>
                <a:sym typeface="+mn-ea"/>
              </a:rPr>
              <a:t>2</a:t>
            </a:r>
            <a:endParaRPr lang="sr-Cyrl-BA" altLang="en-US" sz="2800" b="1">
              <a:solidFill>
                <a:schemeClr val="tx1"/>
              </a:solidFill>
              <a:latin typeface="Times New Roman" panose="02020603050405020304" charset="0"/>
              <a:cs typeface="Times New Roman" panose="02020603050405020304" charset="0"/>
              <a:sym typeface="+mn-ea"/>
            </a:endParaRPr>
          </a:p>
          <a:p>
            <a:pPr algn="ctr">
              <a:buSzTx/>
            </a:pPr>
            <a:r>
              <a:rPr lang="sr-Cyrl-BA" altLang="en-US" b="1">
                <a:solidFill>
                  <a:schemeClr val="tx1"/>
                </a:solidFill>
                <a:latin typeface="Times New Roman" panose="02020603050405020304" charset="0"/>
                <a:cs typeface="Times New Roman" panose="02020603050405020304" charset="0"/>
                <a:sym typeface="+mn-ea"/>
              </a:rPr>
              <a:t>врсте шума</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2" name="Rounded Rectangle 1"/>
          <p:cNvSpPr/>
          <p:nvPr/>
        </p:nvSpPr>
        <p:spPr>
          <a:xfrm>
            <a:off x="5435600" y="1203325"/>
            <a:ext cx="12369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800" b="1">
                <a:solidFill>
                  <a:schemeClr val="tx1"/>
                </a:solidFill>
                <a:latin typeface="Times New Roman" panose="02020603050405020304" charset="0"/>
                <a:cs typeface="Times New Roman" panose="02020603050405020304" charset="0"/>
                <a:sym typeface="+mn-ea"/>
              </a:rPr>
              <a:t>7</a:t>
            </a:r>
            <a:endParaRPr lang="sr-Cyrl-BA" altLang="en-US" sz="2800" b="1">
              <a:solidFill>
                <a:schemeClr val="tx1"/>
              </a:solidFill>
              <a:latin typeface="Times New Roman" panose="02020603050405020304" charset="0"/>
              <a:cs typeface="Times New Roman" panose="02020603050405020304" charset="0"/>
              <a:sym typeface="+mn-ea"/>
            </a:endParaRPr>
          </a:p>
          <a:p>
            <a:pPr algn="ctr"/>
            <a:r>
              <a:rPr lang="en-US" altLang="en-US" b="1">
                <a:solidFill>
                  <a:schemeClr val="tx1"/>
                </a:solidFill>
                <a:latin typeface="Times New Roman" panose="02020603050405020304" charset="0"/>
                <a:cs typeface="Times New Roman" panose="02020603050405020304" charset="0"/>
                <a:sym typeface="+mn-ea"/>
              </a:rPr>
              <a:t>SNR </a:t>
            </a:r>
            <a:r>
              <a:rPr lang="sr-Cyrl-BA" altLang="en-US" b="1">
                <a:solidFill>
                  <a:schemeClr val="tx1"/>
                </a:solidFill>
                <a:latin typeface="Times New Roman" panose="02020603050405020304" charset="0"/>
                <a:cs typeface="Times New Roman" panose="02020603050405020304" charset="0"/>
                <a:sym typeface="+mn-ea"/>
              </a:rPr>
              <a:t>нивоа</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8" name="Text Box 7"/>
          <p:cNvSpPr txBox="1"/>
          <p:nvPr/>
        </p:nvSpPr>
        <p:spPr>
          <a:xfrm>
            <a:off x="1619250" y="2211705"/>
            <a:ext cx="6134735" cy="337185"/>
          </a:xfrm>
          <a:prstGeom prst="rect">
            <a:avLst/>
          </a:prstGeom>
          <a:noFill/>
        </p:spPr>
        <p:txBody>
          <a:bodyPr wrap="square" rtlCol="0">
            <a:spAutoFit/>
          </a:bodyPr>
          <a:lstStyle/>
          <a:p>
            <a:r>
              <a:rPr lang="en-US" altLang="en-US" sz="1600" b="1">
                <a:latin typeface="Times New Roman" panose="02020603050405020304" charset="0"/>
                <a:cs typeface="Times New Roman" panose="02020603050405020304" charset="0"/>
              </a:rPr>
              <a:t>На сваки чист снимак програмски су додате две врсте шума:</a:t>
            </a:r>
            <a:endParaRPr lang="en-US" altLang="en-US" sz="1600" b="1">
              <a:latin typeface="Times New Roman" panose="02020603050405020304" charset="0"/>
              <a:cs typeface="Times New Roman" panose="02020603050405020304" charset="0"/>
            </a:endParaRPr>
          </a:p>
        </p:txBody>
      </p:sp>
      <p:sp>
        <p:nvSpPr>
          <p:cNvPr id="12" name="Text Box 11"/>
          <p:cNvSpPr txBox="1"/>
          <p:nvPr/>
        </p:nvSpPr>
        <p:spPr>
          <a:xfrm>
            <a:off x="971550" y="4311015"/>
            <a:ext cx="7084695" cy="583565"/>
          </a:xfrm>
          <a:prstGeom prst="rect">
            <a:avLst/>
          </a:prstGeom>
        </p:spPr>
        <p:txBody>
          <a:bodyPr wrap="square">
            <a:spAutoFit/>
          </a:bodyPr>
          <a:lstStyle/>
          <a:p>
            <a:pPr algn="ctr"/>
            <a:r>
              <a:rPr lang="en-US" altLang="en-US" sz="1600" b="1">
                <a:latin typeface="Times New Roman" panose="02020603050405020304" charset="0"/>
                <a:cs typeface="Times New Roman" panose="02020603050405020304" charset="0"/>
              </a:rPr>
              <a:t>150 транскрипција</a:t>
            </a:r>
            <a:endParaRPr lang="en-US" altLang="en-US" sz="1600" b="1">
              <a:latin typeface="Times New Roman" panose="02020603050405020304" charset="0"/>
              <a:cs typeface="Times New Roman" panose="02020603050405020304" charset="0"/>
            </a:endParaRPr>
          </a:p>
          <a:p>
            <a:pPr algn="ctr"/>
            <a:r>
              <a:rPr lang="en-US" altLang="en-US" sz="1600">
                <a:latin typeface="Times New Roman" panose="02020603050405020304" charset="0"/>
                <a:cs typeface="Times New Roman" panose="02020603050405020304" charset="0"/>
              </a:rPr>
              <a:t>10 чистих + 140 зашумљених варијанти</a:t>
            </a:r>
            <a:endParaRPr lang="en-US" altLang="en-US" sz="1600">
              <a:latin typeface="Times New Roman" panose="02020603050405020304" charset="0"/>
              <a:cs typeface="Times New Roman" panose="02020603050405020304" charset="0"/>
            </a:endParaRPr>
          </a:p>
        </p:txBody>
      </p:sp>
      <p:sp>
        <p:nvSpPr>
          <p:cNvPr id="3" name="Rounded Rectangle 2"/>
          <p:cNvSpPr/>
          <p:nvPr/>
        </p:nvSpPr>
        <p:spPr>
          <a:xfrm>
            <a:off x="3059430" y="2787650"/>
            <a:ext cx="1176655"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altLang="en-US" b="1">
                <a:solidFill>
                  <a:schemeClr val="tx1"/>
                </a:solidFill>
                <a:latin typeface="Times New Roman" panose="02020603050405020304" charset="0"/>
                <a:cs typeface="Times New Roman" panose="02020603050405020304" charset="0"/>
                <a:sym typeface="+mn-ea"/>
              </a:rPr>
              <a:t>бели шум</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5" name="Rounded Rectangle 4"/>
          <p:cNvSpPr/>
          <p:nvPr/>
        </p:nvSpPr>
        <p:spPr>
          <a:xfrm>
            <a:off x="4610100" y="2787650"/>
            <a:ext cx="12369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b="1">
                <a:solidFill>
                  <a:schemeClr val="tx1"/>
                </a:solidFill>
                <a:latin typeface="Times New Roman" panose="02020603050405020304" charset="0"/>
                <a:cs typeface="Times New Roman" panose="02020603050405020304" charset="0"/>
                <a:sym typeface="+mn-ea"/>
              </a:rPr>
              <a:t>розе шум</a:t>
            </a:r>
            <a:endParaRPr lang="sr-Cyrl-BA" altLang="en-US" b="1">
              <a:solidFill>
                <a:schemeClr val="tx1"/>
              </a:solidFill>
              <a:latin typeface="Times New Roman" panose="02020603050405020304" charset="0"/>
              <a:cs typeface="Times New Roman" panose="02020603050405020304" charset="0"/>
              <a:sym typeface="+mn-ea"/>
            </a:endParaRPr>
          </a:p>
        </p:txBody>
      </p:sp>
      <p:sp>
        <p:nvSpPr>
          <p:cNvPr id="6" name="Text Box 5"/>
          <p:cNvSpPr txBox="1"/>
          <p:nvPr/>
        </p:nvSpPr>
        <p:spPr>
          <a:xfrm>
            <a:off x="1835785" y="3795395"/>
            <a:ext cx="5584190" cy="337185"/>
          </a:xfrm>
          <a:prstGeom prst="rect">
            <a:avLst/>
          </a:prstGeom>
          <a:noFill/>
        </p:spPr>
        <p:txBody>
          <a:bodyPr wrap="square" rtlCol="0">
            <a:spAutoFit/>
          </a:bodyPr>
          <a:lstStyle/>
          <a:p>
            <a:pPr algn="ctr">
              <a:buSzTx/>
            </a:pPr>
            <a:r>
              <a:rPr lang="en-US" altLang="en-US" sz="1600" b="1" dirty="0">
                <a:latin typeface="Times New Roman" panose="02020603050405020304" charset="0"/>
                <a:cs typeface="Times New Roman" panose="02020603050405020304" charset="0"/>
              </a:rPr>
              <a:t>SNR </a:t>
            </a:r>
            <a:r>
              <a:rPr lang="en-US" altLang="en-US" sz="1600" b="1" dirty="0" err="1">
                <a:latin typeface="Times New Roman" panose="02020603050405020304" charset="0"/>
                <a:cs typeface="Times New Roman" panose="02020603050405020304" charset="0"/>
              </a:rPr>
              <a:t>нивои</a:t>
            </a:r>
            <a:r>
              <a:rPr lang="en-US" altLang="en-US" sz="1600" b="1" dirty="0">
                <a:latin typeface="Times New Roman" panose="02020603050405020304" charset="0"/>
                <a:cs typeface="Times New Roman" panose="02020603050405020304" charset="0"/>
              </a:rPr>
              <a:t>: 20 · 10 · 5 · 0 · −5 · −10 · −15 dB</a:t>
            </a:r>
            <a:endParaRPr lang="en-US" altLang="en-US" sz="1600" b="1" dirty="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59790" y="843915"/>
            <a:ext cx="7698740" cy="645795"/>
          </a:xfrm>
        </p:spPr>
        <p:txBody>
          <a:bodyPr/>
          <a:lstStyle/>
          <a:p>
            <a:pPr algn="l"/>
            <a:r>
              <a:rPr lang="en-US" altLang="en-US" sz="1600" b="1">
                <a:latin typeface="Times New Roman" panose="02020603050405020304" charset="0"/>
                <a:cs typeface="Times New Roman" panose="02020603050405020304" charset="0"/>
              </a:rPr>
              <a:t>Просеч</a:t>
            </a:r>
            <a:r>
              <a:rPr lang="sr-Cyrl-BA" altLang="en-US" sz="1600" b="1">
                <a:latin typeface="Times New Roman" panose="02020603050405020304" charset="0"/>
                <a:cs typeface="Times New Roman" panose="02020603050405020304" charset="0"/>
              </a:rPr>
              <a:t>на вредност</a:t>
            </a:r>
            <a:r>
              <a:rPr lang="en-US" altLang="en-US" sz="1600" b="1">
                <a:latin typeface="Times New Roman" panose="02020603050405020304" charset="0"/>
                <a:cs typeface="Times New Roman" panose="02020603050405020304" charset="0"/>
              </a:rPr>
              <a:t> WER</a:t>
            </a:r>
            <a:r>
              <a:rPr lang="sr-Cyrl-BA" altLang="en-US" sz="1600" b="1">
                <a:latin typeface="Times New Roman" panose="02020603050405020304" charset="0"/>
                <a:cs typeface="Times New Roman" panose="02020603050405020304" charset="0"/>
              </a:rPr>
              <a:t>-а</a:t>
            </a:r>
            <a:r>
              <a:rPr lang="en-US" altLang="en-US" sz="1600" b="1">
                <a:latin typeface="Times New Roman" panose="02020603050405020304" charset="0"/>
                <a:cs typeface="Times New Roman" panose="02020603050405020304" charset="0"/>
              </a:rPr>
              <a:t> у зависности од SNR-а · 10</a:t>
            </a:r>
            <a:r>
              <a:rPr lang="sr-Cyrl-BA" altLang="en-US" sz="1600" b="1">
                <a:latin typeface="Times New Roman" panose="02020603050405020304" charset="0"/>
                <a:cs typeface="Times New Roman" panose="02020603050405020304" charset="0"/>
              </a:rPr>
              <a:t> </a:t>
            </a:r>
            <a:r>
              <a:rPr lang="en-US" altLang="en-US" sz="1600" b="1">
                <a:latin typeface="Times New Roman" panose="02020603050405020304" charset="0"/>
                <a:cs typeface="Times New Roman" panose="02020603050405020304" charset="0"/>
              </a:rPr>
              <a:t>снимака</a:t>
            </a:r>
            <a:r>
              <a:rPr lang="sr-Cyrl-BA" altLang="en-US" sz="1600" b="1">
                <a:latin typeface="Times New Roman" panose="02020603050405020304" charset="0"/>
                <a:cs typeface="Times New Roman" panose="02020603050405020304" charset="0"/>
              </a:rPr>
              <a:t> </a:t>
            </a:r>
            <a:endParaRPr lang="sr-Cyrl-BA"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dirty="0" err="1">
                <a:solidFill>
                  <a:schemeClr val="tx1"/>
                </a:solidFill>
                <a:latin typeface="Times New Roman" panose="02020603050405020304" charset="0"/>
                <a:cs typeface="Times New Roman" panose="02020603050405020304" charset="0"/>
              </a:rPr>
              <a:t>Утицај</a:t>
            </a: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шума</a:t>
            </a: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на</a:t>
            </a: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тачност</a:t>
            </a: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транскрипције</a:t>
            </a:r>
            <a:endParaRPr lang="en-US" altLang="en-US" dirty="0">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685803" y="4000023"/>
            <a:ext cx="7530147" cy="1143635"/>
          </a:xfrm>
          <a:prstGeom prst="rect">
            <a:avLst/>
          </a:prstGeom>
          <a:noFill/>
        </p:spPr>
        <p:txBody>
          <a:bodyPr wrap="square" rtlCol="0">
            <a:noAutofit/>
          </a:bodyPr>
          <a:lstStyle/>
          <a:p>
            <a:pPr algn="ctr"/>
            <a:r>
              <a:rPr lang="en-US" altLang="en-US" b="1" dirty="0" err="1">
                <a:latin typeface="Times New Roman" panose="02020603050405020304" charset="0"/>
                <a:cs typeface="Times New Roman" panose="02020603050405020304" charset="0"/>
              </a:rPr>
              <a:t>Без</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додатог</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шума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просечан</a:t>
            </a:r>
            <a:r>
              <a:rPr lang="en-US" altLang="en-US" b="1" dirty="0">
                <a:latin typeface="Times New Roman" panose="02020603050405020304" charset="0"/>
                <a:cs typeface="Times New Roman" panose="02020603050405020304" charset="0"/>
              </a:rPr>
              <a:t> WER </a:t>
            </a:r>
            <a:r>
              <a:rPr lang="en-US" altLang="en-US" b="1" dirty="0" err="1">
                <a:latin typeface="Times New Roman" panose="02020603050405020304" charset="0"/>
                <a:cs typeface="Times New Roman" panose="02020603050405020304" charset="0"/>
              </a:rPr>
              <a:t>износи</a:t>
            </a:r>
            <a:r>
              <a:rPr lang="en-US" altLang="en-US" b="1" dirty="0">
                <a:latin typeface="Times New Roman" panose="02020603050405020304" charset="0"/>
                <a:cs typeface="Times New Roman" panose="02020603050405020304" charset="0"/>
              </a:rPr>
              <a:t> 47,89%, </a:t>
            </a:r>
            <a:r>
              <a:rPr lang="en-US" altLang="en-US" b="1" dirty="0" err="1">
                <a:latin typeface="Times New Roman" panose="02020603050405020304" charset="0"/>
                <a:cs typeface="Times New Roman" panose="02020603050405020304" charset="0"/>
              </a:rPr>
              <a:t>док</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при</a:t>
            </a:r>
            <a:r>
              <a:rPr lang="en-US" altLang="en-US" b="1" dirty="0">
                <a:latin typeface="Times New Roman" panose="02020603050405020304" charset="0"/>
                <a:cs typeface="Times New Roman" panose="02020603050405020304" charset="0"/>
              </a:rPr>
              <a:t> 0 dB </a:t>
            </a:r>
            <a:r>
              <a:rPr lang="en-US" altLang="en-US" b="1" dirty="0" err="1">
                <a:latin typeface="Times New Roman" panose="02020603050405020304" charset="0"/>
                <a:cs typeface="Times New Roman" panose="02020603050405020304" charset="0"/>
              </a:rPr>
              <a:t>расте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на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приближно</a:t>
            </a:r>
            <a:r>
              <a:rPr lang="en-US" altLang="en-US" b="1" dirty="0">
                <a:latin typeface="Times New Roman" panose="02020603050405020304" charset="0"/>
                <a:cs typeface="Times New Roman" panose="02020603050405020304" charset="0"/>
              </a:rPr>
              <a:t> 82,7%.</a:t>
            </a:r>
            <a:endParaRPr lang="en-US" altLang="en-US" b="1" dirty="0">
              <a:latin typeface="Times New Roman" panose="02020603050405020304" charset="0"/>
              <a:cs typeface="Times New Roman" panose="02020603050405020304" charset="0"/>
            </a:endParaRPr>
          </a:p>
          <a:p>
            <a:pPr algn="ctr"/>
            <a:endParaRPr lang="sr-Latn-RS" altLang="en-US" b="1" dirty="0">
              <a:latin typeface="Times New Roman" panose="02020603050405020304" charset="0"/>
              <a:cs typeface="Times New Roman" panose="02020603050405020304" charset="0"/>
            </a:endParaRPr>
          </a:p>
          <a:p>
            <a:pPr algn="ctr"/>
            <a:r>
              <a:rPr lang="en-US" altLang="en-US" b="1" dirty="0">
                <a:latin typeface="Times New Roman" panose="02020603050405020304" charset="0"/>
                <a:cs typeface="Times New Roman" panose="02020603050405020304" charset="0"/>
              </a:rPr>
              <a:t>Пад WER-а са 115,34% </a:t>
            </a:r>
            <a:r>
              <a:rPr lang="sr-Cyrl-BA" altLang="en-US" b="1" dirty="0">
                <a:latin typeface="Times New Roman" panose="02020603050405020304" charset="0"/>
                <a:cs typeface="Times New Roman" panose="02020603050405020304" charset="0"/>
              </a:rPr>
              <a:t>код</a:t>
            </a:r>
            <a:r>
              <a:rPr lang="en-US" altLang="en-US" b="1" dirty="0">
                <a:latin typeface="Times New Roman" panose="02020603050405020304" charset="0"/>
                <a:cs typeface="Times New Roman" panose="02020603050405020304" charset="0"/>
              </a:rPr>
              <a:t> −10 dB на 100,67% при −15 dB не значи побољшање модела. При екстремном шуму транскрипција постаје нестабилна, а WER зависи од броја замена, брисања и уметања речи, па не мора монотоно да расте са јачином шума.</a:t>
            </a:r>
            <a:endParaRPr lang="en-US" altLang="en-US" b="1" dirty="0">
              <a:latin typeface="Times New Roman" panose="02020603050405020304" charset="0"/>
              <a:cs typeface="Times New Roman" panose="02020603050405020304" charset="0"/>
            </a:endParaRPr>
          </a:p>
          <a:p>
            <a:pPr algn="ctr"/>
            <a:endParaRPr lang="sr-Latn-RS" altLang="en-US" b="1" dirty="0">
              <a:latin typeface="Times New Roman" panose="02020603050405020304" charset="0"/>
              <a:cs typeface="Times New Roman" panose="02020603050405020304" charset="0"/>
            </a:endParaRPr>
          </a:p>
          <a:p>
            <a:pPr algn="just"/>
            <a:endParaRPr lang="en-US" altLang="en-US" b="1" dirty="0">
              <a:solidFill>
                <a:srgbClr val="C00000"/>
              </a:solidFill>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1"/>
          <a:stretch>
            <a:fillRect/>
          </a:stretch>
        </p:blipFill>
        <p:spPr>
          <a:xfrm>
            <a:off x="1590040" y="1214755"/>
            <a:ext cx="5835015" cy="27851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171575" y="843915"/>
            <a:ext cx="7077710" cy="645795"/>
          </a:xfrm>
        </p:spPr>
        <p:txBody>
          <a:bodyPr/>
          <a:lstStyle/>
          <a:p>
            <a:pPr algn="l"/>
            <a:r>
              <a:rPr lang="en-US" altLang="en-US" sz="1600" b="1">
                <a:latin typeface="Times New Roman" panose="02020603050405020304" charset="0"/>
                <a:cs typeface="Times New Roman" panose="02020603050405020304" charset="0"/>
              </a:rPr>
              <a:t>Faster-Whisper Base INT8 · 5 SR + 5 EN синтетичких снимака (gTTS)</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dirty="0" err="1">
                <a:latin typeface="Times New Roman" panose="02020603050405020304" charset="0"/>
                <a:cs typeface="Times New Roman" panose="02020603050405020304" charset="0"/>
              </a:rPr>
              <a:t>Поређење</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српског</a:t>
            </a:r>
            <a:r>
              <a:rPr lang="en-US" altLang="en-US" dirty="0">
                <a:latin typeface="Times New Roman" panose="02020603050405020304" charset="0"/>
                <a:cs typeface="Times New Roman" panose="02020603050405020304" charset="0"/>
              </a:rPr>
              <a:t> и </a:t>
            </a:r>
            <a:r>
              <a:rPr lang="en-US" altLang="en-US" dirty="0" err="1">
                <a:latin typeface="Times New Roman" panose="02020603050405020304" charset="0"/>
                <a:cs typeface="Times New Roman" panose="02020603050405020304" charset="0"/>
              </a:rPr>
              <a:t>енглеског</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говора</a:t>
            </a:r>
            <a:endParaRPr lang="en-US" altLang="en-US" dirty="0">
              <a:latin typeface="Times New Roman" panose="02020603050405020304" charset="0"/>
              <a:cs typeface="Times New Roman" panose="02020603050405020304" charset="0"/>
            </a:endParaRPr>
          </a:p>
        </p:txBody>
      </p:sp>
      <p:sp>
        <p:nvSpPr>
          <p:cNvPr id="3" name="Text Box 2"/>
          <p:cNvSpPr txBox="1"/>
          <p:nvPr/>
        </p:nvSpPr>
        <p:spPr>
          <a:xfrm>
            <a:off x="784939" y="4409440"/>
            <a:ext cx="7570311" cy="521970"/>
          </a:xfrm>
          <a:prstGeom prst="rect">
            <a:avLst/>
          </a:prstGeom>
          <a:noFill/>
        </p:spPr>
        <p:txBody>
          <a:bodyPr wrap="square" rtlCol="0">
            <a:spAutoFit/>
          </a:bodyPr>
          <a:lstStyle/>
          <a:p>
            <a:pPr algn="ctr"/>
            <a:r>
              <a:rPr lang="en-US" altLang="en-US" b="1" dirty="0" err="1">
                <a:latin typeface="Times New Roman" panose="02020603050405020304" charset="0"/>
                <a:cs typeface="Times New Roman" panose="02020603050405020304" charset="0"/>
              </a:rPr>
              <a:t>Разлика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просечног</a:t>
            </a:r>
            <a:r>
              <a:rPr lang="en-US" altLang="en-US" b="1" dirty="0">
                <a:latin typeface="Times New Roman" panose="02020603050405020304" charset="0"/>
                <a:cs typeface="Times New Roman" panose="02020603050405020304" charset="0"/>
              </a:rPr>
              <a:t> WER-а: 40,67 </a:t>
            </a:r>
            <a:r>
              <a:rPr lang="en-US" altLang="en-US" b="1" dirty="0" err="1">
                <a:latin typeface="Times New Roman" panose="02020603050405020304" charset="0"/>
                <a:cs typeface="Times New Roman" panose="02020603050405020304" charset="0"/>
              </a:rPr>
              <a:t>процентних</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поена</a:t>
            </a:r>
            <a:r>
              <a:rPr lang="en-US" altLang="en-US" b="1" dirty="0">
                <a:latin typeface="Times New Roman" panose="02020603050405020304" charset="0"/>
                <a:cs typeface="Times New Roman" panose="02020603050405020304" charset="0"/>
              </a:rPr>
              <a:t>.</a:t>
            </a:r>
            <a:endParaRPr lang="en-US" altLang="en-US" b="1" dirty="0">
              <a:latin typeface="Times New Roman" panose="02020603050405020304" charset="0"/>
              <a:cs typeface="Times New Roman" panose="02020603050405020304" charset="0"/>
            </a:endParaRPr>
          </a:p>
          <a:p>
            <a:pPr algn="ctr"/>
            <a:r>
              <a:rPr lang="en-US" altLang="en-US" b="1" dirty="0">
                <a:latin typeface="Times New Roman" panose="02020603050405020304" charset="0"/>
                <a:cs typeface="Times New Roman" panose="02020603050405020304" charset="0"/>
              </a:rPr>
              <a:t>У </a:t>
            </a:r>
            <a:r>
              <a:rPr lang="en-US" altLang="en-US" b="1" dirty="0" err="1">
                <a:latin typeface="Times New Roman" panose="02020603050405020304" charset="0"/>
                <a:cs typeface="Times New Roman" panose="02020603050405020304" charset="0"/>
              </a:rPr>
              <a:t>условима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овог</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експеримента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енглески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синтетички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говор</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остварује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знатно</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нижи</a:t>
            </a:r>
            <a:r>
              <a:rPr lang="en-US" altLang="en-US" b="1" dirty="0">
                <a:latin typeface="Times New Roman" panose="02020603050405020304" charset="0"/>
                <a:cs typeface="Times New Roman" panose="02020603050405020304" charset="0"/>
              </a:rPr>
              <a:t> WER.</a:t>
            </a:r>
            <a:endParaRPr lang="en-US" altLang="en-US" b="1" dirty="0">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5733415" y="1619250"/>
          <a:ext cx="2442210" cy="2531745"/>
        </p:xfrm>
        <a:graphic>
          <a:graphicData uri="http://schemas.openxmlformats.org/drawingml/2006/table">
            <a:tbl>
              <a:tblPr firstRow="1" bandRow="1">
                <a:tableStyleId>{5C22544A-7EE6-4342-B048-85BDC9FD1C3A}</a:tableStyleId>
              </a:tblPr>
              <a:tblGrid>
                <a:gridCol w="962660"/>
                <a:gridCol w="803275"/>
                <a:gridCol w="676275"/>
              </a:tblGrid>
              <a:tr h="611505">
                <a:tc>
                  <a:txBody>
                    <a:bodyPr/>
                    <a:lstStyle/>
                    <a:p>
                      <a:pPr algn="ctr"/>
                      <a:r>
                        <a:rPr lang="en-US" altLang="zh-CN" sz="1400" b="1">
                          <a:solidFill>
                            <a:schemeClr val="tx1"/>
                          </a:solidFill>
                          <a:latin typeface="Times New Roman" panose="02020603050405020304" charset="0"/>
                          <a:cs typeface="Times New Roman" panose="02020603050405020304" charset="0"/>
                        </a:rPr>
                        <a:t>Метрика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Енглески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Српски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611505">
                <a:tc>
                  <a:txBody>
                    <a:bodyPr/>
                    <a:lstStyle/>
                    <a:p>
                      <a:pPr algn="ctr">
                        <a:buNone/>
                      </a:pPr>
                      <a:r>
                        <a:rPr lang="sr-Cyrl-BA" altLang="en-US" sz="1400" b="1">
                          <a:solidFill>
                            <a:schemeClr val="tx1"/>
                          </a:solidFill>
                          <a:latin typeface="Times New Roman" panose="02020603050405020304" charset="0"/>
                          <a:cs typeface="Times New Roman" panose="02020603050405020304" charset="0"/>
                        </a:rPr>
                        <a:t>Просечна</a:t>
                      </a:r>
                      <a:endParaRPr lang="sr-Cyrl-BA" altLang="en-US" sz="1400" b="1">
                        <a:solidFill>
                          <a:schemeClr val="tx1"/>
                        </a:solidFill>
                        <a:latin typeface="Times New Roman" panose="02020603050405020304" charset="0"/>
                        <a:cs typeface="Times New Roman" panose="02020603050405020304" charset="0"/>
                      </a:endParaRPr>
                    </a:p>
                    <a:p>
                      <a:pPr algn="ctr">
                        <a:buNone/>
                      </a:pPr>
                      <a:r>
                        <a:rPr lang="sr-Cyrl-BA" altLang="en-US" sz="1400" b="1">
                          <a:solidFill>
                            <a:schemeClr val="tx1"/>
                          </a:solidFill>
                          <a:latin typeface="Times New Roman" panose="02020603050405020304" charset="0"/>
                          <a:cs typeface="Times New Roman" panose="02020603050405020304" charset="0"/>
                        </a:rPr>
                        <a:t>вредност</a:t>
                      </a:r>
                      <a:endParaRPr lang="sr-Cyrl-BA" altLang="en-US" sz="1400" b="1">
                        <a:solidFill>
                          <a:schemeClr val="tx1"/>
                        </a:solidFill>
                        <a:latin typeface="Times New Roman" panose="02020603050405020304" charset="0"/>
                        <a:cs typeface="Times New Roman" panose="02020603050405020304" charset="0"/>
                      </a:endParaRPr>
                    </a:p>
                    <a:p>
                      <a:pPr algn="ctr">
                        <a:buNone/>
                      </a:pPr>
                      <a:r>
                        <a:rPr lang="en-US" altLang="sr-Cyrl-BA" sz="1400" b="1">
                          <a:solidFill>
                            <a:schemeClr val="tx1"/>
                          </a:solidFill>
                          <a:latin typeface="Times New Roman" panose="02020603050405020304" charset="0"/>
                          <a:cs typeface="Times New Roman" panose="02020603050405020304" charset="0"/>
                        </a:rPr>
                        <a:t>WER</a:t>
                      </a:r>
                      <a:r>
                        <a:rPr lang="sr-Cyrl-BA" altLang="en-US" sz="1400" b="1">
                          <a:solidFill>
                            <a:schemeClr val="tx1"/>
                          </a:solidFill>
                          <a:latin typeface="Times New Roman" panose="02020603050405020304" charset="0"/>
                          <a:cs typeface="Times New Roman" panose="02020603050405020304" charset="0"/>
                        </a:rPr>
                        <a:t>-а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400" b="1">
                          <a:solidFill>
                            <a:schemeClr val="tx1"/>
                          </a:solidFill>
                          <a:latin typeface="Times New Roman" panose="02020603050405020304" charset="0"/>
                          <a:cs typeface="Times New Roman" panose="02020603050405020304" charset="0"/>
                        </a:rPr>
                        <a:t>3,50%</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buNone/>
                      </a:pPr>
                      <a:r>
                        <a:rPr lang="sr-Cyrl-BA" altLang="en-US" sz="1400" b="1">
                          <a:solidFill>
                            <a:schemeClr val="tx1"/>
                          </a:solidFill>
                          <a:latin typeface="Times New Roman" panose="02020603050405020304" charset="0"/>
                          <a:cs typeface="Times New Roman" panose="02020603050405020304" charset="0"/>
                        </a:rPr>
                        <a:t>44,17%</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87985">
                <a:tc>
                  <a:txBody>
                    <a:bodyPr/>
                    <a:lstStyle/>
                    <a:p>
                      <a:pPr algn="ctr"/>
                      <a:r>
                        <a:rPr lang="en-US" altLang="zh-CN" sz="1400" b="1">
                          <a:solidFill>
                            <a:schemeClr val="tx1"/>
                          </a:solidFill>
                          <a:latin typeface="Times New Roman" panose="02020603050405020304" charset="0"/>
                          <a:cs typeface="Times New Roman" panose="02020603050405020304" charset="0"/>
                        </a:rPr>
                        <a:t>WER</a:t>
                      </a:r>
                      <a:r>
                        <a:rPr lang="sr-Cyrl-BA" altLang="en-US" sz="1400" b="1">
                          <a:solidFill>
                            <a:schemeClr val="tx1"/>
                          </a:solidFill>
                          <a:latin typeface="Times New Roman" panose="02020603050405020304" charset="0"/>
                          <a:cs typeface="Times New Roman" panose="02020603050405020304" charset="0"/>
                        </a:rPr>
                        <a:t> на нивоу корпуса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3,30%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43,93%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49580">
                <a:tc>
                  <a:txBody>
                    <a:bodyPr/>
                    <a:lstStyle/>
                    <a:p>
                      <a:pPr algn="ctr"/>
                      <a:r>
                        <a:rPr lang="en-US" altLang="zh-CN" sz="1400" b="1">
                          <a:solidFill>
                            <a:schemeClr val="tx1"/>
                          </a:solidFill>
                          <a:latin typeface="Times New Roman" panose="02020603050405020304" charset="0"/>
                          <a:cs typeface="Times New Roman" panose="02020603050405020304" charset="0"/>
                        </a:rPr>
                        <a:t>Просеч</a:t>
                      </a:r>
                      <a:r>
                        <a:rPr lang="sr-Cyrl-BA" altLang="en-US" sz="1400" b="1">
                          <a:solidFill>
                            <a:schemeClr val="tx1"/>
                          </a:solidFill>
                          <a:latin typeface="Times New Roman" panose="02020603050405020304" charset="0"/>
                          <a:cs typeface="Times New Roman" panose="02020603050405020304" charset="0"/>
                        </a:rPr>
                        <a:t>на вредност</a:t>
                      </a:r>
                      <a:r>
                        <a:rPr lang="en-US" altLang="zh-CN" sz="1400" b="1">
                          <a:solidFill>
                            <a:schemeClr val="tx1"/>
                          </a:solidFill>
                          <a:latin typeface="Times New Roman" panose="02020603050405020304" charset="0"/>
                          <a:cs typeface="Times New Roman" panose="02020603050405020304" charset="0"/>
                        </a:rPr>
                        <a:t> RTF</a:t>
                      </a:r>
                      <a:r>
                        <a:rPr lang="sr-Cyrl-BA" altLang="en-US" sz="1400" b="1">
                          <a:solidFill>
                            <a:schemeClr val="tx1"/>
                          </a:solidFill>
                          <a:latin typeface="Times New Roman" panose="02020603050405020304" charset="0"/>
                          <a:cs typeface="Times New Roman" panose="02020603050405020304" charset="0"/>
                        </a:rPr>
                        <a:t>-а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0,076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0,114</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5" name="Picture 4"/>
          <p:cNvPicPr>
            <a:picLocks noChangeAspect="1"/>
          </p:cNvPicPr>
          <p:nvPr/>
        </p:nvPicPr>
        <p:blipFill>
          <a:blip r:embed="rId2"/>
          <a:stretch>
            <a:fillRect/>
          </a:stretch>
        </p:blipFill>
        <p:spPr>
          <a:xfrm>
            <a:off x="843915" y="1748790"/>
            <a:ext cx="4725035" cy="24022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20725" y="914400"/>
            <a:ext cx="7698740" cy="645795"/>
          </a:xfrm>
        </p:spPr>
        <p:txBody>
          <a:bodyPr/>
          <a:lstStyle/>
          <a:p>
            <a:pPr algn="l"/>
            <a:r>
              <a:rPr lang="en-US" altLang="en-US" sz="1600" b="1">
                <a:latin typeface="Times New Roman" panose="02020603050405020304" charset="0"/>
                <a:cs typeface="Times New Roman" panose="02020603050405020304" charset="0"/>
              </a:rPr>
              <a:t>15 снимака</a:t>
            </a:r>
            <a:r>
              <a:rPr lang="sr-Cyrl-BA" altLang="en-US" sz="1600" b="1">
                <a:latin typeface="Times New Roman" panose="02020603050405020304" charset="0"/>
                <a:cs typeface="Times New Roman" panose="02020603050405020304" charset="0"/>
              </a:rPr>
              <a:t> </a:t>
            </a:r>
            <a:r>
              <a:rPr lang="en-US" altLang="en-US" sz="1600" b="1">
                <a:latin typeface="Times New Roman" panose="02020603050405020304" charset="0"/>
                <a:cs typeface="Times New Roman" panose="02020603050405020304" charset="0"/>
              </a:rPr>
              <a:t> · Faster-Whisper Base INT8</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dirty="0" err="1">
                <a:solidFill>
                  <a:schemeClr val="tx1"/>
                </a:solidFill>
                <a:latin typeface="Times New Roman" panose="02020603050405020304" charset="0"/>
                <a:cs typeface="Times New Roman" panose="02020603050405020304" charset="0"/>
              </a:rPr>
              <a:t>Утицај</a:t>
            </a:r>
            <a:r>
              <a:rPr lang="en-US" altLang="en-US" dirty="0">
                <a:solidFill>
                  <a:schemeClr val="tx1"/>
                </a:solidFill>
                <a:latin typeface="Times New Roman" panose="02020603050405020304" charset="0"/>
                <a:cs typeface="Times New Roman" panose="02020603050405020304" charset="0"/>
              </a:rPr>
              <a:t> </a:t>
            </a:r>
            <a:r>
              <a:rPr lang="sr-Cyrl-BA" altLang="en-US" dirty="0">
                <a:solidFill>
                  <a:schemeClr val="tx1"/>
                </a:solidFill>
                <a:latin typeface="Times New Roman" panose="02020603050405020304" charset="0"/>
                <a:cs typeface="Times New Roman" panose="02020603050405020304" charset="0"/>
              </a:rPr>
              <a:t>параметра </a:t>
            </a:r>
            <a:r>
              <a:rPr lang="en-US" altLang="sr-Cyrl-BA" dirty="0">
                <a:solidFill>
                  <a:schemeClr val="tx1"/>
                </a:solidFill>
                <a:latin typeface="Times New Roman" panose="02020603050405020304" charset="0"/>
                <a:cs typeface="Times New Roman" panose="02020603050405020304" charset="0"/>
              </a:rPr>
              <a:t>b</a:t>
            </a:r>
            <a:r>
              <a:rPr lang="en-US" altLang="en-US" dirty="0">
                <a:solidFill>
                  <a:schemeClr val="tx1"/>
                </a:solidFill>
                <a:latin typeface="Times New Roman" panose="02020603050405020304" charset="0"/>
                <a:cs typeface="Times New Roman" panose="02020603050405020304" charset="0"/>
              </a:rPr>
              <a:t>eam size </a:t>
            </a:r>
            <a:endParaRPr lang="en-US" altLang="en-US" dirty="0">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1272540" y="4228465"/>
            <a:ext cx="6713855" cy="521970"/>
          </a:xfrm>
          <a:prstGeom prst="rect">
            <a:avLst/>
          </a:prstGeom>
          <a:noFill/>
        </p:spPr>
        <p:txBody>
          <a:bodyPr wrap="square" rtlCol="0">
            <a:spAutoFit/>
          </a:bodyPr>
          <a:lstStyle/>
          <a:p>
            <a:pPr algn="ctr"/>
            <a:r>
              <a:rPr lang="en-US" altLang="en-US" b="1" dirty="0" err="1">
                <a:solidFill>
                  <a:schemeClr val="tx1"/>
                </a:solidFill>
                <a:latin typeface="Times New Roman" panose="02020603050405020304" charset="0"/>
                <a:cs typeface="Times New Roman" panose="02020603050405020304" charset="0"/>
              </a:rPr>
              <a:t>Најнижи</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просечан</a:t>
            </a:r>
            <a:r>
              <a:rPr lang="en-US" altLang="en-US" b="1" dirty="0">
                <a:solidFill>
                  <a:schemeClr val="tx1"/>
                </a:solidFill>
                <a:latin typeface="Times New Roman" panose="02020603050405020304" charset="0"/>
                <a:cs typeface="Times New Roman" panose="02020603050405020304" charset="0"/>
              </a:rPr>
              <a:t> WER </a:t>
            </a:r>
            <a:r>
              <a:rPr lang="en-US" altLang="en-US" b="1" dirty="0" err="1">
                <a:solidFill>
                  <a:schemeClr val="tx1"/>
                </a:solidFill>
                <a:latin typeface="Times New Roman" panose="02020603050405020304" charset="0"/>
                <a:cs typeface="Times New Roman" panose="02020603050405020304" charset="0"/>
              </a:rPr>
              <a:t>остварен</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је</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за</a:t>
            </a:r>
            <a:r>
              <a:rPr lang="en-US" altLang="en-US" b="1" dirty="0">
                <a:solidFill>
                  <a:schemeClr val="tx1"/>
                </a:solidFill>
                <a:latin typeface="Times New Roman" panose="02020603050405020304" charset="0"/>
                <a:cs typeface="Times New Roman" panose="02020603050405020304" charset="0"/>
              </a:rPr>
              <a:t> beam size=5, </a:t>
            </a:r>
            <a:r>
              <a:rPr lang="en-US" altLang="en-US" b="1" dirty="0" err="1">
                <a:solidFill>
                  <a:schemeClr val="tx1"/>
                </a:solidFill>
                <a:latin typeface="Times New Roman" panose="02020603050405020304" charset="0"/>
                <a:cs typeface="Times New Roman" panose="02020603050405020304" charset="0"/>
              </a:rPr>
              <a:t>уз</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прихватљив</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компромис</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између</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тачности</a:t>
            </a:r>
            <a:r>
              <a:rPr lang="en-US" altLang="en-US" b="1" dirty="0">
                <a:solidFill>
                  <a:schemeClr val="tx1"/>
                </a:solidFill>
                <a:latin typeface="Times New Roman" panose="02020603050405020304" charset="0"/>
                <a:cs typeface="Times New Roman" panose="02020603050405020304" charset="0"/>
              </a:rPr>
              <a:t> и </a:t>
            </a:r>
            <a:r>
              <a:rPr lang="en-US" altLang="en-US" b="1" dirty="0" err="1">
                <a:solidFill>
                  <a:schemeClr val="tx1"/>
                </a:solidFill>
                <a:latin typeface="Times New Roman" panose="02020603050405020304" charset="0"/>
                <a:cs typeface="Times New Roman" panose="02020603050405020304" charset="0"/>
              </a:rPr>
              <a:t>времена</a:t>
            </a:r>
            <a:r>
              <a:rPr lang="en-US" altLang="en-US" b="1" dirty="0">
                <a:solidFill>
                  <a:schemeClr val="tx1"/>
                </a:solidFill>
                <a:latin typeface="Times New Roman" panose="02020603050405020304" charset="0"/>
                <a:cs typeface="Times New Roman" panose="02020603050405020304" charset="0"/>
              </a:rPr>
              <a:t> </a:t>
            </a:r>
            <a:r>
              <a:rPr lang="en-US" altLang="en-US" b="1" dirty="0" err="1">
                <a:solidFill>
                  <a:schemeClr val="tx1"/>
                </a:solidFill>
                <a:latin typeface="Times New Roman" panose="02020603050405020304" charset="0"/>
                <a:cs typeface="Times New Roman" panose="02020603050405020304" charset="0"/>
              </a:rPr>
              <a:t>обраде</a:t>
            </a:r>
            <a:r>
              <a:rPr lang="en-US" altLang="en-US" b="1" dirty="0">
                <a:solidFill>
                  <a:schemeClr val="tx1"/>
                </a:solidFill>
                <a:latin typeface="Times New Roman" panose="02020603050405020304" charset="0"/>
                <a:cs typeface="Times New Roman" panose="02020603050405020304" charset="0"/>
              </a:rPr>
              <a:t>.</a:t>
            </a:r>
            <a:endParaRPr lang="en-US" altLang="en-US" b="1" dirty="0">
              <a:solidFill>
                <a:schemeClr val="tx1"/>
              </a:solidFill>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3068320" y="1728470"/>
          <a:ext cx="3122295" cy="2000250"/>
        </p:xfrm>
        <a:graphic>
          <a:graphicData uri="http://schemas.openxmlformats.org/drawingml/2006/table">
            <a:tbl>
              <a:tblPr firstRow="1" bandRow="1">
                <a:tableStyleId>{5C22544A-7EE6-4342-B048-85BDC9FD1C3A}</a:tableStyleId>
              </a:tblPr>
              <a:tblGrid>
                <a:gridCol w="644525"/>
                <a:gridCol w="774065"/>
                <a:gridCol w="730250"/>
                <a:gridCol w="973455"/>
              </a:tblGrid>
              <a:tr h="661670">
                <a:tc>
                  <a:txBody>
                    <a:bodyPr/>
                    <a:lstStyle/>
                    <a:p>
                      <a:pPr algn="ctr"/>
                      <a:r>
                        <a:rPr lang="en-US" altLang="zh-CN" sz="1400" b="1">
                          <a:solidFill>
                            <a:schemeClr val="tx1"/>
                          </a:solidFill>
                          <a:latin typeface="Times New Roman" panose="02020603050405020304" charset="0"/>
                          <a:cs typeface="Times New Roman" panose="02020603050405020304" charset="0"/>
                        </a:rPr>
                        <a:t>Beam size</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Време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RTF</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p>
                      <a:pPr marL="0" algn="ctr">
                        <a:spcBef>
                          <a:spcPts val="0"/>
                        </a:spcBef>
                        <a:spcAft>
                          <a:spcPts val="0"/>
                        </a:spcAft>
                        <a:buSzTx/>
                      </a:pPr>
                      <a:r>
                        <a:rPr lang="en-US" altLang="zh-CN" sz="1400" b="1">
                          <a:solidFill>
                            <a:schemeClr val="tx1"/>
                          </a:solidFill>
                          <a:latin typeface="Times New Roman" panose="02020603050405020304" charset="0"/>
                          <a:cs typeface="Times New Roman" panose="02020603050405020304" charset="0"/>
                        </a:rPr>
                        <a:t>Просечан WER [%]</a:t>
                      </a:r>
                      <a:endParaRPr lang="en-US" altLang="zh-CN" sz="1400" b="1">
                        <a:solidFill>
                          <a:schemeClr val="tx1"/>
                        </a:solidFill>
                        <a:latin typeface="Times New Roman" panose="02020603050405020304" charset="0"/>
                        <a:cs typeface="Times New Roman" panose="02020603050405020304" charset="0"/>
                      </a:endParaRPr>
                    </a:p>
                  </a:txBody>
                  <a:tcPr marL="9525" marR="9525" marT="9525" marB="9525" anchor="ctr" anchorCtr="0">
                    <a:gradFill>
                      <a:gsLst>
                        <a:gs pos="50000">
                          <a:schemeClr val="accent3"/>
                        </a:gs>
                        <a:gs pos="0">
                          <a:schemeClr val="accent3">
                            <a:lumMod val="25000"/>
                            <a:lumOff val="75000"/>
                          </a:schemeClr>
                        </a:gs>
                        <a:gs pos="100000">
                          <a:schemeClr val="accent3">
                            <a:lumMod val="85000"/>
                          </a:schemeClr>
                        </a:gs>
                      </a:gsLst>
                      <a:lin ang="5400000" scaled="1"/>
                    </a:gradFill>
                  </a:tcPr>
                </a:tc>
              </a:tr>
              <a:tr h="300355">
                <a:tc>
                  <a:txBody>
                    <a:bodyPr/>
                    <a:lstStyle/>
                    <a:p>
                      <a:pPr algn="ctr"/>
                      <a:r>
                        <a:rPr lang="en-US" altLang="zh-CN" sz="1400" b="1">
                          <a:solidFill>
                            <a:schemeClr val="tx1"/>
                          </a:solidFill>
                          <a:latin typeface="Times New Roman" panose="02020603050405020304" charset="0"/>
                          <a:cs typeface="Times New Roman" panose="02020603050405020304" charset="0"/>
                        </a:rPr>
                        <a:t>1</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2,499</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0,1076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p>
                      <a:pPr marL="0" algn="ctr">
                        <a:spcBef>
                          <a:spcPts val="0"/>
                        </a:spcBef>
                        <a:spcAft>
                          <a:spcPts val="0"/>
                        </a:spcAft>
                        <a:buSzTx/>
                      </a:pPr>
                      <a:r>
                        <a:rPr lang="en-US" altLang="zh-CN" sz="1400" b="1">
                          <a:solidFill>
                            <a:schemeClr val="tx1"/>
                          </a:solidFill>
                          <a:latin typeface="Times New Roman" panose="02020603050405020304" charset="0"/>
                          <a:cs typeface="Times New Roman" panose="02020603050405020304" charset="0"/>
                        </a:rPr>
                        <a:t>49,09</a:t>
                      </a:r>
                      <a:endParaRPr lang="en-US" altLang="zh-CN" sz="1400" b="1">
                        <a:solidFill>
                          <a:schemeClr val="tx1"/>
                        </a:solidFill>
                        <a:latin typeface="Times New Roman" panose="02020603050405020304" charset="0"/>
                        <a:cs typeface="Times New Roman" panose="02020603050405020304" charset="0"/>
                      </a:endParaRPr>
                    </a:p>
                  </a:txBody>
                  <a:tcPr marL="9525" marR="9525" marT="9525" marB="9525" anchor="ctr" anchorCtr="0">
                    <a:gradFill>
                      <a:gsLst>
                        <a:gs pos="50000">
                          <a:schemeClr val="accent3"/>
                        </a:gs>
                        <a:gs pos="0">
                          <a:schemeClr val="accent3">
                            <a:lumMod val="25000"/>
                            <a:lumOff val="75000"/>
                          </a:schemeClr>
                        </a:gs>
                        <a:gs pos="100000">
                          <a:schemeClr val="accent3">
                            <a:lumMod val="85000"/>
                          </a:schemeClr>
                        </a:gs>
                      </a:gsLst>
                      <a:lin ang="5400000" scaled="1"/>
                    </a:gradFill>
                  </a:tcPr>
                </a:tc>
              </a:tr>
              <a:tr h="346075">
                <a:tc>
                  <a:txBody>
                    <a:bodyPr/>
                    <a:lstStyle/>
                    <a:p>
                      <a:pPr algn="ctr"/>
                      <a:r>
                        <a:rPr lang="en-US" altLang="zh-CN" sz="1400" b="1">
                          <a:solidFill>
                            <a:schemeClr val="tx1"/>
                          </a:solidFill>
                          <a:latin typeface="Times New Roman" panose="02020603050405020304" charset="0"/>
                          <a:cs typeface="Times New Roman" panose="02020603050405020304" charset="0"/>
                        </a:rPr>
                        <a:t>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3,276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0,1218</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p>
                      <a:pPr marL="0" algn="ctr">
                        <a:spcBef>
                          <a:spcPts val="0"/>
                        </a:spcBef>
                        <a:spcAft>
                          <a:spcPts val="0"/>
                        </a:spcAft>
                        <a:buSzTx/>
                      </a:pPr>
                      <a:r>
                        <a:rPr lang="en-US" altLang="zh-CN" sz="1400" b="1">
                          <a:solidFill>
                            <a:schemeClr val="tx1"/>
                          </a:solidFill>
                          <a:latin typeface="Times New Roman" panose="02020603050405020304" charset="0"/>
                          <a:cs typeface="Times New Roman" panose="02020603050405020304" charset="0"/>
                        </a:rPr>
                        <a:t>44,48</a:t>
                      </a:r>
                      <a:endParaRPr lang="en-US" altLang="zh-CN" sz="1400" b="1">
                        <a:solidFill>
                          <a:schemeClr val="tx1"/>
                        </a:solidFill>
                        <a:latin typeface="Times New Roman" panose="02020603050405020304" charset="0"/>
                        <a:cs typeface="Times New Roman" panose="02020603050405020304" charset="0"/>
                      </a:endParaRPr>
                    </a:p>
                  </a:txBody>
                  <a:tcPr marL="9525" marR="9525" marT="9525" marB="9525" anchor="ctr" anchorCtr="0">
                    <a:gradFill>
                      <a:gsLst>
                        <a:gs pos="50000">
                          <a:schemeClr val="accent3"/>
                        </a:gs>
                        <a:gs pos="0">
                          <a:schemeClr val="accent3">
                            <a:lumMod val="25000"/>
                            <a:lumOff val="75000"/>
                          </a:schemeClr>
                        </a:gs>
                        <a:gs pos="100000">
                          <a:schemeClr val="accent3">
                            <a:lumMod val="85000"/>
                          </a:schemeClr>
                        </a:gs>
                      </a:gsLst>
                      <a:lin ang="5400000" scaled="1"/>
                    </a:gradFill>
                  </a:tcPr>
                </a:tc>
              </a:tr>
              <a:tr h="346710">
                <a:tc>
                  <a:txBody>
                    <a:bodyPr/>
                    <a:lstStyle/>
                    <a:p>
                      <a:pPr algn="ctr"/>
                      <a:r>
                        <a:rPr lang="en-US" altLang="zh-CN" sz="1400" b="1">
                          <a:solidFill>
                            <a:schemeClr val="tx1"/>
                          </a:solidFill>
                          <a:latin typeface="Times New Roman" panose="02020603050405020304" charset="0"/>
                          <a:cs typeface="Times New Roman" panose="02020603050405020304" charset="0"/>
                        </a:rPr>
                        <a:t>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4,045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0,1425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p>
                      <a:pPr algn="ctr">
                        <a:spcBef>
                          <a:spcPts val="0"/>
                        </a:spcBef>
                        <a:spcAft>
                          <a:spcPts val="0"/>
                        </a:spcAft>
                        <a:buSzTx/>
                      </a:pPr>
                      <a:r>
                        <a:rPr lang="en-US" altLang="zh-CN" sz="1400" b="1">
                          <a:solidFill>
                            <a:schemeClr val="tx1"/>
                          </a:solidFill>
                          <a:latin typeface="Times New Roman" panose="02020603050405020304" charset="0"/>
                          <a:cs typeface="Times New Roman" panose="02020603050405020304" charset="0"/>
                        </a:rPr>
                        <a:t>43,17</a:t>
                      </a:r>
                      <a:endParaRPr lang="en-US" altLang="zh-CN" sz="1400" b="1">
                        <a:solidFill>
                          <a:schemeClr val="tx1"/>
                        </a:solidFill>
                        <a:latin typeface="Times New Roman" panose="02020603050405020304" charset="0"/>
                        <a:cs typeface="Times New Roman" panose="02020603050405020304" charset="0"/>
                      </a:endParaRPr>
                    </a:p>
                  </a:txBody>
                  <a:tcPr marL="9525" marR="9525" marT="9525" marB="9525" anchor="ctr" anchorCtr="0">
                    <a:gradFill>
                      <a:gsLst>
                        <a:gs pos="50000">
                          <a:schemeClr val="accent3"/>
                        </a:gs>
                        <a:gs pos="0">
                          <a:schemeClr val="accent3">
                            <a:lumMod val="25000"/>
                            <a:lumOff val="75000"/>
                          </a:schemeClr>
                        </a:gs>
                        <a:gs pos="100000">
                          <a:schemeClr val="accent3">
                            <a:lumMod val="85000"/>
                          </a:schemeClr>
                        </a:gs>
                      </a:gsLst>
                      <a:lin ang="5400000" scaled="1"/>
                    </a:gradFill>
                  </a:tcPr>
                </a:tc>
              </a:tr>
              <a:tr h="345440">
                <a:tc>
                  <a:txBody>
                    <a:bodyPr/>
                    <a:lstStyle/>
                    <a:p>
                      <a:pPr algn="ctr"/>
                      <a:r>
                        <a:rPr lang="en-US" altLang="zh-CN" sz="1400" b="1">
                          <a:solidFill>
                            <a:schemeClr val="tx1"/>
                          </a:solidFill>
                          <a:latin typeface="Times New Roman" panose="02020603050405020304" charset="0"/>
                          <a:cs typeface="Times New Roman" panose="02020603050405020304" charset="0"/>
                        </a:rPr>
                        <a:t>10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6,439</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0,1988</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p>
                      <a:pPr marL="0" algn="ctr">
                        <a:spcBef>
                          <a:spcPts val="0"/>
                        </a:spcBef>
                        <a:spcAft>
                          <a:spcPts val="0"/>
                        </a:spcAft>
                        <a:buSzTx/>
                      </a:pPr>
                      <a:r>
                        <a:rPr lang="en-US" altLang="zh-CN" sz="1400" b="1">
                          <a:solidFill>
                            <a:schemeClr val="tx1"/>
                          </a:solidFill>
                          <a:latin typeface="Times New Roman" panose="02020603050405020304" charset="0"/>
                          <a:cs typeface="Times New Roman" panose="02020603050405020304" charset="0"/>
                        </a:rPr>
                        <a:t>43,76</a:t>
                      </a:r>
                      <a:endParaRPr lang="en-US" altLang="zh-CN" sz="1400" b="1">
                        <a:solidFill>
                          <a:schemeClr val="tx1"/>
                        </a:solidFill>
                        <a:latin typeface="Times New Roman" panose="02020603050405020304" charset="0"/>
                        <a:cs typeface="Times New Roman" panose="02020603050405020304" charset="0"/>
                      </a:endParaRPr>
                    </a:p>
                  </a:txBody>
                  <a:tcPr marL="9525" marR="9525" marT="9525" marB="9525" anchor="ctr" anchorCtr="0">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668020" y="915670"/>
            <a:ext cx="7908925" cy="645795"/>
          </a:xfrm>
        </p:spPr>
        <p:txBody>
          <a:bodyPr/>
          <a:lstStyle/>
          <a:p>
            <a:pPr algn="l"/>
            <a:r>
              <a:rPr lang="en-US" altLang="en-US" sz="1600" b="1">
                <a:latin typeface="Times New Roman" panose="02020603050405020304" charset="0"/>
                <a:cs typeface="Times New Roman" panose="02020603050405020304" charset="0"/>
              </a:rPr>
              <a:t>40 снимака · 4 модела × 2 типа рачунске прецизности · 320 транскрипција</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Утицај INT8 квантизације на брзину</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115695" y="3895725"/>
            <a:ext cx="6713855" cy="1168400"/>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Убрзање INT8 у односу на FP32:</a:t>
            </a: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Tiny 1,34× · Base 1,38× · Small 1,49× · Medium 1,52×</a:t>
            </a:r>
            <a:endParaRPr lang="en-US" altLang="en-US" b="1">
              <a:latin typeface="Times New Roman" panose="02020603050405020304" charset="0"/>
              <a:cs typeface="Times New Roman" panose="02020603050405020304" charset="0"/>
            </a:endParaRPr>
          </a:p>
          <a:p>
            <a:pPr algn="ctr"/>
            <a:endParaRPr lang="en-US" altLang="en-US" b="1">
              <a:latin typeface="Times New Roman" panose="02020603050405020304" charset="0"/>
              <a:cs typeface="Times New Roman" panose="02020603050405020304" charset="0"/>
            </a:endParaRPr>
          </a:p>
          <a:p>
            <a:pPr algn="ctr"/>
            <a:r>
              <a:rPr lang="en-US" altLang="en-US" b="1">
                <a:latin typeface="Times New Roman" panose="02020603050405020304" charset="0"/>
                <a:cs typeface="Times New Roman" panose="02020603050405020304" charset="0"/>
              </a:rPr>
              <a:t>INT8 доноси убрзање код свих величина модела, а највећи добитак остварен је код Medium модела.</a:t>
            </a:r>
            <a:endParaRPr lang="en-US" altLang="en-US"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6269355" y="1711960"/>
          <a:ext cx="1873250" cy="1720215"/>
        </p:xfrm>
        <a:graphic>
          <a:graphicData uri="http://schemas.openxmlformats.org/drawingml/2006/table">
            <a:tbl>
              <a:tblPr firstRow="1" bandRow="1">
                <a:tableStyleId>{5C22544A-7EE6-4342-B048-85BDC9FD1C3A}</a:tableStyleId>
              </a:tblPr>
              <a:tblGrid>
                <a:gridCol w="668655"/>
                <a:gridCol w="619760"/>
                <a:gridCol w="584835"/>
              </a:tblGrid>
              <a:tr h="591820">
                <a:tc>
                  <a:txBody>
                    <a:bodyPr/>
                    <a:lstStyle/>
                    <a:p>
                      <a:pPr algn="ctr"/>
                      <a:r>
                        <a:rPr lang="en-US" altLang="zh-CN" sz="1400" b="1">
                          <a:solidFill>
                            <a:schemeClr val="tx1"/>
                          </a:solidFill>
                          <a:latin typeface="Times New Roman" panose="02020603050405020304" charset="0"/>
                          <a:cs typeface="Times New Roman" panose="02020603050405020304" charset="0"/>
                        </a:rPr>
                        <a:t>Модел</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INT8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FP32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252730">
                <a:tc>
                  <a:txBody>
                    <a:bodyPr/>
                    <a:lstStyle/>
                    <a:p>
                      <a:pPr algn="ctr"/>
                      <a:r>
                        <a:rPr lang="en-US" altLang="zh-CN" sz="1400" b="1">
                          <a:solidFill>
                            <a:schemeClr val="tx1"/>
                          </a:solidFill>
                          <a:latin typeface="Times New Roman" panose="02020603050405020304" charset="0"/>
                          <a:cs typeface="Times New Roman" panose="02020603050405020304" charset="0"/>
                        </a:rPr>
                        <a:t>Tiny</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1,453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1,945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292100">
                <a:tc>
                  <a:txBody>
                    <a:bodyPr/>
                    <a:lstStyle/>
                    <a:p>
                      <a:pPr algn="ctr"/>
                      <a:r>
                        <a:rPr lang="en-US" altLang="zh-CN" sz="1400" b="1">
                          <a:solidFill>
                            <a:schemeClr val="tx1"/>
                          </a:solidFill>
                          <a:latin typeface="Times New Roman" panose="02020603050405020304" charset="0"/>
                          <a:cs typeface="Times New Roman" panose="02020603050405020304" charset="0"/>
                        </a:rPr>
                        <a:t>Base</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2,590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3,581</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292100">
                <a:tc>
                  <a:txBody>
                    <a:bodyPr/>
                    <a:lstStyle/>
                    <a:p>
                      <a:pPr algn="ctr"/>
                      <a:r>
                        <a:rPr lang="en-US" altLang="zh-CN" sz="1400" b="1">
                          <a:solidFill>
                            <a:schemeClr val="tx1"/>
                          </a:solidFill>
                          <a:latin typeface="Times New Roman" panose="02020603050405020304" charset="0"/>
                          <a:cs typeface="Times New Roman" panose="02020603050405020304" charset="0"/>
                        </a:rPr>
                        <a:t>Small</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7,321</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10,876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291465">
                <a:tc>
                  <a:txBody>
                    <a:bodyPr/>
                    <a:lstStyle/>
                    <a:p>
                      <a:pPr algn="ctr"/>
                      <a:r>
                        <a:rPr lang="en-US" altLang="zh-CN" sz="1400" b="1">
                          <a:solidFill>
                            <a:schemeClr val="tx1"/>
                          </a:solidFill>
                          <a:latin typeface="Times New Roman" panose="02020603050405020304" charset="0"/>
                          <a:cs typeface="Times New Roman" panose="02020603050405020304" charset="0"/>
                        </a:rPr>
                        <a:t>Medium</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22,271</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33,955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2" name="Picture 1"/>
          <p:cNvPicPr>
            <a:picLocks noChangeAspect="1"/>
          </p:cNvPicPr>
          <p:nvPr/>
        </p:nvPicPr>
        <p:blipFill>
          <a:blip r:embed="rId2"/>
          <a:stretch>
            <a:fillRect/>
          </a:stretch>
        </p:blipFill>
        <p:spPr>
          <a:xfrm>
            <a:off x="1195705" y="1332865"/>
            <a:ext cx="4870450" cy="247840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99795" y="844550"/>
            <a:ext cx="7698740" cy="645795"/>
          </a:xfrm>
        </p:spPr>
        <p:txBody>
          <a:bodyPr/>
          <a:lstStyle/>
          <a:p>
            <a:pPr algn="l"/>
            <a:r>
              <a:rPr lang="en-US" altLang="en-US" sz="1600" b="1">
                <a:latin typeface="Times New Roman" panose="02020603050405020304" charset="0"/>
                <a:cs typeface="Times New Roman" panose="02020603050405020304" charset="0"/>
              </a:rPr>
              <a:t>Детекција делова аудио-сигнала који садрже говор</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Детекција говорне активности (VAD)</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259205" y="4516120"/>
            <a:ext cx="6713855" cy="306705"/>
          </a:xfrm>
          <a:prstGeom prst="rect">
            <a:avLst/>
          </a:prstGeom>
          <a:noFill/>
        </p:spPr>
        <p:txBody>
          <a:bodyPr wrap="square" rtlCol="0">
            <a:spAutoFit/>
          </a:bodyPr>
          <a:lstStyle/>
          <a:p>
            <a:pPr algn="ctr"/>
            <a:r>
              <a:rPr lang="en-US" altLang="en-US" b="1" dirty="0">
                <a:solidFill>
                  <a:schemeClr val="tx1"/>
                </a:solidFill>
                <a:latin typeface="Times New Roman" panose="02020603050405020304" charset="0"/>
                <a:cs typeface="Times New Roman" panose="02020603050405020304" charset="0"/>
              </a:rPr>
              <a:t>VAD </a:t>
            </a:r>
            <a:r>
              <a:rPr lang="en-US" altLang="en-US" b="1" dirty="0" err="1">
                <a:solidFill>
                  <a:schemeClr val="tx1"/>
                </a:solidFill>
                <a:latin typeface="Times New Roman" panose="02020603050405020304" charset="0"/>
                <a:cs typeface="Times New Roman" panose="02020603050405020304" charset="0"/>
              </a:rPr>
              <a:t>искључен</a:t>
            </a:r>
            <a:r>
              <a:rPr lang="en-US" altLang="en-US" b="1" dirty="0">
                <a:solidFill>
                  <a:schemeClr val="tx1"/>
                </a:solidFill>
                <a:latin typeface="Times New Roman" panose="02020603050405020304" charset="0"/>
                <a:cs typeface="Times New Roman" panose="02020603050405020304" charset="0"/>
              </a:rPr>
              <a:t> / </a:t>
            </a:r>
            <a:r>
              <a:rPr lang="en-US" altLang="en-US" b="1" dirty="0" err="1">
                <a:solidFill>
                  <a:schemeClr val="tx1"/>
                </a:solidFill>
                <a:latin typeface="Times New Roman" panose="02020603050405020304" charset="0"/>
                <a:cs typeface="Times New Roman" panose="02020603050405020304" charset="0"/>
              </a:rPr>
              <a:t>укључен</a:t>
            </a:r>
            <a:r>
              <a:rPr lang="en-US" altLang="en-US" b="1" dirty="0">
                <a:solidFill>
                  <a:schemeClr val="tx1"/>
                </a:solidFill>
                <a:latin typeface="Times New Roman" panose="02020603050405020304" charset="0"/>
                <a:cs typeface="Times New Roman" panose="02020603050405020304" charset="0"/>
              </a:rPr>
              <a:t> </a:t>
            </a:r>
            <a:r>
              <a:rPr lang="en-US" altLang="en-US" b="1" dirty="0">
                <a:latin typeface="Times New Roman" panose="02020603050405020304" charset="0"/>
                <a:cs typeface="Times New Roman" panose="02020603050405020304" charset="0"/>
              </a:rPr>
              <a:t>· Base INT8 · CPU · 3 </a:t>
            </a:r>
            <a:r>
              <a:rPr lang="en-US" altLang="en-US" b="1" dirty="0" err="1">
                <a:latin typeface="Times New Roman" panose="02020603050405020304" charset="0"/>
                <a:cs typeface="Times New Roman" panose="02020603050405020304" charset="0"/>
              </a:rPr>
              <a:t>мерења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времена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по</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режиму</a:t>
            </a:r>
            <a:endParaRPr lang="en-US" altLang="en-US" b="1" dirty="0">
              <a:latin typeface="Times New Roman" panose="02020603050405020304" charset="0"/>
              <a:cs typeface="Times New Roman" panose="02020603050405020304" charset="0"/>
            </a:endParaRPr>
          </a:p>
        </p:txBody>
      </p:sp>
      <p:sp>
        <p:nvSpPr>
          <p:cNvPr id="5" name="Rounded Rectangle 4"/>
          <p:cNvSpPr/>
          <p:nvPr/>
        </p:nvSpPr>
        <p:spPr>
          <a:xfrm>
            <a:off x="2924175" y="3323590"/>
            <a:ext cx="1635760" cy="91376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en-US" altLang="en-US" b="1">
                <a:solidFill>
                  <a:schemeClr val="tx1"/>
                </a:solidFill>
                <a:latin typeface="Times New Roman" panose="02020603050405020304" charset="0"/>
                <a:cs typeface="Times New Roman" panose="02020603050405020304" charset="0"/>
                <a:sym typeface="+mn-ea"/>
              </a:rPr>
              <a:t>Синтетички </a:t>
            </a:r>
            <a:r>
              <a:rPr lang="sr-Cyrl-BA" altLang="en-US" b="1">
                <a:solidFill>
                  <a:schemeClr val="tx1"/>
                </a:solidFill>
                <a:latin typeface="Times New Roman" panose="02020603050405020304" charset="0"/>
                <a:cs typeface="Times New Roman" panose="02020603050405020304" charset="0"/>
                <a:sym typeface="+mn-ea"/>
              </a:rPr>
              <a:t>енглески говор</a:t>
            </a:r>
            <a:endParaRPr lang="en-US" altLang="en-US" b="1">
              <a:solidFill>
                <a:schemeClr val="tx1"/>
              </a:solidFill>
              <a:latin typeface="Times New Roman" panose="02020603050405020304" charset="0"/>
              <a:cs typeface="Times New Roman" panose="02020603050405020304" charset="0"/>
              <a:sym typeface="+mn-ea"/>
            </a:endParaRPr>
          </a:p>
          <a:p>
            <a:pPr algn="ctr">
              <a:buSzTx/>
            </a:pPr>
            <a:r>
              <a:rPr lang="en-US" altLang="en-US">
                <a:solidFill>
                  <a:schemeClr val="tx1"/>
                </a:solidFill>
                <a:latin typeface="Times New Roman" panose="02020603050405020304" charset="0"/>
                <a:cs typeface="Times New Roman" panose="02020603050405020304" charset="0"/>
                <a:sym typeface="+mn-ea"/>
              </a:rPr>
              <a:t>5 снимака</a:t>
            </a:r>
            <a:endParaRPr lang="en-US" altLang="en-US">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4787900" y="3364230"/>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b="1">
                <a:solidFill>
                  <a:schemeClr val="tx1"/>
                </a:solidFill>
                <a:latin typeface="Times New Roman" panose="02020603050405020304" charset="0"/>
                <a:cs typeface="Times New Roman" panose="02020603050405020304" charset="0"/>
                <a:sym typeface="+mn-ea"/>
              </a:rPr>
              <a:t>Читани</a:t>
            </a:r>
            <a:r>
              <a:rPr lang="en-US" altLang="en-US" b="1">
                <a:solidFill>
                  <a:schemeClr val="tx1"/>
                </a:solidFill>
                <a:latin typeface="Times New Roman" panose="02020603050405020304" charset="0"/>
                <a:cs typeface="Times New Roman" panose="02020603050405020304" charset="0"/>
                <a:sym typeface="+mn-ea"/>
              </a:rPr>
              <a:t> </a:t>
            </a:r>
            <a:r>
              <a:rPr lang="sr-Cyrl-BA" altLang="en-US" b="1">
                <a:solidFill>
                  <a:schemeClr val="tx1"/>
                </a:solidFill>
                <a:latin typeface="Times New Roman" panose="02020603050405020304" charset="0"/>
                <a:cs typeface="Times New Roman" panose="02020603050405020304" charset="0"/>
                <a:sym typeface="+mn-ea"/>
              </a:rPr>
              <a:t>српски говор</a:t>
            </a:r>
            <a:endParaRPr lang="en-US" altLang="en-US" b="1">
              <a:solidFill>
                <a:schemeClr val="tx1"/>
              </a:solidFill>
              <a:latin typeface="Times New Roman" panose="02020603050405020304" charset="0"/>
              <a:cs typeface="Times New Roman" panose="02020603050405020304" charset="0"/>
              <a:sym typeface="+mn-ea"/>
            </a:endParaRPr>
          </a:p>
          <a:p>
            <a:pPr algn="ctr"/>
            <a:r>
              <a:rPr lang="en-US" altLang="en-US">
                <a:solidFill>
                  <a:schemeClr val="tx1"/>
                </a:solidFill>
                <a:latin typeface="Times New Roman" panose="02020603050405020304" charset="0"/>
                <a:cs typeface="Times New Roman" panose="02020603050405020304" charset="0"/>
                <a:sym typeface="+mn-ea"/>
              </a:rPr>
              <a:t>5 снимака са паузама</a:t>
            </a:r>
            <a:endParaRPr lang="en-US" altLang="en-US">
              <a:solidFill>
                <a:schemeClr val="tx1"/>
              </a:solidFill>
              <a:latin typeface="Times New Roman" panose="02020603050405020304" charset="0"/>
              <a:cs typeface="Times New Roman" panose="02020603050405020304" charset="0"/>
              <a:sym typeface="+mn-ea"/>
            </a:endParaRPr>
          </a:p>
        </p:txBody>
      </p:sp>
      <p:pic>
        <p:nvPicPr>
          <p:cNvPr id="9" name="Picture 8"/>
          <p:cNvPicPr>
            <a:picLocks noChangeAspect="1"/>
          </p:cNvPicPr>
          <p:nvPr/>
        </p:nvPicPr>
        <p:blipFill>
          <a:blip r:embed="rId1"/>
          <a:stretch>
            <a:fillRect/>
          </a:stretch>
        </p:blipFill>
        <p:spPr>
          <a:xfrm>
            <a:off x="1511935" y="1708150"/>
            <a:ext cx="6365240" cy="542290"/>
          </a:xfrm>
          <a:prstGeom prst="rect">
            <a:avLst/>
          </a:prstGeom>
        </p:spPr>
      </p:pic>
      <p:sp>
        <p:nvSpPr>
          <p:cNvPr id="10" name="Text Box 9"/>
          <p:cNvSpPr txBox="1"/>
          <p:nvPr/>
        </p:nvSpPr>
        <p:spPr>
          <a:xfrm>
            <a:off x="1511935" y="1348105"/>
            <a:ext cx="3048000" cy="306705"/>
          </a:xfrm>
          <a:prstGeom prst="rect">
            <a:avLst/>
          </a:prstGeom>
          <a:noFill/>
        </p:spPr>
        <p:txBody>
          <a:bodyPr wrap="square" rtlCol="0">
            <a:spAutoFit/>
          </a:bodyPr>
          <a:lstStyle/>
          <a:p>
            <a:r>
              <a:rPr lang="sr-Cyrl-BA" altLang="en-US" b="1">
                <a:latin typeface="Times New Roman" panose="02020603050405020304" charset="0"/>
                <a:cs typeface="Times New Roman" panose="02020603050405020304" charset="0"/>
              </a:rPr>
              <a:t>Улазни аудио:</a:t>
            </a:r>
            <a:endParaRPr lang="sr-Cyrl-BA" altLang="en-US" b="1">
              <a:latin typeface="Times New Roman" panose="02020603050405020304" charset="0"/>
              <a:cs typeface="Times New Roman" panose="02020603050405020304" charset="0"/>
            </a:endParaRPr>
          </a:p>
        </p:txBody>
      </p:sp>
      <p:sp>
        <p:nvSpPr>
          <p:cNvPr id="11" name="Text Box 10"/>
          <p:cNvSpPr txBox="1"/>
          <p:nvPr/>
        </p:nvSpPr>
        <p:spPr>
          <a:xfrm>
            <a:off x="1475105" y="2253615"/>
            <a:ext cx="3048000" cy="306705"/>
          </a:xfrm>
          <a:prstGeom prst="rect">
            <a:avLst/>
          </a:prstGeom>
          <a:noFill/>
        </p:spPr>
        <p:txBody>
          <a:bodyPr wrap="square" rtlCol="0">
            <a:spAutoFit/>
          </a:bodyPr>
          <a:lstStyle/>
          <a:p>
            <a:r>
              <a:rPr lang="sr-Cyrl-BA" altLang="en-US" b="1">
                <a:latin typeface="Times New Roman" panose="02020603050405020304" charset="0"/>
                <a:cs typeface="Times New Roman" panose="02020603050405020304" charset="0"/>
              </a:rPr>
              <a:t>После </a:t>
            </a:r>
            <a:r>
              <a:rPr lang="en-US" altLang="en-US" b="1">
                <a:latin typeface="Times New Roman" panose="02020603050405020304" charset="0"/>
                <a:cs typeface="Times New Roman" panose="02020603050405020304" charset="0"/>
              </a:rPr>
              <a:t>VAD</a:t>
            </a:r>
            <a:r>
              <a:rPr lang="sr-Cyrl-BA" altLang="en-US" b="1">
                <a:latin typeface="Times New Roman" panose="02020603050405020304" charset="0"/>
                <a:cs typeface="Times New Roman" panose="02020603050405020304" charset="0"/>
              </a:rPr>
              <a:t> обраде:</a:t>
            </a:r>
            <a:endParaRPr lang="sr-Cyrl-BA" altLang="en-US" b="1">
              <a:latin typeface="Times New Roman" panose="02020603050405020304" charset="0"/>
              <a:cs typeface="Times New Roman" panose="02020603050405020304" charset="0"/>
            </a:endParaRPr>
          </a:p>
        </p:txBody>
      </p:sp>
      <p:pic>
        <p:nvPicPr>
          <p:cNvPr id="12" name="Picture 11"/>
          <p:cNvPicPr>
            <a:picLocks noChangeAspect="1"/>
          </p:cNvPicPr>
          <p:nvPr/>
        </p:nvPicPr>
        <p:blipFill>
          <a:blip r:embed="rId2"/>
          <a:stretch>
            <a:fillRect/>
          </a:stretch>
        </p:blipFill>
        <p:spPr>
          <a:xfrm>
            <a:off x="1475105" y="2580005"/>
            <a:ext cx="6344920" cy="7239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59790" y="914400"/>
            <a:ext cx="7698740" cy="645795"/>
          </a:xfrm>
        </p:spPr>
        <p:txBody>
          <a:bodyPr/>
          <a:lstStyle/>
          <a:p>
            <a:pPr algn="l"/>
            <a:r>
              <a:rPr lang="en-US" altLang="en-US" sz="1600" b="1">
                <a:latin typeface="Times New Roman" panose="02020603050405020304" charset="0"/>
                <a:cs typeface="Times New Roman" panose="02020603050405020304" charset="0"/>
              </a:rPr>
              <a:t>Faster-Whisper Base INT8 · просечне вредности по групи</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VAD: утицај на време и тачност</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259205" y="4371975"/>
            <a:ext cx="6713855" cy="521970"/>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Ефекат VAD-а на време зависи од структуре аудио-сигнала и количине периода без говора.</a:t>
            </a:r>
            <a:endParaRPr lang="en-US" altLang="en-US"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5212080" y="1844675"/>
          <a:ext cx="3069590" cy="1684020"/>
        </p:xfrm>
        <a:graphic>
          <a:graphicData uri="http://schemas.openxmlformats.org/drawingml/2006/table">
            <a:tbl>
              <a:tblPr firstRow="1" bandRow="1">
                <a:tableStyleId>{5C22544A-7EE6-4342-B048-85BDC9FD1C3A}</a:tableStyleId>
              </a:tblPr>
              <a:tblGrid>
                <a:gridCol w="772795"/>
                <a:gridCol w="827405"/>
                <a:gridCol w="1469390"/>
              </a:tblGrid>
              <a:tr h="621030">
                <a:tc>
                  <a:txBody>
                    <a:bodyPr/>
                    <a:lstStyle/>
                    <a:p>
                      <a:pPr algn="ctr"/>
                      <a:r>
                        <a:rPr lang="en-US" altLang="zh-CN" sz="1400" b="1">
                          <a:solidFill>
                            <a:schemeClr val="tx1"/>
                          </a:solidFill>
                          <a:latin typeface="Times New Roman" panose="02020603050405020304" charset="0"/>
                          <a:cs typeface="Times New Roman" panose="02020603050405020304" charset="0"/>
                        </a:rPr>
                        <a:t>Скуп</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Смањење времена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en-US" sz="1400" b="1">
                          <a:solidFill>
                            <a:schemeClr val="tx1"/>
                          </a:solidFill>
                          <a:latin typeface="Times New Roman" panose="02020603050405020304" charset="0"/>
                          <a:cs typeface="Times New Roman" panose="02020603050405020304" charset="0"/>
                        </a:rPr>
                        <a:t>WER без VAD-а → са VAD-ом</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sr-Cyrl-RS" altLang="en-US" sz="1400" b="1" dirty="0">
                          <a:solidFill>
                            <a:schemeClr val="tx1"/>
                          </a:solidFill>
                          <a:latin typeface="Times New Roman" panose="02020603050405020304" charset="0"/>
                          <a:cs typeface="Times New Roman" panose="02020603050405020304" charset="0"/>
                        </a:rPr>
                        <a:t>е</a:t>
                      </a:r>
                      <a:r>
                        <a:rPr lang="sr-Cyrl-BA" altLang="en-US" sz="1400" b="1" dirty="0">
                          <a:solidFill>
                            <a:schemeClr val="tx1"/>
                          </a:solidFill>
                          <a:latin typeface="Times New Roman" panose="02020603050405020304" charset="0"/>
                          <a:cs typeface="Times New Roman" panose="02020603050405020304" charset="0"/>
                        </a:rPr>
                        <a:t>нглески</a:t>
                      </a:r>
                      <a:endParaRPr lang="sr-Cyrl-BA" altLang="en-US"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20,85%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7,58 → 6,37%</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sr-Cyrl-RS" altLang="en-US" sz="1400" b="1" dirty="0">
                          <a:solidFill>
                            <a:schemeClr val="tx1"/>
                          </a:solidFill>
                          <a:latin typeface="Times New Roman" panose="02020603050405020304" charset="0"/>
                          <a:cs typeface="Times New Roman" panose="02020603050405020304" charset="0"/>
                        </a:rPr>
                        <a:t>с</a:t>
                      </a:r>
                      <a:r>
                        <a:rPr lang="sr-Cyrl-BA" altLang="en-US" sz="1400" b="1" dirty="0">
                          <a:solidFill>
                            <a:schemeClr val="tx1"/>
                          </a:solidFill>
                          <a:latin typeface="Times New Roman" panose="02020603050405020304" charset="0"/>
                          <a:cs typeface="Times New Roman" panose="02020603050405020304" charset="0"/>
                        </a:rPr>
                        <a:t>рпски</a:t>
                      </a:r>
                      <a:endParaRPr lang="sr-Cyrl-BA" altLang="en-US"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2,96%</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dirty="0">
                          <a:solidFill>
                            <a:schemeClr val="tx1"/>
                          </a:solidFill>
                          <a:latin typeface="Times New Roman" panose="02020603050405020304" charset="0"/>
                          <a:cs typeface="Times New Roman" panose="02020603050405020304" charset="0"/>
                        </a:rPr>
                        <a:t>66,28 → 65,80%</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7" name="Picture 6"/>
          <p:cNvPicPr>
            <a:picLocks noChangeAspect="1"/>
          </p:cNvPicPr>
          <p:nvPr/>
        </p:nvPicPr>
        <p:blipFill>
          <a:blip r:embed="rId2"/>
          <a:stretch>
            <a:fillRect/>
          </a:stretch>
        </p:blipFill>
        <p:spPr>
          <a:xfrm>
            <a:off x="859790" y="1694815"/>
            <a:ext cx="4170680" cy="21145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67080" y="843915"/>
            <a:ext cx="7698740" cy="645795"/>
          </a:xfrm>
        </p:spPr>
        <p:txBody>
          <a:bodyPr/>
          <a:lstStyle/>
          <a:p>
            <a:pPr algn="ctr"/>
            <a:r>
              <a:rPr lang="en-US" altLang="en-US" sz="1600" b="1">
                <a:latin typeface="Times New Roman" panose="02020603050405020304" charset="0"/>
                <a:cs typeface="Times New Roman" panose="02020603050405020304" charset="0"/>
              </a:rPr>
              <a:t>Симулација постепеног пристизања аудија, не директан улаз са микрофона</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899795" y="267970"/>
            <a:ext cx="7677150" cy="575945"/>
          </a:xfrm>
        </p:spPr>
        <p:txBody>
          <a:bodyPr/>
          <a:lstStyle/>
          <a:p>
            <a:r>
              <a:rPr lang="en-US" altLang="en-US" sz="2700">
                <a:latin typeface="Times New Roman" panose="02020603050405020304" charset="0"/>
                <a:cs typeface="Times New Roman" panose="02020603050405020304" charset="0"/>
              </a:rPr>
              <a:t>Симулација транскрипције у реалном времену</a:t>
            </a:r>
            <a:endParaRPr lang="sr-Cyrl-BA" altLang="en-US" sz="2700">
              <a:latin typeface="Times New Roman" panose="02020603050405020304" charset="0"/>
              <a:cs typeface="Times New Roman" panose="02020603050405020304" charset="0"/>
            </a:endParaRPr>
          </a:p>
        </p:txBody>
      </p:sp>
      <p:sp>
        <p:nvSpPr>
          <p:cNvPr id="3" name="Text Box 2"/>
          <p:cNvSpPr txBox="1"/>
          <p:nvPr/>
        </p:nvSpPr>
        <p:spPr>
          <a:xfrm>
            <a:off x="962025" y="4156075"/>
            <a:ext cx="7164070" cy="95313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Експеримент: 5 најдужих снимака српског говора · Faster-Whisper Base INT8 · CPU · beam = 1 · VAD искључен</a:t>
            </a:r>
            <a:endParaRPr lang="en-US" altLang="en-US" b="1">
              <a:latin typeface="Times New Roman" panose="02020603050405020304" charset="0"/>
              <a:cs typeface="Times New Roman" panose="02020603050405020304" charset="0"/>
            </a:endParaRPr>
          </a:p>
          <a:p>
            <a:pPr algn="ctr"/>
            <a:endParaRPr lang="en-US" altLang="en-US" b="1">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Метрике: WER · RTF · латенција сегмента · TTFR</a:t>
            </a:r>
            <a:endParaRPr lang="en-US" altLang="en-US">
              <a:latin typeface="Times New Roman" panose="02020603050405020304" charset="0"/>
              <a:cs typeface="Times New Roman" panose="02020603050405020304" charset="0"/>
            </a:endParaRPr>
          </a:p>
        </p:txBody>
      </p:sp>
      <p:sp>
        <p:nvSpPr>
          <p:cNvPr id="5" name="Rounded Rectangle 4"/>
          <p:cNvSpPr/>
          <p:nvPr/>
        </p:nvSpPr>
        <p:spPr>
          <a:xfrm>
            <a:off x="1547495" y="2891155"/>
            <a:ext cx="1635760" cy="91376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en-US" altLang="en-US" sz="1600" b="1">
                <a:solidFill>
                  <a:schemeClr val="tx1"/>
                </a:solidFill>
                <a:latin typeface="Times New Roman" panose="02020603050405020304" charset="0"/>
                <a:cs typeface="Times New Roman" panose="02020603050405020304" charset="0"/>
                <a:sym typeface="+mn-ea"/>
              </a:rPr>
              <a:t>сегменти од</a:t>
            </a:r>
            <a:endParaRPr lang="en-US" altLang="en-US" sz="1600" b="1">
              <a:solidFill>
                <a:schemeClr val="tx1"/>
              </a:solidFill>
              <a:latin typeface="Times New Roman" panose="02020603050405020304" charset="0"/>
              <a:cs typeface="Times New Roman" panose="02020603050405020304" charset="0"/>
              <a:sym typeface="+mn-ea"/>
            </a:endParaRPr>
          </a:p>
          <a:p>
            <a:pPr algn="ctr">
              <a:buSzTx/>
            </a:pPr>
            <a:r>
              <a:rPr lang="en-US" altLang="en-US" sz="2400" b="1">
                <a:solidFill>
                  <a:schemeClr val="tx1"/>
                </a:solidFill>
                <a:latin typeface="Times New Roman" panose="02020603050405020304" charset="0"/>
                <a:cs typeface="Times New Roman" panose="02020603050405020304" charset="0"/>
                <a:sym typeface="+mn-ea"/>
              </a:rPr>
              <a:t> 2 s</a:t>
            </a:r>
            <a:endParaRPr lang="en-US" altLang="en-US" sz="2400" b="1">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3491865" y="2931795"/>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buNone/>
            </a:pPr>
            <a:r>
              <a:rPr lang="en-US" altLang="en-US" sz="1600" b="1">
                <a:solidFill>
                  <a:schemeClr val="tx1"/>
                </a:solidFill>
                <a:latin typeface="Times New Roman" panose="02020603050405020304" charset="0"/>
                <a:cs typeface="Times New Roman" panose="02020603050405020304" charset="0"/>
                <a:sym typeface="+mn-ea"/>
              </a:rPr>
              <a:t>сегменти од</a:t>
            </a:r>
            <a:endParaRPr lang="en-US" altLang="en-US" sz="1600" b="1">
              <a:solidFill>
                <a:schemeClr val="tx1"/>
              </a:solidFill>
              <a:latin typeface="Times New Roman" panose="02020603050405020304" charset="0"/>
              <a:cs typeface="Times New Roman" panose="02020603050405020304" charset="0"/>
              <a:sym typeface="+mn-ea"/>
            </a:endParaRPr>
          </a:p>
          <a:p>
            <a:pPr algn="ctr">
              <a:buSzTx/>
              <a:buNone/>
            </a:pPr>
            <a:r>
              <a:rPr lang="en-US" altLang="en-US" sz="2400" b="1">
                <a:solidFill>
                  <a:schemeClr val="tx1"/>
                </a:solidFill>
                <a:latin typeface="Times New Roman" panose="02020603050405020304" charset="0"/>
                <a:cs typeface="Times New Roman" panose="02020603050405020304" charset="0"/>
                <a:sym typeface="+mn-ea"/>
              </a:rPr>
              <a:t> 5 s</a:t>
            </a:r>
            <a:endParaRPr lang="en-US" altLang="en-US" sz="2400" b="1">
              <a:solidFill>
                <a:schemeClr val="tx1"/>
              </a:solidFill>
              <a:latin typeface="Times New Roman" panose="02020603050405020304" charset="0"/>
              <a:cs typeface="Times New Roman" panose="02020603050405020304" charset="0"/>
              <a:sym typeface="+mn-ea"/>
            </a:endParaRPr>
          </a:p>
        </p:txBody>
      </p:sp>
      <p:sp>
        <p:nvSpPr>
          <p:cNvPr id="10" name="Text Box 9"/>
          <p:cNvSpPr txBox="1"/>
          <p:nvPr/>
        </p:nvSpPr>
        <p:spPr>
          <a:xfrm>
            <a:off x="1115060" y="1347470"/>
            <a:ext cx="3048000" cy="306705"/>
          </a:xfrm>
          <a:prstGeom prst="rect">
            <a:avLst/>
          </a:prstGeom>
          <a:noFill/>
        </p:spPr>
        <p:txBody>
          <a:bodyPr wrap="square" rtlCol="0">
            <a:spAutoFit/>
          </a:bodyPr>
          <a:lstStyle/>
          <a:p>
            <a:r>
              <a:rPr lang="sr-Cyrl-BA" altLang="en-US" b="1">
                <a:latin typeface="Times New Roman" panose="02020603050405020304" charset="0"/>
                <a:cs typeface="Times New Roman" panose="02020603050405020304" charset="0"/>
              </a:rPr>
              <a:t>Цео снимак:</a:t>
            </a:r>
            <a:endParaRPr lang="sr-Cyrl-BA" altLang="en-US" b="1">
              <a:latin typeface="Times New Roman" panose="02020603050405020304" charset="0"/>
              <a:cs typeface="Times New Roman" panose="02020603050405020304" charset="0"/>
            </a:endParaRPr>
          </a:p>
        </p:txBody>
      </p:sp>
      <p:sp>
        <p:nvSpPr>
          <p:cNvPr id="11" name="Text Box 10"/>
          <p:cNvSpPr txBox="1"/>
          <p:nvPr/>
        </p:nvSpPr>
        <p:spPr>
          <a:xfrm>
            <a:off x="4644390" y="1348105"/>
            <a:ext cx="3598545" cy="306705"/>
          </a:xfrm>
          <a:prstGeom prst="rect">
            <a:avLst/>
          </a:prstGeom>
          <a:noFill/>
        </p:spPr>
        <p:txBody>
          <a:bodyPr wrap="square" rtlCol="0">
            <a:spAutoFit/>
          </a:bodyPr>
          <a:lstStyle/>
          <a:p>
            <a:r>
              <a:rPr lang="sr-Cyrl-BA" b="1">
                <a:latin typeface="Times New Roman" panose="02020603050405020304" charset="0"/>
                <a:cs typeface="Times New Roman" panose="02020603050405020304" charset="0"/>
              </a:rPr>
              <a:t>Симулација обраде у реалном времену</a:t>
            </a:r>
            <a:r>
              <a:rPr lang="sr-Cyrl-BA" altLang="en-US" b="1">
                <a:latin typeface="Times New Roman" panose="02020603050405020304" charset="0"/>
                <a:cs typeface="Times New Roman" panose="02020603050405020304" charset="0"/>
              </a:rPr>
              <a:t>:</a:t>
            </a:r>
            <a:endParaRPr lang="sr-Cyrl-BA" altLang="en-US" b="1">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1"/>
          <a:srcRect t="7179"/>
          <a:stretch>
            <a:fillRect/>
          </a:stretch>
        </p:blipFill>
        <p:spPr>
          <a:xfrm>
            <a:off x="971550" y="1708150"/>
            <a:ext cx="7032625" cy="689610"/>
          </a:xfrm>
          <a:prstGeom prst="rect">
            <a:avLst/>
          </a:prstGeom>
        </p:spPr>
      </p:pic>
      <p:sp>
        <p:nvSpPr>
          <p:cNvPr id="8" name="Rounded Rectangle 7"/>
          <p:cNvSpPr/>
          <p:nvPr/>
        </p:nvSpPr>
        <p:spPr>
          <a:xfrm>
            <a:off x="5617210" y="2931795"/>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buNone/>
            </a:pPr>
            <a:r>
              <a:rPr lang="en-US" altLang="en-US" sz="1600" b="1">
                <a:solidFill>
                  <a:schemeClr val="tx1"/>
                </a:solidFill>
                <a:latin typeface="Times New Roman" panose="02020603050405020304" charset="0"/>
                <a:cs typeface="Times New Roman" panose="02020603050405020304" charset="0"/>
                <a:sym typeface="+mn-ea"/>
              </a:rPr>
              <a:t>сегменти од</a:t>
            </a:r>
            <a:endParaRPr lang="en-US" altLang="en-US" sz="1600" b="1">
              <a:solidFill>
                <a:schemeClr val="tx1"/>
              </a:solidFill>
              <a:latin typeface="Times New Roman" panose="02020603050405020304" charset="0"/>
              <a:cs typeface="Times New Roman" panose="02020603050405020304" charset="0"/>
              <a:sym typeface="+mn-ea"/>
            </a:endParaRPr>
          </a:p>
          <a:p>
            <a:pPr algn="ctr">
              <a:buSzTx/>
              <a:buNone/>
            </a:pPr>
            <a:r>
              <a:rPr lang="en-US" altLang="en-US" sz="2400" b="1">
                <a:solidFill>
                  <a:schemeClr val="tx1"/>
                </a:solidFill>
                <a:latin typeface="Times New Roman" panose="02020603050405020304" charset="0"/>
                <a:cs typeface="Times New Roman" panose="02020603050405020304" charset="0"/>
                <a:sym typeface="+mn-ea"/>
              </a:rPr>
              <a:t>10 s</a:t>
            </a:r>
            <a:endParaRPr lang="en-US" altLang="en-US" sz="2400" b="1">
              <a:solidFill>
                <a:schemeClr val="tx1"/>
              </a:solidFill>
              <a:latin typeface="Times New Roman" panose="02020603050405020304" charset="0"/>
              <a:cs typeface="Times New Roman" panose="02020603050405020304"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971550" y="1275715"/>
            <a:ext cx="7698740" cy="645795"/>
          </a:xfrm>
        </p:spPr>
        <p:txBody>
          <a:bodyPr/>
          <a:lstStyle/>
          <a:p>
            <a:pPr algn="l"/>
            <a:r>
              <a:rPr lang="en-US" altLang="en-US" sz="1600" b="1" dirty="0" err="1">
                <a:latin typeface="Times New Roman" panose="02020603050405020304" charset="0"/>
                <a:cs typeface="Times New Roman" panose="02020603050405020304" charset="0"/>
              </a:rPr>
              <a:t>Поређење</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независних</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сегмената</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са</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транскрипцијом</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целог</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снимка</a:t>
            </a:r>
            <a:endParaRPr lang="en-US" altLang="en-US" sz="1600" b="1" dirty="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Симулација транскрипције у реалном времену: тачност и кашњење</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259205" y="4471670"/>
            <a:ext cx="6713855" cy="521970"/>
          </a:xfrm>
          <a:prstGeom prst="rect">
            <a:avLst/>
          </a:prstGeom>
          <a:noFill/>
        </p:spPr>
        <p:txBody>
          <a:bodyPr wrap="square" rtlCol="0">
            <a:spAutoFit/>
          </a:bodyPr>
          <a:lstStyle/>
          <a:p>
            <a:pPr algn="ctr"/>
            <a:r>
              <a:rPr lang="en-US" altLang="en-US" b="1" dirty="0" err="1">
                <a:latin typeface="Times New Roman" panose="02020603050405020304" charset="0"/>
                <a:cs typeface="Times New Roman" panose="02020603050405020304" charset="0"/>
              </a:rPr>
              <a:t>Краћи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сегменти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омогућавају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раније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добијање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резултата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али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смањују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контекст</a:t>
            </a:r>
            <a:r>
              <a:rPr lang="en-US" altLang="en-US" b="1" dirty="0">
                <a:latin typeface="Times New Roman" panose="02020603050405020304" charset="0"/>
                <a:cs typeface="Times New Roman" panose="02020603050405020304" charset="0"/>
              </a:rPr>
              <a:t> и </a:t>
            </a:r>
            <a:r>
              <a:rPr lang="en-US" altLang="en-US" b="1" dirty="0" err="1">
                <a:solidFill>
                  <a:schemeClr val="tx1"/>
                </a:solidFill>
                <a:latin typeface="Times New Roman" panose="02020603050405020304" charset="0"/>
                <a:cs typeface="Times New Roman" panose="02020603050405020304" charset="0"/>
              </a:rPr>
              <a:t>повећавају</a:t>
            </a:r>
            <a:r>
              <a:rPr lang="en-US" altLang="en-US" b="1" dirty="0">
                <a:solidFill>
                  <a:schemeClr val="tx1"/>
                </a:solidFill>
                <a:latin typeface="Times New Roman" panose="02020603050405020304" charset="0"/>
                <a:cs typeface="Times New Roman" panose="02020603050405020304" charset="0"/>
              </a:rPr>
              <a:t> WER</a:t>
            </a:r>
            <a:r>
              <a:rPr lang="en-US" altLang="en-US" b="1" dirty="0">
                <a:latin typeface="Times New Roman" panose="02020603050405020304" charset="0"/>
                <a:cs typeface="Times New Roman" panose="02020603050405020304" charset="0"/>
              </a:rPr>
              <a:t>.</a:t>
            </a:r>
            <a:endParaRPr lang="en-US" altLang="en-US" b="1" dirty="0">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6044565" y="2147570"/>
          <a:ext cx="1644015" cy="1859915"/>
        </p:xfrm>
        <a:graphic>
          <a:graphicData uri="http://schemas.openxmlformats.org/drawingml/2006/table">
            <a:tbl>
              <a:tblPr firstRow="1" bandRow="1">
                <a:tableStyleId>{5C22544A-7EE6-4342-B048-85BDC9FD1C3A}</a:tableStyleId>
              </a:tblPr>
              <a:tblGrid>
                <a:gridCol w="1029970"/>
                <a:gridCol w="614045"/>
              </a:tblGrid>
              <a:tr h="796925">
                <a:tc>
                  <a:txBody>
                    <a:bodyPr/>
                    <a:lstStyle/>
                    <a:p>
                      <a:pPr algn="ctr"/>
                      <a:r>
                        <a:rPr lang="sr-Cyrl-BA" altLang="en-US" sz="1400" b="1">
                          <a:solidFill>
                            <a:schemeClr val="tx1"/>
                          </a:solidFill>
                          <a:latin typeface="Times New Roman" panose="02020603050405020304" charset="0"/>
                          <a:cs typeface="Times New Roman" panose="02020603050405020304" charset="0"/>
                        </a:rPr>
                        <a:t>Сегмент</a:t>
                      </a:r>
                      <a:r>
                        <a:rPr lang="en-US" altLang="zh-CN" sz="1400" b="1">
                          <a:solidFill>
                            <a:schemeClr val="tx1"/>
                          </a:solidFill>
                          <a:latin typeface="Times New Roman" panose="02020603050405020304" charset="0"/>
                          <a:cs typeface="Times New Roman" panose="02020603050405020304" charset="0"/>
                        </a:rPr>
                        <a:t> 2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2,773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sr-Cyrl-BA" altLang="en-US" sz="1400" b="1">
                          <a:solidFill>
                            <a:schemeClr val="tx1"/>
                          </a:solidFill>
                          <a:latin typeface="Times New Roman" panose="02020603050405020304" charset="0"/>
                          <a:cs typeface="Times New Roman" panose="02020603050405020304" charset="0"/>
                        </a:rPr>
                        <a:t>Сегмент</a:t>
                      </a:r>
                      <a:r>
                        <a:rPr lang="en-US" altLang="zh-CN" sz="1400" b="1">
                          <a:solidFill>
                            <a:schemeClr val="tx1"/>
                          </a:solidFill>
                          <a:latin typeface="Times New Roman" panose="02020603050405020304" charset="0"/>
                          <a:cs typeface="Times New Roman" panose="02020603050405020304" charset="0"/>
                        </a:rPr>
                        <a:t> 5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5,904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sr-Cyrl-BA" altLang="en-US" sz="1400" b="1">
                          <a:solidFill>
                            <a:schemeClr val="tx1"/>
                          </a:solidFill>
                          <a:latin typeface="Times New Roman" panose="02020603050405020304" charset="0"/>
                          <a:cs typeface="Times New Roman" panose="02020603050405020304" charset="0"/>
                        </a:rPr>
                        <a:t>Сегмент</a:t>
                      </a:r>
                      <a:r>
                        <a:rPr lang="en-US" altLang="zh-CN" sz="1400" b="1">
                          <a:solidFill>
                            <a:schemeClr val="tx1"/>
                          </a:solidFill>
                          <a:latin typeface="Times New Roman" panose="02020603050405020304" charset="0"/>
                          <a:cs typeface="Times New Roman" panose="02020603050405020304" charset="0"/>
                        </a:rPr>
                        <a:t> 10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11,299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
        <p:nvSpPr>
          <p:cNvPr id="7" name="Text Box 6"/>
          <p:cNvSpPr txBox="1"/>
          <p:nvPr/>
        </p:nvSpPr>
        <p:spPr>
          <a:xfrm>
            <a:off x="5493385" y="1707515"/>
            <a:ext cx="3048000" cy="306705"/>
          </a:xfrm>
          <a:prstGeom prst="rect">
            <a:avLst/>
          </a:prstGeom>
          <a:noFill/>
        </p:spPr>
        <p:txBody>
          <a:bodyPr wrap="square" rtlCol="0">
            <a:spAutoFit/>
          </a:bodyPr>
          <a:lstStyle/>
          <a:p>
            <a:r>
              <a:rPr lang="en-US" altLang="en-US" b="1">
                <a:latin typeface="Times New Roman" panose="02020603050405020304" charset="0"/>
                <a:cs typeface="Times New Roman" panose="02020603050405020304" charset="0"/>
              </a:rPr>
              <a:t>Време до првог резултата (TTFR)</a:t>
            </a:r>
            <a:endParaRPr lang="en-US" altLang="en-US" b="1">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2"/>
          <a:stretch>
            <a:fillRect/>
          </a:stretch>
        </p:blipFill>
        <p:spPr>
          <a:xfrm>
            <a:off x="1084580" y="1972310"/>
            <a:ext cx="4408805" cy="22555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59790" y="843915"/>
            <a:ext cx="7698740" cy="645795"/>
          </a:xfrm>
        </p:spPr>
        <p:txBody>
          <a:bodyPr/>
          <a:lstStyle/>
          <a:p>
            <a:pPr algn="l"/>
            <a:r>
              <a:rPr lang="en-US" altLang="en-US" sz="1600" b="1">
                <a:latin typeface="Times New Roman" panose="02020603050405020304" charset="0"/>
                <a:cs typeface="Times New Roman" panose="02020603050405020304" charset="0"/>
              </a:rPr>
              <a:t>Перформансе сегментне обраде · Faster-Whisper Base INT8</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Избор величине сегмента</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259205" y="4471670"/>
            <a:ext cx="6713855" cy="521970"/>
          </a:xfrm>
          <a:prstGeom prst="rect">
            <a:avLst/>
          </a:prstGeom>
          <a:noFill/>
        </p:spPr>
        <p:txBody>
          <a:bodyPr wrap="square" rtlCol="0">
            <a:spAutoFit/>
          </a:bodyPr>
          <a:lstStyle/>
          <a:p>
            <a:r>
              <a:rPr lang="en-US" altLang="en-US" b="1">
                <a:latin typeface="Times New Roman" panose="02020603050405020304" charset="0"/>
                <a:cs typeface="Times New Roman" panose="02020603050405020304" charset="0"/>
              </a:rPr>
              <a:t>Сегмент од 10 s изабран је као најповољнији компромис између WER-а, RTF-а и кашњења у условима овог експеримента.</a:t>
            </a:r>
            <a:endParaRPr lang="en-US" altLang="en-US"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5377180" y="1680210"/>
          <a:ext cx="2801620" cy="2391410"/>
        </p:xfrm>
        <a:graphic>
          <a:graphicData uri="http://schemas.openxmlformats.org/drawingml/2006/table">
            <a:tbl>
              <a:tblPr firstRow="1" bandRow="1">
                <a:tableStyleId>{5C22544A-7EE6-4342-B048-85BDC9FD1C3A}</a:tableStyleId>
              </a:tblPr>
              <a:tblGrid>
                <a:gridCol w="789940"/>
                <a:gridCol w="1140460"/>
                <a:gridCol w="871220"/>
              </a:tblGrid>
              <a:tr h="796925">
                <a:tc>
                  <a:txBody>
                    <a:bodyPr/>
                    <a:lstStyle/>
                    <a:p>
                      <a:pPr algn="ctr"/>
                      <a:r>
                        <a:rPr lang="en-US" altLang="zh-CN" sz="1400" b="1">
                          <a:solidFill>
                            <a:schemeClr val="tx1"/>
                          </a:solidFill>
                          <a:latin typeface="Times New Roman" panose="02020603050405020304" charset="0"/>
                          <a:cs typeface="Times New Roman" panose="02020603050405020304" charset="0"/>
                        </a:rPr>
                        <a:t>Сегмент</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Латенција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dirty="0">
                          <a:solidFill>
                            <a:schemeClr val="tx1"/>
                          </a:solidFill>
                          <a:latin typeface="Times New Roman" panose="02020603050405020304" charset="0"/>
                          <a:cs typeface="Times New Roman" panose="02020603050405020304" charset="0"/>
                        </a:rPr>
                        <a:t>P95 [s]</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en-US" altLang="zh-CN" sz="1400" b="1">
                          <a:solidFill>
                            <a:schemeClr val="tx1"/>
                          </a:solidFill>
                          <a:latin typeface="Times New Roman" panose="02020603050405020304" charset="0"/>
                          <a:cs typeface="Times New Roman" panose="02020603050405020304" charset="0"/>
                        </a:rPr>
                        <a:t>2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0,820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1,182</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en-US" altLang="zh-CN" sz="1400" b="1">
                          <a:solidFill>
                            <a:schemeClr val="tx1"/>
                          </a:solidFill>
                          <a:latin typeface="Times New Roman" panose="02020603050405020304" charset="0"/>
                          <a:cs typeface="Times New Roman" panose="02020603050405020304" charset="0"/>
                        </a:rPr>
                        <a:t>5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0,933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1,173</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en-US" altLang="zh-CN" sz="1400" b="1">
                          <a:solidFill>
                            <a:schemeClr val="tx1"/>
                          </a:solidFill>
                          <a:latin typeface="Times New Roman" panose="02020603050405020304" charset="0"/>
                          <a:cs typeface="Times New Roman" panose="02020603050405020304" charset="0"/>
                        </a:rPr>
                        <a:t>10 s</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1,245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dirty="0">
                          <a:solidFill>
                            <a:schemeClr val="tx1"/>
                          </a:solidFill>
                          <a:latin typeface="Times New Roman" panose="02020603050405020304" charset="0"/>
                          <a:cs typeface="Times New Roman" panose="02020603050405020304" charset="0"/>
                        </a:rPr>
                        <a:t>1,445</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2" name="Picture 1"/>
          <p:cNvPicPr>
            <a:picLocks noChangeAspect="1"/>
          </p:cNvPicPr>
          <p:nvPr/>
        </p:nvPicPr>
        <p:blipFill>
          <a:blip r:embed="rId2"/>
          <a:stretch>
            <a:fillRect/>
          </a:stretch>
        </p:blipFill>
        <p:spPr>
          <a:xfrm>
            <a:off x="859790" y="1870075"/>
            <a:ext cx="4364355" cy="222123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Синтеза експерименталних резултата</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259205" y="4300220"/>
            <a:ext cx="6713855" cy="922020"/>
          </a:xfrm>
          <a:prstGeom prst="rect">
            <a:avLst/>
          </a:prstGeom>
          <a:noFill/>
        </p:spPr>
        <p:txBody>
          <a:bodyPr wrap="square" rtlCol="0">
            <a:spAutoFit/>
          </a:bodyPr>
          <a:lstStyle/>
          <a:p>
            <a:pPr algn="ctr"/>
            <a:r>
              <a:rPr lang="en-US" altLang="en-US" sz="18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Заједнички закључак</a:t>
            </a:r>
            <a:r>
              <a:rPr lang="sr-Cyrl-BA" altLang="en-US" sz="18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a:t>
            </a:r>
            <a:endParaRPr lang="en-US" altLang="en-US" sz="18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endParaRPr>
          </a:p>
          <a:p>
            <a:pPr algn="ctr"/>
            <a:r>
              <a:rPr lang="en-US" altLang="en-US" sz="1800" b="1">
                <a:latin typeface="Times New Roman" panose="02020603050405020304" charset="0"/>
                <a:cs typeface="Times New Roman" panose="02020603050405020304" charset="0"/>
              </a:rPr>
              <a:t>Тачност, брзина и меморија морају се посматрати заједно.</a:t>
            </a:r>
            <a:endParaRPr lang="en-US" altLang="en-US" sz="1800" b="1">
              <a:latin typeface="Times New Roman" panose="02020603050405020304" charset="0"/>
              <a:cs typeface="Times New Roman" panose="02020603050405020304" charset="0"/>
            </a:endParaRPr>
          </a:p>
          <a:p>
            <a:pPr algn="ctr"/>
            <a:endParaRPr lang="en-US" altLang="en-US" sz="1800" b="1">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950595" y="946150"/>
          <a:ext cx="7245985" cy="3230245"/>
        </p:xfrm>
        <a:graphic>
          <a:graphicData uri="http://schemas.openxmlformats.org/drawingml/2006/table">
            <a:tbl>
              <a:tblPr firstRow="1" bandRow="1">
                <a:tableStyleId>{5C22544A-7EE6-4342-B048-85BDC9FD1C3A}</a:tableStyleId>
              </a:tblPr>
              <a:tblGrid>
                <a:gridCol w="1450975"/>
                <a:gridCol w="5795010"/>
              </a:tblGrid>
              <a:tr h="461645">
                <a:tc>
                  <a:txBody>
                    <a:bodyPr/>
                    <a:lstStyle/>
                    <a:p>
                      <a:pPr algn="ctr"/>
                      <a:r>
                        <a:rPr lang="en-US" altLang="zh-CN" sz="1400" b="1">
                          <a:solidFill>
                            <a:schemeClr val="tx1"/>
                          </a:solidFill>
                          <a:latin typeface="Times New Roman" panose="02020603050405020304" charset="0"/>
                          <a:cs typeface="Times New Roman" panose="02020603050405020304" charset="0"/>
                        </a:rPr>
                        <a:t>Фактор</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Уочени ефекат</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61010">
                <a:tc>
                  <a:txBody>
                    <a:bodyPr/>
                    <a:lstStyle/>
                    <a:p>
                      <a:pPr algn="ctr"/>
                      <a:r>
                        <a:rPr lang="en-US" altLang="zh-CN" sz="1400" b="1">
                          <a:solidFill>
                            <a:schemeClr val="tx1"/>
                          </a:solidFill>
                          <a:latin typeface="Times New Roman" panose="02020603050405020304" charset="0"/>
                          <a:cs typeface="Times New Roman" panose="02020603050405020304" charset="0"/>
                        </a:rPr>
                        <a:t>Величина модела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Већи модел → ниж</a:t>
                      </a:r>
                      <a:r>
                        <a:rPr lang="sr-Cyrl-BA" altLang="en-US" sz="1400" b="1">
                          <a:solidFill>
                            <a:schemeClr val="tx1"/>
                          </a:solidFill>
                          <a:latin typeface="Times New Roman" panose="02020603050405020304" charset="0"/>
                          <a:cs typeface="Times New Roman" panose="02020603050405020304" charset="0"/>
                        </a:rPr>
                        <a:t>а вредност</a:t>
                      </a:r>
                      <a:r>
                        <a:rPr lang="en-US" altLang="zh-CN" sz="1400" b="1">
                          <a:solidFill>
                            <a:schemeClr val="tx1"/>
                          </a:solidFill>
                          <a:latin typeface="Times New Roman" panose="02020603050405020304" charset="0"/>
                          <a:cs typeface="Times New Roman" panose="02020603050405020304" charset="0"/>
                        </a:rPr>
                        <a:t> WER</a:t>
                      </a:r>
                      <a:r>
                        <a:rPr lang="sr-Cyrl-BA" altLang="en-US" sz="1400" b="1">
                          <a:solidFill>
                            <a:schemeClr val="tx1"/>
                          </a:solidFill>
                          <a:latin typeface="Times New Roman" panose="02020603050405020304" charset="0"/>
                          <a:cs typeface="Times New Roman" panose="02020603050405020304" charset="0"/>
                        </a:rPr>
                        <a:t>-а</a:t>
                      </a:r>
                      <a:r>
                        <a:rPr lang="en-US" altLang="zh-CN" sz="1400" b="1">
                          <a:solidFill>
                            <a:schemeClr val="tx1"/>
                          </a:solidFill>
                          <a:latin typeface="Times New Roman" panose="02020603050405020304" charset="0"/>
                          <a:cs typeface="Times New Roman" panose="02020603050405020304" charset="0"/>
                        </a:rPr>
                        <a:t>, али већ</a:t>
                      </a:r>
                      <a:r>
                        <a:rPr lang="sr-Cyrl-BA" altLang="en-US" sz="1400" b="1">
                          <a:solidFill>
                            <a:schemeClr val="tx1"/>
                          </a:solidFill>
                          <a:latin typeface="Times New Roman" panose="02020603050405020304" charset="0"/>
                          <a:cs typeface="Times New Roman" panose="02020603050405020304" charset="0"/>
                        </a:rPr>
                        <a:t>а</a:t>
                      </a:r>
                      <a:r>
                        <a:rPr lang="en-US" altLang="zh-CN" sz="1400" b="1">
                          <a:solidFill>
                            <a:schemeClr val="tx1"/>
                          </a:solidFill>
                          <a:latin typeface="Times New Roman" panose="02020603050405020304" charset="0"/>
                          <a:cs typeface="Times New Roman" panose="02020603050405020304" charset="0"/>
                        </a:rPr>
                        <a:t> RTF</a:t>
                      </a:r>
                      <a:r>
                        <a:rPr lang="sr-Cyrl-BA" altLang="en-US" sz="1400" b="1">
                          <a:solidFill>
                            <a:schemeClr val="tx1"/>
                          </a:solidFill>
                          <a:latin typeface="Times New Roman" panose="02020603050405020304" charset="0"/>
                          <a:cs typeface="Times New Roman" panose="02020603050405020304" charset="0"/>
                        </a:rPr>
                        <a:t>-а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61645">
                <a:tc>
                  <a:txBody>
                    <a:bodyPr/>
                    <a:lstStyle/>
                    <a:p>
                      <a:pPr algn="ctr"/>
                      <a:r>
                        <a:rPr lang="en-US" altLang="zh-CN" sz="1400" b="1">
                          <a:solidFill>
                            <a:schemeClr val="tx1"/>
                          </a:solidFill>
                          <a:latin typeface="Times New Roman" panose="02020603050405020304" charset="0"/>
                          <a:cs typeface="Times New Roman" panose="02020603050405020304" charset="0"/>
                          <a:sym typeface="+mn-ea"/>
                        </a:rPr>
                        <a:t>INT8</a:t>
                      </a:r>
                      <a:endParaRPr lang="en-US" altLang="zh-CN" sz="1400" b="1">
                        <a:solidFill>
                          <a:schemeClr val="tx1"/>
                        </a:solidFill>
                        <a:latin typeface="Times New Roman" panose="02020603050405020304" charset="0"/>
                        <a:cs typeface="Times New Roman" panose="02020603050405020304" charset="0"/>
                      </a:endParaRPr>
                    </a:p>
                    <a:p>
                      <a:pPr algn="ctr"/>
                      <a:r>
                        <a:rPr lang="sr-Cyrl-BA" altLang="en-US" sz="1400" b="1">
                          <a:solidFill>
                            <a:schemeClr val="tx1"/>
                          </a:solidFill>
                          <a:latin typeface="Times New Roman" panose="02020603050405020304" charset="0"/>
                          <a:cs typeface="Times New Roman" panose="02020603050405020304" charset="0"/>
                        </a:rPr>
                        <a:t>квантизација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en-US" sz="1400" b="1">
                          <a:solidFill>
                            <a:schemeClr val="tx1"/>
                          </a:solidFill>
                          <a:latin typeface="Times New Roman" panose="02020603050405020304" charset="0"/>
                          <a:cs typeface="Times New Roman" panose="02020603050405020304" charset="0"/>
                        </a:rPr>
                        <a:t>Убрзање 1,34–1,52× у односу на FP32</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26720">
                <a:tc>
                  <a:txBody>
                    <a:bodyPr/>
                    <a:lstStyle/>
                    <a:p>
                      <a:pPr algn="ctr"/>
                      <a:r>
                        <a:rPr lang="en-US" altLang="zh-CN" sz="1400" b="1">
                          <a:solidFill>
                            <a:schemeClr val="tx1"/>
                          </a:solidFill>
                          <a:latin typeface="Times New Roman" panose="02020603050405020304" charset="0"/>
                          <a:cs typeface="Times New Roman" panose="02020603050405020304" charset="0"/>
                        </a:rPr>
                        <a:t>Beam size</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en-US" sz="1400" b="1">
                          <a:solidFill>
                            <a:schemeClr val="tx1"/>
                          </a:solidFill>
                          <a:latin typeface="Times New Roman" panose="02020603050405020304" charset="0"/>
                          <a:cs typeface="Times New Roman" panose="02020603050405020304" charset="0"/>
                        </a:rPr>
                        <a:t>Већа вредност → дуже време обраде; смањење WER-а није монотоно</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65785">
                <a:tc>
                  <a:txBody>
                    <a:bodyPr/>
                    <a:lstStyle/>
                    <a:p>
                      <a:pPr algn="ctr"/>
                      <a:r>
                        <a:rPr lang="en-US" altLang="zh-CN" sz="1400" b="1">
                          <a:solidFill>
                            <a:schemeClr val="tx1"/>
                          </a:solidFill>
                          <a:latin typeface="Times New Roman" panose="02020603050405020304" charset="0"/>
                          <a:cs typeface="Times New Roman" panose="02020603050405020304" charset="0"/>
                        </a:rPr>
                        <a:t>VAD</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en-US" sz="1400" b="1">
                          <a:solidFill>
                            <a:schemeClr val="tx1"/>
                          </a:solidFill>
                          <a:latin typeface="Times New Roman" panose="02020603050405020304" charset="0"/>
                          <a:cs typeface="Times New Roman" panose="02020603050405020304" charset="0"/>
                        </a:rPr>
                        <a:t>Смањење времена обраде без погоршања WER-а у испитаним групама</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26720">
                <a:tc>
                  <a:txBody>
                    <a:bodyPr/>
                    <a:lstStyle/>
                    <a:p>
                      <a:pPr algn="ctr"/>
                      <a:r>
                        <a:rPr lang="en-US" altLang="zh-CN" sz="1400" b="1">
                          <a:solidFill>
                            <a:schemeClr val="tx1"/>
                          </a:solidFill>
                          <a:latin typeface="Times New Roman" panose="02020603050405020304" charset="0"/>
                          <a:cs typeface="Times New Roman" panose="02020603050405020304" charset="0"/>
                        </a:rPr>
                        <a:t>Шум</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en-US" sz="1400" b="1">
                          <a:solidFill>
                            <a:schemeClr val="tx1"/>
                          </a:solidFill>
                          <a:latin typeface="Times New Roman" panose="02020603050405020304" charset="0"/>
                          <a:cs typeface="Times New Roman" panose="02020603050405020304" charset="0"/>
                        </a:rPr>
                        <a:t>Нижи SNR → изражено повећање WER-а</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26720">
                <a:tc>
                  <a:txBody>
                    <a:bodyPr/>
                    <a:lstStyle/>
                    <a:p>
                      <a:pPr algn="ctr"/>
                      <a:r>
                        <a:rPr lang="en-US" altLang="en-US" sz="1400" b="1">
                          <a:solidFill>
                            <a:schemeClr val="tx1"/>
                          </a:solidFill>
                          <a:latin typeface="Times New Roman" panose="02020603050405020304" charset="0"/>
                          <a:cs typeface="Times New Roman" panose="02020603050405020304" charset="0"/>
                        </a:rPr>
                        <a:t>Величина сегмента</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en-US" sz="1400" b="1">
                          <a:solidFill>
                            <a:schemeClr val="tx1"/>
                          </a:solidFill>
                          <a:latin typeface="Times New Roman" panose="02020603050405020304" charset="0"/>
                          <a:cs typeface="Times New Roman" panose="02020603050405020304" charset="0"/>
                        </a:rPr>
                        <a:t>Краћи сегмент → ранији резултат, али мање контекста и већи WER</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67080" y="843915"/>
            <a:ext cx="7698740" cy="645795"/>
          </a:xfrm>
        </p:spPr>
        <p:txBody>
          <a:bodyPr/>
          <a:lstStyle/>
          <a:p>
            <a:pPr algn="l"/>
            <a:r>
              <a:rPr lang="en-US" altLang="en-US" sz="1600" b="1" dirty="0" err="1">
                <a:latin typeface="Times New Roman" panose="02020603050405020304" charset="0"/>
                <a:cs typeface="Times New Roman" panose="02020603050405020304" charset="0"/>
              </a:rPr>
              <a:t>Заједничка</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анализа</a:t>
            </a:r>
            <a:r>
              <a:rPr lang="en-US" altLang="en-US" sz="1600" b="1" dirty="0">
                <a:latin typeface="Times New Roman" panose="02020603050405020304" charset="0"/>
                <a:cs typeface="Times New Roman" panose="02020603050405020304" charset="0"/>
              </a:rPr>
              <a:t> · 40 </a:t>
            </a:r>
            <a:r>
              <a:rPr lang="en-US" altLang="en-US" sz="1600" b="1" dirty="0" err="1">
                <a:latin typeface="Times New Roman" panose="02020603050405020304" charset="0"/>
                <a:cs typeface="Times New Roman" panose="02020603050405020304" charset="0"/>
              </a:rPr>
              <a:t>снимака</a:t>
            </a:r>
            <a:r>
              <a:rPr lang="en-US" altLang="en-US" sz="1600" b="1" dirty="0">
                <a:latin typeface="Times New Roman" panose="02020603050405020304" charset="0"/>
                <a:cs typeface="Times New Roman" panose="02020603050405020304" charset="0"/>
              </a:rPr>
              <a:t> × 8 </a:t>
            </a:r>
            <a:r>
              <a:rPr lang="en-US" altLang="en-US" sz="1600" b="1" dirty="0" err="1">
                <a:latin typeface="Times New Roman" panose="02020603050405020304" charset="0"/>
                <a:cs typeface="Times New Roman" panose="02020603050405020304" charset="0"/>
              </a:rPr>
              <a:t>конфигурација</a:t>
            </a:r>
            <a:endParaRPr lang="en-US" altLang="en-US" sz="1600" b="1" dirty="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Зашто вишекритеријумски избор?</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115060" y="3435985"/>
            <a:ext cx="6713855" cy="337185"/>
          </a:xfrm>
          <a:prstGeom prst="rect">
            <a:avLst/>
          </a:prstGeom>
          <a:noFill/>
        </p:spPr>
        <p:txBody>
          <a:bodyPr wrap="square" rtlCol="0">
            <a:spAutoFit/>
          </a:bodyPr>
          <a:lstStyle/>
          <a:p>
            <a:pPr algn="ctr"/>
            <a:r>
              <a:rPr lang="en-US" altLang="en-US" sz="1600" b="1">
                <a:latin typeface="Times New Roman" panose="02020603050405020304" charset="0"/>
                <a:cs typeface="Times New Roman" panose="02020603050405020304" charset="0"/>
              </a:rPr>
              <a:t>Поступак избора</a:t>
            </a:r>
            <a:r>
              <a:rPr lang="sr-Cyrl-BA" altLang="en-US" sz="1600" b="1">
                <a:latin typeface="Times New Roman" panose="02020603050405020304" charset="0"/>
                <a:cs typeface="Times New Roman" panose="02020603050405020304" charset="0"/>
              </a:rPr>
              <a:t>:</a:t>
            </a:r>
            <a:endParaRPr lang="sr-Cyrl-BA" altLang="en-US" sz="1600" b="1">
              <a:latin typeface="Times New Roman" panose="02020603050405020304" charset="0"/>
              <a:cs typeface="Times New Roman" panose="02020603050405020304" charset="0"/>
            </a:endParaRPr>
          </a:p>
        </p:txBody>
      </p:sp>
      <p:sp>
        <p:nvSpPr>
          <p:cNvPr id="5" name="Rounded Rectangle 4"/>
          <p:cNvSpPr/>
          <p:nvPr/>
        </p:nvSpPr>
        <p:spPr>
          <a:xfrm>
            <a:off x="1705610" y="1307465"/>
            <a:ext cx="1635760" cy="91376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altLang="en-US" sz="2000" b="1">
                <a:solidFill>
                  <a:schemeClr val="tx1"/>
                </a:solidFill>
                <a:latin typeface="Times New Roman" panose="02020603050405020304" charset="0"/>
                <a:cs typeface="Times New Roman" panose="02020603050405020304" charset="0"/>
                <a:sym typeface="+mn-ea"/>
              </a:rPr>
              <a:t> </a:t>
            </a:r>
            <a:r>
              <a:rPr lang="en-US" altLang="sr-Cyrl-BA" sz="2000" b="1">
                <a:solidFill>
                  <a:schemeClr val="tx1"/>
                </a:solidFill>
                <a:latin typeface="Times New Roman" panose="02020603050405020304" charset="0"/>
                <a:cs typeface="Times New Roman" panose="02020603050405020304" charset="0"/>
                <a:sym typeface="+mn-ea"/>
              </a:rPr>
              <a:t>WER</a:t>
            </a:r>
            <a:endParaRPr lang="en-US" altLang="en-US" sz="2000" b="1">
              <a:solidFill>
                <a:schemeClr val="tx1"/>
              </a:solidFill>
              <a:latin typeface="Times New Roman" panose="02020603050405020304" charset="0"/>
              <a:cs typeface="Times New Roman" panose="02020603050405020304" charset="0"/>
              <a:sym typeface="+mn-ea"/>
            </a:endParaRPr>
          </a:p>
          <a:p>
            <a:pPr algn="ctr">
              <a:buSzTx/>
            </a:pPr>
            <a:r>
              <a:rPr lang="sr-Cyrl-BA" altLang="en-US">
                <a:solidFill>
                  <a:schemeClr val="tx1"/>
                </a:solidFill>
                <a:latin typeface="Times New Roman" panose="02020603050405020304" charset="0"/>
                <a:cs typeface="Times New Roman" panose="02020603050405020304" charset="0"/>
                <a:sym typeface="+mn-ea"/>
              </a:rPr>
              <a:t>Тачност</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3649980" y="1348105"/>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2000" b="1">
                <a:solidFill>
                  <a:schemeClr val="tx1"/>
                </a:solidFill>
                <a:latin typeface="Times New Roman" panose="02020603050405020304" charset="0"/>
                <a:cs typeface="Times New Roman" panose="02020603050405020304" charset="0"/>
                <a:sym typeface="+mn-ea"/>
              </a:rPr>
              <a:t>RTF</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Брзина обраде</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8" name="Rounded Rectangle 7"/>
          <p:cNvSpPr/>
          <p:nvPr/>
        </p:nvSpPr>
        <p:spPr>
          <a:xfrm>
            <a:off x="5775325" y="1348105"/>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2000" b="1">
                <a:solidFill>
                  <a:schemeClr val="tx1"/>
                </a:solidFill>
                <a:latin typeface="Times New Roman" panose="02020603050405020304" charset="0"/>
                <a:cs typeface="Times New Roman" panose="02020603050405020304" charset="0"/>
                <a:sym typeface="+mn-ea"/>
              </a:rPr>
              <a:t>RAM</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Меморија</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9" name="Text Box 8"/>
          <p:cNvSpPr txBox="1"/>
          <p:nvPr/>
        </p:nvSpPr>
        <p:spPr>
          <a:xfrm>
            <a:off x="1629410" y="2355850"/>
            <a:ext cx="5901055" cy="1076325"/>
          </a:xfrm>
          <a:prstGeom prst="rect">
            <a:avLst/>
          </a:prstGeom>
        </p:spPr>
        <p:txBody>
          <a:bodyPr wrap="square">
            <a:spAutoFit/>
          </a:bodyPr>
          <a:lstStyle/>
          <a:p>
            <a:pPr marL="457200" indent="-317500" algn="ctr">
              <a:spcAft>
                <a:spcPts val="0"/>
              </a:spcAft>
              <a:buSzPts val="1400"/>
              <a:buChar char="●"/>
            </a:pPr>
            <a:r>
              <a:rPr lang="en-US" altLang="en-US" sz="1600" b="1">
                <a:solidFill>
                  <a:schemeClr val="dk2"/>
                </a:solidFill>
                <a:latin typeface="Times New Roman" panose="02020603050405020304" charset="0"/>
                <a:ea typeface="Barlow Semi Condensed" panose="00000506000000000000"/>
                <a:cs typeface="Times New Roman" panose="02020603050405020304" charset="0"/>
              </a:rPr>
              <a:t>Јединствена основа за поређење</a:t>
            </a:r>
            <a:endParaRPr lang="en-US" altLang="en-US" sz="1600" b="1">
              <a:solidFill>
                <a:schemeClr val="dk2"/>
              </a:solidFill>
              <a:latin typeface="Times New Roman" panose="02020603050405020304" charset="0"/>
              <a:ea typeface="Barlow Semi Condensed" panose="00000506000000000000"/>
              <a:cs typeface="Times New Roman" panose="02020603050405020304" charset="0"/>
            </a:endParaRPr>
          </a:p>
          <a:p>
            <a:pPr algn="ctr"/>
            <a:r>
              <a:rPr lang="en-US" altLang="zh-CN" sz="1600">
                <a:latin typeface="Times New Roman" panose="02020603050405020304" charset="0"/>
                <a:cs typeface="Times New Roman" panose="02020603050405020304" charset="0"/>
              </a:rPr>
              <a:t>Tiny · Base · Small · Medium × INT8 / FP32</a:t>
            </a:r>
            <a:endParaRPr lang="en-US" altLang="zh-CN" sz="1600">
              <a:latin typeface="Times New Roman" panose="02020603050405020304" charset="0"/>
              <a:cs typeface="Times New Roman" panose="02020603050405020304" charset="0"/>
            </a:endParaRPr>
          </a:p>
          <a:p>
            <a:pPr algn="ctr"/>
            <a:r>
              <a:rPr lang="en-US" altLang="zh-CN" sz="1600">
                <a:latin typeface="Times New Roman" panose="02020603050405020304" charset="0"/>
                <a:cs typeface="Times New Roman" panose="02020603050405020304" charset="0"/>
              </a:rPr>
              <a:t>Сачувани транскрипти → накнадни прорачун </a:t>
            </a:r>
            <a:r>
              <a:rPr lang="sr-Cyrl-BA" altLang="zh-CN" sz="1600">
                <a:latin typeface="Times New Roman" panose="02020603050405020304" charset="0"/>
                <a:cs typeface="Times New Roman" panose="02020603050405020304" charset="0"/>
              </a:rPr>
              <a:t>вредности</a:t>
            </a:r>
            <a:r>
              <a:rPr lang="en-US" altLang="zh-CN" sz="1600">
                <a:latin typeface="Times New Roman" panose="02020603050405020304" charset="0"/>
                <a:cs typeface="Times New Roman" panose="02020603050405020304" charset="0"/>
              </a:rPr>
              <a:t> WER-а</a:t>
            </a:r>
            <a:endParaRPr lang="en-US" altLang="zh-CN" sz="1600">
              <a:latin typeface="Times New Roman" panose="02020603050405020304" charset="0"/>
              <a:cs typeface="Times New Roman" panose="02020603050405020304" charset="0"/>
            </a:endParaRPr>
          </a:p>
          <a:p>
            <a:pPr algn="ctr"/>
            <a:r>
              <a:rPr lang="en-US" altLang="zh-CN" sz="1600">
                <a:latin typeface="Times New Roman" panose="02020603050405020304" charset="0"/>
                <a:cs typeface="Times New Roman" panose="02020603050405020304" charset="0"/>
              </a:rPr>
              <a:t>Постојећа мерења → RTF и R</a:t>
            </a:r>
            <a:r>
              <a:rPr lang="sr-Cyrl-BA" altLang="en-US" sz="1600">
                <a:latin typeface="Times New Roman" panose="02020603050405020304" charset="0"/>
                <a:cs typeface="Times New Roman" panose="02020603050405020304" charset="0"/>
              </a:rPr>
              <a:t>АМ</a:t>
            </a:r>
            <a:endParaRPr lang="sr-Cyrl-BA" altLang="en-US" sz="1600">
              <a:latin typeface="Times New Roman" panose="02020603050405020304" charset="0"/>
              <a:cs typeface="Times New Roman" panose="02020603050405020304" charset="0"/>
            </a:endParaRPr>
          </a:p>
        </p:txBody>
      </p:sp>
      <p:sp>
        <p:nvSpPr>
          <p:cNvPr id="50" name="Rounded Rectangle 49"/>
          <p:cNvSpPr/>
          <p:nvPr/>
        </p:nvSpPr>
        <p:spPr>
          <a:xfrm>
            <a:off x="1655445" y="3933825"/>
            <a:ext cx="1582420"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b="1">
              <a:solidFill>
                <a:schemeClr val="tx1"/>
              </a:solidFill>
              <a:latin typeface="Times New Roman" panose="02020603050405020304" charset="0"/>
              <a:cs typeface="Times New Roman" panose="02020603050405020304" charset="0"/>
            </a:endParaRPr>
          </a:p>
          <a:p>
            <a:pPr algn="ctr"/>
            <a:r>
              <a:rPr lang="en-US" altLang="en-US" b="1">
                <a:solidFill>
                  <a:schemeClr val="tx1"/>
                </a:solidFill>
                <a:latin typeface="Times New Roman" panose="02020603050405020304" charset="0"/>
                <a:cs typeface="Times New Roman" panose="02020603050405020304" charset="0"/>
              </a:rPr>
              <a:t>Нормализација</a:t>
            </a:r>
            <a:endParaRPr lang="en-US" altLang="en-US" b="1">
              <a:solidFill>
                <a:schemeClr val="tx1"/>
              </a:solidFill>
              <a:latin typeface="Times New Roman" panose="02020603050405020304" charset="0"/>
              <a:cs typeface="Times New Roman" panose="02020603050405020304" charset="0"/>
            </a:endParaRPr>
          </a:p>
          <a:p>
            <a:pPr algn="ctr"/>
            <a:endParaRPr lang="en-US" altLang="en-US" b="1">
              <a:solidFill>
                <a:schemeClr val="tx1"/>
              </a:solidFill>
              <a:latin typeface="Times New Roman" panose="02020603050405020304" charset="0"/>
              <a:cs typeface="Times New Roman" panose="02020603050405020304" charset="0"/>
            </a:endParaRPr>
          </a:p>
        </p:txBody>
      </p:sp>
      <p:sp>
        <p:nvSpPr>
          <p:cNvPr id="51" name="TextBox 10"/>
          <p:cNvSpPr txBox="1"/>
          <p:nvPr/>
        </p:nvSpPr>
        <p:spPr>
          <a:xfrm>
            <a:off x="3283966" y="408432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12" name="Rounded Rectangle 11"/>
          <p:cNvSpPr/>
          <p:nvPr/>
        </p:nvSpPr>
        <p:spPr>
          <a:xfrm>
            <a:off x="3909060" y="3940175"/>
            <a:ext cx="1367155" cy="67500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b="1">
              <a:solidFill>
                <a:schemeClr val="tx1"/>
              </a:solidFill>
              <a:latin typeface="Times New Roman" panose="02020603050405020304" charset="0"/>
              <a:cs typeface="Times New Roman" panose="02020603050405020304" charset="0"/>
            </a:endParaRPr>
          </a:p>
          <a:p>
            <a:pPr algn="ctr"/>
            <a:r>
              <a:rPr lang="en-US" altLang="en-US" b="1">
                <a:solidFill>
                  <a:schemeClr val="tx1"/>
                </a:solidFill>
                <a:latin typeface="Times New Roman" panose="02020603050405020304" charset="0"/>
                <a:cs typeface="Times New Roman" panose="02020603050405020304" charset="0"/>
              </a:rPr>
              <a:t>Пондерисање</a:t>
            </a:r>
            <a:endParaRPr lang="en-US" altLang="en-US" b="1">
              <a:solidFill>
                <a:schemeClr val="tx1"/>
              </a:solidFill>
              <a:latin typeface="Times New Roman" panose="02020603050405020304" charset="0"/>
              <a:cs typeface="Times New Roman" panose="02020603050405020304" charset="0"/>
            </a:endParaRPr>
          </a:p>
          <a:p>
            <a:pPr algn="ctr"/>
            <a:endParaRPr lang="en-US" altLang="en-US" b="1">
              <a:solidFill>
                <a:schemeClr val="tx1"/>
              </a:solidFill>
              <a:latin typeface="Times New Roman" panose="02020603050405020304" charset="0"/>
              <a:cs typeface="Times New Roman" panose="02020603050405020304" charset="0"/>
            </a:endParaRPr>
          </a:p>
        </p:txBody>
      </p:sp>
      <p:sp>
        <p:nvSpPr>
          <p:cNvPr id="13" name="TextBox 10"/>
          <p:cNvSpPr txBox="1"/>
          <p:nvPr/>
        </p:nvSpPr>
        <p:spPr>
          <a:xfrm>
            <a:off x="5291836" y="4084320"/>
            <a:ext cx="320040" cy="228600"/>
          </a:xfrm>
          <a:prstGeom prst="rect">
            <a:avLst/>
          </a:prstGeom>
          <a:noFill/>
        </p:spPr>
        <p:txBody>
          <a:bodyPr wrap="square" lIns="18288" tIns="18288" rIns="18288" bIns="18288">
            <a:spAutoFit/>
          </a:bodyPr>
          <a:lstStyle/>
          <a:p>
            <a:pPr algn="ctr"/>
            <a:r>
              <a:rPr sz="1600" b="1" i="0">
                <a:solidFill>
                  <a:srgbClr val="697075"/>
                </a:solidFill>
                <a:latin typeface="Aptos"/>
              </a:rPr>
              <a:t>→</a:t>
            </a:r>
            <a:endParaRPr sz="1600" b="1" i="0">
              <a:solidFill>
                <a:srgbClr val="697075"/>
              </a:solidFill>
              <a:latin typeface="Aptos"/>
            </a:endParaRPr>
          </a:p>
        </p:txBody>
      </p:sp>
      <p:sp>
        <p:nvSpPr>
          <p:cNvPr id="14" name="Rounded Rectangle 13"/>
          <p:cNvSpPr/>
          <p:nvPr/>
        </p:nvSpPr>
        <p:spPr>
          <a:xfrm>
            <a:off x="5947410" y="3907155"/>
            <a:ext cx="1544320" cy="717550"/>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b="1">
              <a:solidFill>
                <a:schemeClr val="tx1"/>
              </a:solidFill>
              <a:latin typeface="Times New Roman" panose="02020603050405020304" charset="0"/>
              <a:cs typeface="Times New Roman" panose="02020603050405020304" charset="0"/>
              <a:sym typeface="+mn-ea"/>
            </a:endParaRPr>
          </a:p>
          <a:p>
            <a:pPr algn="ctr"/>
            <a:r>
              <a:rPr lang="sr-Cyrl-BA" altLang="en-US" b="1">
                <a:solidFill>
                  <a:schemeClr val="tx1"/>
                </a:solidFill>
                <a:latin typeface="Times New Roman" panose="02020603050405020304" charset="0"/>
                <a:cs typeface="Times New Roman" panose="02020603050405020304" charset="0"/>
                <a:sym typeface="+mn-ea"/>
              </a:rPr>
              <a:t>Парето</a:t>
            </a:r>
            <a:r>
              <a:rPr lang="en-US" altLang="en-US" b="1">
                <a:solidFill>
                  <a:schemeClr val="tx1"/>
                </a:solidFill>
                <a:latin typeface="Times New Roman" panose="02020603050405020304" charset="0"/>
                <a:cs typeface="Times New Roman" panose="02020603050405020304" charset="0"/>
                <a:sym typeface="+mn-ea"/>
              </a:rPr>
              <a:t> анализа</a:t>
            </a:r>
            <a:endParaRPr lang="en-US" altLang="en-US" b="1">
              <a:solidFill>
                <a:schemeClr val="tx1"/>
              </a:solidFill>
              <a:latin typeface="Times New Roman" panose="02020603050405020304" charset="0"/>
              <a:cs typeface="Times New Roman" panose="02020603050405020304" charset="0"/>
            </a:endParaRPr>
          </a:p>
          <a:p>
            <a:pPr algn="ctr"/>
            <a:endParaRPr lang="en-US" altLang="en-US" b="1">
              <a:solidFill>
                <a:schemeClr val="tx1"/>
              </a:solidFill>
              <a:latin typeface="Times New Roman" panose="02020603050405020304" charset="0"/>
              <a:cs typeface="Times New Roman" panose="02020603050405020304" charset="0"/>
            </a:endParaRPr>
          </a:p>
        </p:txBody>
      </p:sp>
      <p:sp>
        <p:nvSpPr>
          <p:cNvPr id="15" name="Text Box 14"/>
          <p:cNvSpPr txBox="1"/>
          <p:nvPr/>
        </p:nvSpPr>
        <p:spPr>
          <a:xfrm>
            <a:off x="727710" y="4716145"/>
            <a:ext cx="7693025" cy="306705"/>
          </a:xfrm>
          <a:prstGeom prst="rect">
            <a:avLst/>
          </a:prstGeom>
          <a:noFill/>
        </p:spPr>
        <p:txBody>
          <a:bodyPr wrap="square" rtlCol="0">
            <a:spAutoFit/>
          </a:bodyPr>
          <a:lstStyle/>
          <a:p>
            <a:pPr algn="ctr"/>
            <a:r>
              <a:rPr lang="en-US" altLang="en-US" b="1">
                <a:latin typeface="Times New Roman" panose="02020603050405020304" charset="0"/>
                <a:cs typeface="Times New Roman" panose="02020603050405020304" charset="0"/>
              </a:rPr>
              <a:t>Мање вредности WER-а, RTF-а и меморијске потрошње представљају повољнији резултат.</a:t>
            </a:r>
            <a:endParaRPr lang="en-US" altLang="en-US" b="1">
              <a:latin typeface="Times New Roman" panose="02020603050405020304" charset="0"/>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99795" y="843915"/>
            <a:ext cx="7698740" cy="645795"/>
          </a:xfrm>
        </p:spPr>
        <p:txBody>
          <a:bodyPr/>
          <a:lstStyle/>
          <a:p>
            <a:pPr algn="l"/>
            <a:r>
              <a:rPr lang="en-US" altLang="en-US" sz="1600" b="1">
                <a:latin typeface="Times New Roman" panose="02020603050405020304" charset="0"/>
                <a:cs typeface="Times New Roman" panose="02020603050405020304" charset="0"/>
              </a:rPr>
              <a:t>Три критеријума са различитим јединицама мере</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Нормализација и пондерисани скор</a:t>
            </a:r>
            <a:endParaRPr lang="en-US" altLang="en-US">
              <a:latin typeface="Times New Roman" panose="02020603050405020304" charset="0"/>
              <a:cs typeface="Times New Roman" panose="02020603050405020304" charset="0"/>
            </a:endParaRPr>
          </a:p>
        </p:txBody>
      </p:sp>
      <p:sp>
        <p:nvSpPr>
          <p:cNvPr id="5" name="Rounded Rectangle 4"/>
          <p:cNvSpPr/>
          <p:nvPr/>
        </p:nvSpPr>
        <p:spPr>
          <a:xfrm>
            <a:off x="1705610" y="1307465"/>
            <a:ext cx="1635760" cy="91376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altLang="en-US" sz="2000" b="1">
                <a:solidFill>
                  <a:schemeClr val="tx1"/>
                </a:solidFill>
                <a:latin typeface="Times New Roman" panose="02020603050405020304" charset="0"/>
                <a:cs typeface="Times New Roman" panose="02020603050405020304" charset="0"/>
                <a:sym typeface="+mn-ea"/>
              </a:rPr>
              <a:t>50% </a:t>
            </a:r>
            <a:endParaRPr lang="sr-Cyrl-BA" altLang="en-US" sz="2000" b="1">
              <a:solidFill>
                <a:schemeClr val="tx1"/>
              </a:solidFill>
              <a:latin typeface="Times New Roman" panose="02020603050405020304" charset="0"/>
              <a:cs typeface="Times New Roman" panose="02020603050405020304" charset="0"/>
              <a:sym typeface="+mn-ea"/>
            </a:endParaRPr>
          </a:p>
          <a:p>
            <a:pPr algn="ctr">
              <a:buSzTx/>
            </a:pPr>
            <a:r>
              <a:rPr lang="en-US" altLang="sr-Cyrl-BA" sz="2000" b="1">
                <a:gradFill>
                  <a:gsLst>
                    <a:gs pos="50000">
                      <a:schemeClr val="accent5"/>
                    </a:gs>
                    <a:gs pos="0">
                      <a:schemeClr val="accent5">
                        <a:lumMod val="25000"/>
                        <a:lumOff val="75000"/>
                      </a:schemeClr>
                    </a:gs>
                    <a:gs pos="100000">
                      <a:schemeClr val="accent5">
                        <a:lumMod val="85000"/>
                      </a:schemeClr>
                    </a:gs>
                  </a:gsLst>
                  <a:lin ang="5400000" scaled="1"/>
                </a:gradFill>
                <a:latin typeface="Times New Roman" panose="02020603050405020304" charset="0"/>
                <a:cs typeface="Times New Roman" panose="02020603050405020304" charset="0"/>
                <a:sym typeface="+mn-ea"/>
              </a:rPr>
              <a:t>WER</a:t>
            </a:r>
            <a:endParaRPr lang="en-US" altLang="en-US" sz="2000" b="1">
              <a:gradFill>
                <a:gsLst>
                  <a:gs pos="50000">
                    <a:schemeClr val="accent5"/>
                  </a:gs>
                  <a:gs pos="0">
                    <a:schemeClr val="accent5">
                      <a:lumMod val="25000"/>
                      <a:lumOff val="75000"/>
                    </a:schemeClr>
                  </a:gs>
                  <a:gs pos="100000">
                    <a:schemeClr val="accent5">
                      <a:lumMod val="85000"/>
                    </a:schemeClr>
                  </a:gs>
                </a:gsLst>
                <a:lin ang="5400000" scaled="1"/>
              </a:gradFill>
              <a:latin typeface="Times New Roman" panose="02020603050405020304" charset="0"/>
              <a:cs typeface="Times New Roman" panose="02020603050405020304" charset="0"/>
              <a:sym typeface="+mn-ea"/>
            </a:endParaRPr>
          </a:p>
          <a:p>
            <a:pPr algn="ctr">
              <a:buSzTx/>
            </a:pPr>
            <a:r>
              <a:rPr lang="sr-Cyrl-BA" altLang="en-US">
                <a:solidFill>
                  <a:schemeClr val="tx1"/>
                </a:solidFill>
                <a:latin typeface="Times New Roman" panose="02020603050405020304" charset="0"/>
                <a:cs typeface="Times New Roman" panose="02020603050405020304" charset="0"/>
                <a:sym typeface="+mn-ea"/>
              </a:rPr>
              <a:t>Тачност</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3649980" y="1348105"/>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000" b="1">
                <a:solidFill>
                  <a:schemeClr val="tx1"/>
                </a:solidFill>
                <a:latin typeface="Times New Roman" panose="02020603050405020304" charset="0"/>
                <a:cs typeface="Times New Roman" panose="02020603050405020304" charset="0"/>
                <a:sym typeface="+mn-ea"/>
              </a:rPr>
              <a:t>30%</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en-US" altLang="sr-Cyrl-BA" sz="2000" b="1">
                <a:gradFill>
                  <a:gsLst>
                    <a:gs pos="50000">
                      <a:schemeClr val="accent5"/>
                    </a:gs>
                    <a:gs pos="0">
                      <a:schemeClr val="accent5">
                        <a:lumMod val="25000"/>
                        <a:lumOff val="75000"/>
                      </a:schemeClr>
                    </a:gs>
                    <a:gs pos="100000">
                      <a:schemeClr val="accent5">
                        <a:lumMod val="85000"/>
                      </a:schemeClr>
                    </a:gs>
                  </a:gsLst>
                  <a:lin ang="5400000" scaled="1"/>
                </a:gradFill>
                <a:latin typeface="Times New Roman" panose="02020603050405020304" charset="0"/>
                <a:cs typeface="Times New Roman" panose="02020603050405020304" charset="0"/>
                <a:sym typeface="+mn-ea"/>
              </a:rPr>
              <a:t>RTF</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Брзина обраде</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8" name="Rounded Rectangle 7"/>
          <p:cNvSpPr/>
          <p:nvPr/>
        </p:nvSpPr>
        <p:spPr>
          <a:xfrm>
            <a:off x="5775325" y="1348105"/>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000" b="1">
                <a:solidFill>
                  <a:schemeClr val="tx1"/>
                </a:solidFill>
                <a:latin typeface="Times New Roman" panose="02020603050405020304" charset="0"/>
                <a:cs typeface="Times New Roman" panose="02020603050405020304" charset="0"/>
                <a:sym typeface="+mn-ea"/>
              </a:rPr>
              <a:t>20%</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en-US" altLang="sr-Cyrl-BA" sz="2000" b="1">
                <a:gradFill>
                  <a:gsLst>
                    <a:gs pos="50000">
                      <a:schemeClr val="accent5"/>
                    </a:gs>
                    <a:gs pos="0">
                      <a:schemeClr val="accent5">
                        <a:lumMod val="25000"/>
                        <a:lumOff val="75000"/>
                      </a:schemeClr>
                    </a:gs>
                    <a:gs pos="100000">
                      <a:schemeClr val="accent5">
                        <a:lumMod val="85000"/>
                      </a:schemeClr>
                    </a:gs>
                  </a:gsLst>
                  <a:lin ang="5400000" scaled="1"/>
                </a:gradFill>
                <a:latin typeface="Times New Roman" panose="02020603050405020304" charset="0"/>
                <a:cs typeface="Times New Roman" panose="02020603050405020304" charset="0"/>
                <a:sym typeface="+mn-ea"/>
              </a:rPr>
              <a:t>RAM</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Меморија</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9" name="Text Box 8"/>
          <p:cNvSpPr txBox="1"/>
          <p:nvPr/>
        </p:nvSpPr>
        <p:spPr>
          <a:xfrm>
            <a:off x="1629410" y="2355850"/>
            <a:ext cx="5901055" cy="337185"/>
          </a:xfrm>
          <a:prstGeom prst="rect">
            <a:avLst/>
          </a:prstGeom>
        </p:spPr>
        <p:txBody>
          <a:bodyPr wrap="square">
            <a:spAutoFit/>
          </a:bodyPr>
          <a:lstStyle/>
          <a:p>
            <a:pPr marL="139700" indent="0" algn="ctr">
              <a:spcAft>
                <a:spcPts val="0"/>
              </a:spcAft>
              <a:buSzPts val="1400"/>
              <a:buNone/>
            </a:pPr>
            <a:r>
              <a:rPr lang="en-US" altLang="en-US" sz="1600" b="1">
                <a:latin typeface="Times New Roman" panose="02020603050405020304" charset="0"/>
                <a:cs typeface="Times New Roman" panose="02020603050405020304" charset="0"/>
              </a:rPr>
              <a:t>Min-max нормализација</a:t>
            </a:r>
            <a:endParaRPr lang="en-US" altLang="en-US" sz="1600" b="1">
              <a:latin typeface="Times New Roman" panose="02020603050405020304" charset="0"/>
              <a:cs typeface="Times New Roman" panose="02020603050405020304" charset="0"/>
            </a:endParaRPr>
          </a:p>
        </p:txBody>
      </p:sp>
      <p:sp>
        <p:nvSpPr>
          <p:cNvPr id="15" name="Text Box 14"/>
          <p:cNvSpPr txBox="1"/>
          <p:nvPr/>
        </p:nvSpPr>
        <p:spPr>
          <a:xfrm>
            <a:off x="899160" y="4588510"/>
            <a:ext cx="7287260" cy="521970"/>
          </a:xfrm>
          <a:prstGeom prst="rect">
            <a:avLst/>
          </a:prstGeom>
          <a:noFill/>
        </p:spPr>
        <p:txBody>
          <a:bodyPr wrap="square" rtlCol="0">
            <a:spAutoFit/>
          </a:bodyPr>
          <a:lstStyle/>
          <a:p>
            <a:pPr algn="ctr">
              <a:buSzTx/>
            </a:pPr>
            <a:r>
              <a:rPr lang="en-US" altLang="en-US" b="1">
                <a:latin typeface="Times New Roman" panose="02020603050405020304" charset="0"/>
                <a:cs typeface="Times New Roman" panose="02020603050405020304" charset="0"/>
              </a:rPr>
              <a:t>Тежине представљају дефинисани сценарио овог рада, а не универзалне приоритете сваког ASR система.</a:t>
            </a:r>
            <a:endParaRPr lang="en-US" altLang="en-US" b="1">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1"/>
          <a:srcRect t="23368"/>
          <a:stretch>
            <a:fillRect/>
          </a:stretch>
        </p:blipFill>
        <p:spPr>
          <a:xfrm>
            <a:off x="3434080" y="2682875"/>
            <a:ext cx="2409825" cy="708025"/>
          </a:xfrm>
          <a:prstGeom prst="rect">
            <a:avLst/>
          </a:prstGeom>
        </p:spPr>
      </p:pic>
      <p:sp>
        <p:nvSpPr>
          <p:cNvPr id="10" name="Text Box 9"/>
          <p:cNvSpPr txBox="1"/>
          <p:nvPr/>
        </p:nvSpPr>
        <p:spPr>
          <a:xfrm>
            <a:off x="2633345" y="3435985"/>
            <a:ext cx="4413885" cy="306705"/>
          </a:xfrm>
          <a:prstGeom prst="rect">
            <a:avLst/>
          </a:prstGeom>
          <a:noFill/>
        </p:spPr>
        <p:txBody>
          <a:bodyPr wrap="square" rtlCol="0">
            <a:spAutoFit/>
          </a:bodyPr>
          <a:lstStyle/>
          <a:p>
            <a:r>
              <a:rPr lang="en-US" altLang="en-US" b="1">
                <a:latin typeface="Times New Roman" panose="02020603050405020304" charset="0"/>
                <a:cs typeface="Times New Roman" panose="02020603050405020304" charset="0"/>
              </a:rPr>
              <a:t>Најповољнија вредност → 1 · Најнеповољнија → 0</a:t>
            </a:r>
            <a:endParaRPr lang="en-US" altLang="en-US" b="1">
              <a:latin typeface="Times New Roman" panose="02020603050405020304" charset="0"/>
              <a:cs typeface="Times New Roman" panose="02020603050405020304" charset="0"/>
            </a:endParaRPr>
          </a:p>
        </p:txBody>
      </p:sp>
      <p:sp>
        <p:nvSpPr>
          <p:cNvPr id="11" name="Text Box 10"/>
          <p:cNvSpPr txBox="1"/>
          <p:nvPr/>
        </p:nvSpPr>
        <p:spPr>
          <a:xfrm>
            <a:off x="2987675" y="3853180"/>
            <a:ext cx="3048000" cy="337185"/>
          </a:xfrm>
          <a:prstGeom prst="rect">
            <a:avLst/>
          </a:prstGeom>
          <a:noFill/>
        </p:spPr>
        <p:txBody>
          <a:bodyPr wrap="square" rtlCol="0">
            <a:spAutoFit/>
          </a:bodyPr>
          <a:lstStyle/>
          <a:p>
            <a:pPr marL="139700" algn="ctr">
              <a:buSzPts val="1400"/>
            </a:pPr>
            <a:r>
              <a:rPr lang="en-US" altLang="en-US" sz="1600" b="1">
                <a:latin typeface="Times New Roman" panose="02020603050405020304" charset="0"/>
                <a:cs typeface="Times New Roman" panose="02020603050405020304" charset="0"/>
              </a:rPr>
              <a:t>Укупан скор</a:t>
            </a:r>
            <a:endParaRPr lang="en-US" altLang="en-US" sz="1600" b="1">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2"/>
          <a:stretch>
            <a:fillRect/>
          </a:stretch>
        </p:blipFill>
        <p:spPr>
          <a:xfrm>
            <a:off x="2505075" y="4134485"/>
            <a:ext cx="4133850" cy="5238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59790" y="843915"/>
            <a:ext cx="7698740" cy="645795"/>
          </a:xfrm>
        </p:spPr>
        <p:txBody>
          <a:bodyPr/>
          <a:lstStyle/>
          <a:p>
            <a:pPr algn="l"/>
            <a:r>
              <a:rPr lang="en-US" altLang="en-US" sz="1600" b="1" dirty="0" err="1">
                <a:latin typeface="Times New Roman" panose="02020603050405020304" charset="0"/>
                <a:cs typeface="Times New Roman" panose="02020603050405020304" charset="0"/>
              </a:rPr>
              <a:t>Однос</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тачности</a:t>
            </a:r>
            <a:r>
              <a:rPr lang="en-US" altLang="en-US" sz="1600" b="1" dirty="0">
                <a:latin typeface="Times New Roman" panose="02020603050405020304" charset="0"/>
                <a:cs typeface="Times New Roman" panose="02020603050405020304" charset="0"/>
              </a:rPr>
              <a:t> и </a:t>
            </a:r>
            <a:r>
              <a:rPr lang="en-US" altLang="en-US" sz="1600" b="1" dirty="0" err="1">
                <a:latin typeface="Times New Roman" panose="02020603050405020304" charset="0"/>
                <a:cs typeface="Times New Roman" panose="02020603050405020304" charset="0"/>
              </a:rPr>
              <a:t>брзине</a:t>
            </a:r>
            <a:r>
              <a:rPr lang="en-US" altLang="en-US" sz="1600" b="1" dirty="0">
                <a:latin typeface="Times New Roman" panose="02020603050405020304" charset="0"/>
                <a:cs typeface="Times New Roman" panose="02020603050405020304" charset="0"/>
              </a:rPr>
              <a:t> · 8 Faster-Whisper </a:t>
            </a:r>
            <a:r>
              <a:rPr lang="en-US" altLang="en-US" sz="1600" b="1" dirty="0" err="1">
                <a:latin typeface="Times New Roman" panose="02020603050405020304" charset="0"/>
                <a:cs typeface="Times New Roman" panose="02020603050405020304" charset="0"/>
              </a:rPr>
              <a:t>конфигурација</a:t>
            </a:r>
            <a:endParaRPr lang="en-US" altLang="en-US" sz="1600" b="1" dirty="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sr-Cyrl-BA" altLang="en-US" dirty="0">
                <a:solidFill>
                  <a:schemeClr val="tx1"/>
                </a:solidFill>
                <a:latin typeface="Times New Roman" panose="02020603050405020304" charset="0"/>
                <a:cs typeface="Times New Roman" panose="02020603050405020304" charset="0"/>
              </a:rPr>
              <a:t>Парето</a:t>
            </a: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анализа</a:t>
            </a:r>
            <a:r>
              <a:rPr lang="en-US" altLang="en-US" dirty="0">
                <a:solidFill>
                  <a:schemeClr val="tx1"/>
                </a:solidFill>
                <a:latin typeface="Times New Roman" panose="02020603050405020304" charset="0"/>
                <a:cs typeface="Times New Roman" panose="02020603050405020304" charset="0"/>
              </a:rPr>
              <a:t> </a:t>
            </a:r>
            <a:r>
              <a:rPr lang="en-US" altLang="en-US" dirty="0" err="1">
                <a:solidFill>
                  <a:schemeClr val="tx1"/>
                </a:solidFill>
                <a:latin typeface="Times New Roman" panose="02020603050405020304" charset="0"/>
                <a:cs typeface="Times New Roman" panose="02020603050405020304" charset="0"/>
              </a:rPr>
              <a:t>конфигурација</a:t>
            </a:r>
            <a:endParaRPr lang="en-US" altLang="en-US" dirty="0" err="1">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1115695" y="3507740"/>
            <a:ext cx="7110095" cy="1599565"/>
          </a:xfrm>
          <a:prstGeom prst="rect">
            <a:avLst/>
          </a:prstGeom>
          <a:noFill/>
        </p:spPr>
        <p:txBody>
          <a:bodyPr wrap="square" rtlCol="0">
            <a:spAutoFit/>
          </a:bodyPr>
          <a:lstStyle/>
          <a:p>
            <a:pPr algn="ctr"/>
            <a:r>
              <a:rPr lang="sr-Cyrl-BA" altLang="en-US" b="1" dirty="0">
                <a:latin typeface="Times New Roman" panose="02020603050405020304" charset="0"/>
                <a:cs typeface="Times New Roman" panose="02020603050405020304" charset="0"/>
              </a:rPr>
              <a:t>Парето</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доминација</a:t>
            </a:r>
            <a:endParaRPr lang="en-US" altLang="en-US" b="1" dirty="0">
              <a:latin typeface="Times New Roman" panose="02020603050405020304" charset="0"/>
              <a:cs typeface="Times New Roman" panose="02020603050405020304" charset="0"/>
            </a:endParaRPr>
          </a:p>
          <a:p>
            <a:pPr algn="ctr"/>
            <a:r>
              <a:rPr lang="en-US" altLang="en-US" dirty="0">
                <a:latin typeface="Times New Roman" panose="02020603050405020304" charset="0"/>
                <a:cs typeface="Times New Roman" panose="02020603050405020304" charset="0"/>
              </a:rPr>
              <a:t>Конфигурација </a:t>
            </a:r>
            <a:r>
              <a:rPr lang="en-US" altLang="en-US" dirty="0" err="1">
                <a:latin typeface="Times New Roman" panose="02020603050405020304" charset="0"/>
                <a:cs typeface="Times New Roman" panose="02020603050405020304" charset="0"/>
              </a:rPr>
              <a:t>је</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доминирана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ако</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постоји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друга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конфигурација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која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није</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лошија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ни</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по</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једном</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критеријуму</a:t>
            </a:r>
            <a:r>
              <a:rPr lang="en-US" altLang="en-US" dirty="0">
                <a:latin typeface="Times New Roman" panose="02020603050405020304" charset="0"/>
                <a:cs typeface="Times New Roman" panose="02020603050405020304" charset="0"/>
              </a:rPr>
              <a:t>, а </a:t>
            </a:r>
            <a:r>
              <a:rPr lang="en-US" altLang="en-US" dirty="0" err="1">
                <a:latin typeface="Times New Roman" panose="02020603050405020304" charset="0"/>
                <a:cs typeface="Times New Roman" panose="02020603050405020304" charset="0"/>
              </a:rPr>
              <a:t>боља</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је</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бар</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по</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једном</a:t>
            </a:r>
            <a:r>
              <a:rPr lang="en-US" altLang="en-US" dirty="0">
                <a:latin typeface="Times New Roman" panose="02020603050405020304" charset="0"/>
                <a:cs typeface="Times New Roman" panose="02020603050405020304" charset="0"/>
              </a:rPr>
              <a:t>.</a:t>
            </a:r>
            <a:endParaRPr lang="en-US" altLang="en-US" dirty="0">
              <a:latin typeface="Times New Roman" panose="02020603050405020304" charset="0"/>
              <a:cs typeface="Times New Roman" panose="02020603050405020304" charset="0"/>
            </a:endParaRPr>
          </a:p>
          <a:p>
            <a:pPr marL="285750" indent="-285750" algn="ctr">
              <a:buFont typeface="Arial" panose="020B0604020202020204" pitchFamily="34" charset="0"/>
              <a:buChar char="•"/>
            </a:pPr>
            <a:r>
              <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7 </a:t>
            </a:r>
            <a:r>
              <a:rPr lang="en-US" altLang="en-US" dirty="0" err="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конфигурација</a:t>
            </a:r>
            <a:r>
              <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 у </a:t>
            </a:r>
            <a:r>
              <a:rPr lang="en-US" altLang="en-US" dirty="0" err="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Парето</a:t>
            </a:r>
            <a:r>
              <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 </a:t>
            </a:r>
            <a:r>
              <a:rPr lang="en-US" altLang="en-US" dirty="0" err="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скупу</a:t>
            </a:r>
            <a:endPar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endParaRPr>
          </a:p>
          <a:p>
            <a:pPr marL="285750" indent="-285750" algn="ctr">
              <a:buFont typeface="Arial" panose="020B0604020202020204" pitchFamily="34" charset="0"/>
              <a:buChar char="•"/>
            </a:pPr>
            <a:r>
              <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Base FP32 → </a:t>
            </a:r>
            <a:r>
              <a:rPr lang="en-US" altLang="en-US" dirty="0" err="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доминирана</a:t>
            </a:r>
            <a:r>
              <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 </a:t>
            </a:r>
            <a:r>
              <a:rPr lang="en-US" altLang="en-US" dirty="0" err="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конфигурација</a:t>
            </a:r>
            <a:endParaRPr lang="en-US"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endParaRPr>
          </a:p>
          <a:p>
            <a:pPr algn="ctr"/>
            <a:r>
              <a:rPr lang="en-US" altLang="en-US" b="1" dirty="0" err="1">
                <a:latin typeface="Times New Roman" panose="02020603050405020304" charset="0"/>
                <a:cs typeface="Times New Roman" panose="02020603050405020304" charset="0"/>
              </a:rPr>
              <a:t>Парето</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анализа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обухвата</a:t>
            </a:r>
            <a:r>
              <a:rPr lang="en-US" altLang="en-US" b="1" dirty="0">
                <a:latin typeface="Times New Roman" panose="02020603050405020304" charset="0"/>
                <a:cs typeface="Times New Roman" panose="02020603050405020304" charset="0"/>
              </a:rPr>
              <a:t> WER, RTF и </a:t>
            </a:r>
            <a:r>
              <a:rPr lang="en-US" altLang="en-US" b="1" dirty="0" err="1">
                <a:latin typeface="Times New Roman" panose="02020603050405020304" charset="0"/>
                <a:cs typeface="Times New Roman" panose="02020603050405020304" charset="0"/>
              </a:rPr>
              <a:t>меморијску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захтевност</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док</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график</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приказује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само</a:t>
            </a:r>
            <a:r>
              <a:rPr lang="en-US" altLang="en-US" b="1" dirty="0">
                <a:latin typeface="Times New Roman" panose="02020603050405020304" charset="0"/>
                <a:cs typeface="Times New Roman" panose="02020603050405020304" charset="0"/>
              </a:rPr>
              <a:t> WER и RTF; </a:t>
            </a:r>
            <a:r>
              <a:rPr lang="en-US" altLang="en-US" b="1" dirty="0" err="1">
                <a:latin typeface="Times New Roman" panose="02020603050405020304" charset="0"/>
                <a:cs typeface="Times New Roman" panose="02020603050405020304" charset="0"/>
              </a:rPr>
              <a:t>величина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тачке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представља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просечну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максималну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вредност</a:t>
            </a:r>
            <a:r>
              <a:rPr lang="en-US" altLang="en-US" b="1" dirty="0">
                <a:latin typeface="Times New Roman" panose="02020603050405020304" charset="0"/>
                <a:cs typeface="Times New Roman" panose="02020603050405020304" charset="0"/>
              </a:rPr>
              <a:t> RSS-а.</a:t>
            </a:r>
            <a:endParaRPr lang="en-US" altLang="en-US" b="1" dirty="0">
              <a:latin typeface="Times New Roman" panose="02020603050405020304" charset="0"/>
              <a:cs typeface="Times New Roman" panose="02020603050405020304" charset="0"/>
            </a:endParaRPr>
          </a:p>
        </p:txBody>
      </p:sp>
      <p:pic>
        <p:nvPicPr>
          <p:cNvPr id="7" name="Picture 6"/>
          <p:cNvPicPr>
            <a:picLocks noChangeAspect="1"/>
          </p:cNvPicPr>
          <p:nvPr/>
        </p:nvPicPr>
        <p:blipFill>
          <a:blip r:embed="rId1"/>
          <a:stretch>
            <a:fillRect/>
          </a:stretch>
        </p:blipFill>
        <p:spPr>
          <a:xfrm>
            <a:off x="2320290" y="1209040"/>
            <a:ext cx="4203700" cy="23653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59790" y="843915"/>
            <a:ext cx="7698740" cy="645795"/>
          </a:xfrm>
        </p:spPr>
        <p:txBody>
          <a:bodyPr/>
          <a:lstStyle/>
          <a:p>
            <a:pPr algn="l"/>
            <a:r>
              <a:rPr lang="en-US" altLang="en-US" sz="1600" b="1">
                <a:latin typeface="Times New Roman" panose="02020603050405020304" charset="0"/>
                <a:cs typeface="Times New Roman" panose="02020603050405020304" charset="0"/>
              </a:rPr>
              <a:t>Скор Small INT8 конфигурације у три сценарија пондерисања</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Анализа осетљивости избора конфигурације</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1259205" y="4471670"/>
            <a:ext cx="6713855" cy="521970"/>
          </a:xfrm>
          <a:prstGeom prst="rect">
            <a:avLst/>
          </a:prstGeom>
          <a:noFill/>
        </p:spPr>
        <p:txBody>
          <a:bodyPr wrap="square" rtlCol="0">
            <a:spAutoFit/>
          </a:bodyPr>
          <a:lstStyle/>
          <a:p>
            <a:pPr algn="ctr"/>
            <a:r>
              <a:rPr lang="en-US" altLang="en-US" b="1" dirty="0">
                <a:latin typeface="Times New Roman" panose="02020603050405020304" charset="0"/>
                <a:cs typeface="Times New Roman" panose="02020603050405020304" charset="0"/>
              </a:rPr>
              <a:t>Small INT8 </a:t>
            </a:r>
            <a:r>
              <a:rPr lang="en-US" altLang="en-US" b="1" dirty="0" err="1">
                <a:latin typeface="Times New Roman" panose="02020603050405020304" charset="0"/>
                <a:cs typeface="Times New Roman" panose="02020603050405020304" charset="0"/>
              </a:rPr>
              <a:t>задржава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прво</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место</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међу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свих</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осам</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конфигурација</a:t>
            </a:r>
            <a:r>
              <a:rPr lang="en-US" altLang="en-US" b="1" dirty="0">
                <a:latin typeface="Times New Roman" panose="02020603050405020304" charset="0"/>
                <a:cs typeface="Times New Roman" panose="02020603050405020304" charset="0"/>
              </a:rPr>
              <a:t> у </a:t>
            </a:r>
            <a:r>
              <a:rPr lang="en-US" altLang="en-US" b="1" dirty="0" err="1">
                <a:latin typeface="Times New Roman" panose="02020603050405020304" charset="0"/>
                <a:cs typeface="Times New Roman" panose="02020603050405020304" charset="0"/>
              </a:rPr>
              <a:t>сва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три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испитана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сценарија</a:t>
            </a:r>
            <a:r>
              <a:rPr lang="en-US" altLang="en-US" b="1" dirty="0">
                <a:latin typeface="Times New Roman" panose="02020603050405020304" charset="0"/>
                <a:cs typeface="Times New Roman" panose="02020603050405020304" charset="0"/>
              </a:rPr>
              <a:t>.</a:t>
            </a:r>
            <a:endParaRPr lang="en-US" altLang="en-US" b="1" dirty="0">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4932045" y="1635760"/>
          <a:ext cx="3359785" cy="2391410"/>
        </p:xfrm>
        <a:graphic>
          <a:graphicData uri="http://schemas.openxmlformats.org/drawingml/2006/table">
            <a:tbl>
              <a:tblPr firstRow="1" bandRow="1">
                <a:tableStyleId>{5C22544A-7EE6-4342-B048-85BDC9FD1C3A}</a:tableStyleId>
              </a:tblPr>
              <a:tblGrid>
                <a:gridCol w="969010"/>
                <a:gridCol w="842645"/>
                <a:gridCol w="746760"/>
                <a:gridCol w="801370"/>
              </a:tblGrid>
              <a:tr h="796925">
                <a:tc>
                  <a:txBody>
                    <a:bodyPr/>
                    <a:lstStyle/>
                    <a:p>
                      <a:pPr algn="ctr"/>
                      <a:r>
                        <a:rPr lang="en-US" altLang="zh-CN" sz="1400" b="1">
                          <a:solidFill>
                            <a:schemeClr val="tx1"/>
                          </a:solidFill>
                          <a:latin typeface="Times New Roman" panose="02020603050405020304" charset="0"/>
                          <a:cs typeface="Times New Roman" panose="02020603050405020304" charset="0"/>
                        </a:rPr>
                        <a:t>Критеријум</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Balanced</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Accuracy</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Resource</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en-US" altLang="zh-CN" sz="1400" b="1">
                          <a:solidFill>
                            <a:schemeClr val="tx1"/>
                          </a:solidFill>
                          <a:latin typeface="Times New Roman" panose="02020603050405020304" charset="0"/>
                          <a:cs typeface="Times New Roman" panose="02020603050405020304" charset="0"/>
                        </a:rPr>
                        <a:t>WER</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50%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70%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en-US" altLang="zh-CN" sz="1400" b="1">
                          <a:solidFill>
                            <a:schemeClr val="tx1"/>
                          </a:solidFill>
                          <a:latin typeface="Times New Roman" panose="02020603050405020304" charset="0"/>
                          <a:cs typeface="Times New Roman" panose="02020603050405020304" charset="0"/>
                        </a:rPr>
                        <a:t>RTF</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31495">
                <a:tc>
                  <a:txBody>
                    <a:bodyPr/>
                    <a:lstStyle/>
                    <a:p>
                      <a:pPr algn="ctr"/>
                      <a:r>
                        <a:rPr lang="en-US" altLang="zh-CN" sz="1400" b="1">
                          <a:solidFill>
                            <a:schemeClr val="tx1"/>
                          </a:solidFill>
                          <a:latin typeface="Times New Roman" panose="02020603050405020304" charset="0"/>
                          <a:cs typeface="Times New Roman" panose="02020603050405020304" charset="0"/>
                        </a:rPr>
                        <a:t>RAM</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20%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10%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30%</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pic>
        <p:nvPicPr>
          <p:cNvPr id="5" name="Picture 4"/>
          <p:cNvPicPr>
            <a:picLocks noChangeAspect="1"/>
          </p:cNvPicPr>
          <p:nvPr/>
        </p:nvPicPr>
        <p:blipFill>
          <a:blip r:embed="rId2"/>
          <a:stretch>
            <a:fillRect/>
          </a:stretch>
        </p:blipFill>
        <p:spPr>
          <a:xfrm>
            <a:off x="795020" y="1941195"/>
            <a:ext cx="4057015" cy="207835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20725" y="1007228"/>
            <a:ext cx="7698740" cy="645795"/>
          </a:xfrm>
        </p:spPr>
        <p:txBody>
          <a:bodyPr/>
          <a:lstStyle/>
          <a:p>
            <a:pPr marL="139700" indent="0" algn="ctr">
              <a:buNone/>
            </a:pPr>
            <a:r>
              <a:rPr lang="en-US" altLang="en-US" sz="24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Faster-Whisper Small INT8</a:t>
            </a:r>
            <a:endParaRPr lang="en-US" altLang="en-US" sz="24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endParaRPr>
          </a:p>
          <a:p>
            <a:pPr marL="139700" indent="0" algn="ctr">
              <a:buNone/>
            </a:pPr>
            <a:endParaRPr lang="en-US" altLang="en-US" sz="24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endParaRPr>
          </a:p>
          <a:p>
            <a:pPr marL="139700" indent="0" algn="ctr">
              <a:buNone/>
            </a:pPr>
            <a:r>
              <a:rPr lang="en-US" altLang="en-US" sz="1400" b="1">
                <a:solidFill>
                  <a:schemeClr val="tx1"/>
                </a:solidFill>
                <a:latin typeface="Times New Roman" panose="02020603050405020304" charset="0"/>
                <a:cs typeface="Times New Roman" panose="02020603050405020304" charset="0"/>
              </a:rPr>
              <a:t>Избор на основу </a:t>
            </a:r>
            <a:r>
              <a:rPr lang="sr-Cyrl-BA" altLang="en-US" sz="1400" b="1">
                <a:solidFill>
                  <a:schemeClr val="tx1"/>
                </a:solidFill>
                <a:latin typeface="Times New Roman" panose="02020603050405020304" charset="0"/>
                <a:cs typeface="Times New Roman" panose="02020603050405020304" charset="0"/>
              </a:rPr>
              <a:t>вредности </a:t>
            </a:r>
            <a:r>
              <a:rPr lang="en-US" altLang="en-US" sz="1400" b="1">
                <a:solidFill>
                  <a:schemeClr val="tx1"/>
                </a:solidFill>
                <a:latin typeface="Times New Roman" panose="02020603050405020304" charset="0"/>
                <a:cs typeface="Times New Roman" panose="02020603050405020304" charset="0"/>
              </a:rPr>
              <a:t>WER-а, RTF-а и RAM-а</a:t>
            </a:r>
            <a:endParaRPr lang="en-US" altLang="en-US" sz="1400" b="1">
              <a:solidFill>
                <a:schemeClr val="tx1"/>
              </a:solidFill>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dirty="0" err="1">
                <a:latin typeface="Times New Roman" panose="02020603050405020304" charset="0"/>
                <a:cs typeface="Times New Roman" panose="02020603050405020304" charset="0"/>
              </a:rPr>
              <a:t>Избор</a:t>
            </a:r>
            <a:r>
              <a:rPr lang="en-US" altLang="en-US" dirty="0">
                <a:latin typeface="Times New Roman" panose="02020603050405020304" charset="0"/>
                <a:cs typeface="Times New Roman" panose="02020603050405020304" charset="0"/>
              </a:rPr>
              <a:t> </a:t>
            </a:r>
            <a:r>
              <a:rPr lang="en-US" altLang="en-US" dirty="0" err="1">
                <a:latin typeface="Times New Roman" panose="02020603050405020304" charset="0"/>
                <a:cs typeface="Times New Roman" panose="02020603050405020304" charset="0"/>
              </a:rPr>
              <a:t>конфигурације</a:t>
            </a:r>
            <a:endParaRPr lang="sr-Cyrl-BA" altLang="en-US" dirty="0">
              <a:latin typeface="Times New Roman" panose="02020603050405020304" charset="0"/>
              <a:cs typeface="Times New Roman" panose="02020603050405020304" charset="0"/>
            </a:endParaRPr>
          </a:p>
        </p:txBody>
      </p:sp>
      <p:sp>
        <p:nvSpPr>
          <p:cNvPr id="5" name="Rounded Rectangle 4"/>
          <p:cNvSpPr/>
          <p:nvPr/>
        </p:nvSpPr>
        <p:spPr>
          <a:xfrm>
            <a:off x="1659255" y="2218690"/>
            <a:ext cx="1635760" cy="8223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sz="2000" b="1">
                <a:solidFill>
                  <a:schemeClr val="tx1"/>
                </a:solidFill>
                <a:latin typeface="Times New Roman" panose="02020603050405020304" charset="0"/>
                <a:cs typeface="Times New Roman" panose="02020603050405020304" charset="0"/>
                <a:sym typeface="+mn-ea"/>
              </a:rPr>
              <a:t>22,43%</a:t>
            </a:r>
            <a:endParaRPr lang="sr-Cyrl-BA" sz="2000" b="1">
              <a:solidFill>
                <a:schemeClr val="tx1"/>
              </a:solidFill>
              <a:latin typeface="Times New Roman" panose="02020603050405020304" charset="0"/>
              <a:cs typeface="Times New Roman" panose="02020603050405020304" charset="0"/>
              <a:sym typeface="+mn-ea"/>
            </a:endParaRPr>
          </a:p>
          <a:p>
            <a:pPr algn="ctr">
              <a:buSzTx/>
            </a:pPr>
            <a:r>
              <a:rPr lang="sr-Cyrl-BA" altLang="en-US">
                <a:solidFill>
                  <a:schemeClr val="tx1"/>
                </a:solidFill>
                <a:latin typeface="Times New Roman" panose="02020603050405020304" charset="0"/>
                <a:cs typeface="Times New Roman" panose="02020603050405020304" charset="0"/>
                <a:sym typeface="+mn-ea"/>
              </a:rPr>
              <a:t>Просечна вредност </a:t>
            </a:r>
            <a:r>
              <a:rPr lang="en-US" altLang="en-US">
                <a:solidFill>
                  <a:schemeClr val="tx1"/>
                </a:solidFill>
                <a:latin typeface="Times New Roman" panose="02020603050405020304" charset="0"/>
                <a:cs typeface="Times New Roman" panose="02020603050405020304" charset="0"/>
                <a:sym typeface="+mn-ea"/>
              </a:rPr>
              <a:t>WER</a:t>
            </a:r>
            <a:r>
              <a:rPr lang="sr-Cyrl-BA" altLang="en-US">
                <a:solidFill>
                  <a:schemeClr val="tx1"/>
                </a:solidFill>
                <a:latin typeface="Times New Roman" panose="02020603050405020304" charset="0"/>
                <a:cs typeface="Times New Roman" panose="02020603050405020304" charset="0"/>
                <a:sym typeface="+mn-ea"/>
              </a:rPr>
              <a:t>-а</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3689985" y="2218690"/>
            <a:ext cx="1643380" cy="8223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sz="2000" b="1">
                <a:solidFill>
                  <a:schemeClr val="tx1"/>
                </a:solidFill>
                <a:latin typeface="Times New Roman" panose="02020603050405020304" charset="0"/>
                <a:cs typeface="Times New Roman" panose="02020603050405020304" charset="0"/>
                <a:sym typeface="+mn-ea"/>
              </a:rPr>
              <a:t>0</a:t>
            </a:r>
            <a:r>
              <a:rPr lang="en-US" altLang="sr-Cyrl-BA" sz="2000" b="1">
                <a:solidFill>
                  <a:schemeClr val="tx1"/>
                </a:solidFill>
                <a:latin typeface="Times New Roman" panose="02020603050405020304" charset="0"/>
                <a:cs typeface="Times New Roman" panose="02020603050405020304" charset="0"/>
                <a:sym typeface="+mn-ea"/>
              </a:rPr>
              <a:t>,</a:t>
            </a:r>
            <a:r>
              <a:rPr lang="sr-Cyrl-BA" sz="2000" b="1">
                <a:solidFill>
                  <a:schemeClr val="tx1"/>
                </a:solidFill>
                <a:latin typeface="Times New Roman" panose="02020603050405020304" charset="0"/>
                <a:cs typeface="Times New Roman" panose="02020603050405020304" charset="0"/>
                <a:sym typeface="+mn-ea"/>
              </a:rPr>
              <a:t>351</a:t>
            </a:r>
            <a:endParaRPr lang="sr-Cyrl-BA"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Просечна вредност </a:t>
            </a:r>
            <a:r>
              <a:rPr lang="en-US" altLang="sr-Cyrl-BA">
                <a:solidFill>
                  <a:schemeClr val="tx1"/>
                </a:solidFill>
                <a:latin typeface="Times New Roman" panose="02020603050405020304" charset="0"/>
                <a:cs typeface="Times New Roman" panose="02020603050405020304" charset="0"/>
                <a:sym typeface="+mn-ea"/>
              </a:rPr>
              <a:t>RTF</a:t>
            </a:r>
            <a:r>
              <a:rPr lang="sr-Cyrl-BA" altLang="en-US">
                <a:solidFill>
                  <a:schemeClr val="tx1"/>
                </a:solidFill>
                <a:latin typeface="Times New Roman" panose="02020603050405020304" charset="0"/>
                <a:cs typeface="Times New Roman" panose="02020603050405020304" charset="0"/>
                <a:sym typeface="+mn-ea"/>
              </a:rPr>
              <a:t>-а</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8" name="Rounded Rectangle 7"/>
          <p:cNvSpPr/>
          <p:nvPr/>
        </p:nvSpPr>
        <p:spPr>
          <a:xfrm>
            <a:off x="5728970" y="2218690"/>
            <a:ext cx="1643380" cy="8223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altLang="en-US" sz="2000" b="1">
                <a:solidFill>
                  <a:schemeClr val="tx1"/>
                </a:solidFill>
                <a:latin typeface="Times New Roman" panose="02020603050405020304" charset="0"/>
                <a:cs typeface="Times New Roman" panose="02020603050405020304" charset="0"/>
                <a:sym typeface="+mn-ea"/>
              </a:rPr>
              <a:t>0</a:t>
            </a:r>
            <a:r>
              <a:rPr lang="en-US" altLang="en-US" sz="2000" b="1">
                <a:solidFill>
                  <a:schemeClr val="tx1"/>
                </a:solidFill>
                <a:latin typeface="Times New Roman" panose="02020603050405020304" charset="0"/>
                <a:cs typeface="Times New Roman" panose="02020603050405020304" charset="0"/>
                <a:sym typeface="+mn-ea"/>
              </a:rPr>
              <a:t>,8</a:t>
            </a:r>
            <a:r>
              <a:rPr lang="sr-Cyrl-BA" altLang="en-US" sz="2000" b="1">
                <a:solidFill>
                  <a:schemeClr val="tx1"/>
                </a:solidFill>
                <a:latin typeface="Times New Roman" panose="02020603050405020304" charset="0"/>
                <a:cs typeface="Times New Roman" panose="02020603050405020304" charset="0"/>
                <a:sym typeface="+mn-ea"/>
              </a:rPr>
              <a:t>554</a:t>
            </a:r>
            <a:endParaRPr lang="en-US" altLang="en-US"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Укупан скор</a:t>
            </a:r>
            <a:endParaRPr lang="sr-Cyrl-BA" altLang="en-US">
              <a:solidFill>
                <a:schemeClr val="tx1"/>
              </a:solidFill>
              <a:latin typeface="Times New Roman" panose="02020603050405020304" charset="0"/>
              <a:cs typeface="Times New Roman" panose="02020603050405020304" charset="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53465" y="338455"/>
            <a:ext cx="7033260" cy="575945"/>
          </a:xfrm>
        </p:spPr>
        <p:txBody>
          <a:bodyPr/>
          <a:lstStyle/>
          <a:p>
            <a:r>
              <a:rPr lang="sr-Cyrl-RS" altLang="en-US" dirty="0">
                <a:latin typeface="Times New Roman" panose="02020603050405020304" charset="0"/>
                <a:cs typeface="Times New Roman" panose="02020603050405020304" charset="0"/>
              </a:rPr>
              <a:t>З</a:t>
            </a:r>
            <a:r>
              <a:rPr lang="en-US" altLang="en-US" dirty="0" err="1">
                <a:latin typeface="Times New Roman" panose="02020603050405020304" charset="0"/>
                <a:cs typeface="Times New Roman" panose="02020603050405020304" charset="0"/>
              </a:rPr>
              <a:t>авршна</a:t>
            </a:r>
            <a:r>
              <a:rPr lang="en-US" altLang="en-US" dirty="0">
                <a:latin typeface="Times New Roman" panose="02020603050405020304" charset="0"/>
                <a:cs typeface="Times New Roman" panose="02020603050405020304" charset="0"/>
              </a:rPr>
              <a:t> </a:t>
            </a:r>
            <a:r>
              <a:rPr lang="sr-Cyrl-BA" altLang="en-US" dirty="0">
                <a:latin typeface="Times New Roman" panose="02020603050405020304" charset="0"/>
                <a:cs typeface="Times New Roman" panose="02020603050405020304" charset="0"/>
              </a:rPr>
              <a:t>провера</a:t>
            </a:r>
            <a:endParaRPr lang="sr-Cyrl-BA" altLang="en-US" dirty="0">
              <a:latin typeface="Times New Roman" panose="02020603050405020304" charset="0"/>
              <a:cs typeface="Times New Roman" panose="02020603050405020304" charset="0"/>
            </a:endParaRPr>
          </a:p>
        </p:txBody>
      </p:sp>
      <p:sp>
        <p:nvSpPr>
          <p:cNvPr id="9" name="Text Box 8"/>
          <p:cNvSpPr txBox="1"/>
          <p:nvPr/>
        </p:nvSpPr>
        <p:spPr>
          <a:xfrm>
            <a:off x="-165203" y="1207297"/>
            <a:ext cx="5901055" cy="337185"/>
          </a:xfrm>
          <a:prstGeom prst="rect">
            <a:avLst/>
          </a:prstGeom>
        </p:spPr>
        <p:txBody>
          <a:bodyPr wrap="square">
            <a:spAutoFit/>
          </a:bodyPr>
          <a:lstStyle/>
          <a:p>
            <a:pPr marL="139700" indent="0" algn="ctr">
              <a:spcAft>
                <a:spcPts val="0"/>
              </a:spcAft>
              <a:buSzPts val="1400"/>
              <a:buNone/>
            </a:pPr>
            <a:r>
              <a:rPr lang="en-US" altLang="en-US" sz="1600" b="1" dirty="0" err="1">
                <a:latin typeface="Times New Roman" panose="02020603050405020304" charset="0"/>
                <a:cs typeface="Times New Roman" panose="02020603050405020304" charset="0"/>
              </a:rPr>
              <a:t>Завршни</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профил</a:t>
            </a:r>
            <a:endParaRPr lang="en-US" altLang="en-US" sz="1600" b="1" dirty="0">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1236242" y="1687992"/>
          <a:ext cx="3098165" cy="2171065"/>
        </p:xfrm>
        <a:graphic>
          <a:graphicData uri="http://schemas.openxmlformats.org/drawingml/2006/table">
            <a:tbl>
              <a:tblPr firstRow="1" bandRow="1">
                <a:tableStyleId>{5C22544A-7EE6-4342-B048-85BDC9FD1C3A}</a:tableStyleId>
              </a:tblPr>
              <a:tblGrid>
                <a:gridCol w="1918084"/>
                <a:gridCol w="1180081"/>
              </a:tblGrid>
              <a:tr h="574675">
                <a:tc>
                  <a:txBody>
                    <a:bodyPr/>
                    <a:lstStyle/>
                    <a:p>
                      <a:pPr algn="ctr"/>
                      <a:r>
                        <a:rPr lang="en-US" altLang="zh-CN" sz="1400" b="1">
                          <a:solidFill>
                            <a:schemeClr val="tx1"/>
                          </a:solidFill>
                          <a:latin typeface="Times New Roman" panose="02020603050405020304" charset="0"/>
                          <a:cs typeface="Times New Roman" panose="02020603050405020304" charset="0"/>
                        </a:rPr>
                        <a:t>Модел / квантизација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Small / INT8</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89890">
                <a:tc>
                  <a:txBody>
                    <a:bodyPr/>
                    <a:lstStyle/>
                    <a:p>
                      <a:pPr algn="ctr"/>
                      <a:r>
                        <a:rPr lang="en-US" altLang="zh-CN" sz="1400" b="1">
                          <a:solidFill>
                            <a:schemeClr val="tx1"/>
                          </a:solidFill>
                          <a:latin typeface="Times New Roman" panose="02020603050405020304" charset="0"/>
                          <a:cs typeface="Times New Roman" panose="02020603050405020304" charset="0"/>
                        </a:rPr>
                        <a:t>Уређај / језик</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CPU / </a:t>
                      </a:r>
                      <a:r>
                        <a:rPr lang="sr-Cyrl-BA" altLang="en-US" sz="1400" b="1">
                          <a:solidFill>
                            <a:schemeClr val="tx1"/>
                          </a:solidFill>
                          <a:latin typeface="Times New Roman" panose="02020603050405020304" charset="0"/>
                          <a:cs typeface="Times New Roman" panose="02020603050405020304" charset="0"/>
                        </a:rPr>
                        <a:t>српски</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89890">
                <a:tc>
                  <a:txBody>
                    <a:bodyPr/>
                    <a:lstStyle/>
                    <a:p>
                      <a:pPr algn="ctr"/>
                      <a:r>
                        <a:rPr lang="en-US" altLang="zh-CN" sz="1400" b="1">
                          <a:solidFill>
                            <a:schemeClr val="tx1"/>
                          </a:solidFill>
                          <a:latin typeface="Times New Roman" panose="02020603050405020304" charset="0"/>
                          <a:cs typeface="Times New Roman" panose="02020603050405020304" charset="0"/>
                        </a:rPr>
                        <a:t>Beam size</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5</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89890">
                <a:tc>
                  <a:txBody>
                    <a:bodyPr/>
                    <a:lstStyle/>
                    <a:p>
                      <a:pPr algn="ctr"/>
                      <a:r>
                        <a:rPr lang="en-US" altLang="zh-CN" sz="1400" b="1">
                          <a:solidFill>
                            <a:schemeClr val="tx1"/>
                          </a:solidFill>
                          <a:latin typeface="Times New Roman" panose="02020603050405020304" charset="0"/>
                          <a:cs typeface="Times New Roman" panose="02020603050405020304" charset="0"/>
                        </a:rPr>
                        <a:t>VAD</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sr-Cyrl-BA" altLang="zh-CN" sz="1400" b="1">
                          <a:solidFill>
                            <a:schemeClr val="tx1"/>
                          </a:solidFill>
                          <a:latin typeface="Times New Roman" panose="02020603050405020304" charset="0"/>
                          <a:cs typeface="Times New Roman" panose="02020603050405020304" charset="0"/>
                        </a:rPr>
                        <a:t>укључен</a:t>
                      </a:r>
                      <a:endParaRPr lang="sr-Cyrl-BA"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426720">
                <a:tc>
                  <a:txBody>
                    <a:bodyPr/>
                    <a:lstStyle/>
                    <a:p>
                      <a:pPr algn="ctr"/>
                      <a:r>
                        <a:rPr lang="sr-Cyrl-BA" altLang="en-US" sz="1400" b="1">
                          <a:solidFill>
                            <a:schemeClr val="tx1"/>
                          </a:solidFill>
                          <a:latin typeface="Times New Roman" panose="02020603050405020304" charset="0"/>
                          <a:cs typeface="Times New Roman" panose="02020603050405020304" charset="0"/>
                        </a:rPr>
                        <a:t>Сегмент</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dirty="0">
                          <a:solidFill>
                            <a:schemeClr val="tx1"/>
                          </a:solidFill>
                          <a:latin typeface="Times New Roman" panose="02020603050405020304" charset="0"/>
                          <a:cs typeface="Times New Roman" panose="02020603050405020304" charset="0"/>
                        </a:rPr>
                        <a:t>10 s</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
        <p:nvSpPr>
          <p:cNvPr id="14" name="Text Box 13"/>
          <p:cNvSpPr txBox="1"/>
          <p:nvPr/>
        </p:nvSpPr>
        <p:spPr>
          <a:xfrm>
            <a:off x="4650637" y="1761017"/>
            <a:ext cx="3727819" cy="2171064"/>
          </a:xfrm>
          <a:prstGeom prst="rect">
            <a:avLst/>
          </a:prstGeom>
          <a:noFill/>
        </p:spPr>
        <p:txBody>
          <a:bodyPr wrap="square" rtlCol="0">
            <a:noAutofit/>
          </a:bodyPr>
          <a:lstStyle/>
          <a:p>
            <a:r>
              <a:rPr lang="en-US" altLang="en-US" b="1" dirty="0" err="1">
                <a:latin typeface="Times New Roman" panose="02020603050405020304" charset="0"/>
                <a:cs typeface="Times New Roman" panose="02020603050405020304" charset="0"/>
              </a:rPr>
              <a:t>Завршна</a:t>
            </a:r>
            <a:r>
              <a:rPr lang="en-US" altLang="en-US" b="1" dirty="0">
                <a:latin typeface="Times New Roman" panose="02020603050405020304" charset="0"/>
                <a:cs typeface="Times New Roman" panose="02020603050405020304" charset="0"/>
              </a:rPr>
              <a:t> </a:t>
            </a:r>
            <a:r>
              <a:rPr lang="sr-Cyrl-BA" altLang="en-US" b="1" dirty="0">
                <a:latin typeface="Times New Roman" panose="02020603050405020304" charset="0"/>
                <a:cs typeface="Times New Roman" panose="02020603050405020304" charset="0"/>
              </a:rPr>
              <a:t>провера </a:t>
            </a:r>
            <a:r>
              <a:rPr lang="en-US" altLang="en-US" b="1" dirty="0" err="1">
                <a:latin typeface="Times New Roman" panose="02020603050405020304" charset="0"/>
                <a:cs typeface="Times New Roman" panose="02020603050405020304" charset="0"/>
              </a:rPr>
              <a:t>профила</a:t>
            </a:r>
            <a:r>
              <a:rPr lang="en-US" altLang="en-US" b="1" dirty="0">
                <a:latin typeface="Times New Roman" panose="02020603050405020304" charset="0"/>
                <a:cs typeface="Times New Roman" panose="02020603050405020304" charset="0"/>
              </a:rPr>
              <a:t> — 20 </a:t>
            </a:r>
            <a:r>
              <a:rPr lang="en-US" altLang="en-US" b="1" dirty="0" err="1">
                <a:latin typeface="Times New Roman" panose="02020603050405020304" charset="0"/>
                <a:cs typeface="Times New Roman" panose="02020603050405020304" charset="0"/>
              </a:rPr>
              <a:t>снимака</a:t>
            </a:r>
            <a:endParaRPr lang="sr-Cyrl-RS" altLang="en-US" b="1" dirty="0">
              <a:latin typeface="Times New Roman" panose="02020603050405020304" charset="0"/>
              <a:cs typeface="Times New Roman" panose="02020603050405020304" charset="0"/>
            </a:endParaRPr>
          </a:p>
          <a:p>
            <a:endParaRPr lang="en-US" altLang="en-US" b="1" dirty="0">
              <a:latin typeface="Times New Roman" panose="02020603050405020304" charset="0"/>
              <a:cs typeface="Times New Roman" panose="02020603050405020304" charset="0"/>
            </a:endParaRPr>
          </a:p>
          <a:p>
            <a:r>
              <a:rPr lang="sr-Cyrl-BA" altLang="en-US" dirty="0">
                <a:latin typeface="Times New Roman" panose="02020603050405020304" charset="0"/>
                <a:cs typeface="Times New Roman" panose="02020603050405020304" charset="0"/>
              </a:rPr>
              <a:t>П</a:t>
            </a:r>
            <a:r>
              <a:rPr lang="en-US" altLang="en-US" dirty="0" err="1">
                <a:latin typeface="Times New Roman" panose="02020603050405020304" charset="0"/>
                <a:cs typeface="Times New Roman" panose="02020603050405020304" charset="0"/>
              </a:rPr>
              <a:t>росеч</a:t>
            </a:r>
            <a:r>
              <a:rPr lang="sr-Cyrl-BA" altLang="en-US" dirty="0">
                <a:latin typeface="Times New Roman" panose="02020603050405020304" charset="0"/>
                <a:cs typeface="Times New Roman" panose="02020603050405020304" charset="0"/>
              </a:rPr>
              <a:t>на вредност</a:t>
            </a:r>
            <a:r>
              <a:rPr lang="en-US" altLang="en-US" dirty="0">
                <a:latin typeface="Times New Roman" panose="02020603050405020304" charset="0"/>
                <a:cs typeface="Times New Roman" panose="02020603050405020304" charset="0"/>
              </a:rPr>
              <a:t> WER</a:t>
            </a:r>
            <a:r>
              <a:rPr lang="sr-Cyrl-BA" altLang="en-US" dirty="0">
                <a:latin typeface="Times New Roman" panose="02020603050405020304" charset="0"/>
                <a:cs typeface="Times New Roman" panose="02020603050405020304" charset="0"/>
              </a:rPr>
              <a:t>-а</a:t>
            </a:r>
            <a:r>
              <a:rPr lang="en-US" altLang="en-US" dirty="0">
                <a:latin typeface="Times New Roman" panose="02020603050405020304" charset="0"/>
                <a:cs typeface="Times New Roman" panose="02020603050405020304" charset="0"/>
              </a:rPr>
              <a:t>:</a:t>
            </a:r>
            <a:r>
              <a:rPr lang="en-US" altLang="en-US" b="1" dirty="0">
                <a:latin typeface="Times New Roman" panose="02020603050405020304" charset="0"/>
                <a:cs typeface="Times New Roman" panose="02020603050405020304" charset="0"/>
              </a:rPr>
              <a:t> 23,44%</a:t>
            </a:r>
            <a:endParaRPr lang="en-US" altLang="en-US" b="1" dirty="0">
              <a:latin typeface="Times New Roman" panose="02020603050405020304" charset="0"/>
              <a:cs typeface="Times New Roman" panose="02020603050405020304" charset="0"/>
            </a:endParaRPr>
          </a:p>
          <a:p>
            <a:r>
              <a:rPr lang="sr-Cyrl-BA" altLang="en-US" dirty="0">
                <a:latin typeface="Times New Roman" panose="02020603050405020304" charset="0"/>
                <a:cs typeface="Times New Roman" panose="02020603050405020304" charset="0"/>
              </a:rPr>
              <a:t>Вредност </a:t>
            </a:r>
            <a:r>
              <a:rPr lang="en-US" altLang="en-US" dirty="0">
                <a:latin typeface="Times New Roman" panose="02020603050405020304" charset="0"/>
                <a:cs typeface="Times New Roman" panose="02020603050405020304" charset="0"/>
              </a:rPr>
              <a:t>WER</a:t>
            </a:r>
            <a:r>
              <a:rPr lang="sr-Cyrl-BA" altLang="en-US" dirty="0">
                <a:latin typeface="Times New Roman" panose="02020603050405020304" charset="0"/>
                <a:cs typeface="Times New Roman" panose="02020603050405020304" charset="0"/>
              </a:rPr>
              <a:t>-а на нивоу корпуса</a:t>
            </a:r>
            <a:r>
              <a:rPr lang="en-US" altLang="en-US" dirty="0">
                <a:latin typeface="Times New Roman" panose="02020603050405020304" charset="0"/>
                <a:cs typeface="Times New Roman" panose="02020603050405020304" charset="0"/>
              </a:rPr>
              <a:t>: </a:t>
            </a:r>
            <a:r>
              <a:rPr lang="en-US" altLang="en-US" b="1" dirty="0">
                <a:latin typeface="Times New Roman" panose="02020603050405020304" charset="0"/>
                <a:cs typeface="Times New Roman" panose="02020603050405020304" charset="0"/>
              </a:rPr>
              <a:t>25,27%</a:t>
            </a:r>
            <a:endParaRPr lang="en-US" altLang="en-US" b="1" dirty="0">
              <a:latin typeface="Times New Roman" panose="02020603050405020304" charset="0"/>
              <a:cs typeface="Times New Roman" panose="02020603050405020304" charset="0"/>
            </a:endParaRPr>
          </a:p>
          <a:p>
            <a:r>
              <a:rPr lang="en-US" altLang="en-US" dirty="0" err="1">
                <a:latin typeface="Times New Roman" panose="02020603050405020304" charset="0"/>
                <a:cs typeface="Times New Roman" panose="02020603050405020304" charset="0"/>
              </a:rPr>
              <a:t>Просеч</a:t>
            </a:r>
            <a:r>
              <a:rPr lang="sr-Cyrl-BA" altLang="en-US" dirty="0">
                <a:latin typeface="Times New Roman" panose="02020603050405020304" charset="0"/>
                <a:cs typeface="Times New Roman" panose="02020603050405020304" charset="0"/>
              </a:rPr>
              <a:t>на вредност</a:t>
            </a:r>
            <a:r>
              <a:rPr lang="en-US" altLang="en-US" dirty="0">
                <a:latin typeface="Times New Roman" panose="02020603050405020304" charset="0"/>
                <a:cs typeface="Times New Roman" panose="02020603050405020304" charset="0"/>
              </a:rPr>
              <a:t> RTF</a:t>
            </a:r>
            <a:r>
              <a:rPr lang="sr-Cyrl-BA" altLang="en-US" dirty="0">
                <a:latin typeface="Times New Roman" panose="02020603050405020304" charset="0"/>
                <a:cs typeface="Times New Roman" panose="02020603050405020304" charset="0"/>
              </a:rPr>
              <a:t>-а</a:t>
            </a:r>
            <a:r>
              <a:rPr lang="en-US" altLang="en-US" dirty="0">
                <a:latin typeface="Times New Roman" panose="02020603050405020304" charset="0"/>
                <a:cs typeface="Times New Roman" panose="02020603050405020304" charset="0"/>
              </a:rPr>
              <a:t>:</a:t>
            </a:r>
            <a:r>
              <a:rPr lang="en-US" altLang="en-US" b="1" dirty="0">
                <a:latin typeface="Times New Roman" panose="02020603050405020304" charset="0"/>
                <a:cs typeface="Times New Roman" panose="02020603050405020304" charset="0"/>
              </a:rPr>
              <a:t> 0,4994</a:t>
            </a:r>
            <a:endParaRPr lang="en-US" altLang="en-US" b="1" dirty="0">
              <a:latin typeface="Times New Roman" panose="02020603050405020304" charset="0"/>
              <a:cs typeface="Times New Roman" panose="02020603050405020304" charset="0"/>
            </a:endParaRPr>
          </a:p>
          <a:p>
            <a:r>
              <a:rPr lang="en-US" altLang="en-US" dirty="0" err="1">
                <a:latin typeface="Times New Roman" panose="02020603050405020304" charset="0"/>
                <a:cs typeface="Times New Roman" panose="02020603050405020304" charset="0"/>
              </a:rPr>
              <a:t>Максимал</a:t>
            </a:r>
            <a:r>
              <a:rPr lang="sr-Cyrl-BA" altLang="en-US" dirty="0">
                <a:latin typeface="Times New Roman" panose="02020603050405020304" charset="0"/>
                <a:cs typeface="Times New Roman" panose="02020603050405020304" charset="0"/>
              </a:rPr>
              <a:t>на</a:t>
            </a:r>
            <a:r>
              <a:rPr lang="en-US" altLang="en-US" dirty="0">
                <a:latin typeface="Times New Roman" panose="02020603050405020304" charset="0"/>
                <a:cs typeface="Times New Roman" panose="02020603050405020304" charset="0"/>
              </a:rPr>
              <a:t> </a:t>
            </a:r>
            <a:r>
              <a:rPr lang="sr-Cyrl-BA" altLang="en-US" dirty="0">
                <a:latin typeface="Times New Roman" panose="02020603050405020304" charset="0"/>
                <a:cs typeface="Times New Roman" panose="02020603050405020304" charset="0"/>
              </a:rPr>
              <a:t>вредност </a:t>
            </a:r>
            <a:r>
              <a:rPr lang="en-US" altLang="en-US" dirty="0">
                <a:latin typeface="Times New Roman" panose="02020603050405020304" charset="0"/>
                <a:cs typeface="Times New Roman" panose="02020603050405020304" charset="0"/>
              </a:rPr>
              <a:t>RTF</a:t>
            </a:r>
            <a:r>
              <a:rPr lang="sr-Cyrl-BA" altLang="en-US" dirty="0">
                <a:latin typeface="Times New Roman" panose="02020603050405020304" charset="0"/>
                <a:cs typeface="Times New Roman" panose="02020603050405020304" charset="0"/>
              </a:rPr>
              <a:t>-а</a:t>
            </a:r>
            <a:r>
              <a:rPr lang="en-US" altLang="en-US" dirty="0">
                <a:latin typeface="Times New Roman" panose="02020603050405020304" charset="0"/>
                <a:cs typeface="Times New Roman" panose="02020603050405020304" charset="0"/>
              </a:rPr>
              <a:t>:</a:t>
            </a:r>
            <a:r>
              <a:rPr lang="en-US" altLang="en-US" b="1" dirty="0">
                <a:latin typeface="Times New Roman" panose="02020603050405020304" charset="0"/>
                <a:cs typeface="Times New Roman" panose="02020603050405020304" charset="0"/>
              </a:rPr>
              <a:t> 0,6756  </a:t>
            </a:r>
            <a:endParaRPr lang="sr-Cyrl-RS" altLang="en-US" b="1" dirty="0">
              <a:latin typeface="Times New Roman" panose="02020603050405020304" charset="0"/>
              <a:cs typeface="Times New Roman" panose="02020603050405020304" charset="0"/>
            </a:endParaRPr>
          </a:p>
          <a:p>
            <a:endParaRPr lang="en-US" altLang="en-US" b="1" dirty="0">
              <a:latin typeface="Times New Roman" panose="02020603050405020304" charset="0"/>
              <a:cs typeface="Times New Roman" panose="02020603050405020304" charset="0"/>
            </a:endParaRPr>
          </a:p>
          <a:p>
            <a:r>
              <a:rPr lang="en-US" altLang="en-US" b="1" dirty="0" err="1">
                <a:latin typeface="Times New Roman" panose="02020603050405020304" charset="0"/>
                <a:cs typeface="Times New Roman" panose="02020603050405020304" charset="0"/>
              </a:rPr>
              <a:t>Сви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анализирани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снимци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обрађени</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су</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брже</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од</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реалног</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трајања</a:t>
            </a:r>
            <a:r>
              <a:rPr lang="en-US" altLang="en-US" b="1" dirty="0">
                <a:latin typeface="Times New Roman" panose="02020603050405020304" charset="0"/>
                <a:cs typeface="Times New Roman" panose="02020603050405020304" charset="0"/>
              </a:rPr>
              <a:t> </a:t>
            </a:r>
            <a:r>
              <a:rPr lang="en-US" altLang="en-US" b="1" dirty="0" err="1">
                <a:latin typeface="Times New Roman" panose="02020603050405020304" charset="0"/>
                <a:cs typeface="Times New Roman" panose="02020603050405020304" charset="0"/>
              </a:rPr>
              <a:t>аудија</a:t>
            </a:r>
            <a:r>
              <a:rPr lang="en-US" altLang="en-US" b="1" dirty="0">
                <a:latin typeface="Times New Roman" panose="02020603050405020304" charset="0"/>
                <a:cs typeface="Times New Roman" panose="02020603050405020304" charset="0"/>
              </a:rPr>
              <a:t>.</a:t>
            </a:r>
            <a:endParaRPr lang="en-US" altLang="en-US" b="1" dirty="0">
              <a:latin typeface="Times New Roman" panose="02020603050405020304" charset="0"/>
              <a:cs typeface="Times New Roman" panose="020206030504050203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67080" y="843915"/>
            <a:ext cx="7698740" cy="645795"/>
          </a:xfrm>
        </p:spPr>
        <p:txBody>
          <a:bodyPr/>
          <a:lstStyle/>
          <a:p>
            <a:pPr algn="l"/>
            <a:r>
              <a:rPr lang="en-US" altLang="en-US" sz="1400" b="1">
                <a:solidFill>
                  <a:schemeClr val="tx1"/>
                </a:solidFill>
                <a:latin typeface="Times New Roman" panose="02020603050405020304" charset="0"/>
                <a:cs typeface="Times New Roman" panose="02020603050405020304" charset="0"/>
              </a:rPr>
              <a:t>П</a:t>
            </a:r>
            <a:r>
              <a:rPr lang="en-US" altLang="en-US" sz="1600" b="1">
                <a:latin typeface="Times New Roman" panose="02020603050405020304" charset="0"/>
                <a:cs typeface="Times New Roman" panose="02020603050405020304" charset="0"/>
              </a:rPr>
              <a:t>рилагођавање Whisper модела српском говору из специфичне области</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Доменска адаптација: пољопривреда</a:t>
            </a:r>
            <a:endParaRPr lang="en-US" altLang="en-US">
              <a:latin typeface="Times New Roman" panose="02020603050405020304" charset="0"/>
              <a:cs typeface="Times New Roman" panose="02020603050405020304" charset="0"/>
            </a:endParaRPr>
          </a:p>
        </p:txBody>
      </p:sp>
      <p:sp>
        <p:nvSpPr>
          <p:cNvPr id="5" name="Rounded Rectangle 4"/>
          <p:cNvSpPr/>
          <p:nvPr/>
        </p:nvSpPr>
        <p:spPr>
          <a:xfrm>
            <a:off x="1683385" y="2819400"/>
            <a:ext cx="1635760" cy="91376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sz="2000" b="1">
                <a:solidFill>
                  <a:schemeClr val="tx1"/>
                </a:solidFill>
                <a:latin typeface="Times New Roman" panose="02020603050405020304" charset="0"/>
                <a:cs typeface="Times New Roman" panose="02020603050405020304" charset="0"/>
                <a:sym typeface="+mn-ea"/>
              </a:rPr>
              <a:t>675</a:t>
            </a:r>
            <a:endParaRPr lang="sr-Cyrl-BA" sz="2000" b="1">
              <a:solidFill>
                <a:schemeClr val="tx1"/>
              </a:solidFill>
              <a:latin typeface="Times New Roman" panose="02020603050405020304" charset="0"/>
              <a:cs typeface="Times New Roman" panose="02020603050405020304" charset="0"/>
              <a:sym typeface="+mn-ea"/>
            </a:endParaRPr>
          </a:p>
          <a:p>
            <a:pPr algn="ctr">
              <a:buSzTx/>
            </a:pPr>
            <a:r>
              <a:rPr lang="sr-Cyrl-BA" altLang="en-US">
                <a:solidFill>
                  <a:schemeClr val="tx1"/>
                </a:solidFill>
                <a:latin typeface="Times New Roman" panose="02020603050405020304" charset="0"/>
                <a:cs typeface="Times New Roman" panose="02020603050405020304" charset="0"/>
                <a:sym typeface="+mn-ea"/>
              </a:rPr>
              <a:t>Тренинг</a:t>
            </a:r>
            <a:endParaRPr lang="en-US" altLang="en-US">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3627755" y="2860040"/>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sz="2000" b="1">
                <a:solidFill>
                  <a:schemeClr val="tx1"/>
                </a:solidFill>
                <a:latin typeface="Times New Roman" panose="02020603050405020304" charset="0"/>
                <a:cs typeface="Times New Roman" panose="02020603050405020304" charset="0"/>
                <a:sym typeface="+mn-ea"/>
              </a:rPr>
              <a:t>75</a:t>
            </a:r>
            <a:endParaRPr lang="sr-Cyrl-BA"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Валидација</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8" name="Rounded Rectangle 7"/>
          <p:cNvSpPr/>
          <p:nvPr/>
        </p:nvSpPr>
        <p:spPr>
          <a:xfrm>
            <a:off x="5753100" y="2860040"/>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sz="2000" b="1">
                <a:solidFill>
                  <a:schemeClr val="tx1"/>
                </a:solidFill>
                <a:latin typeface="Times New Roman" panose="02020603050405020304" charset="0"/>
                <a:cs typeface="Times New Roman" panose="02020603050405020304" charset="0"/>
                <a:sym typeface="+mn-ea"/>
              </a:rPr>
              <a:t>50</a:t>
            </a:r>
            <a:endParaRPr lang="sr-Cyrl-BA"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Тестирање</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9" name="Text Box 8"/>
          <p:cNvSpPr txBox="1"/>
          <p:nvPr/>
        </p:nvSpPr>
        <p:spPr>
          <a:xfrm>
            <a:off x="1619250" y="2474595"/>
            <a:ext cx="5901055" cy="337185"/>
          </a:xfrm>
          <a:prstGeom prst="rect">
            <a:avLst/>
          </a:prstGeom>
        </p:spPr>
        <p:txBody>
          <a:bodyPr wrap="square">
            <a:spAutoFit/>
          </a:bodyPr>
          <a:lstStyle/>
          <a:p>
            <a:pPr marL="139700" indent="0" algn="ctr">
              <a:spcAft>
                <a:spcPts val="0"/>
              </a:spcAft>
              <a:buSzPts val="1400"/>
              <a:buNone/>
            </a:pPr>
            <a:r>
              <a:rPr lang="en-US" altLang="en-US" sz="1600" b="1">
                <a:latin typeface="Times New Roman" panose="02020603050405020304" charset="0"/>
                <a:cs typeface="Times New Roman" panose="02020603050405020304" charset="0"/>
              </a:rPr>
              <a:t>Формирани говорни скуп</a:t>
            </a:r>
            <a:endParaRPr lang="en-US" altLang="en-US" sz="1600" b="1">
              <a:latin typeface="Times New Roman" panose="02020603050405020304" charset="0"/>
              <a:cs typeface="Times New Roman" panose="02020603050405020304" charset="0"/>
            </a:endParaRPr>
          </a:p>
        </p:txBody>
      </p:sp>
      <p:sp>
        <p:nvSpPr>
          <p:cNvPr id="2" name="Text Box 1"/>
          <p:cNvSpPr txBox="1"/>
          <p:nvPr/>
        </p:nvSpPr>
        <p:spPr>
          <a:xfrm>
            <a:off x="1198245" y="1275715"/>
            <a:ext cx="6887845" cy="1198880"/>
          </a:xfrm>
          <a:prstGeom prst="rect">
            <a:avLst/>
          </a:prstGeom>
          <a:noFill/>
        </p:spPr>
        <p:txBody>
          <a:bodyPr wrap="square" rtlCol="0">
            <a:spAutoFit/>
          </a:bodyPr>
          <a:lstStyle/>
          <a:p>
            <a:pPr algn="just">
              <a:buSzTx/>
            </a:pPr>
            <a:r>
              <a:rPr lang="en-US" altLang="en-US" sz="2400">
                <a:solidFill>
                  <a:schemeClr val="accent1"/>
                </a:solidFill>
                <a:highlight>
                  <a:srgbClr val="000000"/>
                </a:highlight>
                <a:latin typeface="Times New Roman" panose="02020603050405020304" charset="0"/>
                <a:cs typeface="Times New Roman" panose="02020603050405020304" charset="0"/>
              </a:rPr>
              <a:t>Циљ: испитати да ли додатно обучавање (fine-tuning) може да смањи грешке при препознавању пољопривредне терминологије.</a:t>
            </a:r>
            <a:endParaRPr lang="en-US" altLang="en-US" sz="2400">
              <a:solidFill>
                <a:schemeClr val="accent1"/>
              </a:solidFill>
              <a:highlight>
                <a:srgbClr val="000000"/>
              </a:highlight>
              <a:latin typeface="Times New Roman" panose="02020603050405020304" charset="0"/>
              <a:cs typeface="Times New Roman" panose="02020603050405020304" charset="0"/>
            </a:endParaRPr>
          </a:p>
        </p:txBody>
      </p:sp>
      <p:sp>
        <p:nvSpPr>
          <p:cNvPr id="3" name="Text Box 2"/>
          <p:cNvSpPr txBox="1"/>
          <p:nvPr/>
        </p:nvSpPr>
        <p:spPr>
          <a:xfrm>
            <a:off x="683895" y="4011930"/>
            <a:ext cx="7636510" cy="829945"/>
          </a:xfrm>
          <a:prstGeom prst="rect">
            <a:avLst/>
          </a:prstGeom>
          <a:noFill/>
        </p:spPr>
        <p:txBody>
          <a:bodyPr wrap="square" rtlCol="0">
            <a:spAutoFit/>
          </a:bodyPr>
          <a:lstStyle/>
          <a:p>
            <a:pPr marL="139700" algn="ctr">
              <a:buSzPts val="1400"/>
            </a:pPr>
            <a:r>
              <a:rPr lang="en-US" altLang="en-US" sz="1600" b="1">
                <a:latin typeface="Times New Roman" panose="02020603050405020304" charset="0"/>
                <a:cs typeface="Times New Roman" panose="02020603050405020304" charset="0"/>
              </a:rPr>
              <a:t>800 аудио-записа</a:t>
            </a:r>
            <a:endParaRPr lang="en-US" altLang="en-US" sz="1600" b="1">
              <a:latin typeface="Times New Roman" panose="02020603050405020304" charset="0"/>
              <a:cs typeface="Times New Roman" panose="02020603050405020304" charset="0"/>
            </a:endParaRPr>
          </a:p>
          <a:p>
            <a:pPr marL="139700" algn="ctr">
              <a:buSzPts val="1400"/>
            </a:pPr>
            <a:r>
              <a:rPr lang="en-US" altLang="en-US" sz="1600">
                <a:latin typeface="Times New Roman" panose="02020603050405020304" charset="0"/>
                <a:cs typeface="Times New Roman" panose="02020603050405020304" charset="0"/>
              </a:rPr>
              <a:t>Тест скуп: четврти говорник, чији снимци нису коришћени током обучавања</a:t>
            </a:r>
            <a:endParaRPr lang="en-US" altLang="en-US" sz="1600">
              <a:latin typeface="Times New Roman" panose="02020603050405020304" charset="0"/>
              <a:cs typeface="Times New Roman" panose="02020603050405020304" charset="0"/>
            </a:endParaRPr>
          </a:p>
          <a:p>
            <a:pPr marL="139700" algn="ctr">
              <a:buSzPts val="1400"/>
            </a:pPr>
            <a:r>
              <a:rPr lang="en-US" altLang="en-US" sz="1600" b="1">
                <a:latin typeface="Times New Roman" panose="02020603050405020304" charset="0"/>
                <a:cs typeface="Times New Roman" panose="02020603050405020304" charset="0"/>
              </a:rPr>
              <a:t>Поређење: основни Whisper ↔ доменски адаптирани Whisper</a:t>
            </a: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67080" y="843915"/>
            <a:ext cx="7698740" cy="645795"/>
          </a:xfrm>
        </p:spPr>
        <p:txBody>
          <a:bodyPr/>
          <a:lstStyle/>
          <a:p>
            <a:pPr algn="l"/>
            <a:r>
              <a:rPr lang="en-US" altLang="en-US" sz="1600" b="1">
                <a:latin typeface="Times New Roman" panose="02020603050405020304" charset="0"/>
                <a:cs typeface="Times New Roman" panose="02020603050405020304" charset="0"/>
              </a:rPr>
              <a:t>Прилагођавање Whisper модела пољопривредном говору на српском језику</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Доменска адаптација — методологија</a:t>
            </a:r>
            <a:endParaRPr lang="en-US" altLang="en-US">
              <a:latin typeface="Times New Roman" panose="02020603050405020304" charset="0"/>
              <a:cs typeface="Times New Roman" panose="02020603050405020304" charset="0"/>
            </a:endParaRPr>
          </a:p>
        </p:txBody>
      </p:sp>
      <p:sp>
        <p:nvSpPr>
          <p:cNvPr id="5" name="Rounded Rectangle 4"/>
          <p:cNvSpPr/>
          <p:nvPr/>
        </p:nvSpPr>
        <p:spPr>
          <a:xfrm>
            <a:off x="1683385" y="1870710"/>
            <a:ext cx="1635760" cy="91376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buSzTx/>
            </a:pPr>
            <a:r>
              <a:rPr lang="sr-Cyrl-BA" sz="2000" b="1">
                <a:solidFill>
                  <a:schemeClr val="tx1"/>
                </a:solidFill>
                <a:latin typeface="Times New Roman" panose="02020603050405020304" charset="0"/>
                <a:cs typeface="Times New Roman" panose="02020603050405020304" charset="0"/>
                <a:sym typeface="+mn-ea"/>
              </a:rPr>
              <a:t>675</a:t>
            </a:r>
            <a:endParaRPr lang="sr-Cyrl-BA" sz="2000" b="1">
              <a:solidFill>
                <a:schemeClr val="tx1"/>
              </a:solidFill>
              <a:latin typeface="Times New Roman" panose="02020603050405020304" charset="0"/>
              <a:cs typeface="Times New Roman" panose="02020603050405020304" charset="0"/>
              <a:sym typeface="+mn-ea"/>
            </a:endParaRPr>
          </a:p>
          <a:p>
            <a:pPr algn="ctr">
              <a:buSzTx/>
            </a:pPr>
            <a:r>
              <a:rPr lang="sr-Cyrl-BA" altLang="en-US">
                <a:solidFill>
                  <a:schemeClr val="tx1"/>
                </a:solidFill>
                <a:latin typeface="Times New Roman" panose="02020603050405020304" charset="0"/>
                <a:cs typeface="Times New Roman" panose="02020603050405020304" charset="0"/>
                <a:sym typeface="+mn-ea"/>
              </a:rPr>
              <a:t>Тренинг</a:t>
            </a:r>
            <a:endParaRPr lang="en-US" altLang="en-US">
              <a:solidFill>
                <a:schemeClr val="tx1"/>
              </a:solidFill>
              <a:latin typeface="Times New Roman" panose="02020603050405020304" charset="0"/>
              <a:cs typeface="Times New Roman" panose="02020603050405020304" charset="0"/>
              <a:sym typeface="+mn-ea"/>
            </a:endParaRPr>
          </a:p>
        </p:txBody>
      </p:sp>
      <p:sp>
        <p:nvSpPr>
          <p:cNvPr id="7" name="Rounded Rectangle 6"/>
          <p:cNvSpPr/>
          <p:nvPr/>
        </p:nvSpPr>
        <p:spPr>
          <a:xfrm>
            <a:off x="3627755" y="1911350"/>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sz="2000" b="1">
                <a:solidFill>
                  <a:schemeClr val="tx1"/>
                </a:solidFill>
                <a:latin typeface="Times New Roman" panose="02020603050405020304" charset="0"/>
                <a:cs typeface="Times New Roman" panose="02020603050405020304" charset="0"/>
                <a:sym typeface="+mn-ea"/>
              </a:rPr>
              <a:t>75</a:t>
            </a:r>
            <a:endParaRPr lang="sr-Cyrl-BA"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Валидација</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8" name="Rounded Rectangle 7"/>
          <p:cNvSpPr/>
          <p:nvPr/>
        </p:nvSpPr>
        <p:spPr>
          <a:xfrm>
            <a:off x="5753100" y="1911350"/>
            <a:ext cx="1643380" cy="873125"/>
          </a:xfrm>
          <a:prstGeom prst="roundRect">
            <a:avLst/>
          </a:prstGeom>
          <a:gradFill>
            <a:gsLst>
              <a:gs pos="0">
                <a:schemeClr val="accent1">
                  <a:tint val="100000"/>
                  <a:shade val="100000"/>
                  <a:satMod val="130000"/>
                </a:schemeClr>
              </a:gs>
              <a:gs pos="100000">
                <a:schemeClr val="accent1">
                  <a:tint val="50000"/>
                  <a:shade val="100000"/>
                  <a:satMod val="350000"/>
                </a:schemeClr>
              </a:gs>
              <a:gs pos="50000">
                <a:schemeClr val="accent3"/>
              </a:gs>
              <a:gs pos="0">
                <a:schemeClr val="accent3">
                  <a:lumMod val="25000"/>
                  <a:lumOff val="75000"/>
                </a:schemeClr>
              </a:gs>
              <a:gs pos="100000">
                <a:schemeClr val="accent3">
                  <a:lumMod val="85000"/>
                </a:schemeClr>
              </a:gs>
            </a:gsLst>
            <a:lin ang="5400000" scaled="1"/>
          </a:gradFill>
          <a:ln>
            <a:solidFill>
              <a:srgbClr val="D6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r-Cyrl-BA" sz="2000" b="1">
                <a:solidFill>
                  <a:schemeClr val="tx1"/>
                </a:solidFill>
                <a:latin typeface="Times New Roman" panose="02020603050405020304" charset="0"/>
                <a:cs typeface="Times New Roman" panose="02020603050405020304" charset="0"/>
                <a:sym typeface="+mn-ea"/>
              </a:rPr>
              <a:t>50</a:t>
            </a:r>
            <a:endParaRPr lang="sr-Cyrl-BA" sz="2000" b="1">
              <a:solidFill>
                <a:schemeClr val="tx1"/>
              </a:solidFill>
              <a:latin typeface="Times New Roman" panose="02020603050405020304" charset="0"/>
              <a:cs typeface="Times New Roman" panose="02020603050405020304" charset="0"/>
              <a:sym typeface="+mn-ea"/>
            </a:endParaRPr>
          </a:p>
          <a:p>
            <a:pPr algn="ctr"/>
            <a:r>
              <a:rPr lang="sr-Cyrl-BA" altLang="en-US">
                <a:solidFill>
                  <a:schemeClr val="tx1"/>
                </a:solidFill>
                <a:latin typeface="Times New Roman" panose="02020603050405020304" charset="0"/>
                <a:cs typeface="Times New Roman" panose="02020603050405020304" charset="0"/>
                <a:sym typeface="+mn-ea"/>
              </a:rPr>
              <a:t>Тестирање</a:t>
            </a:r>
            <a:endParaRPr lang="sr-Cyrl-BA" altLang="en-US">
              <a:solidFill>
                <a:schemeClr val="tx1"/>
              </a:solidFill>
              <a:latin typeface="Times New Roman" panose="02020603050405020304" charset="0"/>
              <a:cs typeface="Times New Roman" panose="02020603050405020304" charset="0"/>
              <a:sym typeface="+mn-ea"/>
            </a:endParaRPr>
          </a:p>
        </p:txBody>
      </p:sp>
      <p:sp>
        <p:nvSpPr>
          <p:cNvPr id="9" name="Text Box 8"/>
          <p:cNvSpPr txBox="1"/>
          <p:nvPr/>
        </p:nvSpPr>
        <p:spPr>
          <a:xfrm>
            <a:off x="1619250" y="1348105"/>
            <a:ext cx="5901055" cy="337185"/>
          </a:xfrm>
          <a:prstGeom prst="rect">
            <a:avLst/>
          </a:prstGeom>
        </p:spPr>
        <p:txBody>
          <a:bodyPr wrap="square">
            <a:spAutoFit/>
          </a:bodyPr>
          <a:lstStyle/>
          <a:p>
            <a:pPr marL="139700" indent="0" algn="ctr">
              <a:spcAft>
                <a:spcPts val="0"/>
              </a:spcAft>
              <a:buSzPts val="1400"/>
              <a:buNone/>
            </a:pPr>
            <a:r>
              <a:rPr lang="en-US" altLang="en-US" sz="1600" b="1">
                <a:latin typeface="Times New Roman" panose="02020603050405020304" charset="0"/>
                <a:cs typeface="Times New Roman" panose="02020603050405020304" charset="0"/>
              </a:rPr>
              <a:t>800 аудио-записа + референтни транскрипти</a:t>
            </a:r>
            <a:endParaRPr lang="en-US" altLang="en-US" sz="1600" b="1">
              <a:latin typeface="Times New Roman" panose="02020603050405020304" charset="0"/>
              <a:cs typeface="Times New Roman" panose="02020603050405020304" charset="0"/>
            </a:endParaRPr>
          </a:p>
        </p:txBody>
      </p:sp>
      <p:sp>
        <p:nvSpPr>
          <p:cNvPr id="3" name="Text Box 2"/>
          <p:cNvSpPr txBox="1"/>
          <p:nvPr/>
        </p:nvSpPr>
        <p:spPr>
          <a:xfrm>
            <a:off x="1198880" y="4084320"/>
            <a:ext cx="6746240" cy="583565"/>
          </a:xfrm>
          <a:prstGeom prst="rect">
            <a:avLst/>
          </a:prstGeom>
          <a:noFill/>
        </p:spPr>
        <p:txBody>
          <a:bodyPr wrap="square" rtlCol="0">
            <a:spAutoFit/>
          </a:bodyPr>
          <a:lstStyle/>
          <a:p>
            <a:pPr marL="139700" algn="ctr">
              <a:buSzPts val="1400"/>
            </a:pPr>
            <a:r>
              <a:rPr lang="en-US" altLang="en-US" sz="1600" b="1">
                <a:latin typeface="Times New Roman" panose="02020603050405020304" charset="0"/>
                <a:cs typeface="Times New Roman" panose="02020603050405020304" charset="0"/>
              </a:rPr>
              <a:t>Евалуација на снимцима говорника који није коришћен током обучавања</a:t>
            </a:r>
            <a:endParaRPr lang="en-US" altLang="en-US" sz="1600" b="1">
              <a:latin typeface="Times New Roman" panose="02020603050405020304" charset="0"/>
              <a:cs typeface="Times New Roman" panose="02020603050405020304" charset="0"/>
            </a:endParaRPr>
          </a:p>
        </p:txBody>
      </p:sp>
      <p:sp>
        <p:nvSpPr>
          <p:cNvPr id="10" name="Text Box 9"/>
          <p:cNvSpPr txBox="1"/>
          <p:nvPr/>
        </p:nvSpPr>
        <p:spPr>
          <a:xfrm>
            <a:off x="2195195" y="3133725"/>
            <a:ext cx="4649470" cy="337185"/>
          </a:xfrm>
          <a:prstGeom prst="rect">
            <a:avLst/>
          </a:prstGeom>
          <a:noFill/>
        </p:spPr>
        <p:txBody>
          <a:bodyPr wrap="square" rtlCol="0">
            <a:spAutoFit/>
          </a:bodyPr>
          <a:lstStyle/>
          <a:p>
            <a:pPr marL="139700" algn="ctr">
              <a:buSzPts val="1400"/>
            </a:pPr>
            <a:r>
              <a:rPr lang="en-US" altLang="en-US" sz="1600" b="1">
                <a:latin typeface="Times New Roman" panose="02020603050405020304" charset="0"/>
                <a:cs typeface="Times New Roman" panose="02020603050405020304" charset="0"/>
              </a:rPr>
              <a:t>Додатно обучавање Whisper модела</a:t>
            </a:r>
            <a:endParaRPr lang="en-US" altLang="en-US" sz="1600" b="1">
              <a:latin typeface="Times New Roman" panose="02020603050405020304" charset="0"/>
              <a:cs typeface="Times New Roman" panose="02020603050405020304" charset="0"/>
            </a:endParaRPr>
          </a:p>
        </p:txBody>
      </p:sp>
      <p:pic>
        <p:nvPicPr>
          <p:cNvPr id="11" name="Picture 10"/>
          <p:cNvPicPr>
            <a:picLocks noChangeAspect="1"/>
          </p:cNvPicPr>
          <p:nvPr/>
        </p:nvPicPr>
        <p:blipFill>
          <a:blip r:embed="rId1"/>
          <a:stretch>
            <a:fillRect/>
          </a:stretch>
        </p:blipFill>
        <p:spPr>
          <a:xfrm>
            <a:off x="4355465" y="1685290"/>
            <a:ext cx="266700" cy="209550"/>
          </a:xfrm>
          <a:prstGeom prst="rect">
            <a:avLst/>
          </a:prstGeom>
        </p:spPr>
      </p:pic>
      <p:pic>
        <p:nvPicPr>
          <p:cNvPr id="12" name="Picture 11"/>
          <p:cNvPicPr>
            <a:picLocks noChangeAspect="1"/>
          </p:cNvPicPr>
          <p:nvPr/>
        </p:nvPicPr>
        <p:blipFill>
          <a:blip r:embed="rId1"/>
          <a:stretch>
            <a:fillRect/>
          </a:stretch>
        </p:blipFill>
        <p:spPr>
          <a:xfrm>
            <a:off x="4427855" y="2931795"/>
            <a:ext cx="266700" cy="209550"/>
          </a:xfrm>
          <a:prstGeom prst="rect">
            <a:avLst/>
          </a:prstGeom>
        </p:spPr>
      </p:pic>
      <p:pic>
        <p:nvPicPr>
          <p:cNvPr id="13" name="Picture 12"/>
          <p:cNvPicPr>
            <a:picLocks noChangeAspect="1"/>
          </p:cNvPicPr>
          <p:nvPr/>
        </p:nvPicPr>
        <p:blipFill>
          <a:blip r:embed="rId1"/>
          <a:stretch>
            <a:fillRect/>
          </a:stretch>
        </p:blipFill>
        <p:spPr>
          <a:xfrm>
            <a:off x="4427855" y="3796030"/>
            <a:ext cx="266700" cy="2095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767080" y="843915"/>
            <a:ext cx="7698740" cy="645795"/>
          </a:xfrm>
        </p:spPr>
        <p:txBody>
          <a:bodyPr/>
          <a:lstStyle/>
          <a:p>
            <a:pPr algn="l"/>
            <a:r>
              <a:rPr lang="en-US" altLang="en-US" sz="1600" b="1">
                <a:latin typeface="Times New Roman" panose="02020603050405020304" charset="0"/>
                <a:cs typeface="Times New Roman" panose="02020603050405020304" charset="0"/>
              </a:rPr>
              <a:t>Основни и адаптирани модел · 50 тест снимака · говорник ван скупа за обучавање</a:t>
            </a:r>
            <a:endParaRPr lang="en-US" altLang="en-US" sz="1600" b="1">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Резултати доменске адаптације</a:t>
            </a:r>
            <a:endParaRPr lang="en-US" altLang="en-US">
              <a:latin typeface="Times New Roman" panose="02020603050405020304" charset="0"/>
              <a:cs typeface="Times New Roman" panose="02020603050405020304" charset="0"/>
            </a:endParaRPr>
          </a:p>
        </p:txBody>
      </p:sp>
      <p:graphicFrame>
        <p:nvGraphicFramePr>
          <p:cNvPr id="13" name="Table 12"/>
          <p:cNvGraphicFramePr/>
          <p:nvPr>
            <p:custDataLst>
              <p:tags r:id="rId1"/>
            </p:custDataLst>
          </p:nvPr>
        </p:nvGraphicFramePr>
        <p:xfrm>
          <a:off x="1455420" y="1564005"/>
          <a:ext cx="6379210" cy="2200275"/>
        </p:xfrm>
        <a:graphic>
          <a:graphicData uri="http://schemas.openxmlformats.org/drawingml/2006/table">
            <a:tbl>
              <a:tblPr firstRow="1" bandRow="1">
                <a:tableStyleId>{5C22544A-7EE6-4342-B048-85BDC9FD1C3A}</a:tableStyleId>
              </a:tblPr>
              <a:tblGrid>
                <a:gridCol w="2364740"/>
                <a:gridCol w="2006600"/>
                <a:gridCol w="2007870"/>
              </a:tblGrid>
              <a:tr h="522605">
                <a:tc>
                  <a:txBody>
                    <a:bodyPr/>
                    <a:lstStyle/>
                    <a:p>
                      <a:pPr algn="ctr"/>
                      <a:r>
                        <a:rPr lang="en-US" altLang="zh-CN" sz="1400" b="1">
                          <a:solidFill>
                            <a:schemeClr val="tx1"/>
                          </a:solidFill>
                          <a:latin typeface="Times New Roman" panose="02020603050405020304" charset="0"/>
                          <a:cs typeface="Times New Roman" panose="02020603050405020304" charset="0"/>
                        </a:rPr>
                        <a:t>Метрика</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Основни модел</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r>
                        <a:rPr lang="en-US" altLang="zh-CN" sz="1400" b="1">
                          <a:solidFill>
                            <a:schemeClr val="tx1"/>
                          </a:solidFill>
                          <a:latin typeface="Times New Roman" panose="02020603050405020304" charset="0"/>
                          <a:cs typeface="Times New Roman" panose="02020603050405020304" charset="0"/>
                        </a:rPr>
                        <a:t>Адаптирани модел</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01625">
                <a:tc>
                  <a:txBody>
                    <a:bodyPr/>
                    <a:lstStyle/>
                    <a:p>
                      <a:pPr algn="ctr"/>
                      <a:r>
                        <a:rPr lang="en-US" altLang="zh-CN" sz="1400" b="1">
                          <a:solidFill>
                            <a:schemeClr val="tx1"/>
                          </a:solidFill>
                          <a:latin typeface="Times New Roman" panose="02020603050405020304" charset="0"/>
                          <a:cs typeface="Times New Roman" panose="02020603050405020304" charset="0"/>
                        </a:rPr>
                        <a:t>Просеч</a:t>
                      </a:r>
                      <a:r>
                        <a:rPr lang="sr-Cyrl-BA" altLang="en-US" sz="1400" b="1">
                          <a:solidFill>
                            <a:schemeClr val="tx1"/>
                          </a:solidFill>
                          <a:latin typeface="Times New Roman" panose="02020603050405020304" charset="0"/>
                          <a:cs typeface="Times New Roman" panose="02020603050405020304" charset="0"/>
                        </a:rPr>
                        <a:t>на вредност</a:t>
                      </a:r>
                      <a:r>
                        <a:rPr lang="en-US" altLang="zh-CN" sz="1400" b="1">
                          <a:solidFill>
                            <a:schemeClr val="tx1"/>
                          </a:solidFill>
                          <a:latin typeface="Times New Roman" panose="02020603050405020304" charset="0"/>
                          <a:cs typeface="Times New Roman" panose="02020603050405020304" charset="0"/>
                        </a:rPr>
                        <a:t> WER</a:t>
                      </a:r>
                      <a:r>
                        <a:rPr lang="sr-Cyrl-BA" altLang="en-US" sz="1400" b="1">
                          <a:solidFill>
                            <a:schemeClr val="tx1"/>
                          </a:solidFill>
                          <a:latin typeface="Times New Roman" panose="02020603050405020304" charset="0"/>
                          <a:cs typeface="Times New Roman" panose="02020603050405020304" charset="0"/>
                        </a:rPr>
                        <a:t>-а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01625">
                <a:tc>
                  <a:txBody>
                    <a:bodyPr/>
                    <a:lstStyle/>
                    <a:p>
                      <a:pPr algn="ctr"/>
                      <a:r>
                        <a:rPr lang="sr-Cyrl-BA" altLang="en-US" sz="1400" b="1">
                          <a:solidFill>
                            <a:schemeClr val="tx1"/>
                          </a:solidFill>
                          <a:latin typeface="Times New Roman" panose="02020603050405020304" charset="0"/>
                          <a:cs typeface="Times New Roman" panose="02020603050405020304" charset="0"/>
                        </a:rPr>
                        <a:t>Вредност </a:t>
                      </a:r>
                      <a:r>
                        <a:rPr lang="en-US" altLang="zh-CN" sz="1400" b="1">
                          <a:solidFill>
                            <a:schemeClr val="tx1"/>
                          </a:solidFill>
                          <a:latin typeface="Times New Roman" panose="02020603050405020304" charset="0"/>
                          <a:cs typeface="Times New Roman" panose="02020603050405020304" charset="0"/>
                        </a:rPr>
                        <a:t>WER</a:t>
                      </a:r>
                      <a:r>
                        <a:rPr lang="sr-Cyrl-BA" altLang="en-US" sz="1400" b="1">
                          <a:solidFill>
                            <a:schemeClr val="tx1"/>
                          </a:solidFill>
                          <a:latin typeface="Times New Roman" panose="02020603050405020304" charset="0"/>
                          <a:cs typeface="Times New Roman" panose="02020603050405020304" charset="0"/>
                        </a:rPr>
                        <a:t>-а на нивоу корпуса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301625">
                <a:tc>
                  <a:txBody>
                    <a:bodyPr/>
                    <a:lstStyle/>
                    <a:p>
                      <a:pPr algn="ctr"/>
                      <a:r>
                        <a:rPr lang="sr-Cyrl-BA" altLang="en-US" sz="1400" b="1">
                          <a:solidFill>
                            <a:schemeClr val="tx1"/>
                          </a:solidFill>
                          <a:latin typeface="Times New Roman" panose="02020603050405020304" charset="0"/>
                          <a:cs typeface="Times New Roman" panose="02020603050405020304" charset="0"/>
                          <a:sym typeface="+mn-ea"/>
                        </a:rPr>
                        <a:t>Вредност </a:t>
                      </a:r>
                      <a:r>
                        <a:rPr lang="en-US" altLang="en-US" sz="1400" b="1">
                          <a:solidFill>
                            <a:schemeClr val="tx1"/>
                          </a:solidFill>
                          <a:latin typeface="Times New Roman" panose="02020603050405020304" charset="0"/>
                          <a:cs typeface="Times New Roman" panose="02020603050405020304" charset="0"/>
                          <a:sym typeface="+mn-ea"/>
                        </a:rPr>
                        <a:t>C</a:t>
                      </a:r>
                      <a:r>
                        <a:rPr lang="en-US" altLang="zh-CN" sz="1400" b="1">
                          <a:solidFill>
                            <a:schemeClr val="tx1"/>
                          </a:solidFill>
                          <a:latin typeface="Times New Roman" panose="02020603050405020304" charset="0"/>
                          <a:cs typeface="Times New Roman" panose="02020603050405020304" charset="0"/>
                          <a:sym typeface="+mn-ea"/>
                        </a:rPr>
                        <a:t>ER</a:t>
                      </a:r>
                      <a:r>
                        <a:rPr lang="sr-Cyrl-BA" altLang="en-US" sz="1400" b="1">
                          <a:solidFill>
                            <a:schemeClr val="tx1"/>
                          </a:solidFill>
                          <a:latin typeface="Times New Roman" panose="02020603050405020304" charset="0"/>
                          <a:cs typeface="Times New Roman" panose="02020603050405020304" charset="0"/>
                          <a:sym typeface="+mn-ea"/>
                        </a:rPr>
                        <a:t>-а на нивоу корпуса</a:t>
                      </a:r>
                      <a:endParaRPr lang="sr-Cyrl-BA" altLang="en-US"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r h="522605">
                <a:tc>
                  <a:txBody>
                    <a:bodyPr/>
                    <a:lstStyle/>
                    <a:p>
                      <a:pPr algn="ctr"/>
                      <a:r>
                        <a:rPr lang="en-US" altLang="zh-CN" sz="1400" b="1">
                          <a:solidFill>
                            <a:schemeClr val="tx1"/>
                          </a:solidFill>
                          <a:latin typeface="Times New Roman" panose="02020603050405020304" charset="0"/>
                          <a:cs typeface="Times New Roman" panose="02020603050405020304" charset="0"/>
                        </a:rPr>
                        <a:t>Грешке у терминологији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c>
                  <a:txBody>
                    <a:bodyPr/>
                    <a:lstStyle/>
                    <a:p>
                      <a:pPr algn="ct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gradFill>
                      <a:gsLst>
                        <a:gs pos="50000">
                          <a:schemeClr val="accent3"/>
                        </a:gs>
                        <a:gs pos="0">
                          <a:schemeClr val="accent3">
                            <a:lumMod val="25000"/>
                            <a:lumOff val="75000"/>
                          </a:schemeClr>
                        </a:gs>
                        <a:gs pos="100000">
                          <a:schemeClr val="accent3">
                            <a:lumMod val="85000"/>
                          </a:schemeClr>
                        </a:gs>
                      </a:gsLst>
                      <a:lin ang="5400000" scaled="1"/>
                    </a:gradFill>
                  </a:tcPr>
                </a:tc>
              </a:tr>
            </a:tbl>
          </a:graphicData>
        </a:graphic>
      </p:graphicFrame>
      <p:sp>
        <p:nvSpPr>
          <p:cNvPr id="14" name="Text Box 13"/>
          <p:cNvSpPr txBox="1"/>
          <p:nvPr/>
        </p:nvSpPr>
        <p:spPr>
          <a:xfrm>
            <a:off x="4643755" y="3435985"/>
            <a:ext cx="2827020" cy="1075690"/>
          </a:xfrm>
          <a:prstGeom prst="rect">
            <a:avLst/>
          </a:prstGeom>
          <a:noFill/>
        </p:spPr>
        <p:txBody>
          <a:bodyPr wrap="square" rtlCol="0">
            <a:noAutofit/>
          </a:bodyPr>
          <a:lstStyle/>
          <a:p>
            <a:endParaRPr lang="en-US" altLang="en-US" b="1">
              <a:latin typeface="Times New Roman" panose="02020603050405020304" charset="0"/>
              <a:cs typeface="Times New Roman" panose="02020603050405020304" charset="0"/>
            </a:endParaRPr>
          </a:p>
        </p:txBody>
      </p:sp>
      <p:sp>
        <p:nvSpPr>
          <p:cNvPr id="3" name="Text Box 2"/>
          <p:cNvSpPr txBox="1"/>
          <p:nvPr/>
        </p:nvSpPr>
        <p:spPr>
          <a:xfrm>
            <a:off x="1759585" y="3868420"/>
            <a:ext cx="5711825" cy="953135"/>
          </a:xfrm>
          <a:prstGeom prst="rect">
            <a:avLst/>
          </a:prstGeom>
          <a:noFill/>
        </p:spPr>
        <p:txBody>
          <a:bodyPr wrap="square" rtlCol="0">
            <a:spAutoFit/>
          </a:bodyPr>
          <a:lstStyle/>
          <a:p>
            <a:pPr marL="139700" algn="ctr">
              <a:buSzPts val="1400"/>
            </a:pPr>
            <a:r>
              <a:rPr lang="en-US" altLang="en-US" b="1">
                <a:solidFill>
                  <a:schemeClr val="tx1"/>
                </a:solidFill>
                <a:latin typeface="Times New Roman" panose="02020603050405020304" charset="0"/>
                <a:ea typeface="Barlow Semi Condensed" panose="00000506000000000000"/>
                <a:cs typeface="Times New Roman" panose="02020603050405020304" charset="0"/>
              </a:rPr>
              <a:t>Поређење транскрипата</a:t>
            </a:r>
            <a:endParaRPr lang="en-US" altLang="en-US" b="1">
              <a:solidFill>
                <a:schemeClr val="tx1"/>
              </a:solidFill>
              <a:latin typeface="Times New Roman" panose="02020603050405020304" charset="0"/>
              <a:ea typeface="Barlow Semi Condensed" panose="00000506000000000000"/>
              <a:cs typeface="Times New Roman" panose="02020603050405020304" charset="0"/>
            </a:endParaRPr>
          </a:p>
          <a:p>
            <a:pPr marL="139700" algn="ctr">
              <a:buSzPts val="1400"/>
            </a:pPr>
            <a:r>
              <a:rPr lang="en-US" altLang="en-US" b="1">
                <a:solidFill>
                  <a:schemeClr val="tx1"/>
                </a:solidFill>
                <a:latin typeface="Times New Roman" panose="02020603050405020304" charset="0"/>
                <a:ea typeface="Barlow Semi Condensed" panose="00000506000000000000"/>
                <a:cs typeface="Times New Roman" panose="02020603050405020304" charset="0"/>
              </a:rPr>
              <a:t>Референтни текст: []</a:t>
            </a:r>
            <a:endParaRPr lang="en-US" altLang="en-US" b="1">
              <a:solidFill>
                <a:schemeClr val="tx1"/>
              </a:solidFill>
              <a:latin typeface="Times New Roman" panose="02020603050405020304" charset="0"/>
              <a:ea typeface="Barlow Semi Condensed" panose="00000506000000000000"/>
              <a:cs typeface="Times New Roman" panose="02020603050405020304" charset="0"/>
            </a:endParaRPr>
          </a:p>
          <a:p>
            <a:pPr marL="139700" algn="ctr">
              <a:buSzPts val="1400"/>
            </a:pPr>
            <a:r>
              <a:rPr lang="en-US" altLang="en-US" b="1">
                <a:solidFill>
                  <a:schemeClr val="tx1"/>
                </a:solidFill>
                <a:latin typeface="Times New Roman" panose="02020603050405020304" charset="0"/>
                <a:ea typeface="Barlow Semi Condensed" panose="00000506000000000000"/>
                <a:cs typeface="Times New Roman" panose="02020603050405020304" charset="0"/>
              </a:rPr>
              <a:t>Основни модел: []</a:t>
            </a:r>
            <a:endParaRPr lang="en-US" altLang="en-US" b="1">
              <a:solidFill>
                <a:schemeClr val="tx1"/>
              </a:solidFill>
              <a:latin typeface="Times New Roman" panose="02020603050405020304" charset="0"/>
              <a:ea typeface="Barlow Semi Condensed" panose="00000506000000000000"/>
              <a:cs typeface="Times New Roman" panose="02020603050405020304" charset="0"/>
            </a:endParaRPr>
          </a:p>
          <a:p>
            <a:pPr marL="139700" algn="ctr">
              <a:buSzPts val="1400"/>
            </a:pPr>
            <a:r>
              <a:rPr lang="en-US" altLang="en-US" b="1">
                <a:solidFill>
                  <a:schemeClr val="tx1"/>
                </a:solidFill>
                <a:latin typeface="Times New Roman" panose="02020603050405020304" charset="0"/>
                <a:ea typeface="Barlow Semi Condensed" panose="00000506000000000000"/>
                <a:cs typeface="Times New Roman" panose="02020603050405020304" charset="0"/>
              </a:rPr>
              <a:t>Адаптирани модел: []</a:t>
            </a:r>
            <a:endParaRPr lang="en-US" altLang="en-US" b="1">
              <a:solidFill>
                <a:schemeClr val="tx1"/>
              </a:solidFill>
              <a:latin typeface="Times New Roman" panose="02020603050405020304" charset="0"/>
              <a:ea typeface="Barlow Semi Condensed" panose="00000506000000000000"/>
              <a:cs typeface="Times New Roman" panose="0202060305040502030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Истраживачка питања и добијени одговори</a:t>
            </a:r>
            <a:endParaRPr lang="en-US" altLang="en-US">
              <a:latin typeface="Times New Roman" panose="02020603050405020304" charset="0"/>
              <a:cs typeface="Times New Roman" panose="02020603050405020304" charset="0"/>
            </a:endParaRPr>
          </a:p>
        </p:txBody>
      </p:sp>
      <p:graphicFrame>
        <p:nvGraphicFramePr>
          <p:cNvPr id="2" name="Table 1"/>
          <p:cNvGraphicFramePr/>
          <p:nvPr/>
        </p:nvGraphicFramePr>
        <p:xfrm>
          <a:off x="938254" y="1004570"/>
          <a:ext cx="7251588" cy="3707765"/>
        </p:xfrm>
        <a:graphic>
          <a:graphicData uri="http://schemas.openxmlformats.org/drawingml/2006/table">
            <a:tbl>
              <a:tblPr firstRow="1" bandRow="1">
                <a:tableStyleId>{5C22544A-7EE6-4342-B048-85BDC9FD1C3A}</a:tableStyleId>
              </a:tblPr>
              <a:tblGrid>
                <a:gridCol w="2099144"/>
                <a:gridCol w="1757239"/>
                <a:gridCol w="3395205"/>
              </a:tblGrid>
              <a:tr h="419735">
                <a:tc>
                  <a:txBody>
                    <a:bodyPr/>
                    <a:lstStyle/>
                    <a:p>
                      <a:pPr algn="ctr"/>
                      <a:r>
                        <a:rPr lang="en-US" altLang="zh-CN" sz="1400" b="1">
                          <a:solidFill>
                            <a:schemeClr val="tx1"/>
                          </a:solidFill>
                          <a:latin typeface="Times New Roman" panose="02020603050405020304" charset="0"/>
                          <a:cs typeface="Times New Roman" panose="02020603050405020304" charset="0"/>
                        </a:rPr>
                        <a:t>Истраживачко питање</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a:solidFill>
                            <a:schemeClr val="tx1"/>
                          </a:solidFill>
                          <a:latin typeface="Times New Roman" panose="02020603050405020304" charset="0"/>
                          <a:cs typeface="Times New Roman" panose="02020603050405020304" charset="0"/>
                        </a:rPr>
                        <a:t>Како је испитано?</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a:solidFill>
                            <a:schemeClr val="tx1"/>
                          </a:solidFill>
                          <a:latin typeface="Times New Roman" panose="02020603050405020304" charset="0"/>
                          <a:cs typeface="Times New Roman" panose="02020603050405020304" charset="0"/>
                        </a:rPr>
                        <a:t>Шта резултати показују?</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r>
              <a:tr h="1409065">
                <a:tc>
                  <a:txBody>
                    <a:bodyPr/>
                    <a:lstStyle/>
                    <a:p>
                      <a:pPr algn="ctr"/>
                      <a:r>
                        <a:rPr lang="en-US" altLang="en-US" sz="1400" b="1" dirty="0" err="1">
                          <a:solidFill>
                            <a:schemeClr val="tx1"/>
                          </a:solidFill>
                          <a:latin typeface="Times New Roman" panose="02020603050405020304" charset="0"/>
                          <a:cs typeface="Times New Roman" panose="02020603050405020304" charset="0"/>
                        </a:rPr>
                        <a:t>Да</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ли</a:t>
                      </a:r>
                      <a:r>
                        <a:rPr lang="en-US" altLang="en-US" sz="1400" b="1" dirty="0">
                          <a:solidFill>
                            <a:schemeClr val="tx1"/>
                          </a:solidFill>
                          <a:latin typeface="Times New Roman" panose="02020603050405020304" charset="0"/>
                          <a:cs typeface="Times New Roman" panose="02020603050405020304" charset="0"/>
                        </a:rPr>
                        <a:t> Faster-Whisper </a:t>
                      </a:r>
                      <a:r>
                        <a:rPr lang="en-US" altLang="en-US" sz="1400" b="1" dirty="0" err="1">
                          <a:solidFill>
                            <a:schemeClr val="tx1"/>
                          </a:solidFill>
                          <a:latin typeface="Times New Roman" panose="02020603050405020304" charset="0"/>
                          <a:cs typeface="Times New Roman" panose="02020603050405020304" charset="0"/>
                        </a:rPr>
                        <a:t>доноси</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практичну</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предност</a:t>
                      </a:r>
                      <a:r>
                        <a:rPr lang="en-US" altLang="en-US" sz="1400" b="1" dirty="0">
                          <a:solidFill>
                            <a:schemeClr val="tx1"/>
                          </a:solidFill>
                          <a:latin typeface="Times New Roman" panose="02020603050405020304" charset="0"/>
                          <a:cs typeface="Times New Roman" panose="02020603050405020304" charset="0"/>
                        </a:rPr>
                        <a:t> у </a:t>
                      </a:r>
                      <a:r>
                        <a:rPr lang="en-US" altLang="en-US" sz="1400" b="1" dirty="0" err="1">
                          <a:solidFill>
                            <a:schemeClr val="tx1"/>
                          </a:solidFill>
                          <a:latin typeface="Times New Roman" panose="02020603050405020304" charset="0"/>
                          <a:cs typeface="Times New Roman" panose="02020603050405020304" charset="0"/>
                        </a:rPr>
                        <a:t>односу</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на</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оригиналну</a:t>
                      </a:r>
                      <a:r>
                        <a:rPr lang="en-US" altLang="en-US" sz="1400" b="1" dirty="0">
                          <a:solidFill>
                            <a:schemeClr val="tx1"/>
                          </a:solidFill>
                          <a:latin typeface="Times New Roman" panose="02020603050405020304" charset="0"/>
                          <a:cs typeface="Times New Roman" panose="02020603050405020304" charset="0"/>
                        </a:rPr>
                        <a:t> Whisper </a:t>
                      </a:r>
                      <a:r>
                        <a:rPr lang="en-US" altLang="en-US" sz="1400" b="1" dirty="0" err="1">
                          <a:solidFill>
                            <a:schemeClr val="tx1"/>
                          </a:solidFill>
                          <a:latin typeface="Times New Roman" panose="02020603050405020304" charset="0"/>
                          <a:cs typeface="Times New Roman" panose="02020603050405020304" charset="0"/>
                        </a:rPr>
                        <a:t>имплементацију</a:t>
                      </a:r>
                      <a:r>
                        <a:rPr lang="en-US" altLang="en-US" sz="1400" b="1" dirty="0">
                          <a:solidFill>
                            <a:schemeClr val="tx1"/>
                          </a:solidFill>
                          <a:latin typeface="Times New Roman" panose="02020603050405020304" charset="0"/>
                          <a:cs typeface="Times New Roman" panose="02020603050405020304" charset="0"/>
                        </a:rPr>
                        <a:t>?</a:t>
                      </a:r>
                      <a:endParaRPr lang="en-US" altLang="en-US" sz="1400" b="1" dirty="0">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dirty="0" err="1">
                          <a:solidFill>
                            <a:schemeClr val="tx1"/>
                          </a:solidFill>
                          <a:latin typeface="Times New Roman" panose="02020603050405020304" charset="0"/>
                          <a:cs typeface="Times New Roman" panose="02020603050405020304" charset="0"/>
                        </a:rPr>
                        <a:t>Контролисано</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поређење</a:t>
                      </a:r>
                      <a:r>
                        <a:rPr lang="en-US" altLang="zh-CN" sz="1400" b="1" dirty="0">
                          <a:solidFill>
                            <a:schemeClr val="tx1"/>
                          </a:solidFill>
                          <a:latin typeface="Times New Roman" panose="02020603050405020304" charset="0"/>
                          <a:cs typeface="Times New Roman" panose="02020603050405020304" charset="0"/>
                        </a:rPr>
                        <a:t> </a:t>
                      </a:r>
                      <a:r>
                        <a:rPr lang="sr-Cyrl-BA" altLang="en-US" sz="1400" b="1" dirty="0">
                          <a:solidFill>
                            <a:schemeClr val="tx1"/>
                          </a:solidFill>
                          <a:latin typeface="Times New Roman" panose="02020603050405020304" charset="0"/>
                          <a:cs typeface="Times New Roman" panose="02020603050405020304" charset="0"/>
                        </a:rPr>
                        <a:t>основног</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модела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на</a:t>
                      </a:r>
                      <a:r>
                        <a:rPr lang="en-US" altLang="zh-CN" sz="1400" b="1" dirty="0">
                          <a:solidFill>
                            <a:schemeClr val="tx1"/>
                          </a:solidFill>
                          <a:latin typeface="Times New Roman" panose="02020603050405020304" charset="0"/>
                          <a:cs typeface="Times New Roman" panose="02020603050405020304" charset="0"/>
                        </a:rPr>
                        <a:t> 40 </a:t>
                      </a:r>
                      <a:r>
                        <a:rPr lang="en-US" altLang="zh-CN" sz="1400" b="1" dirty="0" err="1">
                          <a:solidFill>
                            <a:schemeClr val="tx1"/>
                          </a:solidFill>
                          <a:latin typeface="Times New Roman" panose="02020603050405020304" charset="0"/>
                          <a:cs typeface="Times New Roman" panose="02020603050405020304" charset="0"/>
                        </a:rPr>
                        <a:t>снимака</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dirty="0">
                          <a:solidFill>
                            <a:schemeClr val="tx1"/>
                          </a:solidFill>
                          <a:latin typeface="Times New Roman" panose="02020603050405020304" charset="0"/>
                          <a:cs typeface="Times New Roman" panose="02020603050405020304" charset="0"/>
                        </a:rPr>
                        <a:t>FP32 </a:t>
                      </a:r>
                      <a:r>
                        <a:rPr lang="en-US" altLang="zh-CN" sz="1400" b="1" dirty="0" err="1">
                          <a:solidFill>
                            <a:schemeClr val="tx1"/>
                          </a:solidFill>
                          <a:latin typeface="Times New Roman" panose="02020603050405020304" charset="0"/>
                          <a:cs typeface="Times New Roman" panose="02020603050405020304" charset="0"/>
                        </a:rPr>
                        <a:t>задржава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исти</a:t>
                      </a:r>
                      <a:r>
                        <a:rPr lang="en-US" altLang="zh-CN" sz="1400" b="1" dirty="0">
                          <a:solidFill>
                            <a:schemeClr val="tx1"/>
                          </a:solidFill>
                          <a:latin typeface="Times New Roman" panose="02020603050405020304" charset="0"/>
                          <a:cs typeface="Times New Roman" panose="02020603050405020304" charset="0"/>
                        </a:rPr>
                        <a:t> WER </a:t>
                      </a:r>
                      <a:r>
                        <a:rPr lang="en-US" altLang="zh-CN" sz="1400" b="1" dirty="0" err="1">
                          <a:solidFill>
                            <a:schemeClr val="tx1"/>
                          </a:solidFill>
                          <a:latin typeface="Times New Roman" panose="02020603050405020304" charset="0"/>
                          <a:cs typeface="Times New Roman" panose="02020603050405020304" charset="0"/>
                        </a:rPr>
                        <a:t>од</a:t>
                      </a:r>
                      <a:r>
                        <a:rPr lang="en-US" altLang="zh-CN" sz="1400" b="1" dirty="0">
                          <a:solidFill>
                            <a:schemeClr val="tx1"/>
                          </a:solidFill>
                          <a:latin typeface="Times New Roman" panose="02020603050405020304" charset="0"/>
                          <a:cs typeface="Times New Roman" panose="02020603050405020304" charset="0"/>
                        </a:rPr>
                        <a:t> 42,95%, </a:t>
                      </a:r>
                      <a:r>
                        <a:rPr lang="en-US" altLang="zh-CN" sz="1400" b="1" dirty="0" err="1">
                          <a:solidFill>
                            <a:schemeClr val="tx1"/>
                          </a:solidFill>
                          <a:latin typeface="Times New Roman" panose="02020603050405020304" charset="0"/>
                          <a:cs typeface="Times New Roman" panose="02020603050405020304" charset="0"/>
                        </a:rPr>
                        <a:t>уз</a:t>
                      </a:r>
                      <a:r>
                        <a:rPr lang="en-US" altLang="zh-CN" sz="1400" b="1" dirty="0">
                          <a:solidFill>
                            <a:schemeClr val="tx1"/>
                          </a:solidFill>
                          <a:latin typeface="Times New Roman" panose="02020603050405020304" charset="0"/>
                          <a:cs typeface="Times New Roman" panose="02020603050405020304" charset="0"/>
                        </a:rPr>
                        <a:t> ≈3,17× </a:t>
                      </a:r>
                      <a:r>
                        <a:rPr lang="en-US" altLang="zh-CN" sz="1400" b="1" dirty="0" err="1">
                          <a:solidFill>
                            <a:schemeClr val="tx1"/>
                          </a:solidFill>
                          <a:latin typeface="Times New Roman" panose="02020603050405020304" charset="0"/>
                          <a:cs typeface="Times New Roman" panose="02020603050405020304" charset="0"/>
                        </a:rPr>
                        <a:t>бржу</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обраду</a:t>
                      </a:r>
                      <a:r>
                        <a:rPr lang="en-US" altLang="zh-CN" sz="1400" b="1" dirty="0">
                          <a:solidFill>
                            <a:schemeClr val="tx1"/>
                          </a:solidFill>
                          <a:latin typeface="Times New Roman" panose="02020603050405020304" charset="0"/>
                          <a:cs typeface="Times New Roman" panose="02020603050405020304" charset="0"/>
                        </a:rPr>
                        <a:t>; INT8 </a:t>
                      </a:r>
                      <a:r>
                        <a:rPr lang="en-US" altLang="zh-CN" sz="1400" b="1" dirty="0" err="1">
                          <a:solidFill>
                            <a:schemeClr val="tx1"/>
                          </a:solidFill>
                          <a:latin typeface="Times New Roman" panose="02020603050405020304" charset="0"/>
                          <a:cs typeface="Times New Roman" panose="02020603050405020304" charset="0"/>
                        </a:rPr>
                        <a:t>је</a:t>
                      </a:r>
                      <a:r>
                        <a:rPr lang="en-US" altLang="zh-CN" sz="1400" b="1" dirty="0">
                          <a:solidFill>
                            <a:schemeClr val="tx1"/>
                          </a:solidFill>
                          <a:latin typeface="Times New Roman" panose="02020603050405020304" charset="0"/>
                          <a:cs typeface="Times New Roman" panose="02020603050405020304" charset="0"/>
                        </a:rPr>
                        <a:t> ≈4,73× </a:t>
                      </a:r>
                      <a:r>
                        <a:rPr lang="en-US" altLang="zh-CN" sz="1400" b="1" dirty="0" err="1">
                          <a:solidFill>
                            <a:schemeClr val="tx1"/>
                          </a:solidFill>
                          <a:latin typeface="Times New Roman" panose="02020603050405020304" charset="0"/>
                          <a:cs typeface="Times New Roman" panose="02020603050405020304" charset="0"/>
                        </a:rPr>
                        <a:t>бржи</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уз</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само</a:t>
                      </a:r>
                      <a:r>
                        <a:rPr lang="en-US" altLang="zh-CN" sz="1400" b="1" dirty="0">
                          <a:solidFill>
                            <a:schemeClr val="tx1"/>
                          </a:solidFill>
                          <a:latin typeface="Times New Roman" panose="02020603050405020304" charset="0"/>
                          <a:cs typeface="Times New Roman" panose="02020603050405020304" charset="0"/>
                        </a:rPr>
                        <a:t> +0,13 </a:t>
                      </a:r>
                      <a:r>
                        <a:rPr lang="en-US" altLang="zh-CN" sz="1400" b="1" dirty="0" err="1">
                          <a:solidFill>
                            <a:schemeClr val="tx1"/>
                          </a:solidFill>
                          <a:latin typeface="Times New Roman" panose="02020603050405020304" charset="0"/>
                          <a:cs typeface="Times New Roman" panose="02020603050405020304" charset="0"/>
                        </a:rPr>
                        <a:t>п.п</a:t>
                      </a:r>
                      <a:r>
                        <a:rPr lang="en-US" altLang="zh-CN" sz="1400" b="1" dirty="0">
                          <a:solidFill>
                            <a:schemeClr val="tx1"/>
                          </a:solidFill>
                          <a:latin typeface="Times New Roman" panose="02020603050405020304" charset="0"/>
                          <a:cs typeface="Times New Roman" panose="02020603050405020304" charset="0"/>
                        </a:rPr>
                        <a:t>. WER</a:t>
                      </a:r>
                      <a:r>
                        <a:rPr lang="sr-Cyrl-BA" altLang="en-US" sz="1400" b="1" dirty="0">
                          <a:solidFill>
                            <a:schemeClr val="tx1"/>
                          </a:solidFill>
                          <a:latin typeface="Times New Roman" panose="02020603050405020304" charset="0"/>
                          <a:cs typeface="Times New Roman" panose="02020603050405020304" charset="0"/>
                        </a:rPr>
                        <a:t>-а</a:t>
                      </a:r>
                      <a:r>
                        <a:rPr lang="en-US" altLang="zh-CN" sz="1400" b="1" dirty="0">
                          <a:solidFill>
                            <a:schemeClr val="tx1"/>
                          </a:solidFill>
                          <a:latin typeface="Times New Roman" panose="02020603050405020304" charset="0"/>
                          <a:cs typeface="Times New Roman" panose="02020603050405020304" charset="0"/>
                        </a:rPr>
                        <a:t> и ≈53% </a:t>
                      </a:r>
                      <a:r>
                        <a:rPr lang="en-US" altLang="zh-CN" sz="1400" b="1" dirty="0" err="1">
                          <a:solidFill>
                            <a:schemeClr val="tx1"/>
                          </a:solidFill>
                          <a:latin typeface="Times New Roman" panose="02020603050405020304" charset="0"/>
                          <a:cs typeface="Times New Roman" panose="02020603050405020304" charset="0"/>
                        </a:rPr>
                        <a:t>мањ</a:t>
                      </a:r>
                      <a:r>
                        <a:rPr lang="sr-Cyrl-BA" altLang="en-US" sz="1400" b="1" dirty="0">
                          <a:solidFill>
                            <a:schemeClr val="tx1"/>
                          </a:solidFill>
                          <a:latin typeface="Times New Roman" panose="02020603050405020304" charset="0"/>
                          <a:cs typeface="Times New Roman" panose="02020603050405020304" charset="0"/>
                        </a:rPr>
                        <a:t>у максималну вредност</a:t>
                      </a:r>
                      <a:r>
                        <a:rPr lang="en-US" altLang="zh-CN" sz="1400" b="1" dirty="0">
                          <a:solidFill>
                            <a:schemeClr val="tx1"/>
                          </a:solidFill>
                          <a:latin typeface="Times New Roman" panose="02020603050405020304" charset="0"/>
                          <a:cs typeface="Times New Roman" panose="02020603050405020304" charset="0"/>
                        </a:rPr>
                        <a:t> RSS</a:t>
                      </a:r>
                      <a:r>
                        <a:rPr lang="sr-Cyrl-BA" altLang="en-US" sz="1400" b="1" dirty="0">
                          <a:solidFill>
                            <a:schemeClr val="tx1"/>
                          </a:solidFill>
                          <a:latin typeface="Times New Roman" panose="02020603050405020304" charset="0"/>
                          <a:cs typeface="Times New Roman" panose="02020603050405020304" charset="0"/>
                        </a:rPr>
                        <a:t>-а</a:t>
                      </a:r>
                      <a:endParaRPr lang="sr-Cyrl-BA" altLang="en-US" sz="1400" b="1" dirty="0">
                        <a:solidFill>
                          <a:schemeClr val="tx1"/>
                        </a:solidFill>
                        <a:latin typeface="Times New Roman" panose="02020603050405020304" charset="0"/>
                        <a:cs typeface="Times New Roman" panose="02020603050405020304" charset="0"/>
                      </a:endParaRPr>
                    </a:p>
                  </a:txBody>
                  <a:tcPr marL="0" marR="0" marT="0" marB="0" anchor="ctr"/>
                </a:tc>
              </a:tr>
              <a:tr h="1878965">
                <a:tc>
                  <a:txBody>
                    <a:bodyPr/>
                    <a:lstStyle/>
                    <a:p>
                      <a:pPr algn="ctr"/>
                      <a:r>
                        <a:rPr lang="en-US" altLang="zh-CN" sz="1400" b="1" dirty="0" err="1">
                          <a:solidFill>
                            <a:schemeClr val="tx1"/>
                          </a:solidFill>
                          <a:latin typeface="Times New Roman" panose="02020603050405020304" charset="0"/>
                          <a:cs typeface="Times New Roman" panose="02020603050405020304" charset="0"/>
                        </a:rPr>
                        <a:t>Како</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конфигурација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утиче</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на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тачност</a:t>
                      </a:r>
                      <a:r>
                        <a:rPr lang="en-US" altLang="zh-CN" sz="1400" b="1" dirty="0">
                          <a:solidFill>
                            <a:schemeClr val="tx1"/>
                          </a:solidFill>
                          <a:latin typeface="Times New Roman" panose="02020603050405020304" charset="0"/>
                          <a:cs typeface="Times New Roman" panose="02020603050405020304" charset="0"/>
                        </a:rPr>
                        <a:t> и </a:t>
                      </a:r>
                      <a:r>
                        <a:rPr lang="en-US" altLang="zh-CN" sz="1400" b="1" dirty="0" err="1">
                          <a:solidFill>
                            <a:schemeClr val="tx1"/>
                          </a:solidFill>
                          <a:latin typeface="Times New Roman" panose="02020603050405020304" charset="0"/>
                          <a:cs typeface="Times New Roman" panose="02020603050405020304" charset="0"/>
                        </a:rPr>
                        <a:t>ресурсе</a:t>
                      </a:r>
                      <a:r>
                        <a:rPr lang="en-US" altLang="zh-CN" sz="1400" b="1" dirty="0">
                          <a:solidFill>
                            <a:schemeClr val="tx1"/>
                          </a:solidFill>
                          <a:latin typeface="Times New Roman" panose="02020603050405020304" charset="0"/>
                          <a:cs typeface="Times New Roman" panose="02020603050405020304" charset="0"/>
                        </a:rPr>
                        <a:t>?</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dirty="0" err="1">
                          <a:solidFill>
                            <a:schemeClr val="tx1"/>
                          </a:solidFill>
                          <a:latin typeface="Times New Roman" panose="02020603050405020304" charset="0"/>
                          <a:cs typeface="Times New Roman" panose="02020603050405020304" charset="0"/>
                        </a:rPr>
                        <a:t>Величина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модела</a:t>
                      </a:r>
                      <a:r>
                        <a:rPr lang="en-US" altLang="zh-CN" sz="1400" b="1" dirty="0">
                          <a:solidFill>
                            <a:schemeClr val="tx1"/>
                          </a:solidFill>
                          <a:latin typeface="Times New Roman" panose="02020603050405020304" charset="0"/>
                          <a:cs typeface="Times New Roman" panose="02020603050405020304" charset="0"/>
                        </a:rPr>
                        <a:t>, INT8/FP32, </a:t>
                      </a:r>
                      <a:r>
                        <a:rPr lang="sr-Cyrl-BA" altLang="zh-CN" sz="1400" b="1" dirty="0">
                          <a:solidFill>
                            <a:schemeClr val="tx1"/>
                          </a:solidFill>
                          <a:latin typeface="Times New Roman" panose="02020603050405020304" charset="0"/>
                          <a:cs typeface="Times New Roman" panose="02020603050405020304" charset="0"/>
                        </a:rPr>
                        <a:t>параметар </a:t>
                      </a:r>
                      <a:r>
                        <a:rPr lang="en-US" altLang="zh-CN" sz="1400" b="1" dirty="0">
                          <a:solidFill>
                            <a:schemeClr val="tx1"/>
                          </a:solidFill>
                          <a:latin typeface="Times New Roman" panose="02020603050405020304" charset="0"/>
                          <a:cs typeface="Times New Roman" panose="02020603050405020304" charset="0"/>
                        </a:rPr>
                        <a:t>beam size, </a:t>
                      </a:r>
                      <a:r>
                        <a:rPr lang="sr-Cyrl-BA" altLang="en-US" sz="1400" b="1" dirty="0">
                          <a:solidFill>
                            <a:schemeClr val="tx1"/>
                          </a:solidFill>
                          <a:latin typeface="Times New Roman" panose="02020603050405020304" charset="0"/>
                          <a:cs typeface="Times New Roman" panose="02020603050405020304" charset="0"/>
                        </a:rPr>
                        <a:t>примена </a:t>
                      </a:r>
                      <a:r>
                        <a:rPr lang="en-US" altLang="zh-CN" sz="1400" b="1" dirty="0">
                          <a:solidFill>
                            <a:schemeClr val="tx1"/>
                          </a:solidFill>
                          <a:latin typeface="Times New Roman" panose="02020603050405020304" charset="0"/>
                          <a:cs typeface="Times New Roman" panose="02020603050405020304" charset="0"/>
                        </a:rPr>
                        <a:t>VAD</a:t>
                      </a:r>
                      <a:r>
                        <a:rPr lang="sr-Cyrl-BA" altLang="en-US" sz="1400" b="1" dirty="0">
                          <a:solidFill>
                            <a:schemeClr val="tx1"/>
                          </a:solidFill>
                          <a:latin typeface="Times New Roman" panose="02020603050405020304" charset="0"/>
                          <a:cs typeface="Times New Roman" panose="02020603050405020304" charset="0"/>
                        </a:rPr>
                        <a:t>-а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шум</a:t>
                      </a:r>
                      <a:r>
                        <a:rPr lang="en-US" altLang="zh-CN" sz="1400" b="1" dirty="0">
                          <a:solidFill>
                            <a:schemeClr val="tx1"/>
                          </a:solidFill>
                          <a:latin typeface="Times New Roman" panose="02020603050405020304" charset="0"/>
                          <a:cs typeface="Times New Roman" panose="02020603050405020304" charset="0"/>
                        </a:rPr>
                        <a:t> и </a:t>
                      </a:r>
                      <a:r>
                        <a:rPr lang="sr-Cyrl-BA" altLang="en-US" sz="1400" b="1" dirty="0">
                          <a:solidFill>
                            <a:schemeClr val="tx1"/>
                          </a:solidFill>
                          <a:latin typeface="Times New Roman" panose="02020603050405020304" charset="0"/>
                          <a:cs typeface="Times New Roman" panose="02020603050405020304" charset="0"/>
                        </a:rPr>
                        <a:t>обрада у реалном времену</a:t>
                      </a:r>
                      <a:endParaRPr lang="sr-Cyrl-BA" altLang="en-US" sz="1400" b="1" dirty="0">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dirty="0" err="1">
                          <a:solidFill>
                            <a:schemeClr val="tx1"/>
                          </a:solidFill>
                          <a:latin typeface="Times New Roman" panose="02020603050405020304" charset="0"/>
                          <a:cs typeface="Times New Roman" panose="02020603050405020304" charset="0"/>
                        </a:rPr>
                        <a:t>Већи</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модели</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смањују</a:t>
                      </a:r>
                      <a:r>
                        <a:rPr lang="sr-Cyrl-BA" altLang="en-US" sz="1400" b="1" dirty="0">
                          <a:solidFill>
                            <a:schemeClr val="tx1"/>
                          </a:solidFill>
                          <a:latin typeface="Times New Roman" panose="02020603050405020304" charset="0"/>
                          <a:cs typeface="Times New Roman" panose="02020603050405020304" charset="0"/>
                        </a:rPr>
                        <a:t> вредност</a:t>
                      </a:r>
                      <a:r>
                        <a:rPr lang="en-US" altLang="zh-CN" sz="1400" b="1" dirty="0">
                          <a:solidFill>
                            <a:schemeClr val="tx1"/>
                          </a:solidFill>
                          <a:latin typeface="Times New Roman" panose="02020603050405020304" charset="0"/>
                          <a:cs typeface="Times New Roman" panose="02020603050405020304" charset="0"/>
                        </a:rPr>
                        <a:t> WER</a:t>
                      </a:r>
                      <a:r>
                        <a:rPr lang="sr-Cyrl-BA" altLang="en-US" sz="1400" b="1" dirty="0">
                          <a:solidFill>
                            <a:schemeClr val="tx1"/>
                          </a:solidFill>
                          <a:latin typeface="Times New Roman" panose="02020603050405020304" charset="0"/>
                          <a:cs typeface="Times New Roman" panose="02020603050405020304" charset="0"/>
                        </a:rPr>
                        <a:t>-а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уз</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веће</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ресурсне</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захтеве</a:t>
                      </a:r>
                      <a:r>
                        <a:rPr lang="en-US" altLang="zh-CN" sz="1400" b="1" dirty="0">
                          <a:solidFill>
                            <a:schemeClr val="tx1"/>
                          </a:solidFill>
                          <a:latin typeface="Times New Roman" panose="02020603050405020304" charset="0"/>
                          <a:cs typeface="Times New Roman" panose="02020603050405020304" charset="0"/>
                        </a:rPr>
                        <a:t>; </a:t>
                      </a:r>
                      <a:r>
                        <a:rPr lang="en-US" altLang="en-US" sz="1400" b="1" dirty="0">
                          <a:solidFill>
                            <a:schemeClr val="tx1"/>
                          </a:solidFill>
                          <a:latin typeface="Times New Roman" panose="02020603050405020304" charset="0"/>
                          <a:cs typeface="Times New Roman" panose="02020603050405020304" charset="0"/>
                        </a:rPr>
                        <a:t>INT8 </a:t>
                      </a:r>
                      <a:r>
                        <a:rPr lang="en-US" altLang="en-US" sz="1400" b="1" dirty="0" err="1">
                          <a:solidFill>
                            <a:schemeClr val="tx1"/>
                          </a:solidFill>
                          <a:latin typeface="Times New Roman" panose="02020603050405020304" charset="0"/>
                          <a:cs typeface="Times New Roman" panose="02020603050405020304" charset="0"/>
                        </a:rPr>
                        <a:t>смањује</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време</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обраде</a:t>
                      </a:r>
                      <a:r>
                        <a:rPr lang="en-US" altLang="en-US" sz="1400" b="1" dirty="0">
                          <a:solidFill>
                            <a:schemeClr val="tx1"/>
                          </a:solidFill>
                          <a:latin typeface="Times New Roman" panose="02020603050405020304" charset="0"/>
                          <a:cs typeface="Times New Roman" panose="02020603050405020304" charset="0"/>
                        </a:rPr>
                        <a:t> и </a:t>
                      </a:r>
                      <a:r>
                        <a:rPr lang="en-US" altLang="en-US" sz="1400" b="1" dirty="0" err="1">
                          <a:solidFill>
                            <a:schemeClr val="tx1"/>
                          </a:solidFill>
                          <a:latin typeface="Times New Roman" panose="02020603050405020304" charset="0"/>
                          <a:cs typeface="Times New Roman" panose="02020603050405020304" charset="0"/>
                        </a:rPr>
                        <a:t>меморијску</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потрошњу</a:t>
                      </a:r>
                      <a:r>
                        <a:rPr lang="en-US" altLang="zh-CN" sz="1400" b="1" dirty="0">
                          <a:solidFill>
                            <a:schemeClr val="tx1"/>
                          </a:solidFill>
                          <a:latin typeface="Times New Roman" panose="02020603050405020304" charset="0"/>
                          <a:cs typeface="Times New Roman" panose="02020603050405020304" charset="0"/>
                        </a:rPr>
                        <a:t>; </a:t>
                      </a:r>
                      <a:r>
                        <a:rPr lang="sr-Cyrl-BA" altLang="zh-CN" sz="1400" b="1" dirty="0">
                          <a:solidFill>
                            <a:schemeClr val="tx1"/>
                          </a:solidFill>
                          <a:latin typeface="Times New Roman" panose="02020603050405020304" charset="0"/>
                          <a:cs typeface="Times New Roman" panose="02020603050405020304" charset="0"/>
                        </a:rPr>
                        <a:t>параметар</a:t>
                      </a:r>
                      <a:r>
                        <a:rPr lang="en-US" altLang="zh-CN" sz="1400" b="1" dirty="0">
                          <a:solidFill>
                            <a:schemeClr val="tx1"/>
                          </a:solidFill>
                          <a:latin typeface="Times New Roman" panose="02020603050405020304" charset="0"/>
                          <a:cs typeface="Times New Roman" panose="02020603050405020304" charset="0"/>
                        </a:rPr>
                        <a:t> beam size, </a:t>
                      </a:r>
                      <a:r>
                        <a:rPr lang="sr-Cyrl-BA" altLang="en-US" sz="1400" b="1" dirty="0">
                          <a:solidFill>
                            <a:schemeClr val="tx1"/>
                          </a:solidFill>
                          <a:latin typeface="Times New Roman" panose="02020603050405020304" charset="0"/>
                          <a:cs typeface="Times New Roman" panose="02020603050405020304" charset="0"/>
                        </a:rPr>
                        <a:t>примена </a:t>
                      </a:r>
                      <a:r>
                        <a:rPr lang="en-US" altLang="zh-CN" sz="1400" b="1" dirty="0">
                          <a:solidFill>
                            <a:schemeClr val="tx1"/>
                          </a:solidFill>
                          <a:latin typeface="Times New Roman" panose="02020603050405020304" charset="0"/>
                          <a:cs typeface="Times New Roman" panose="02020603050405020304" charset="0"/>
                        </a:rPr>
                        <a:t>VAD</a:t>
                      </a:r>
                      <a:r>
                        <a:rPr lang="sr-Cyrl-BA" altLang="en-US" sz="1400" b="1" dirty="0">
                          <a:solidFill>
                            <a:schemeClr val="tx1"/>
                          </a:solidFill>
                          <a:latin typeface="Times New Roman" panose="02020603050405020304" charset="0"/>
                          <a:cs typeface="Times New Roman" panose="02020603050405020304" charset="0"/>
                        </a:rPr>
                        <a:t>-а</a:t>
                      </a:r>
                      <a:r>
                        <a:rPr lang="en-US" altLang="zh-CN" sz="1400" b="1" dirty="0">
                          <a:solidFill>
                            <a:schemeClr val="tx1"/>
                          </a:solidFill>
                          <a:latin typeface="Times New Roman" panose="02020603050405020304" charset="0"/>
                          <a:cs typeface="Times New Roman" panose="02020603050405020304" charset="0"/>
                        </a:rPr>
                        <a:t> и </a:t>
                      </a:r>
                      <a:r>
                        <a:rPr lang="en-US" altLang="zh-CN" sz="1400" b="1" dirty="0" err="1">
                          <a:solidFill>
                            <a:schemeClr val="tx1"/>
                          </a:solidFill>
                          <a:latin typeface="Times New Roman" panose="02020603050405020304" charset="0"/>
                          <a:cs typeface="Times New Roman" panose="02020603050405020304" charset="0"/>
                        </a:rPr>
                        <a:t>величина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сегмента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утичу</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на</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компромис</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тачности</a:t>
                      </a:r>
                      <a:r>
                        <a:rPr lang="en-US" altLang="zh-CN" sz="1400" b="1" dirty="0">
                          <a:solidFill>
                            <a:schemeClr val="tx1"/>
                          </a:solidFill>
                          <a:latin typeface="Times New Roman" panose="02020603050405020304" charset="0"/>
                          <a:cs typeface="Times New Roman" panose="02020603050405020304" charset="0"/>
                        </a:rPr>
                        <a:t> и </a:t>
                      </a:r>
                      <a:r>
                        <a:rPr lang="en-US" altLang="zh-CN" sz="1400" b="1" dirty="0" err="1">
                          <a:solidFill>
                            <a:schemeClr val="tx1"/>
                          </a:solidFill>
                          <a:latin typeface="Times New Roman" panose="02020603050405020304" charset="0"/>
                          <a:cs typeface="Times New Roman" panose="02020603050405020304" charset="0"/>
                        </a:rPr>
                        <a:t>брзине</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Истраживачка питања и добијени одговори</a:t>
            </a:r>
            <a:endParaRPr lang="en-US" altLang="en-US">
              <a:latin typeface="Times New Roman" panose="02020603050405020304" charset="0"/>
              <a:cs typeface="Times New Roman" panose="02020603050405020304" charset="0"/>
            </a:endParaRPr>
          </a:p>
        </p:txBody>
      </p:sp>
      <p:graphicFrame>
        <p:nvGraphicFramePr>
          <p:cNvPr id="2" name="Table 1"/>
          <p:cNvGraphicFramePr/>
          <p:nvPr/>
        </p:nvGraphicFramePr>
        <p:xfrm>
          <a:off x="954158" y="987425"/>
          <a:ext cx="7100515" cy="3889375"/>
        </p:xfrm>
        <a:graphic>
          <a:graphicData uri="http://schemas.openxmlformats.org/drawingml/2006/table">
            <a:tbl>
              <a:tblPr firstRow="1" bandRow="1">
                <a:tableStyleId>{5C22544A-7EE6-4342-B048-85BDC9FD1C3A}</a:tableStyleId>
              </a:tblPr>
              <a:tblGrid>
                <a:gridCol w="2480805"/>
                <a:gridCol w="1876508"/>
                <a:gridCol w="2743202"/>
              </a:tblGrid>
              <a:tr h="476250">
                <a:tc>
                  <a:txBody>
                    <a:bodyPr/>
                    <a:lstStyle/>
                    <a:p>
                      <a:pPr algn="ctr"/>
                      <a:r>
                        <a:rPr lang="en-US" altLang="zh-CN" sz="1400" b="1">
                          <a:solidFill>
                            <a:schemeClr val="tx1"/>
                          </a:solidFill>
                          <a:latin typeface="Times New Roman" panose="02020603050405020304" charset="0"/>
                          <a:cs typeface="Times New Roman" panose="02020603050405020304" charset="0"/>
                        </a:rPr>
                        <a:t>Истраживачко питање</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a:solidFill>
                            <a:schemeClr val="tx1"/>
                          </a:solidFill>
                          <a:latin typeface="Times New Roman" panose="02020603050405020304" charset="0"/>
                          <a:cs typeface="Times New Roman" panose="02020603050405020304" charset="0"/>
                        </a:rPr>
                        <a:t>Како је испитано?</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a:solidFill>
                            <a:schemeClr val="tx1"/>
                          </a:solidFill>
                          <a:latin typeface="Times New Roman" panose="02020603050405020304" charset="0"/>
                          <a:cs typeface="Times New Roman" panose="02020603050405020304" charset="0"/>
                        </a:rPr>
                        <a:t>Шта резултати показују?</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r>
              <a:tr h="1066800">
                <a:tc>
                  <a:txBody>
                    <a:bodyPr/>
                    <a:lstStyle/>
                    <a:p>
                      <a:pPr algn="ctr"/>
                      <a:r>
                        <a:rPr lang="en-US" altLang="zh-CN" sz="1400" b="1">
                          <a:solidFill>
                            <a:schemeClr val="tx1"/>
                          </a:solidFill>
                          <a:latin typeface="Times New Roman" panose="02020603050405020304" charset="0"/>
                          <a:cs typeface="Times New Roman" panose="02020603050405020304" charset="0"/>
                        </a:rPr>
                        <a:t>Може ли се систематски изабрати добар компромис?</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a:solidFill>
                            <a:schemeClr val="tx1"/>
                          </a:solidFill>
                          <a:latin typeface="Times New Roman" panose="02020603050405020304" charset="0"/>
                          <a:cs typeface="Times New Roman" panose="02020603050405020304" charset="0"/>
                        </a:rPr>
                        <a:t>WER + RTF + RAM, </a:t>
                      </a:r>
                      <a:r>
                        <a:rPr lang="sr-Cyrl-BA" altLang="en-US" sz="1400" b="1">
                          <a:solidFill>
                            <a:schemeClr val="tx1"/>
                          </a:solidFill>
                          <a:latin typeface="Times New Roman" panose="02020603050405020304" charset="0"/>
                          <a:cs typeface="Times New Roman" panose="02020603050405020304" charset="0"/>
                        </a:rPr>
                        <a:t>Парето</a:t>
                      </a:r>
                      <a:r>
                        <a:rPr lang="en-US" altLang="zh-CN" sz="1400" b="1">
                          <a:solidFill>
                            <a:schemeClr val="tx1"/>
                          </a:solidFill>
                          <a:latin typeface="Times New Roman" panose="02020603050405020304" charset="0"/>
                          <a:cs typeface="Times New Roman" panose="02020603050405020304" charset="0"/>
                        </a:rPr>
                        <a:t> анализа и анализа осетљивости</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en-US" sz="1400" b="1">
                          <a:solidFill>
                            <a:schemeClr val="tx1"/>
                          </a:solidFill>
                          <a:latin typeface="Times New Roman" panose="02020603050405020304" charset="0"/>
                          <a:cs typeface="Times New Roman" panose="02020603050405020304" charset="0"/>
                        </a:rPr>
                        <a:t>Small INT8 заузима прво место у сва три испитана сценарија пондерисања; скор у основном сценарију износи 0,8554.</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tc>
              </a:tr>
              <a:tr h="1065530">
                <a:tc>
                  <a:txBody>
                    <a:bodyPr/>
                    <a:lstStyle/>
                    <a:p>
                      <a:pPr algn="ctr"/>
                      <a:r>
                        <a:rPr lang="en-US" altLang="en-US" sz="1400" b="1" dirty="0" err="1">
                          <a:solidFill>
                            <a:schemeClr val="tx1"/>
                          </a:solidFill>
                          <a:latin typeface="Times New Roman" panose="02020603050405020304" charset="0"/>
                          <a:cs typeface="Times New Roman" panose="02020603050405020304" charset="0"/>
                        </a:rPr>
                        <a:t>Да</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ли</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изабрани</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параметри</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успешно</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функционишу</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као</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јединствена</a:t>
                      </a:r>
                      <a:r>
                        <a:rPr lang="en-US" altLang="en-US" sz="1400" b="1" dirty="0">
                          <a:solidFill>
                            <a:schemeClr val="tx1"/>
                          </a:solidFill>
                          <a:latin typeface="Times New Roman" panose="02020603050405020304" charset="0"/>
                          <a:cs typeface="Times New Roman" panose="02020603050405020304" charset="0"/>
                        </a:rPr>
                        <a:t> </a:t>
                      </a:r>
                      <a:r>
                        <a:rPr lang="en-US" altLang="en-US" sz="1400" b="1" dirty="0" err="1">
                          <a:solidFill>
                            <a:schemeClr val="tx1"/>
                          </a:solidFill>
                          <a:latin typeface="Times New Roman" panose="02020603050405020304" charset="0"/>
                          <a:cs typeface="Times New Roman" panose="02020603050405020304" charset="0"/>
                        </a:rPr>
                        <a:t>конфигурација</a:t>
                      </a:r>
                      <a:r>
                        <a:rPr lang="en-US" altLang="en-US" sz="1400" b="1" dirty="0">
                          <a:solidFill>
                            <a:schemeClr val="tx1"/>
                          </a:solidFill>
                          <a:latin typeface="Times New Roman" panose="02020603050405020304" charset="0"/>
                          <a:cs typeface="Times New Roman" panose="02020603050405020304" charset="0"/>
                        </a:rPr>
                        <a:t>?</a:t>
                      </a:r>
                      <a:endParaRPr lang="en-US" altLang="en-US" sz="1400" b="1" dirty="0">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en-US" sz="1400" b="1">
                          <a:solidFill>
                            <a:schemeClr val="tx1"/>
                          </a:solidFill>
                          <a:latin typeface="Times New Roman" panose="02020603050405020304" charset="0"/>
                          <a:cs typeface="Times New Roman" panose="02020603050405020304" charset="0"/>
                        </a:rPr>
                        <a:t>Small INT8 + beam size=5 + VAD укључен + сегменти од 10 s; завршна провера на 20 снимака</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en-US" sz="1400" b="1">
                          <a:solidFill>
                            <a:schemeClr val="tx1"/>
                          </a:solidFill>
                          <a:latin typeface="Times New Roman" panose="02020603050405020304" charset="0"/>
                          <a:cs typeface="Times New Roman" panose="02020603050405020304" charset="0"/>
                        </a:rPr>
                        <a:t>Просеч</a:t>
                      </a:r>
                      <a:r>
                        <a:rPr lang="sr-Cyrl-BA" altLang="en-US" sz="1400" b="1">
                          <a:solidFill>
                            <a:schemeClr val="tx1"/>
                          </a:solidFill>
                          <a:latin typeface="Times New Roman" panose="02020603050405020304" charset="0"/>
                          <a:cs typeface="Times New Roman" panose="02020603050405020304" charset="0"/>
                        </a:rPr>
                        <a:t>на вредност</a:t>
                      </a:r>
                      <a:r>
                        <a:rPr lang="en-US" altLang="en-US" sz="1400" b="1">
                          <a:solidFill>
                            <a:schemeClr val="tx1"/>
                          </a:solidFill>
                          <a:latin typeface="Times New Roman" panose="02020603050405020304" charset="0"/>
                          <a:cs typeface="Times New Roman" panose="02020603050405020304" charset="0"/>
                        </a:rPr>
                        <a:t> WER</a:t>
                      </a:r>
                      <a:r>
                        <a:rPr lang="sr-Cyrl-BA" altLang="en-US" sz="1400" b="1">
                          <a:solidFill>
                            <a:schemeClr val="tx1"/>
                          </a:solidFill>
                          <a:latin typeface="Times New Roman" panose="02020603050405020304" charset="0"/>
                          <a:cs typeface="Times New Roman" panose="02020603050405020304" charset="0"/>
                        </a:rPr>
                        <a:t>-а</a:t>
                      </a:r>
                      <a:r>
                        <a:rPr lang="en-US" altLang="en-US" sz="1400" b="1">
                          <a:solidFill>
                            <a:schemeClr val="tx1"/>
                          </a:solidFill>
                          <a:latin typeface="Times New Roman" panose="02020603050405020304" charset="0"/>
                          <a:cs typeface="Times New Roman" panose="02020603050405020304" charset="0"/>
                        </a:rPr>
                        <a:t> 23,44%, </a:t>
                      </a:r>
                      <a:r>
                        <a:rPr lang="sr-Cyrl-BA" altLang="en-US" sz="1400" b="1">
                          <a:solidFill>
                            <a:schemeClr val="tx1"/>
                          </a:solidFill>
                          <a:latin typeface="Times New Roman" panose="02020603050405020304" charset="0"/>
                          <a:cs typeface="Times New Roman" panose="02020603050405020304" charset="0"/>
                        </a:rPr>
                        <a:t>вредност </a:t>
                      </a:r>
                      <a:r>
                        <a:rPr lang="en-US" altLang="en-US" sz="1400" b="1">
                          <a:solidFill>
                            <a:schemeClr val="tx1"/>
                          </a:solidFill>
                          <a:latin typeface="Times New Roman" panose="02020603050405020304" charset="0"/>
                          <a:cs typeface="Times New Roman" panose="02020603050405020304" charset="0"/>
                        </a:rPr>
                        <a:t>WER</a:t>
                      </a:r>
                      <a:r>
                        <a:rPr lang="sr-Cyrl-BA" altLang="en-US" sz="1400" b="1">
                          <a:solidFill>
                            <a:schemeClr val="tx1"/>
                          </a:solidFill>
                          <a:latin typeface="Times New Roman" panose="02020603050405020304" charset="0"/>
                          <a:cs typeface="Times New Roman" panose="02020603050405020304" charset="0"/>
                        </a:rPr>
                        <a:t>-а</a:t>
                      </a:r>
                      <a:r>
                        <a:rPr lang="en-US" altLang="en-US" sz="1400" b="1">
                          <a:solidFill>
                            <a:schemeClr val="tx1"/>
                          </a:solidFill>
                          <a:latin typeface="Times New Roman" panose="02020603050405020304" charset="0"/>
                          <a:cs typeface="Times New Roman" panose="02020603050405020304" charset="0"/>
                        </a:rPr>
                        <a:t> на нивоу корпуса 25,27% и просеч</a:t>
                      </a:r>
                      <a:r>
                        <a:rPr lang="sr-Cyrl-BA" altLang="en-US" sz="1400" b="1">
                          <a:solidFill>
                            <a:schemeClr val="tx1"/>
                          </a:solidFill>
                          <a:latin typeface="Times New Roman" panose="02020603050405020304" charset="0"/>
                          <a:cs typeface="Times New Roman" panose="02020603050405020304" charset="0"/>
                        </a:rPr>
                        <a:t>на вредност</a:t>
                      </a:r>
                      <a:r>
                        <a:rPr lang="en-US" altLang="en-US" sz="1400" b="1">
                          <a:solidFill>
                            <a:schemeClr val="tx1"/>
                          </a:solidFill>
                          <a:latin typeface="Times New Roman" panose="02020603050405020304" charset="0"/>
                          <a:cs typeface="Times New Roman" panose="02020603050405020304" charset="0"/>
                        </a:rPr>
                        <a:t> RTF</a:t>
                      </a:r>
                      <a:r>
                        <a:rPr lang="sr-Cyrl-BA" altLang="en-US" sz="1400" b="1">
                          <a:solidFill>
                            <a:schemeClr val="tx1"/>
                          </a:solidFill>
                          <a:latin typeface="Times New Roman" panose="02020603050405020304" charset="0"/>
                          <a:cs typeface="Times New Roman" panose="02020603050405020304" charset="0"/>
                        </a:rPr>
                        <a:t>-а</a:t>
                      </a:r>
                      <a:r>
                        <a:rPr lang="en-US" altLang="en-US" sz="1400" b="1">
                          <a:solidFill>
                            <a:schemeClr val="tx1"/>
                          </a:solidFill>
                          <a:latin typeface="Times New Roman" panose="02020603050405020304" charset="0"/>
                          <a:cs typeface="Times New Roman" panose="02020603050405020304" charset="0"/>
                        </a:rPr>
                        <a:t> 0,4994; свих 20 снимака обрађено је брже од њиховог трајања.</a:t>
                      </a:r>
                      <a:endParaRPr lang="en-US" altLang="en-US" sz="1400" b="1">
                        <a:solidFill>
                          <a:schemeClr val="tx1"/>
                        </a:solidFill>
                        <a:latin typeface="Times New Roman" panose="02020603050405020304" charset="0"/>
                        <a:cs typeface="Times New Roman" panose="02020603050405020304" charset="0"/>
                      </a:endParaRPr>
                    </a:p>
                  </a:txBody>
                  <a:tcPr marL="0" marR="0" marT="0" marB="0" anchor="ctr"/>
                </a:tc>
              </a:tr>
              <a:tr h="1066165">
                <a:tc>
                  <a:txBody>
                    <a:bodyPr/>
                    <a:lstStyle/>
                    <a:p>
                      <a:pPr algn="ctr"/>
                      <a:r>
                        <a:rPr lang="en-US" altLang="zh-CN" sz="1400" b="1">
                          <a:solidFill>
                            <a:schemeClr val="tx1"/>
                          </a:solidFill>
                          <a:latin typeface="Times New Roman" panose="02020603050405020304" charset="0"/>
                          <a:cs typeface="Times New Roman" panose="02020603050405020304" charset="0"/>
                        </a:rPr>
                        <a:t>Какав је ефекат доменске адаптације?</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a:solidFill>
                            <a:schemeClr val="tx1"/>
                          </a:solidFill>
                          <a:latin typeface="Times New Roman" panose="02020603050405020304" charset="0"/>
                          <a:cs typeface="Times New Roman" panose="02020603050405020304" charset="0"/>
                        </a:rPr>
                        <a:t>Fine-tuning на пољопривредном скупу и тестирање на новом говорнику*</a:t>
                      </a:r>
                      <a:endParaRPr lang="en-US" altLang="zh-CN" sz="1400" b="1">
                        <a:solidFill>
                          <a:schemeClr val="tx1"/>
                        </a:solidFill>
                        <a:latin typeface="Times New Roman" panose="02020603050405020304" charset="0"/>
                        <a:cs typeface="Times New Roman" panose="02020603050405020304" charset="0"/>
                      </a:endParaRPr>
                    </a:p>
                  </a:txBody>
                  <a:tcPr marL="0" marR="0" marT="0" marB="0" anchor="ctr"/>
                </a:tc>
                <a:tc>
                  <a:txBody>
                    <a:bodyPr/>
                    <a:lstStyle/>
                    <a:p>
                      <a:pPr algn="ctr"/>
                      <a:r>
                        <a:rPr lang="en-US" altLang="zh-CN" sz="1400" b="1" dirty="0">
                          <a:solidFill>
                            <a:schemeClr val="tx1"/>
                          </a:solidFill>
                          <a:latin typeface="Times New Roman" panose="02020603050405020304" charset="0"/>
                          <a:cs typeface="Times New Roman" panose="02020603050405020304" charset="0"/>
                        </a:rPr>
                        <a:t>[</a:t>
                      </a:r>
                      <a:r>
                        <a:rPr lang="en-US" altLang="zh-CN" sz="1400" b="1" dirty="0" err="1">
                          <a:solidFill>
                            <a:schemeClr val="tx1"/>
                          </a:solidFill>
                          <a:latin typeface="Times New Roman" panose="02020603050405020304" charset="0"/>
                          <a:cs typeface="Times New Roman" panose="02020603050405020304" charset="0"/>
                        </a:rPr>
                        <a:t>Резултат</a:t>
                      </a:r>
                      <a:r>
                        <a:rPr lang="en-US" altLang="zh-CN" sz="1400" b="1" dirty="0">
                          <a:solidFill>
                            <a:schemeClr val="tx1"/>
                          </a:solidFill>
                          <a:latin typeface="Times New Roman" panose="02020603050405020304" charset="0"/>
                          <a:cs typeface="Times New Roman" panose="02020603050405020304" charset="0"/>
                        </a:rPr>
                        <a:t> </a:t>
                      </a:r>
                      <a:r>
                        <a:rPr lang="en-US" altLang="zh-CN" sz="1400" b="1" dirty="0" err="1">
                          <a:solidFill>
                            <a:schemeClr val="tx1"/>
                          </a:solidFill>
                          <a:latin typeface="Times New Roman" panose="02020603050405020304" charset="0"/>
                          <a:cs typeface="Times New Roman" panose="02020603050405020304" charset="0"/>
                        </a:rPr>
                        <a:t>након</a:t>
                      </a:r>
                      <a:r>
                        <a:rPr lang="en-US" altLang="zh-CN" sz="1400" b="1" dirty="0">
                          <a:solidFill>
                            <a:schemeClr val="tx1"/>
                          </a:solidFill>
                          <a:latin typeface="Times New Roman" panose="02020603050405020304" charset="0"/>
                          <a:cs typeface="Times New Roman" panose="02020603050405020304" charset="0"/>
                        </a:rPr>
                        <a:t> fine-tuning</a:t>
                      </a:r>
                      <a:r>
                        <a:rPr lang="sr-Cyrl-BA" altLang="en-US" sz="1400" b="1" dirty="0">
                          <a:solidFill>
                            <a:schemeClr val="tx1"/>
                          </a:solidFill>
                          <a:latin typeface="Times New Roman" panose="02020603050405020304" charset="0"/>
                          <a:cs typeface="Times New Roman" panose="02020603050405020304" charset="0"/>
                        </a:rPr>
                        <a:t>-а</a:t>
                      </a:r>
                      <a:r>
                        <a:rPr lang="en-US" altLang="zh-CN" sz="1400" b="1" dirty="0">
                          <a:solidFill>
                            <a:schemeClr val="tx1"/>
                          </a:solidFill>
                          <a:latin typeface="Times New Roman" panose="02020603050405020304" charset="0"/>
                          <a:cs typeface="Times New Roman" panose="02020603050405020304" charset="0"/>
                        </a:rPr>
                        <a:t>]</a:t>
                      </a:r>
                      <a:endParaRPr lang="en-US" altLang="zh-CN" sz="1400" b="1" dirty="0">
                        <a:solidFill>
                          <a:schemeClr val="tx1"/>
                        </a:solidFill>
                        <a:latin typeface="Times New Roman" panose="02020603050405020304" charset="0"/>
                        <a:cs typeface="Times New Roman" panose="02020603050405020304" charset="0"/>
                      </a:endParaRPr>
                    </a:p>
                  </a:txBody>
                  <a:tcPr marL="0" marR="0" marT="0" marB="0" anchor="ct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59790" y="1116330"/>
            <a:ext cx="3584575" cy="3857625"/>
          </a:xfrm>
          <a:gradFill>
            <a:gsLst>
              <a:gs pos="50000">
                <a:schemeClr val="accent3"/>
              </a:gs>
              <a:gs pos="0">
                <a:schemeClr val="accent3">
                  <a:lumMod val="25000"/>
                  <a:lumOff val="75000"/>
                </a:schemeClr>
              </a:gs>
              <a:gs pos="100000">
                <a:schemeClr val="accent3">
                  <a:lumMod val="85000"/>
                </a:schemeClr>
              </a:gs>
            </a:gsLst>
            <a:lin ang="5400000" scaled="1"/>
          </a:gradFill>
        </p:spPr>
        <p:txBody>
          <a:bodyPr/>
          <a:lstStyle/>
          <a:p>
            <a:pPr marL="139700" indent="0" algn="l">
              <a:buNone/>
            </a:pPr>
            <a:r>
              <a:rPr lang="en-US" altLang="en-US" sz="1600" b="1">
                <a:latin typeface="Times New Roman" panose="02020603050405020304" charset="0"/>
                <a:cs typeface="Times New Roman" panose="02020603050405020304" charset="0"/>
              </a:rPr>
              <a:t>Шта је испитано?</a:t>
            </a:r>
            <a:endParaRPr lang="en-US" altLang="en-US" sz="1600" b="1">
              <a:latin typeface="Times New Roman" panose="02020603050405020304" charset="0"/>
              <a:cs typeface="Times New Roman" panose="02020603050405020304" charset="0"/>
            </a:endParaRPr>
          </a:p>
          <a:p>
            <a:pPr marL="139700" indent="0" algn="l">
              <a:buNone/>
            </a:pPr>
            <a:endParaRPr lang="en-US" altLang="en-US" sz="1600" b="1">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Тачност, брзина и меморија</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Величина модела и INT8</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Параметар beam size, VAD и шум</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Симулација обраде у реалном времену</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Вишекритеријумски избор</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Доменска адаптација</a:t>
            </a:r>
            <a:endParaRPr lang="en-US" altLang="en-US" sz="160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Дискусија и ограничења истраживања</a:t>
            </a:r>
            <a:endParaRPr lang="en-US" altLang="en-US">
              <a:latin typeface="Times New Roman" panose="02020603050405020304" charset="0"/>
              <a:cs typeface="Times New Roman" panose="02020603050405020304" charset="0"/>
            </a:endParaRPr>
          </a:p>
        </p:txBody>
      </p:sp>
      <p:sp>
        <p:nvSpPr>
          <p:cNvPr id="2" name="Text Placeholder 3"/>
          <p:cNvSpPr/>
          <p:nvPr/>
        </p:nvSpPr>
        <p:spPr>
          <a:xfrm>
            <a:off x="4572000" y="1059815"/>
            <a:ext cx="3728720" cy="3858260"/>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1"/>
              </a:buClr>
              <a:buSzPts val="1400"/>
              <a:buFont typeface="Arial" panose="020B0604020202020204"/>
              <a:buChar char="●"/>
              <a:defRPr sz="12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a:pPr marL="139700" indent="0" algn="l">
              <a:buNone/>
            </a:pPr>
            <a:r>
              <a:rPr lang="en-US" altLang="en-US" sz="1600" b="1">
                <a:latin typeface="Times New Roman" panose="02020603050405020304" charset="0"/>
                <a:cs typeface="Times New Roman" panose="02020603050405020304" charset="0"/>
              </a:rPr>
              <a:t>Главна ограничења</a:t>
            </a:r>
            <a:endParaRPr lang="en-US" altLang="en-US" sz="1600" b="1">
              <a:latin typeface="Times New Roman" panose="02020603050405020304" charset="0"/>
              <a:cs typeface="Times New Roman" panose="02020603050405020304" charset="0"/>
            </a:endParaRPr>
          </a:p>
          <a:p>
            <a:pPr marL="139700" indent="0" algn="l">
              <a:buNone/>
            </a:pPr>
            <a:endParaRPr lang="en-US" altLang="en-US" sz="1600" b="1">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Ограничена величина тест скупова</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Експерименти спроведени у CPU окружењу</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RSS зависи од конкретног хардверског и софтверског окружења</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Симулација обраде у реалном времену користи независне сегменте без преноса контекста</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Завршна </a:t>
            </a:r>
            <a:r>
              <a:rPr lang="sr-Cyrl-BA" altLang="en-US" sz="1600">
                <a:latin typeface="Times New Roman" panose="02020603050405020304" charset="0"/>
                <a:cs typeface="Times New Roman" panose="02020603050405020304" charset="0"/>
              </a:rPr>
              <a:t>провера </a:t>
            </a:r>
            <a:r>
              <a:rPr lang="en-US" altLang="en-US" sz="1600">
                <a:latin typeface="Times New Roman" panose="02020603050405020304" charset="0"/>
                <a:cs typeface="Times New Roman" panose="02020603050405020304" charset="0"/>
              </a:rPr>
              <a:t>извршена на</a:t>
            </a:r>
            <a:r>
              <a:rPr lang="sr-Cyrl-BA" altLang="en-US" sz="1600">
                <a:latin typeface="Times New Roman" panose="02020603050405020304" charset="0"/>
                <a:cs typeface="Times New Roman" panose="02020603050405020304" charset="0"/>
              </a:rPr>
              <a:t> подскупу</a:t>
            </a:r>
            <a:r>
              <a:rPr lang="en-US" altLang="en-US" sz="1600">
                <a:latin typeface="Times New Roman" panose="02020603050405020304" charset="0"/>
                <a:cs typeface="Times New Roman" panose="02020603050405020304" charset="0"/>
              </a:rPr>
              <a:t> 20 снимака из главног скупа од 40</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Ограничења доменске адаптације</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250950" y="987425"/>
            <a:ext cx="6699885" cy="3644265"/>
          </a:xfrm>
          <a:gradFill>
            <a:gsLst>
              <a:gs pos="50000">
                <a:schemeClr val="accent3"/>
              </a:gs>
              <a:gs pos="0">
                <a:schemeClr val="accent3">
                  <a:lumMod val="25000"/>
                  <a:lumOff val="75000"/>
                </a:schemeClr>
              </a:gs>
              <a:gs pos="100000">
                <a:schemeClr val="accent3">
                  <a:lumMod val="85000"/>
                </a:schemeClr>
              </a:gs>
            </a:gsLst>
            <a:lin ang="5400000" scaled="1"/>
          </a:gradFill>
        </p:spPr>
        <p:txBody>
          <a:bodyPr/>
          <a:lstStyle/>
          <a:p>
            <a:pPr algn="l">
              <a:buNone/>
            </a:pPr>
            <a:r>
              <a:rPr lang="en-US" altLang="en-US" sz="1600" b="1">
                <a:latin typeface="Times New Roman" panose="02020603050405020304" charset="0"/>
                <a:cs typeface="Times New Roman" panose="02020603050405020304" charset="0"/>
              </a:rPr>
              <a:t>Главни закључци</a:t>
            </a:r>
            <a:endParaRPr lang="en-US" altLang="en-US" sz="1600" b="1">
              <a:latin typeface="Times New Roman" panose="02020603050405020304" charset="0"/>
              <a:cs typeface="Times New Roman" panose="02020603050405020304" charset="0"/>
            </a:endParaRPr>
          </a:p>
          <a:p>
            <a:pPr algn="l">
              <a:buNone/>
            </a:pPr>
            <a:endParaRPr lang="en-US" altLang="en-US" sz="1600" b="1">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Faster-Whisper је у контролисаном поређењу знатно бржи и меморијски ефикаснији од оригиналног Whisper-а.</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Whisper FP32 и Faster-Whisper FP32 остварили су исти просечан WER од 42,95%.</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Испитан је утицај величине модела, INT8 квантизације, параметра beam size, VAD-а, шума и величине сегмента</a:t>
            </a:r>
            <a:r>
              <a:rPr lang="sr-Cyrl-BA" altLang="en-US" sz="1600">
                <a:latin typeface="Times New Roman" panose="02020603050405020304" charset="0"/>
                <a:cs typeface="Times New Roman" panose="02020603050405020304" charset="0"/>
              </a:rPr>
              <a:t> на метрике</a:t>
            </a:r>
            <a:r>
              <a:rPr lang="en-US" altLang="en-US" sz="1600">
                <a:latin typeface="Times New Roman" panose="02020603050405020304" charset="0"/>
                <a:cs typeface="Times New Roman" panose="02020603050405020304" charset="0"/>
              </a:rPr>
              <a:t>.</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Small INT8 изабран је као најповољнији компромис у дефинисаном вишекритеријумском поступку.</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Завршни профил Small INT8 · beam size=5 · VAD укључен · сегмент 10 s је проверен на 20 снимака.</a:t>
            </a:r>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Доменска адаптација: [након завршне евалуације].</a:t>
            </a:r>
            <a:endParaRPr lang="en-US" altLang="en-US" sz="1600">
              <a:latin typeface="Times New Roman" panose="02020603050405020304" charset="0"/>
              <a:cs typeface="Times New Roman" panose="02020603050405020304" charset="0"/>
            </a:endParaRPr>
          </a:p>
        </p:txBody>
      </p:sp>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Закључак и правци будућег рада</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53465" y="338455"/>
            <a:ext cx="7033260" cy="575945"/>
          </a:xfrm>
        </p:spPr>
        <p:txBody>
          <a:bodyPr/>
          <a:lstStyle/>
          <a:p>
            <a:r>
              <a:rPr lang="en-US" altLang="en-US">
                <a:latin typeface="Times New Roman" panose="02020603050405020304" charset="0"/>
                <a:cs typeface="Times New Roman" panose="02020603050405020304" charset="0"/>
              </a:rPr>
              <a:t>Закључак и правци будућег рада</a:t>
            </a:r>
            <a:endParaRPr lang="en-US" altLang="en-US">
              <a:latin typeface="Times New Roman" panose="02020603050405020304" charset="0"/>
              <a:cs typeface="Times New Roman" panose="02020603050405020304" charset="0"/>
            </a:endParaRPr>
          </a:p>
        </p:txBody>
      </p:sp>
      <p:sp>
        <p:nvSpPr>
          <p:cNvPr id="3" name="Text Placeholder 3"/>
          <p:cNvSpPr/>
          <p:nvPr/>
        </p:nvSpPr>
        <p:spPr>
          <a:xfrm>
            <a:off x="1763395" y="1275715"/>
            <a:ext cx="5821680" cy="2709545"/>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1"/>
              </a:buClr>
              <a:buSzPts val="1400"/>
              <a:buFont typeface="Arial" panose="020B0604020202020204"/>
              <a:buChar char="●"/>
              <a:defRPr sz="12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400" b="0" i="0" u="none" strike="noStrike" cap="none">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a:pPr algn="l">
              <a:buNone/>
            </a:pPr>
            <a:r>
              <a:rPr lang="en-US" altLang="en-US" sz="1600" b="1" dirty="0" err="1">
                <a:latin typeface="Times New Roman" panose="02020603050405020304" charset="0"/>
                <a:cs typeface="Times New Roman" panose="02020603050405020304" charset="0"/>
              </a:rPr>
              <a:t>Будући</a:t>
            </a:r>
            <a:r>
              <a:rPr lang="en-US" altLang="en-US" sz="1600" b="1" dirty="0">
                <a:latin typeface="Times New Roman" panose="02020603050405020304" charset="0"/>
                <a:cs typeface="Times New Roman" panose="02020603050405020304" charset="0"/>
              </a:rPr>
              <a:t> </a:t>
            </a:r>
            <a:r>
              <a:rPr lang="en-US" altLang="en-US" sz="1600" b="1" dirty="0" err="1">
                <a:latin typeface="Times New Roman" panose="02020603050405020304" charset="0"/>
                <a:cs typeface="Times New Roman" panose="02020603050405020304" charset="0"/>
              </a:rPr>
              <a:t>рад</a:t>
            </a:r>
            <a:endParaRPr lang="en-US" altLang="en-US" sz="1600" b="1" dirty="0">
              <a:latin typeface="Times New Roman" panose="02020603050405020304" charset="0"/>
              <a:cs typeface="Times New Roman" panose="02020603050405020304" charset="0"/>
            </a:endParaRPr>
          </a:p>
          <a:p>
            <a:pPr algn="l"/>
            <a:endParaRPr lang="en-US" altLang="en-US" sz="1600" dirty="0">
              <a:latin typeface="Times New Roman" panose="02020603050405020304" charset="0"/>
              <a:cs typeface="Times New Roman" panose="02020603050405020304" charset="0"/>
            </a:endParaRPr>
          </a:p>
          <a:p>
            <a:pPr algn="l"/>
            <a:r>
              <a:rPr lang="en-US" altLang="en-US" sz="1600" dirty="0" err="1">
                <a:latin typeface="Times New Roman" panose="02020603050405020304" charset="0"/>
                <a:cs typeface="Times New Roman" panose="02020603050405020304" charset="0"/>
              </a:rPr>
              <a:t>Већи</a:t>
            </a:r>
            <a:r>
              <a:rPr lang="en-US" altLang="en-US" sz="1600" dirty="0">
                <a:latin typeface="Times New Roman" panose="02020603050405020304" charset="0"/>
                <a:cs typeface="Times New Roman" panose="02020603050405020304" charset="0"/>
              </a:rPr>
              <a:t> и </a:t>
            </a:r>
            <a:r>
              <a:rPr lang="en-US" altLang="en-US" sz="1600" dirty="0" err="1">
                <a:latin typeface="Times New Roman" panose="02020603050405020304" charset="0"/>
                <a:cs typeface="Times New Roman" panose="02020603050405020304" charset="0"/>
              </a:rPr>
              <a:t>разноврснији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српски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говорни</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скупови</a:t>
            </a:r>
            <a:endParaRPr lang="en-US" altLang="en-US" sz="1600" dirty="0">
              <a:latin typeface="Times New Roman" panose="02020603050405020304" charset="0"/>
              <a:cs typeface="Times New Roman" panose="02020603050405020304" charset="0"/>
            </a:endParaRPr>
          </a:p>
          <a:p>
            <a:pPr algn="l"/>
            <a:r>
              <a:rPr lang="en-US" altLang="en-US" sz="1600" dirty="0" err="1">
                <a:latin typeface="Times New Roman" panose="02020603050405020304" charset="0"/>
                <a:cs typeface="Times New Roman" panose="02020603050405020304" charset="0"/>
              </a:rPr>
              <a:t>Провера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интегрисаног</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профила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на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већем</a:t>
            </a:r>
            <a:r>
              <a:rPr lang="en-US" altLang="en-US" sz="1600" dirty="0">
                <a:latin typeface="Times New Roman" panose="02020603050405020304" charset="0"/>
                <a:cs typeface="Times New Roman" panose="02020603050405020304" charset="0"/>
              </a:rPr>
              <a:t> и </a:t>
            </a:r>
            <a:r>
              <a:rPr lang="en-US" altLang="en-US" sz="1600" dirty="0" err="1">
                <a:latin typeface="Times New Roman" panose="02020603050405020304" charset="0"/>
                <a:cs typeface="Times New Roman" panose="02020603050405020304" charset="0"/>
              </a:rPr>
              <a:t>независном</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скупу</a:t>
            </a:r>
            <a:r>
              <a:rPr lang="en-US" altLang="en-US" sz="1600" dirty="0">
                <a:latin typeface="Times New Roman" panose="02020603050405020304" charset="0"/>
                <a:cs typeface="Times New Roman" panose="02020603050405020304" charset="0"/>
              </a:rPr>
              <a:t> и </a:t>
            </a:r>
            <a:r>
              <a:rPr lang="en-US" altLang="en-US" sz="1600" dirty="0" err="1">
                <a:latin typeface="Times New Roman" panose="02020603050405020304" charset="0"/>
                <a:cs typeface="Times New Roman" panose="02020603050405020304" charset="0"/>
              </a:rPr>
              <a:t>другом</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хардверу</a:t>
            </a:r>
            <a:endParaRPr lang="en-US" altLang="en-US" sz="1600" dirty="0">
              <a:latin typeface="Times New Roman" panose="02020603050405020304" charset="0"/>
              <a:cs typeface="Times New Roman" panose="02020603050405020304" charset="0"/>
            </a:endParaRPr>
          </a:p>
          <a:p>
            <a:pPr algn="l"/>
            <a:r>
              <a:rPr lang="en-US" altLang="en-US" sz="1600" dirty="0" err="1">
                <a:latin typeface="Times New Roman" panose="02020603050405020304" charset="0"/>
                <a:cs typeface="Times New Roman" panose="02020603050405020304" charset="0"/>
              </a:rPr>
              <a:t>Обрада</a:t>
            </a:r>
            <a:r>
              <a:rPr lang="en-US" altLang="en-US" sz="1600" dirty="0">
                <a:latin typeface="Times New Roman" panose="02020603050405020304" charset="0"/>
                <a:cs typeface="Times New Roman" panose="02020603050405020304" charset="0"/>
              </a:rPr>
              <a:t> у </a:t>
            </a:r>
            <a:r>
              <a:rPr lang="en-US" altLang="en-US" sz="1600" dirty="0" err="1">
                <a:latin typeface="Times New Roman" panose="02020603050405020304" charset="0"/>
                <a:cs typeface="Times New Roman" panose="02020603050405020304" charset="0"/>
              </a:rPr>
              <a:t>реалном</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времену</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преклапањем</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сегмената</a:t>
            </a:r>
            <a:r>
              <a:rPr lang="en-US" altLang="en-US" sz="1600" dirty="0">
                <a:latin typeface="Times New Roman" panose="02020603050405020304" charset="0"/>
                <a:cs typeface="Times New Roman" panose="02020603050405020304" charset="0"/>
              </a:rPr>
              <a:t> и </a:t>
            </a:r>
            <a:r>
              <a:rPr lang="en-US" altLang="en-US" sz="1600" dirty="0" err="1">
                <a:latin typeface="Times New Roman" panose="02020603050405020304" charset="0"/>
                <a:cs typeface="Times New Roman" panose="02020603050405020304" charset="0"/>
              </a:rPr>
              <a:t>преносом</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контекста</a:t>
            </a:r>
            <a:endParaRPr lang="en-US" altLang="en-US" sz="1600" dirty="0">
              <a:latin typeface="Times New Roman" panose="02020603050405020304" charset="0"/>
              <a:cs typeface="Times New Roman" panose="02020603050405020304" charset="0"/>
            </a:endParaRPr>
          </a:p>
          <a:p>
            <a:pPr algn="l"/>
            <a:r>
              <a:rPr lang="en-US" altLang="en-US" sz="1600" dirty="0" err="1">
                <a:latin typeface="Times New Roman" panose="02020603050405020304" charset="0"/>
                <a:cs typeface="Times New Roman" panose="02020603050405020304" charset="0"/>
              </a:rPr>
              <a:t>Поређење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на</a:t>
            </a:r>
            <a:r>
              <a:rPr lang="en-US" altLang="en-US" sz="1600" dirty="0">
                <a:latin typeface="Times New Roman" panose="02020603050405020304" charset="0"/>
                <a:cs typeface="Times New Roman" panose="02020603050405020304" charset="0"/>
              </a:rPr>
              <a:t> GPU-у и </a:t>
            </a:r>
            <a:r>
              <a:rPr lang="en-US" altLang="en-US" sz="1600" dirty="0" err="1">
                <a:latin typeface="Times New Roman" panose="02020603050405020304" charset="0"/>
                <a:cs typeface="Times New Roman" panose="02020603050405020304" charset="0"/>
              </a:rPr>
              <a:t>додатна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анализа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меморијске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ефикасности</a:t>
            </a:r>
            <a:endParaRPr lang="en-US" altLang="en-US" sz="1600" dirty="0">
              <a:latin typeface="Times New Roman" panose="02020603050405020304" charset="0"/>
              <a:cs typeface="Times New Roman" panose="02020603050405020304" charset="0"/>
            </a:endParaRPr>
          </a:p>
          <a:p>
            <a:pPr algn="l"/>
            <a:r>
              <a:rPr lang="en-US" altLang="en-US" sz="1600" dirty="0" err="1">
                <a:latin typeface="Times New Roman" panose="02020603050405020304" charset="0"/>
                <a:cs typeface="Times New Roman" panose="02020603050405020304" charset="0"/>
              </a:rPr>
              <a:t>Проширење</a:t>
            </a:r>
            <a:r>
              <a:rPr lang="en-US" altLang="en-US" sz="1600" dirty="0">
                <a:latin typeface="Times New Roman" panose="02020603050405020304" charset="0"/>
                <a:cs typeface="Times New Roman" panose="02020603050405020304" charset="0"/>
              </a:rPr>
              <a:t> и </a:t>
            </a:r>
            <a:r>
              <a:rPr lang="en-US" altLang="en-US" sz="1600" dirty="0" err="1">
                <a:latin typeface="Times New Roman" panose="02020603050405020304" charset="0"/>
                <a:cs typeface="Times New Roman" panose="02020603050405020304" charset="0"/>
              </a:rPr>
              <a:t>евалуација</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доменске</a:t>
            </a:r>
            <a:r>
              <a:rPr lang="en-US" altLang="en-US" sz="1600" dirty="0">
                <a:latin typeface="Times New Roman" panose="02020603050405020304" charset="0"/>
                <a:cs typeface="Times New Roman" panose="02020603050405020304" charset="0"/>
              </a:rPr>
              <a:t> </a:t>
            </a:r>
            <a:r>
              <a:rPr lang="en-US" altLang="en-US" sz="1600" dirty="0" err="1">
                <a:latin typeface="Times New Roman" panose="02020603050405020304" charset="0"/>
                <a:cs typeface="Times New Roman" panose="02020603050405020304" charset="0"/>
              </a:rPr>
              <a:t>адаптације</a:t>
            </a:r>
            <a:endParaRPr lang="en-US" altLang="en-US" sz="1600" dirty="0">
              <a:latin typeface="Times New Roman" panose="02020603050405020304" charset="0"/>
              <a:cs typeface="Times New Roman"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5" name="Google Shape;3515;p62"/>
          <p:cNvSpPr txBox="1"/>
          <p:nvPr/>
        </p:nvSpPr>
        <p:spPr>
          <a:xfrm>
            <a:off x="2098695" y="786892"/>
            <a:ext cx="4947000" cy="585300"/>
          </a:xfrm>
          <a:prstGeom prst="rect">
            <a:avLst/>
          </a:prstGeom>
          <a:noFill/>
          <a:ln>
            <a:noFill/>
          </a:ln>
        </p:spPr>
        <p:txBody>
          <a:bodyPr wrap="square" lIns="91425" tIns="91425" rIns="91425" bIns="91425" anchor="ctr" anchorCtr="0">
            <a:noAutofit/>
            <a:scene3d>
              <a:camera prst="orthographicFront"/>
              <a:lightRig rig="threePt" dir="t"/>
            </a:scene3d>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pPr marL="0" lvl="0" indent="0" algn="ctr" rtl="0">
              <a:spcBef>
                <a:spcPts val="0"/>
              </a:spcBef>
              <a:spcAft>
                <a:spcPts val="0"/>
              </a:spcAft>
              <a:buNone/>
            </a:pPr>
            <a:r>
              <a:rPr lang="en-US" altLang="en-US" sz="320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Хвала на пажњи!</a:t>
            </a:r>
            <a:endParaRPr lang="en-US" altLang="en-US" sz="320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7" name="Google Shape;3515;p62"/>
          <p:cNvSpPr txBox="1"/>
          <p:nvPr/>
        </p:nvSpPr>
        <p:spPr>
          <a:xfrm>
            <a:off x="160020" y="3840480"/>
            <a:ext cx="8824595" cy="58547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pPr marL="0" lvl="0" algn="ctr" rtl="0">
              <a:spcBef>
                <a:spcPts val="0"/>
              </a:spcBef>
              <a:spcAft>
                <a:spcPts val="0"/>
              </a:spcAft>
              <a:buNone/>
            </a:pPr>
            <a:r>
              <a:rPr lang="en-US" altLang="en-US" sz="200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Александар Јовановић</a:t>
            </a:r>
            <a:r>
              <a:rPr lang="sr-Cyrl-BA" altLang="en-US" sz="200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 2120</a:t>
            </a:r>
            <a:endParaRPr lang="en-US" altLang="en-US" sz="200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a:p>
            <a:pPr marL="0" lvl="0" algn="ctr" rtl="0">
              <a:spcBef>
                <a:spcPts val="0"/>
              </a:spcBef>
              <a:spcAft>
                <a:spcPts val="0"/>
              </a:spcAft>
              <a:buNone/>
            </a:pPr>
            <a:r>
              <a:rPr lang="en-US" altLang="en-US" sz="2000" b="1">
                <a:solidFill>
                  <a:schemeClr val="tx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Студијски програм: Вештачка интелигенција и машинско учење</a:t>
            </a:r>
            <a:endParaRPr lang="en-US" altLang="en-US" sz="2000" b="1">
              <a:solidFill>
                <a:schemeClr val="tx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a:p>
            <a:pPr marL="0" lvl="0" algn="ctr" rtl="0">
              <a:spcBef>
                <a:spcPts val="0"/>
              </a:spcBef>
              <a:spcAft>
                <a:spcPts val="0"/>
              </a:spcAft>
              <a:buNone/>
            </a:pPr>
            <a:endParaRPr lang="en-US" altLang="en-US" sz="2000">
              <a:solidFill>
                <a:schemeClr val="accent1"/>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pic>
        <p:nvPicPr>
          <p:cNvPr id="8" name="Picture 7"/>
          <p:cNvPicPr>
            <a:picLocks noChangeAspect="1"/>
          </p:cNvPicPr>
          <p:nvPr/>
        </p:nvPicPr>
        <p:blipFill>
          <a:blip r:embed="rId1"/>
          <a:stretch>
            <a:fillRect/>
          </a:stretch>
        </p:blipFill>
        <p:spPr>
          <a:xfrm>
            <a:off x="681355" y="123825"/>
            <a:ext cx="1082040" cy="1045210"/>
          </a:xfrm>
          <a:prstGeom prst="rect">
            <a:avLst/>
          </a:prstGeom>
        </p:spPr>
      </p:pic>
      <p:pic>
        <p:nvPicPr>
          <p:cNvPr id="9" name="Picture 8"/>
          <p:cNvPicPr>
            <a:picLocks noChangeAspect="1"/>
          </p:cNvPicPr>
          <p:nvPr/>
        </p:nvPicPr>
        <p:blipFill>
          <a:blip r:embed="rId2"/>
          <a:stretch>
            <a:fillRect/>
          </a:stretch>
        </p:blipFill>
        <p:spPr>
          <a:xfrm>
            <a:off x="7452360" y="123825"/>
            <a:ext cx="1010285" cy="1031240"/>
          </a:xfrm>
          <a:prstGeom prst="rect">
            <a:avLst/>
          </a:prstGeom>
        </p:spPr>
      </p:pic>
      <p:pic>
        <p:nvPicPr>
          <p:cNvPr id="2" name="Picture 1"/>
          <p:cNvPicPr>
            <a:picLocks noChangeAspect="1"/>
          </p:cNvPicPr>
          <p:nvPr/>
        </p:nvPicPr>
        <p:blipFill>
          <a:blip r:embed="rId3"/>
          <a:stretch>
            <a:fillRect/>
          </a:stretch>
        </p:blipFill>
        <p:spPr>
          <a:xfrm>
            <a:off x="4162425" y="2278380"/>
            <a:ext cx="725170" cy="586105"/>
          </a:xfrm>
          <a:prstGeom prst="rect">
            <a:avLst/>
          </a:prstGeom>
        </p:spPr>
      </p:pic>
    </p:spTree>
  </p:cSld>
  <p:clrMapOvr>
    <a:masterClrMapping/>
  </p:clrMapOvr>
</p:sld>
</file>

<file path=ppt/tags/tag1.xml><?xml version="1.0" encoding="utf-8"?>
<p:tagLst xmlns:p="http://schemas.openxmlformats.org/presentationml/2006/main">
  <p:tag name="TABLE_ENDDRAG_ORIGIN_RECT" val="416*119"/>
  <p:tag name="TABLE_ENDDRAG_RECT" val="50*219*416*119"/>
</p:tagLst>
</file>

<file path=ppt/tags/tag2.xml><?xml version="1.0" encoding="utf-8"?>
<p:tagLst xmlns:p="http://schemas.openxmlformats.org/presentationml/2006/main">
  <p:tag name="TABLE_ENDDRAG_ORIGIN_RECT" val="540*204"/>
  <p:tag name="TABLE_ENDDRAG_RECT" val="50*168*540*204"/>
</p:tagLst>
</file>

<file path=ppt/tags/tag3.xml><?xml version="1.0" encoding="utf-8"?>
<p:tagLst xmlns:p="http://schemas.openxmlformats.org/presentationml/2006/main">
  <p:tag name="TABLE_ENDDRAG_ORIGIN_RECT" val="216*143"/>
  <p:tag name="TABLE_ENDDRAG_RECT" val="437*170*217*143"/>
</p:tagLst>
</file>

<file path=ppt/tags/tag4.xml><?xml version="1.0" encoding="utf-8"?>
<p:tagLst xmlns:p="http://schemas.openxmlformats.org/presentationml/2006/main">
  <p:tag name="TABLE_ENDDRAG_ORIGIN_RECT" val="216*143"/>
  <p:tag name="TABLE_ENDDRAG_RECT" val="443*157*216*143"/>
</p:tagLst>
</file>

<file path=ppt/tags/tag5.xml><?xml version="1.0" encoding="utf-8"?>
<p:tagLst xmlns:p="http://schemas.openxmlformats.org/presentationml/2006/main">
  <p:tag name="TABLE_ENDDRAG_ORIGIN_RECT" val="266*144"/>
  <p:tag name="TABLE_ENDDRAG_RECT" val="387*178*266*144"/>
</p:tagLst>
</file>

<file path=ppt/tags/tag6.xml><?xml version="1.0" encoding="utf-8"?>
<p:tagLst xmlns:p="http://schemas.openxmlformats.org/presentationml/2006/main">
  <p:tag name="TABLE_ENDDRAG_ORIGIN_RECT" val="256*201"/>
  <p:tag name="TABLE_ENDDRAG_RECT" val="438*229*256*201"/>
</p:tagLst>
</file>

<file path=ppt/tags/tag7.xml><?xml version="1.0" encoding="utf-8"?>
<p:tagLst xmlns:p="http://schemas.openxmlformats.org/presentationml/2006/main">
  <p:tag name="TABLE_ENDDRAG_ORIGIN_RECT" val="172*170"/>
  <p:tag name="TABLE_ENDDRAG_RECT" val="441*145*172*170"/>
</p:tagLst>
</file>

<file path=ppt/tags/tag8.xml><?xml version="1.0" encoding="utf-8"?>
<p:tagLst xmlns:p="http://schemas.openxmlformats.org/presentationml/2006/main">
  <p:tag name="TABLE_ENDDRAG_ORIGIN_RECT" val="192*117"/>
  <p:tag name="TABLE_ENDDRAG_RECT" val="446*123*192*117"/>
</p:tagLst>
</file>

<file path=ppt/tags/tag9.xml><?xml version="1.0" encoding="utf-8"?>
<p:tagLst xmlns:p="http://schemas.openxmlformats.org/presentationml/2006/main">
  <p:tag name="TABLE_ENDDRAG_ORIGIN_RECT" val="245*157"/>
  <p:tag name="TABLE_ENDDRAG_RECT" val="215*136*245*157"/>
</p:tagLst>
</file>

<file path=ppt/tags/tag10.xml><?xml version="1.0" encoding="utf-8"?>
<p:tagLst xmlns:p="http://schemas.openxmlformats.org/presentationml/2006/main">
  <p:tag name="TABLE_ENDDRAG_ORIGIN_RECT" val="201*135"/>
  <p:tag name="TABLE_ENDDRAG_RECT" val="445*134*201*135"/>
</p:tagLst>
</file>

<file path=ppt/tags/tag11.xml><?xml version="1.0" encoding="utf-8"?>
<p:tagLst xmlns:p="http://schemas.openxmlformats.org/presentationml/2006/main">
  <p:tag name="TABLE_ENDDRAG_ORIGIN_RECT" val="241*146"/>
  <p:tag name="TABLE_ENDDRAG_RECT" val="395*151*241*146"/>
</p:tagLst>
</file>

<file path=ppt/tags/tag12.xml><?xml version="1.0" encoding="utf-8"?>
<p:tagLst xmlns:p="http://schemas.openxmlformats.org/presentationml/2006/main">
  <p:tag name="TABLE_ENDDRAG_ORIGIN_RECT" val="220*146"/>
  <p:tag name="TABLE_ENDDRAG_RECT" val="424*134*220*146"/>
</p:tagLst>
</file>

<file path=ppt/tags/tag13.xml><?xml version="1.0" encoding="utf-8"?>
<p:tagLst xmlns:p="http://schemas.openxmlformats.org/presentationml/2006/main">
  <p:tag name="TABLE_ENDDRAG_ORIGIN_RECT" val="220*146"/>
  <p:tag name="TABLE_ENDDRAG_RECT" val="424*134*220*146"/>
</p:tagLst>
</file>

<file path=ppt/tags/tag14.xml><?xml version="1.0" encoding="utf-8"?>
<p:tagLst xmlns:p="http://schemas.openxmlformats.org/presentationml/2006/main">
  <p:tag name="TABLE_ENDDRAG_ORIGIN_RECT" val="570*254"/>
  <p:tag name="TABLE_ENDDRAG_RECT" val="74*74*570*254"/>
</p:tagLst>
</file>

<file path=ppt/tags/tag15.xml><?xml version="1.0" encoding="utf-8"?>
<p:tagLst xmlns:p="http://schemas.openxmlformats.org/presentationml/2006/main">
  <p:tag name="TABLE_ENDDRAG_ORIGIN_RECT" val="280*188"/>
  <p:tag name="TABLE_ENDDRAG_RECT" val="373*151*280*188"/>
</p:tagLst>
</file>

<file path=ppt/tags/tag16.xml><?xml version="1.0" encoding="utf-8"?>
<p:tagLst xmlns:p="http://schemas.openxmlformats.org/presentationml/2006/main">
  <p:tag name="TABLE_ENDDRAG_ORIGIN_RECT" val="243*171"/>
  <p:tag name="TABLE_ENDDRAG_RECT" val="108*228*243*171"/>
</p:tagLst>
</file>

<file path=ppt/tags/tag17.xml><?xml version="1.0" encoding="utf-8"?>
<p:tagLst xmlns:p="http://schemas.openxmlformats.org/presentationml/2006/main">
  <p:tag name="TABLE_ENDDRAG_ORIGIN_RECT" val="502*173"/>
  <p:tag name="TABLE_ENDDRAG_RECT" val="114*123*502*173"/>
</p:tagLst>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17457</Words>
  <Application>WPS Presentation</Application>
  <PresentationFormat>On-screen Show (16:9)</PresentationFormat>
  <Paragraphs>1182</Paragraphs>
  <Slides>49</Slides>
  <Notes>43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49</vt:i4>
      </vt:variant>
    </vt:vector>
  </HeadingPairs>
  <TitlesOfParts>
    <vt:vector size="64" baseType="lpstr">
      <vt:lpstr>Arial</vt:lpstr>
      <vt:lpstr>SimSun</vt:lpstr>
      <vt:lpstr>Wingdings</vt:lpstr>
      <vt:lpstr>Arial</vt:lpstr>
      <vt:lpstr>Fjalla One</vt:lpstr>
      <vt:lpstr>Barlow Semi Condensed Medium</vt:lpstr>
      <vt:lpstr>Barlow Semi Condensed</vt:lpstr>
      <vt:lpstr>Roboto Condensed Light</vt:lpstr>
      <vt:lpstr>Segoe Print</vt:lpstr>
      <vt:lpstr>Times New Roman</vt:lpstr>
      <vt:lpstr>Aptos</vt:lpstr>
      <vt:lpstr>Segoe UI</vt:lpstr>
      <vt:lpstr>Microsoft YaHei</vt:lpstr>
      <vt:lpstr>Arial Unicode MS</vt:lpstr>
      <vt:lpstr>Technology Consulting by Slidesgo</vt:lpstr>
      <vt:lpstr>PowerPoint 演示文稿</vt:lpstr>
      <vt:lpstr>Мотивација и проблем истраживања</vt:lpstr>
      <vt:lpstr>Циљ и истраживачка питања</vt:lpstr>
      <vt:lpstr>Оригинални доприноси рада</vt:lpstr>
      <vt:lpstr>Организација истраживања</vt:lpstr>
      <vt:lpstr>Аутоматско препознавање говора (ASR)</vt:lpstr>
      <vt:lpstr>Обрада и представљање аудио-сигнала</vt:lpstr>
      <vt:lpstr>Трансформер архитектура (енкодер-декодер)</vt:lpstr>
      <vt:lpstr>Whisper модел</vt:lpstr>
      <vt:lpstr>Faster-Whisper и CTranslate2</vt:lpstr>
      <vt:lpstr>Кључни механизми и метрике</vt:lpstr>
      <vt:lpstr>Хардверско и софтверско окружење</vt:lpstr>
      <vt:lpstr>Главни референтни скуп — српски говор</vt:lpstr>
      <vt:lpstr>Додатни експериментални скупови</vt:lpstr>
      <vt:lpstr>Припрема и претпроцесирање аудио-записа</vt:lpstr>
      <vt:lpstr>Методологија евалуације и мерења</vt:lpstr>
      <vt:lpstr>Whisper и Faster-Whisper: основно поређење</vt:lpstr>
      <vt:lpstr>Поређење тачности транскрипције</vt:lpstr>
      <vt:lpstr>Поређење времена обраде</vt:lpstr>
      <vt:lpstr>Поређење меморијске потрошње</vt:lpstr>
      <vt:lpstr>Утицај трајања и говорника</vt:lpstr>
      <vt:lpstr>Утицај величине модела на вредност WER-а</vt:lpstr>
      <vt:lpstr>Утицај величине модела на брзину</vt:lpstr>
      <vt:lpstr>Експериментални скуп за анализу робусности на шум</vt:lpstr>
      <vt:lpstr>Утицај шума на тачност транскрипције</vt:lpstr>
      <vt:lpstr>Поређење српског и енглеског говора</vt:lpstr>
      <vt:lpstr>Утицај параметра beam size </vt:lpstr>
      <vt:lpstr>Утицај INT8 квантизације на брзину</vt:lpstr>
      <vt:lpstr>Детекција говорне активности (VAD)</vt:lpstr>
      <vt:lpstr>VAD: утицај на време и тачност</vt:lpstr>
      <vt:lpstr>Симулација транскрипције у реалном времену</vt:lpstr>
      <vt:lpstr>Симулација транскрипције у реалном времену: тачност и кашњење</vt:lpstr>
      <vt:lpstr>Избор величине сегмента</vt:lpstr>
      <vt:lpstr>Синтеза експерименталних резултата</vt:lpstr>
      <vt:lpstr>Зашто вишекритеријумски избор?</vt:lpstr>
      <vt:lpstr>Нормализација и пондерисани скор</vt:lpstr>
      <vt:lpstr>Парето анализа конфигурација</vt:lpstr>
      <vt:lpstr>Анализа осетљивости избора конфигурације</vt:lpstr>
      <vt:lpstr>Избор конфигурације</vt:lpstr>
      <vt:lpstr>Завршна провера</vt:lpstr>
      <vt:lpstr>Доменска адаптација: пољопривреда</vt:lpstr>
      <vt:lpstr>Доменска адаптација — методологија</vt:lpstr>
      <vt:lpstr>Резултати доменске адаптације</vt:lpstr>
      <vt:lpstr>Истраживачка питања и добијени одговори</vt:lpstr>
      <vt:lpstr>Истраживачка питања и добијени одговори</vt:lpstr>
      <vt:lpstr>Дискусија и ограничења истраживања</vt:lpstr>
      <vt:lpstr>Закључак и правци будућег рада</vt:lpstr>
      <vt:lpstr>Закључак и правци будућег рада</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Jelena</dc:creator>
  <cp:lastModifiedBy>Aleksandar Jovanovic</cp:lastModifiedBy>
  <cp:revision>83</cp:revision>
  <dcterms:created xsi:type="dcterms:W3CDTF">2025-10-25T10:51:00Z</dcterms:created>
  <dcterms:modified xsi:type="dcterms:W3CDTF">2026-10-07T08:57:40Z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DC4E04BEC82F432F8B4262B6028F3F1C_12</vt:lpwstr>
  </property>
  <property fmtid="{D5CDD505-2E9C-101B-9397-08002B2CF9AE}" pid="3" name="KSOProductBuildVer">
    <vt:lpwstr>1033-12.1.0.28485</vt:lpwstr>
  </property>
</Properties>
</file>